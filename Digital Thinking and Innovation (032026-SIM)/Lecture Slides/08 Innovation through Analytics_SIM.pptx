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6"/>
  </p:notesMasterIdLst>
  <p:sldIdLst>
    <p:sldId id="355" r:id="rId5"/>
    <p:sldId id="354" r:id="rId6"/>
    <p:sldId id="256" r:id="rId7"/>
    <p:sldId id="268" r:id="rId8"/>
    <p:sldId id="269" r:id="rId9"/>
    <p:sldId id="330" r:id="rId10"/>
    <p:sldId id="271" r:id="rId11"/>
    <p:sldId id="356" r:id="rId12"/>
    <p:sldId id="331" r:id="rId13"/>
    <p:sldId id="362" r:id="rId14"/>
    <p:sldId id="349" r:id="rId15"/>
    <p:sldId id="332" r:id="rId16"/>
    <p:sldId id="335" r:id="rId17"/>
    <p:sldId id="350" r:id="rId18"/>
    <p:sldId id="351" r:id="rId19"/>
    <p:sldId id="333" r:id="rId20"/>
    <p:sldId id="334" r:id="rId21"/>
    <p:sldId id="357" r:id="rId22"/>
    <p:sldId id="336" r:id="rId23"/>
    <p:sldId id="337" r:id="rId24"/>
    <p:sldId id="338" r:id="rId25"/>
    <p:sldId id="339" r:id="rId26"/>
    <p:sldId id="358" r:id="rId27"/>
    <p:sldId id="340" r:id="rId28"/>
    <p:sldId id="341" r:id="rId29"/>
    <p:sldId id="361" r:id="rId30"/>
    <p:sldId id="347" r:id="rId31"/>
    <p:sldId id="359" r:id="rId32"/>
    <p:sldId id="348" r:id="rId33"/>
    <p:sldId id="352" r:id="rId34"/>
    <p:sldId id="353" r:id="rId35"/>
    <p:sldId id="266" r:id="rId36"/>
    <p:sldId id="360" r:id="rId37"/>
    <p:sldId id="342" r:id="rId38"/>
    <p:sldId id="343" r:id="rId39"/>
    <p:sldId id="344" r:id="rId40"/>
    <p:sldId id="345" r:id="rId41"/>
    <p:sldId id="346" r:id="rId42"/>
    <p:sldId id="267" r:id="rId43"/>
    <p:sldId id="272" r:id="rId44"/>
    <p:sldId id="273"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BD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188"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23T07:41:26.810"/>
    </inkml:context>
    <inkml:brush xml:id="br0">
      <inkml:brushProperty name="width" value="0.1" units="cm"/>
      <inkml:brushProperty name="height" value="0.1" units="cm"/>
      <inkml:brushProperty name="color" value="#E71224"/>
    </inkml:brush>
  </inkml:definitions>
  <inkml:trace contextRef="#ctx0" brushRef="#br0">530 14424 8287 0 0,'0'-4'864'0'0,"0"-7"-864"0"0,-5-6 160 0 0,-1-5 96 0 0,4 1-192 0 0,4 5-9695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23T07:41:26.811"/>
    </inkml:context>
    <inkml:brush xml:id="br0">
      <inkml:brushProperty name="width" value="0.1" units="cm"/>
      <inkml:brushProperty name="height" value="0.1" units="cm"/>
      <inkml:brushProperty name="color" value="#E71224"/>
    </inkml:brush>
  </inkml:definitions>
  <inkml:trace contextRef="#ctx0" brushRef="#br0">159 14023 895 0 0,'0'0'-895'0'0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0-09-23T07:41:26.826"/>
    </inkml:context>
    <inkml:brush xml:id="br0">
      <inkml:brushProperty name="width" value="0.1" units="cm"/>
      <inkml:brushProperty name="height" value="0.1" units="cm"/>
      <inkml:brushProperty name="color" value="#E71224"/>
    </inkml:brush>
  </inkml:definitions>
  <inkml:trace contextRef="#ctx0" brushRef="#br0">1323 7197 7807 0 0,'0'-5'-4352'0'0,"0"-1"897"0"0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FFB1AD-5067-4CFD-B943-F47BDEE69D57}" type="datetimeFigureOut">
              <a:rPr lang="en-US" smtClean="0"/>
              <a:t>5/9/2025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0A6239-8DEA-4B16-B276-522FB0F05F72}" type="slidenum">
              <a:rPr lang="en-US" smtClean="0"/>
              <a:t>‹#›</a:t>
            </a:fld>
            <a:endParaRPr lang="en-US"/>
          </a:p>
        </p:txBody>
      </p:sp>
    </p:spTree>
    <p:extLst>
      <p:ext uri="{BB962C8B-B14F-4D97-AF65-F5344CB8AC3E}">
        <p14:creationId xmlns:p14="http://schemas.microsoft.com/office/powerpoint/2010/main" val="1890179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5"/>
          </p:nvPr>
        </p:nvSpPr>
        <p:spPr/>
        <p:txBody>
          <a:bodyPr/>
          <a:lstStyle/>
          <a:p>
            <a:fld id="{630A6239-8DEA-4B16-B276-522FB0F05F72}" type="slidenum">
              <a:rPr lang="en-US" smtClean="0"/>
              <a:t>24</a:t>
            </a:fld>
            <a:endParaRPr lang="en-US"/>
          </a:p>
        </p:txBody>
      </p:sp>
    </p:spTree>
    <p:extLst>
      <p:ext uri="{BB962C8B-B14F-4D97-AF65-F5344CB8AC3E}">
        <p14:creationId xmlns:p14="http://schemas.microsoft.com/office/powerpoint/2010/main" val="3250175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https://www.valamis.com/hub/descriptive-analytics</a:t>
            </a:r>
          </a:p>
        </p:txBody>
      </p:sp>
      <p:sp>
        <p:nvSpPr>
          <p:cNvPr id="4" name="Slide Number Placeholder 3"/>
          <p:cNvSpPr>
            <a:spLocks noGrp="1"/>
          </p:cNvSpPr>
          <p:nvPr>
            <p:ph type="sldNum" sz="quarter" idx="10"/>
          </p:nvPr>
        </p:nvSpPr>
        <p:spPr/>
        <p:txBody>
          <a:bodyPr/>
          <a:lstStyle/>
          <a:p>
            <a:fld id="{630A6239-8DEA-4B16-B276-522FB0F05F72}" type="slidenum">
              <a:rPr lang="en-US" smtClean="0"/>
              <a:t>29</a:t>
            </a:fld>
            <a:endParaRPr lang="en-US"/>
          </a:p>
        </p:txBody>
      </p:sp>
    </p:spTree>
    <p:extLst>
      <p:ext uri="{BB962C8B-B14F-4D97-AF65-F5344CB8AC3E}">
        <p14:creationId xmlns:p14="http://schemas.microsoft.com/office/powerpoint/2010/main" val="36068621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9A55E57-38E4-41C7-8154-A8B991DEA4F6}"/>
              </a:ext>
            </a:extLst>
          </p:cNvPr>
          <p:cNvSpPr>
            <a:spLocks noChangeArrowheads="1"/>
          </p:cNvSpPr>
          <p:nvPr/>
        </p:nvSpPr>
        <p:spPr bwMode="auto">
          <a:xfrm>
            <a:off x="0" y="0"/>
            <a:ext cx="12192000" cy="3429000"/>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US" sz="1800"/>
          </a:p>
        </p:txBody>
      </p:sp>
      <p:pic>
        <p:nvPicPr>
          <p:cNvPr id="5" name="Picture 10" descr="APU Logo_Final_Vertical_V1_HR1 copy.png">
            <a:extLst>
              <a:ext uri="{FF2B5EF4-FFF2-40B4-BE49-F238E27FC236}">
                <a16:creationId xmlns:a16="http://schemas.microsoft.com/office/drawing/2014/main" id="{D82D9B23-9521-4397-A0C7-7D0BE0B0C4F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4517" y="2514600"/>
            <a:ext cx="3373968" cy="2389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42" name="Rectangle 2"/>
          <p:cNvSpPr>
            <a:spLocks noGrp="1" noChangeArrowheads="1"/>
          </p:cNvSpPr>
          <p:nvPr>
            <p:ph type="ctrTitle"/>
          </p:nvPr>
        </p:nvSpPr>
        <p:spPr>
          <a:xfrm>
            <a:off x="3185584" y="1952626"/>
            <a:ext cx="9006416" cy="1470025"/>
          </a:xfrm>
        </p:spPr>
        <p:txBody>
          <a:bodyPr/>
          <a:lstStyle>
            <a:lvl1pPr>
              <a:defRPr/>
            </a:lvl1pPr>
          </a:lstStyle>
          <a:p>
            <a:r>
              <a:rPr lang="en-US"/>
              <a:t>Click to edit Master title style</a:t>
            </a:r>
            <a:endParaRPr lang="en-GB"/>
          </a:p>
        </p:txBody>
      </p:sp>
      <p:sp>
        <p:nvSpPr>
          <p:cNvPr id="87043" name="Rectangle 3"/>
          <p:cNvSpPr>
            <a:spLocks noGrp="1" noChangeArrowheads="1"/>
          </p:cNvSpPr>
          <p:nvPr>
            <p:ph type="subTitle" idx="1"/>
          </p:nvPr>
        </p:nvSpPr>
        <p:spPr>
          <a:xfrm>
            <a:off x="3166533" y="3886200"/>
            <a:ext cx="9025467" cy="1752600"/>
          </a:xfrm>
        </p:spPr>
        <p:txBody>
          <a:bodyPr/>
          <a:lstStyle>
            <a:lvl1pPr marL="0" indent="0" algn="ctr">
              <a:buFontTx/>
              <a:buNone/>
              <a:defRPr/>
            </a:lvl1pPr>
          </a:lstStyle>
          <a:p>
            <a:r>
              <a:rPr lang="en-US"/>
              <a:t>Click to edit Master subtitle style</a:t>
            </a:r>
            <a:endParaRPr lang="en-GB"/>
          </a:p>
        </p:txBody>
      </p:sp>
    </p:spTree>
    <p:extLst>
      <p:ext uri="{BB962C8B-B14F-4D97-AF65-F5344CB8AC3E}">
        <p14:creationId xmlns:p14="http://schemas.microsoft.com/office/powerpoint/2010/main" val="1328361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311925" cy="1367327"/>
          </a:xfrm>
          <a:solidFill>
            <a:srgbClr val="A2FFA3"/>
          </a:solidFill>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C94CCE7B-8C0C-42E3-87DC-DE817FB78B7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347238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Footer Placeholder 3">
            <a:extLst>
              <a:ext uri="{FF2B5EF4-FFF2-40B4-BE49-F238E27FC236}">
                <a16:creationId xmlns:a16="http://schemas.microsoft.com/office/drawing/2014/main" id="{B6392066-0EF0-4FF8-93AA-2093B8EDA09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471153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49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D7A2D113-A871-44A2-B949-2DB5FAFF9E66}"/>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372881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47D21544-1A19-450A-9A54-709EC423BCFE}"/>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265718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D77AD2FE-548C-4C8C-86B4-F659E1B7E94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850485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17C336-48FB-4D30-BD06-54EA5295C452}"/>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3549959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3535719-93FB-4BCB-999D-ADC5B6C8FEA1}"/>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2208955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a:extLst>
              <a:ext uri="{FF2B5EF4-FFF2-40B4-BE49-F238E27FC236}">
                <a16:creationId xmlns:a16="http://schemas.microsoft.com/office/drawing/2014/main" id="{4E197F50-3179-4421-9233-93FB4F4AE80B}"/>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845223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790899FE-50CE-4592-8241-9731B40B4305}"/>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680653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79417" y="274638"/>
            <a:ext cx="2743200" cy="59483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47700" y="274638"/>
            <a:ext cx="8028517" cy="5948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Footer Placeholder 3">
            <a:extLst>
              <a:ext uri="{FF2B5EF4-FFF2-40B4-BE49-F238E27FC236}">
                <a16:creationId xmlns:a16="http://schemas.microsoft.com/office/drawing/2014/main" id="{DFB6B087-45F3-4C06-AF9A-3C1779880019}"/>
              </a:ext>
            </a:extLst>
          </p:cNvPr>
          <p:cNvSpPr>
            <a:spLocks noGrp="1"/>
          </p:cNvSpPr>
          <p:nvPr>
            <p:ph type="ftr" sz="quarter" idx="10"/>
          </p:nvPr>
        </p:nvSpPr>
        <p:spPr/>
        <p:txBody>
          <a:bodyPr/>
          <a:lstStyle>
            <a:lvl1pPr>
              <a:defRPr>
                <a:ea typeface="+mn-ea"/>
              </a:defRPr>
            </a:lvl1pPr>
          </a:lstStyle>
          <a:p>
            <a:pPr>
              <a:defRPr/>
            </a:pPr>
            <a:r>
              <a:rPr lang="en-GB"/>
              <a:t>‹#›</a:t>
            </a:r>
          </a:p>
        </p:txBody>
      </p:sp>
    </p:spTree>
    <p:extLst>
      <p:ext uri="{BB962C8B-B14F-4D97-AF65-F5344CB8AC3E}">
        <p14:creationId xmlns:p14="http://schemas.microsoft.com/office/powerpoint/2010/main" val="1929502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47700" y="274638"/>
            <a:ext cx="9389533" cy="1143000"/>
          </a:xfrm>
        </p:spPr>
        <p:txBody>
          <a:bodyPr/>
          <a:lstStyle/>
          <a:p>
            <a:r>
              <a:rPr lang="en-US"/>
              <a:t>Click to edit Master title style</a:t>
            </a:r>
          </a:p>
        </p:txBody>
      </p:sp>
      <p:sp>
        <p:nvSpPr>
          <p:cNvPr id="3" name="Text Placeholder 2"/>
          <p:cNvSpPr>
            <a:spLocks noGrp="1"/>
          </p:cNvSpPr>
          <p:nvPr>
            <p:ph type="body" sz="half" idx="1"/>
          </p:nvPr>
        </p:nvSpPr>
        <p:spPr>
          <a:xfrm>
            <a:off x="624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2417" y="1641476"/>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5A6DC315-7F58-4763-BC2C-AF70BD9B47C6}"/>
              </a:ext>
            </a:extLst>
          </p:cNvPr>
          <p:cNvSpPr>
            <a:spLocks noGrp="1" noChangeArrowheads="1"/>
          </p:cNvSpPr>
          <p:nvPr>
            <p:ph type="ftr" sz="quarter" idx="10"/>
          </p:nvPr>
        </p:nvSpPr>
        <p:spPr>
          <a:ln/>
        </p:spPr>
        <p:txBody>
          <a:bodyPr/>
          <a:lstStyle>
            <a:lvl1pPr>
              <a:defRPr/>
            </a:lvl1pPr>
          </a:lstStyle>
          <a:p>
            <a:pPr>
              <a:defRPr/>
            </a:pPr>
            <a:fld id="{17B7D8E3-266E-47CB-8CC4-A3D79B48A3B5}" type="slidenum">
              <a:rPr lang="en-US" altLang="en-US"/>
              <a:pPr>
                <a:defRPr/>
              </a:pPr>
              <a:t>‹#›</a:t>
            </a:fld>
            <a:endParaRPr lang="en-US" altLang="en-US"/>
          </a:p>
        </p:txBody>
      </p:sp>
    </p:spTree>
    <p:extLst>
      <p:ext uri="{BB962C8B-B14F-4D97-AF65-F5344CB8AC3E}">
        <p14:creationId xmlns:p14="http://schemas.microsoft.com/office/powerpoint/2010/main" val="17484796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7" descr="ucti_globe1_transparent_small">
            <a:extLst>
              <a:ext uri="{FF2B5EF4-FFF2-40B4-BE49-F238E27FC236}">
                <a16:creationId xmlns:a16="http://schemas.microsoft.com/office/drawing/2014/main" id="{78D6A39E-0BA3-4626-8EF0-3422758B0867}"/>
              </a:ext>
            </a:extLst>
          </p:cNvPr>
          <p:cNvPicPr>
            <a:picLocks noChangeAspect="1" noChangeArrowheads="1"/>
          </p:cNvPicPr>
          <p:nvPr/>
        </p:nvPicPr>
        <p:blipFill>
          <a:blip r:embed="rId14">
            <a:lum bright="80000" contrast="-90000"/>
            <a:extLst>
              <a:ext uri="{28A0092B-C50C-407E-A947-70E740481C1C}">
                <a14:useLocalDpi xmlns:a14="http://schemas.microsoft.com/office/drawing/2010/main" val="0"/>
              </a:ext>
            </a:extLst>
          </a:blip>
          <a:srcRect/>
          <a:stretch>
            <a:fillRect/>
          </a:stretch>
        </p:blipFill>
        <p:spPr bwMode="auto">
          <a:xfrm>
            <a:off x="-1921934" y="2570164"/>
            <a:ext cx="9609667"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5D889B73-4BC7-4175-8777-89F6049860A0}"/>
              </a:ext>
            </a:extLst>
          </p:cNvPr>
          <p:cNvSpPr>
            <a:spLocks noChangeArrowheads="1"/>
          </p:cNvSpPr>
          <p:nvPr/>
        </p:nvSpPr>
        <p:spPr bwMode="auto">
          <a:xfrm>
            <a:off x="-55034" y="6564768"/>
            <a:ext cx="12192000" cy="236537"/>
          </a:xfrm>
          <a:prstGeom prst="rect">
            <a:avLst/>
          </a:prstGeom>
          <a:solidFill>
            <a:srgbClr val="A2FFA3"/>
          </a:solidFill>
          <a:ln>
            <a:noFill/>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GB" sz="1800"/>
          </a:p>
        </p:txBody>
      </p:sp>
      <p:sp>
        <p:nvSpPr>
          <p:cNvPr id="1028" name="Rectangle 4">
            <a:extLst>
              <a:ext uri="{FF2B5EF4-FFF2-40B4-BE49-F238E27FC236}">
                <a16:creationId xmlns:a16="http://schemas.microsoft.com/office/drawing/2014/main" id="{01326838-1107-4D82-B9EC-B2E5D9B1D4B4}"/>
              </a:ext>
            </a:extLst>
          </p:cNvPr>
          <p:cNvSpPr>
            <a:spLocks noGrp="1" noChangeArrowheads="1"/>
          </p:cNvSpPr>
          <p:nvPr>
            <p:ph type="body" idx="1"/>
          </p:nvPr>
        </p:nvSpPr>
        <p:spPr bwMode="auto">
          <a:xfrm>
            <a:off x="649817" y="1697038"/>
            <a:ext cx="10972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6">
            <a:extLst>
              <a:ext uri="{FF2B5EF4-FFF2-40B4-BE49-F238E27FC236}">
                <a16:creationId xmlns:a16="http://schemas.microsoft.com/office/drawing/2014/main" id="{3E5B5E28-740F-4CE1-8D47-D46EA3E4FCE8}"/>
              </a:ext>
            </a:extLst>
          </p:cNvPr>
          <p:cNvSpPr>
            <a:spLocks noGrp="1" noChangeArrowheads="1"/>
          </p:cNvSpPr>
          <p:nvPr>
            <p:ph type="title"/>
          </p:nvPr>
        </p:nvSpPr>
        <p:spPr bwMode="auto">
          <a:xfrm>
            <a:off x="647700" y="274638"/>
            <a:ext cx="93895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6024" name="Rectangle 8">
            <a:extLst>
              <a:ext uri="{FF2B5EF4-FFF2-40B4-BE49-F238E27FC236}">
                <a16:creationId xmlns:a16="http://schemas.microsoft.com/office/drawing/2014/main" id="{C50B826F-79B0-4D38-A8FA-4FBA74C95EB1}"/>
              </a:ext>
            </a:extLst>
          </p:cNvPr>
          <p:cNvSpPr>
            <a:spLocks noGrp="1" noChangeArrowheads="1"/>
          </p:cNvSpPr>
          <p:nvPr>
            <p:ph type="ftr" sz="quarter" idx="3"/>
          </p:nvPr>
        </p:nvSpPr>
        <p:spPr bwMode="auto">
          <a:xfrm>
            <a:off x="8331200" y="6623050"/>
            <a:ext cx="3860800" cy="2349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800" smtClean="0">
                <a:latin typeface="Calibri" panose="020F0502020204030204" pitchFamily="34" charset="0"/>
                <a:cs typeface="Calibri" panose="020F0502020204030204" pitchFamily="34" charset="0"/>
              </a:defRPr>
            </a:lvl1pPr>
          </a:lstStyle>
          <a:p>
            <a:pPr>
              <a:defRPr/>
            </a:pPr>
            <a:fld id="{8716479A-60E4-42E1-B9D1-F4016DE67B5A}" type="slidenum">
              <a:rPr lang="en-US" altLang="en-US"/>
              <a:pPr>
                <a:defRPr/>
              </a:pPr>
              <a:t>‹#›</a:t>
            </a:fld>
            <a:endParaRPr lang="en-US" altLang="en-US"/>
          </a:p>
        </p:txBody>
      </p:sp>
      <p:sp>
        <p:nvSpPr>
          <p:cNvPr id="1032" name="Rectangle 9">
            <a:extLst>
              <a:ext uri="{FF2B5EF4-FFF2-40B4-BE49-F238E27FC236}">
                <a16:creationId xmlns:a16="http://schemas.microsoft.com/office/drawing/2014/main" id="{9E037968-5E94-4DFF-A255-3B9193204320}"/>
              </a:ext>
            </a:extLst>
          </p:cNvPr>
          <p:cNvSpPr>
            <a:spLocks noChangeArrowheads="1"/>
          </p:cNvSpPr>
          <p:nvPr/>
        </p:nvSpPr>
        <p:spPr bwMode="auto">
          <a:xfrm>
            <a:off x="4233333" y="6597650"/>
            <a:ext cx="3615267" cy="260350"/>
          </a:xfrm>
          <a:prstGeom prst="rect">
            <a:avLst/>
          </a:prstGeom>
          <a:noFill/>
          <a:ln>
            <a:noFill/>
          </a:ln>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endParaRPr lang="en-GB" sz="80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0" descr="APU Logo Final-medium.jpg">
            <a:extLst>
              <a:ext uri="{FF2B5EF4-FFF2-40B4-BE49-F238E27FC236}">
                <a16:creationId xmlns:a16="http://schemas.microsoft.com/office/drawing/2014/main" id="{3A5908B1-49F6-461B-A3D4-C9A0E65D1248}"/>
              </a:ext>
            </a:extLst>
          </p:cNvPr>
          <p:cNvPicPr>
            <a:picLocks noChangeAspect="1"/>
          </p:cNvPicPr>
          <p:nvPr/>
        </p:nvPicPr>
        <p:blipFill>
          <a:blip r:embed="rId15">
            <a:extLst>
              <a:ext uri="{28A0092B-C50C-407E-A947-70E740481C1C}">
                <a14:useLocalDpi xmlns:a14="http://schemas.microsoft.com/office/drawing/2010/main" val="0"/>
              </a:ext>
            </a:extLst>
          </a:blip>
          <a:srcRect/>
          <a:stretch>
            <a:fillRect/>
          </a:stretch>
        </p:blipFill>
        <p:spPr bwMode="auto">
          <a:xfrm>
            <a:off x="10172701" y="1"/>
            <a:ext cx="20193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7">
            <a:extLst>
              <a:ext uri="{FF2B5EF4-FFF2-40B4-BE49-F238E27FC236}">
                <a16:creationId xmlns:a16="http://schemas.microsoft.com/office/drawing/2014/main" id="{97E2E1B8-6240-4DE6-8C87-125C731B1478}"/>
              </a:ext>
            </a:extLst>
          </p:cNvPr>
          <p:cNvSpPr>
            <a:spLocks noChangeArrowheads="1"/>
          </p:cNvSpPr>
          <p:nvPr userDrawn="1"/>
        </p:nvSpPr>
        <p:spPr bwMode="auto">
          <a:xfrm>
            <a:off x="0" y="6597650"/>
            <a:ext cx="2711450" cy="260350"/>
          </a:xfrm>
          <a:prstGeom prst="rect">
            <a:avLst/>
          </a:prstGeom>
          <a:noFill/>
          <a:ln w="9525">
            <a:noFill/>
            <a:miter lim="800000"/>
            <a:headEnd/>
            <a:tailEnd/>
          </a:ln>
          <a:effectLst/>
        </p:spPr>
        <p:txBody>
          <a:bodyPr/>
          <a:lstStyle/>
          <a:p>
            <a:pPr>
              <a:defRPr/>
            </a:pPr>
            <a:r>
              <a:rPr lang="en-GB" sz="1000" dirty="0">
                <a:latin typeface="Calibri" pitchFamily="34" charset="0"/>
                <a:cs typeface="Calibri" pitchFamily="34" charset="0"/>
              </a:rPr>
              <a:t>CT109-3-1 Digital Thinking and Innovation</a:t>
            </a:r>
          </a:p>
        </p:txBody>
      </p:sp>
      <p:sp>
        <p:nvSpPr>
          <p:cNvPr id="10" name="Rectangle 9">
            <a:extLst>
              <a:ext uri="{FF2B5EF4-FFF2-40B4-BE49-F238E27FC236}">
                <a16:creationId xmlns:a16="http://schemas.microsoft.com/office/drawing/2014/main" id="{473A2123-29F0-47ED-9172-198E75150EB1}"/>
              </a:ext>
            </a:extLst>
          </p:cNvPr>
          <p:cNvSpPr>
            <a:spLocks noChangeArrowheads="1"/>
          </p:cNvSpPr>
          <p:nvPr userDrawn="1"/>
        </p:nvSpPr>
        <p:spPr bwMode="auto">
          <a:xfrm>
            <a:off x="4624979" y="6597650"/>
            <a:ext cx="3134360" cy="270510"/>
          </a:xfrm>
          <a:prstGeom prst="rect">
            <a:avLst/>
          </a:prstGeom>
          <a:noFill/>
          <a:ln w="9525">
            <a:noFill/>
            <a:miter lim="800000"/>
            <a:headEnd/>
            <a:tailEnd/>
          </a:ln>
          <a:effectLst/>
        </p:spPr>
        <p:txBody>
          <a:bodyPr/>
          <a:lstStyle/>
          <a:p>
            <a:pPr algn="ctr">
              <a:defRPr/>
            </a:pPr>
            <a:r>
              <a:rPr lang="en-GB" sz="1000" dirty="0">
                <a:latin typeface="Calibri" pitchFamily="34" charset="0"/>
                <a:cs typeface="Calibri" pitchFamily="34" charset="0"/>
              </a:rPr>
              <a:t>Innovation through Analytics</a:t>
            </a:r>
          </a:p>
        </p:txBody>
      </p:sp>
      <p:sp>
        <p:nvSpPr>
          <p:cNvPr id="11" name="Rectangle 10">
            <a:extLst>
              <a:ext uri="{FF2B5EF4-FFF2-40B4-BE49-F238E27FC236}">
                <a16:creationId xmlns:a16="http://schemas.microsoft.com/office/drawing/2014/main" id="{8374ABA7-A844-4FAE-A0DA-5B8E8E6BEBC5}"/>
              </a:ext>
            </a:extLst>
          </p:cNvPr>
          <p:cNvSpPr>
            <a:spLocks noChangeArrowheads="1"/>
          </p:cNvSpPr>
          <p:nvPr userDrawn="1"/>
        </p:nvSpPr>
        <p:spPr bwMode="auto">
          <a:xfrm>
            <a:off x="9457835" y="6607810"/>
            <a:ext cx="2711450" cy="260350"/>
          </a:xfrm>
          <a:prstGeom prst="rect">
            <a:avLst/>
          </a:prstGeom>
          <a:noFill/>
          <a:ln w="9525">
            <a:noFill/>
            <a:miter lim="800000"/>
            <a:headEnd/>
            <a:tailEnd/>
          </a:ln>
          <a:effectLst/>
        </p:spPr>
        <p:txBody>
          <a:bodyPr/>
          <a:lstStyle/>
          <a:p>
            <a:pPr algn="r">
              <a:defRPr/>
            </a:pPr>
            <a:r>
              <a:rPr lang="en-GB" sz="1000" dirty="0">
                <a:latin typeface="Calibri" pitchFamily="34" charset="0"/>
                <a:cs typeface="Calibri" pitchFamily="34" charset="0"/>
              </a:rPr>
              <a:t>Slide </a:t>
            </a:r>
            <a:fld id="{DECA9CF0-005F-441B-BAB5-56B8212B3760}" type="slidenum">
              <a:rPr lang="en-GB" sz="1000" smtClean="0">
                <a:latin typeface="Calibri" pitchFamily="34" charset="0"/>
                <a:cs typeface="Calibri" pitchFamily="34" charset="0"/>
              </a:rPr>
              <a:pPr algn="r">
                <a:defRPr/>
              </a:pPr>
              <a:t>‹#›</a:t>
            </a:fld>
            <a:r>
              <a:rPr lang="en-GB" sz="1000" dirty="0">
                <a:latin typeface="Calibri" pitchFamily="34" charset="0"/>
                <a:cs typeface="Calibri" pitchFamily="34" charset="0"/>
              </a:rPr>
              <a:t> out of 32</a:t>
            </a:r>
          </a:p>
        </p:txBody>
      </p:sp>
    </p:spTree>
    <p:extLst>
      <p:ext uri="{BB962C8B-B14F-4D97-AF65-F5344CB8AC3E}">
        <p14:creationId xmlns:p14="http://schemas.microsoft.com/office/powerpoint/2010/main" val="7178405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eaLnBrk="1" fontAlgn="base" hangingPunct="1">
        <a:spcBef>
          <a:spcPct val="0"/>
        </a:spcBef>
        <a:spcAft>
          <a:spcPct val="0"/>
        </a:spcAft>
        <a:defRPr sz="3600">
          <a:solidFill>
            <a:schemeClr val="tx2"/>
          </a:solidFill>
          <a:latin typeface="Arial" charset="0"/>
        </a:defRPr>
      </a:lvl6pPr>
      <a:lvl7pPr marL="914400" algn="ctr" rtl="0" eaLnBrk="1" fontAlgn="base" hangingPunct="1">
        <a:spcBef>
          <a:spcPct val="0"/>
        </a:spcBef>
        <a:spcAft>
          <a:spcPct val="0"/>
        </a:spcAft>
        <a:defRPr sz="3600">
          <a:solidFill>
            <a:schemeClr val="tx2"/>
          </a:solidFill>
          <a:latin typeface="Arial" charset="0"/>
        </a:defRPr>
      </a:lvl7pPr>
      <a:lvl8pPr marL="1371600" algn="ctr" rtl="0" eaLnBrk="1" fontAlgn="base" hangingPunct="1">
        <a:spcBef>
          <a:spcPct val="0"/>
        </a:spcBef>
        <a:spcAft>
          <a:spcPct val="0"/>
        </a:spcAft>
        <a:defRPr sz="3600">
          <a:solidFill>
            <a:schemeClr val="tx2"/>
          </a:solidFill>
          <a:latin typeface="Arial" charset="0"/>
        </a:defRPr>
      </a:lvl8pPr>
      <a:lvl9pPr marL="1828800" algn="ctr" rtl="0" eaLnBrk="1" fontAlgn="base" hangingPunct="1">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intellipaat.com/blog/7-big-data-examples-application-of-big-data-in-real-life/"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www.youtube.com/watch?v=aeHqYLgZP84"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www.adma.com.au/resources/how-coca-cola-uses-data-to-supercharge-its-superbrand-status"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en-US" dirty="0"/>
              <a:t>Innovation through Analytics</a:t>
            </a:r>
          </a:p>
        </p:txBody>
      </p:sp>
    </p:spTree>
    <p:extLst>
      <p:ext uri="{BB962C8B-B14F-4D97-AF65-F5344CB8AC3E}">
        <p14:creationId xmlns:p14="http://schemas.microsoft.com/office/powerpoint/2010/main" val="1256079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D83D3-B22F-42E3-9130-98C7613A7DC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1C48720-8D7C-48D9-8EA5-DA2A0C363D42}"/>
              </a:ext>
            </a:extLst>
          </p:cNvPr>
          <p:cNvSpPr>
            <a:spLocks noGrp="1"/>
          </p:cNvSpPr>
          <p:nvPr>
            <p:ph idx="1"/>
          </p:nvPr>
        </p:nvSpPr>
        <p:spPr>
          <a:xfrm>
            <a:off x="5658473" y="1697038"/>
            <a:ext cx="5964143" cy="4525962"/>
          </a:xfrm>
        </p:spPr>
        <p:txBody>
          <a:bodyPr/>
          <a:lstStyle/>
          <a:p>
            <a:pPr marL="0" indent="0">
              <a:buNone/>
            </a:pPr>
            <a:r>
              <a:rPr lang="en-US" b="1" dirty="0"/>
              <a:t>Before we start, let’s fill up the mid semester feedback form</a:t>
            </a:r>
          </a:p>
          <a:p>
            <a:pPr marL="514350" indent="-514350">
              <a:buFont typeface="+mj-lt"/>
              <a:buAutoNum type="arabicPeriod"/>
            </a:pPr>
            <a:r>
              <a:rPr lang="en-US" dirty="0"/>
              <a:t>Raise hand in Teams</a:t>
            </a:r>
          </a:p>
          <a:p>
            <a:pPr marL="514350" indent="-514350">
              <a:buFont typeface="+mj-lt"/>
              <a:buAutoNum type="arabicPeriod"/>
            </a:pPr>
            <a:r>
              <a:rPr lang="en-US" dirty="0" err="1"/>
              <a:t>APSpace</a:t>
            </a:r>
            <a:r>
              <a:rPr lang="en-US" dirty="0"/>
              <a:t> &gt; Results &gt; Survey</a:t>
            </a:r>
          </a:p>
          <a:p>
            <a:pPr marL="514350" indent="-514350">
              <a:buFont typeface="+mj-lt"/>
              <a:buAutoNum type="arabicPeriod"/>
            </a:pPr>
            <a:r>
              <a:rPr lang="en-US" dirty="0"/>
              <a:t>Fill up mid-</a:t>
            </a:r>
            <a:r>
              <a:rPr lang="en-US" dirty="0" err="1"/>
              <a:t>sem</a:t>
            </a:r>
            <a:r>
              <a:rPr lang="en-US" dirty="0"/>
              <a:t> survey for DGTIN and submit</a:t>
            </a:r>
          </a:p>
          <a:p>
            <a:pPr marL="514350" indent="-514350">
              <a:buFont typeface="+mj-lt"/>
              <a:buAutoNum type="arabicPeriod"/>
            </a:pPr>
            <a:r>
              <a:rPr lang="en-US" dirty="0"/>
              <a:t>Remove raised hand in Teams</a:t>
            </a:r>
          </a:p>
        </p:txBody>
      </p:sp>
      <p:pic>
        <p:nvPicPr>
          <p:cNvPr id="4" name="Picture 3" descr="A screenshot of a cell phone&#10;&#10;Description automatically generated">
            <a:extLst>
              <a:ext uri="{FF2B5EF4-FFF2-40B4-BE49-F238E27FC236}">
                <a16:creationId xmlns:a16="http://schemas.microsoft.com/office/drawing/2014/main" id="{BC2AD1BC-2E23-4724-948E-EC965A860931}"/>
              </a:ext>
            </a:extLst>
          </p:cNvPr>
          <p:cNvPicPr>
            <a:picLocks noChangeAspect="1"/>
          </p:cNvPicPr>
          <p:nvPr/>
        </p:nvPicPr>
        <p:blipFill rotWithShape="1">
          <a:blip r:embed="rId2"/>
          <a:srcRect t="3944" r="1" b="9588"/>
          <a:stretch/>
        </p:blipFill>
        <p:spPr>
          <a:xfrm>
            <a:off x="0" y="10"/>
            <a:ext cx="4639713" cy="6857990"/>
          </a:xfrm>
          <a:prstGeom prst="rect">
            <a:avLst/>
          </a:prstGeom>
          <a:effectLst>
            <a:innerShdw blurRad="57150" dist="38100" dir="14460000">
              <a:prstClr val="black">
                <a:alpha val="70000"/>
              </a:prstClr>
            </a:innerShdw>
          </a:effectLst>
        </p:spPr>
      </p:pic>
      <p:pic>
        <p:nvPicPr>
          <p:cNvPr id="5" name="Picture 4" descr="A screenshot of a cell phone&#10;&#10;Description automatically generated">
            <a:extLst>
              <a:ext uri="{FF2B5EF4-FFF2-40B4-BE49-F238E27FC236}">
                <a16:creationId xmlns:a16="http://schemas.microsoft.com/office/drawing/2014/main" id="{113A61E6-9A34-4860-9843-E76D8C476610}"/>
              </a:ext>
            </a:extLst>
          </p:cNvPr>
          <p:cNvPicPr>
            <a:picLocks noChangeAspect="1"/>
          </p:cNvPicPr>
          <p:nvPr/>
        </p:nvPicPr>
        <p:blipFill>
          <a:blip r:embed="rId3"/>
          <a:stretch>
            <a:fillRect/>
          </a:stretch>
        </p:blipFill>
        <p:spPr>
          <a:xfrm>
            <a:off x="1880075" y="913232"/>
            <a:ext cx="3379968" cy="4247730"/>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6" name="Rectangle: Rounded Corners 5">
            <a:extLst>
              <a:ext uri="{FF2B5EF4-FFF2-40B4-BE49-F238E27FC236}">
                <a16:creationId xmlns:a16="http://schemas.microsoft.com/office/drawing/2014/main" id="{3D7288C9-7653-419C-B19F-D39E97B66F1D}"/>
              </a:ext>
            </a:extLst>
          </p:cNvPr>
          <p:cNvSpPr/>
          <p:nvPr/>
        </p:nvSpPr>
        <p:spPr bwMode="auto">
          <a:xfrm>
            <a:off x="185980" y="5439905"/>
            <a:ext cx="1694095" cy="634279"/>
          </a:xfrm>
          <a:prstGeom prst="roundRect">
            <a:avLst/>
          </a:prstGeom>
          <a:noFill/>
          <a:ln w="762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cxnSp>
        <p:nvCxnSpPr>
          <p:cNvPr id="8" name="Straight Arrow Connector 7">
            <a:extLst>
              <a:ext uri="{FF2B5EF4-FFF2-40B4-BE49-F238E27FC236}">
                <a16:creationId xmlns:a16="http://schemas.microsoft.com/office/drawing/2014/main" id="{18296CDA-D8C3-4D69-A570-2E057E17C119}"/>
              </a:ext>
            </a:extLst>
          </p:cNvPr>
          <p:cNvCxnSpPr>
            <a:cxnSpLocks/>
          </p:cNvCxnSpPr>
          <p:nvPr/>
        </p:nvCxnSpPr>
        <p:spPr bwMode="auto">
          <a:xfrm flipV="1">
            <a:off x="1880075" y="5291528"/>
            <a:ext cx="398430" cy="404735"/>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sp>
        <p:nvSpPr>
          <p:cNvPr id="10" name="Rectangle: Rounded Corners 9">
            <a:extLst>
              <a:ext uri="{FF2B5EF4-FFF2-40B4-BE49-F238E27FC236}">
                <a16:creationId xmlns:a16="http://schemas.microsoft.com/office/drawing/2014/main" id="{81A9FCB9-D3D1-4813-94C5-492F1B2CEDD7}"/>
              </a:ext>
            </a:extLst>
          </p:cNvPr>
          <p:cNvSpPr/>
          <p:nvPr/>
        </p:nvSpPr>
        <p:spPr bwMode="auto">
          <a:xfrm>
            <a:off x="2278505" y="2668249"/>
            <a:ext cx="2587962" cy="509665"/>
          </a:xfrm>
          <a:prstGeom prst="roundRect">
            <a:avLst/>
          </a:prstGeom>
          <a:noFill/>
          <a:ln w="762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charset="0"/>
            </a:endParaRPr>
          </a:p>
        </p:txBody>
      </p:sp>
      <p:sp>
        <p:nvSpPr>
          <p:cNvPr id="11" name="Oval 10">
            <a:extLst>
              <a:ext uri="{FF2B5EF4-FFF2-40B4-BE49-F238E27FC236}">
                <a16:creationId xmlns:a16="http://schemas.microsoft.com/office/drawing/2014/main" id="{DE162F4F-9F03-424F-817D-2BC8990819C0}"/>
              </a:ext>
            </a:extLst>
          </p:cNvPr>
          <p:cNvSpPr/>
          <p:nvPr/>
        </p:nvSpPr>
        <p:spPr bwMode="auto">
          <a:xfrm>
            <a:off x="1395809" y="5757044"/>
            <a:ext cx="398429" cy="535301"/>
          </a:xfrm>
          <a:prstGeom prst="ellipse">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rPr>
              <a:t>1</a:t>
            </a:r>
          </a:p>
        </p:txBody>
      </p:sp>
      <p:sp>
        <p:nvSpPr>
          <p:cNvPr id="12" name="Oval 11">
            <a:extLst>
              <a:ext uri="{FF2B5EF4-FFF2-40B4-BE49-F238E27FC236}">
                <a16:creationId xmlns:a16="http://schemas.microsoft.com/office/drawing/2014/main" id="{B6733E04-D383-4D32-BBE8-A82B0E12A111}"/>
              </a:ext>
            </a:extLst>
          </p:cNvPr>
          <p:cNvSpPr/>
          <p:nvPr/>
        </p:nvSpPr>
        <p:spPr bwMode="auto">
          <a:xfrm>
            <a:off x="4211602" y="2794126"/>
            <a:ext cx="398429" cy="535301"/>
          </a:xfrm>
          <a:prstGeom prst="ellipse">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lang="en-US" dirty="0">
                <a:latin typeface="Arial" charset="0"/>
              </a:rPr>
              <a:t>2</a:t>
            </a:r>
            <a:endParaRPr kumimoji="0" lang="en-US" sz="18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2276549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2033-E616-4689-8B30-032E753181F7}"/>
              </a:ext>
            </a:extLst>
          </p:cNvPr>
          <p:cNvSpPr>
            <a:spLocks noGrp="1"/>
          </p:cNvSpPr>
          <p:nvPr>
            <p:ph type="ctrTitle"/>
          </p:nvPr>
        </p:nvSpPr>
        <p:spPr/>
        <p:txBody>
          <a:bodyPr/>
          <a:lstStyle/>
          <a:p>
            <a:r>
              <a:rPr lang="en-US"/>
              <a:t>Digital Thinking and Innovation</a:t>
            </a:r>
          </a:p>
        </p:txBody>
      </p:sp>
      <p:sp>
        <p:nvSpPr>
          <p:cNvPr id="3" name="Subtitle 2">
            <a:extLst>
              <a:ext uri="{FF2B5EF4-FFF2-40B4-BE49-F238E27FC236}">
                <a16:creationId xmlns:a16="http://schemas.microsoft.com/office/drawing/2014/main" id="{EA5624DE-0F9F-4A4F-8533-D7F4AD4E9C42}"/>
              </a:ext>
            </a:extLst>
          </p:cNvPr>
          <p:cNvSpPr>
            <a:spLocks noGrp="1"/>
          </p:cNvSpPr>
          <p:nvPr>
            <p:ph type="subTitle" idx="1"/>
          </p:nvPr>
        </p:nvSpPr>
        <p:spPr/>
        <p:txBody>
          <a:bodyPr/>
          <a:lstStyle/>
          <a:p>
            <a:r>
              <a:rPr lang="en-US" dirty="0"/>
              <a:t>Innovation through Analytics</a:t>
            </a:r>
          </a:p>
        </p:txBody>
      </p:sp>
    </p:spTree>
    <p:extLst>
      <p:ext uri="{BB962C8B-B14F-4D97-AF65-F5344CB8AC3E}">
        <p14:creationId xmlns:p14="http://schemas.microsoft.com/office/powerpoint/2010/main" val="1680535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17FD2-3BC9-4D69-A5CA-55E909379DE4}"/>
              </a:ext>
            </a:extLst>
          </p:cNvPr>
          <p:cNvSpPr>
            <a:spLocks noGrp="1"/>
          </p:cNvSpPr>
          <p:nvPr>
            <p:ph type="title"/>
          </p:nvPr>
        </p:nvSpPr>
        <p:spPr/>
        <p:txBody>
          <a:bodyPr/>
          <a:lstStyle/>
          <a:p>
            <a:r>
              <a:rPr lang="en-US"/>
              <a:t>Introduction</a:t>
            </a:r>
          </a:p>
        </p:txBody>
      </p:sp>
      <p:sp>
        <p:nvSpPr>
          <p:cNvPr id="3" name="Content Placeholder 2">
            <a:extLst>
              <a:ext uri="{FF2B5EF4-FFF2-40B4-BE49-F238E27FC236}">
                <a16:creationId xmlns:a16="http://schemas.microsoft.com/office/drawing/2014/main" id="{0A81EA78-3F9D-4EBF-BBC6-460FCCBF5F84}"/>
              </a:ext>
            </a:extLst>
          </p:cNvPr>
          <p:cNvSpPr>
            <a:spLocks noGrp="1"/>
          </p:cNvSpPr>
          <p:nvPr>
            <p:ph idx="1"/>
          </p:nvPr>
        </p:nvSpPr>
        <p:spPr/>
        <p:txBody>
          <a:bodyPr/>
          <a:lstStyle/>
          <a:p>
            <a:pPr marL="0" indent="0">
              <a:buNone/>
            </a:pPr>
            <a:r>
              <a:rPr lang="en-US" dirty="0"/>
              <a:t>This topic discusses the significance of data analytics and how it plays an important role for businesses to </a:t>
            </a:r>
            <a:r>
              <a:rPr lang="en-US" b="1" dirty="0"/>
              <a:t>make sense </a:t>
            </a:r>
            <a:r>
              <a:rPr lang="en-US" dirty="0"/>
              <a:t>of the massive amount of data they collected.</a:t>
            </a:r>
          </a:p>
        </p:txBody>
      </p:sp>
      <p:pic>
        <p:nvPicPr>
          <p:cNvPr id="5" name="Picture 4">
            <a:extLst>
              <a:ext uri="{FF2B5EF4-FFF2-40B4-BE49-F238E27FC236}">
                <a16:creationId xmlns:a16="http://schemas.microsoft.com/office/drawing/2014/main" id="{83FC9446-B1B6-46DB-84C8-711938632635}"/>
              </a:ext>
            </a:extLst>
          </p:cNvPr>
          <p:cNvPicPr>
            <a:picLocks noChangeAspect="1"/>
          </p:cNvPicPr>
          <p:nvPr/>
        </p:nvPicPr>
        <p:blipFill>
          <a:blip r:embed="rId2"/>
          <a:stretch>
            <a:fillRect/>
          </a:stretch>
        </p:blipFill>
        <p:spPr>
          <a:xfrm>
            <a:off x="6407440" y="3259236"/>
            <a:ext cx="5058484" cy="3293474"/>
          </a:xfrm>
          <a:prstGeom prst="rect">
            <a:avLst/>
          </a:prstGeom>
        </p:spPr>
      </p:pic>
    </p:spTree>
    <p:extLst>
      <p:ext uri="{BB962C8B-B14F-4D97-AF65-F5344CB8AC3E}">
        <p14:creationId xmlns:p14="http://schemas.microsoft.com/office/powerpoint/2010/main" val="3430751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the </a:t>
            </a:r>
            <a:r>
              <a:rPr lang="en-US" altLang="en-US" b="1" dirty="0"/>
              <a:t>needs</a:t>
            </a:r>
            <a:r>
              <a:rPr lang="en-US" altLang="en-US" dirty="0"/>
              <a:t> for data analytics</a:t>
            </a:r>
          </a:p>
          <a:p>
            <a:pPr lvl="1"/>
            <a:r>
              <a:rPr lang="en-US" altLang="en-US" dirty="0"/>
              <a:t>List some of the </a:t>
            </a:r>
            <a:r>
              <a:rPr lang="en-US" altLang="en-US" b="1" dirty="0"/>
              <a:t>tools</a:t>
            </a:r>
            <a:r>
              <a:rPr lang="en-US" altLang="en-US" dirty="0"/>
              <a:t> available for data analytics</a:t>
            </a:r>
          </a:p>
          <a:p>
            <a:pPr lvl="1"/>
            <a:r>
              <a:rPr lang="en-US" altLang="en-US" dirty="0"/>
              <a:t>List some of the required </a:t>
            </a:r>
            <a:r>
              <a:rPr lang="en-US" altLang="en-US" b="1" dirty="0"/>
              <a:t>skills</a:t>
            </a:r>
            <a:r>
              <a:rPr lang="en-US" altLang="en-US" dirty="0"/>
              <a:t> for a data analyst</a:t>
            </a:r>
          </a:p>
          <a:p>
            <a:pPr lvl="1"/>
            <a:r>
              <a:rPr lang="en-US" altLang="en-US" dirty="0"/>
              <a:t>Define Big Data Analytics</a:t>
            </a:r>
          </a:p>
          <a:p>
            <a:pPr lvl="1"/>
            <a:r>
              <a:rPr lang="en-US" altLang="en-US" dirty="0"/>
              <a:t>Explain the different </a:t>
            </a:r>
            <a:r>
              <a:rPr lang="en-US" altLang="en-US" b="1" dirty="0"/>
              <a:t>types</a:t>
            </a:r>
            <a:r>
              <a:rPr lang="en-US" altLang="en-US" dirty="0"/>
              <a:t> of big data analytics</a:t>
            </a:r>
          </a:p>
          <a:p>
            <a:pPr lvl="1"/>
            <a:r>
              <a:rPr lang="en-US" altLang="en-US" dirty="0"/>
              <a:t>Provide examples on </a:t>
            </a:r>
            <a:r>
              <a:rPr lang="en-US" altLang="en-US" b="1" dirty="0"/>
              <a:t>real-life</a:t>
            </a:r>
            <a:r>
              <a:rPr lang="en-US" altLang="en-US" dirty="0"/>
              <a:t> uses of big data analytics</a:t>
            </a:r>
          </a:p>
          <a:p>
            <a:pPr lvl="1"/>
            <a:endParaRPr lang="en-US" altLang="en-US" dirty="0"/>
          </a:p>
        </p:txBody>
      </p:sp>
    </p:spTree>
    <p:extLst>
      <p:ext uri="{BB962C8B-B14F-4D97-AF65-F5344CB8AC3E}">
        <p14:creationId xmlns:p14="http://schemas.microsoft.com/office/powerpoint/2010/main" val="2358772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3EA3-2049-4811-B9DA-3FCCAD17F011}"/>
              </a:ext>
            </a:extLst>
          </p:cNvPr>
          <p:cNvSpPr>
            <a:spLocks noGrp="1"/>
          </p:cNvSpPr>
          <p:nvPr>
            <p:ph type="title"/>
          </p:nvPr>
        </p:nvSpPr>
        <p:spPr/>
        <p:txBody>
          <a:bodyPr/>
          <a:lstStyle/>
          <a:p>
            <a:r>
              <a:rPr lang="en-US"/>
              <a:t>Content</a:t>
            </a:r>
          </a:p>
        </p:txBody>
      </p:sp>
      <p:sp>
        <p:nvSpPr>
          <p:cNvPr id="3" name="Content Placeholder 2">
            <a:extLst>
              <a:ext uri="{FF2B5EF4-FFF2-40B4-BE49-F238E27FC236}">
                <a16:creationId xmlns:a16="http://schemas.microsoft.com/office/drawing/2014/main" id="{015195F8-D25D-4E3C-83E1-C6B2753B19B1}"/>
              </a:ext>
            </a:extLst>
          </p:cNvPr>
          <p:cNvSpPr>
            <a:spLocks noGrp="1"/>
          </p:cNvSpPr>
          <p:nvPr>
            <p:ph idx="1"/>
          </p:nvPr>
        </p:nvSpPr>
        <p:spPr/>
        <p:txBody>
          <a:bodyPr/>
          <a:lstStyle/>
          <a:p>
            <a:r>
              <a:rPr lang="en-US"/>
              <a:t>Data Analytics </a:t>
            </a:r>
          </a:p>
          <a:p>
            <a:r>
              <a:rPr lang="en-US"/>
              <a:t>Needs for Data Analytics</a:t>
            </a:r>
          </a:p>
          <a:p>
            <a:r>
              <a:rPr lang="en-US"/>
              <a:t>Tools for Data Analytics</a:t>
            </a:r>
          </a:p>
          <a:p>
            <a:r>
              <a:rPr lang="en-US"/>
              <a:t>Data Analysts and required skills</a:t>
            </a:r>
          </a:p>
          <a:p>
            <a:r>
              <a:rPr lang="en-US"/>
              <a:t>Big Data Analytics</a:t>
            </a:r>
          </a:p>
          <a:p>
            <a:r>
              <a:rPr lang="en-US"/>
              <a:t>Types of Big Data Analytics</a:t>
            </a:r>
          </a:p>
          <a:p>
            <a:r>
              <a:rPr lang="en-US"/>
              <a:t>Real-Life Uses of Big Data Analytics</a:t>
            </a:r>
          </a:p>
          <a:p>
            <a:endParaRPr lang="en-US"/>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029A2F4C-A7E3-442A-BD9E-1C7AD3B2A7D5}"/>
                  </a:ext>
                </a:extLst>
              </p14:cNvPr>
              <p14:cNvContentPartPr/>
              <p14:nvPr/>
            </p14:nvContentPartPr>
            <p14:xfrm>
              <a:off x="85807" y="4619197"/>
              <a:ext cx="9524" cy="28574"/>
            </p14:xfrm>
          </p:contentPart>
        </mc:Choice>
        <mc:Fallback xmlns="">
          <p:pic>
            <p:nvPicPr>
              <p:cNvPr id="5" name="Ink 4">
                <a:extLst>
                  <a:ext uri="{FF2B5EF4-FFF2-40B4-BE49-F238E27FC236}">
                    <a16:creationId xmlns:a16="http://schemas.microsoft.com/office/drawing/2014/main" id="{029A2F4C-A7E3-442A-BD9E-1C7AD3B2A7D5}"/>
                  </a:ext>
                </a:extLst>
              </p:cNvPr>
              <p:cNvPicPr/>
              <p:nvPr/>
            </p:nvPicPr>
            <p:blipFill>
              <a:blip r:embed="rId3"/>
              <a:stretch>
                <a:fillRect/>
              </a:stretch>
            </p:blipFill>
            <p:spPr>
              <a:xfrm>
                <a:off x="51793" y="4603668"/>
                <a:ext cx="76872" cy="59322"/>
              </a:xfrm>
              <a:prstGeom prst="rect">
                <a:avLst/>
              </a:prstGeom>
            </p:spPr>
          </p:pic>
        </mc:Fallback>
      </mc:AlternateContent>
    </p:spTree>
    <p:extLst>
      <p:ext uri="{BB962C8B-B14F-4D97-AF65-F5344CB8AC3E}">
        <p14:creationId xmlns:p14="http://schemas.microsoft.com/office/powerpoint/2010/main" val="1527904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A6AF1B9-FD5F-4E2E-9B3D-E590D3CF4788}"/>
              </a:ext>
            </a:extLst>
          </p:cNvPr>
          <p:cNvPicPr>
            <a:picLocks noChangeAspect="1"/>
          </p:cNvPicPr>
          <p:nvPr/>
        </p:nvPicPr>
        <p:blipFill>
          <a:blip r:embed="rId2"/>
          <a:stretch>
            <a:fillRect/>
          </a:stretch>
        </p:blipFill>
        <p:spPr>
          <a:xfrm>
            <a:off x="344770" y="134911"/>
            <a:ext cx="10118364" cy="6488139"/>
          </a:xfrm>
          <a:prstGeom prst="rect">
            <a:avLst/>
          </a:prstGeom>
        </p:spPr>
      </p:pic>
      <p:sp>
        <p:nvSpPr>
          <p:cNvPr id="5" name="Title 1">
            <a:extLst>
              <a:ext uri="{FF2B5EF4-FFF2-40B4-BE49-F238E27FC236}">
                <a16:creationId xmlns:a16="http://schemas.microsoft.com/office/drawing/2014/main" id="{7DE481BA-8336-4B81-A977-71281F263108}"/>
              </a:ext>
            </a:extLst>
          </p:cNvPr>
          <p:cNvSpPr>
            <a:spLocks noGrp="1"/>
          </p:cNvSpPr>
          <p:nvPr>
            <p:ph type="title"/>
          </p:nvPr>
        </p:nvSpPr>
        <p:spPr>
          <a:xfrm>
            <a:off x="3747542" y="1"/>
            <a:ext cx="6564384" cy="1367327"/>
          </a:xfrm>
        </p:spPr>
        <p:txBody>
          <a:bodyPr/>
          <a:lstStyle/>
          <a:p>
            <a:r>
              <a:rPr lang="en-US"/>
              <a:t>Mind Map</a:t>
            </a:r>
          </a:p>
        </p:txBody>
      </p:sp>
    </p:spTree>
    <p:extLst>
      <p:ext uri="{BB962C8B-B14F-4D97-AF65-F5344CB8AC3E}">
        <p14:creationId xmlns:p14="http://schemas.microsoft.com/office/powerpoint/2010/main" val="4000942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t>Explain the needs for data analytics</a:t>
            </a:r>
          </a:p>
          <a:p>
            <a:pPr lvl="1"/>
            <a:r>
              <a:rPr lang="en-US" altLang="en-US" dirty="0">
                <a:solidFill>
                  <a:schemeClr val="tx1">
                    <a:lumMod val="50000"/>
                    <a:lumOff val="50000"/>
                  </a:schemeClr>
                </a:solidFill>
              </a:rPr>
              <a:t>List some of the tools available for data analytics</a:t>
            </a:r>
          </a:p>
          <a:p>
            <a:pPr lvl="1"/>
            <a:r>
              <a:rPr lang="en-US" altLang="en-US" dirty="0">
                <a:solidFill>
                  <a:schemeClr val="tx1">
                    <a:lumMod val="50000"/>
                    <a:lumOff val="50000"/>
                  </a:schemeClr>
                </a:solidFill>
              </a:rPr>
              <a:t>List some of the required skills for a data analyst</a:t>
            </a:r>
          </a:p>
          <a:p>
            <a:pPr lvl="1"/>
            <a:r>
              <a:rPr lang="en-US" altLang="en-US" dirty="0">
                <a:solidFill>
                  <a:schemeClr val="tx1">
                    <a:lumMod val="50000"/>
                    <a:lumOff val="50000"/>
                  </a:schemeClr>
                </a:solidFill>
              </a:rPr>
              <a:t>Define Big Data Analytics</a:t>
            </a:r>
          </a:p>
          <a:p>
            <a:pPr lvl="1"/>
            <a:r>
              <a:rPr lang="en-US" altLang="en-US" dirty="0">
                <a:solidFill>
                  <a:schemeClr val="tx1">
                    <a:lumMod val="50000"/>
                    <a:lumOff val="50000"/>
                  </a:schemeClr>
                </a:solidFill>
              </a:rPr>
              <a:t>Explain the different types of big data analytics</a:t>
            </a:r>
          </a:p>
          <a:p>
            <a:pPr lvl="1"/>
            <a:r>
              <a:rPr lang="en-US" altLang="en-US" dirty="0">
                <a:solidFill>
                  <a:schemeClr val="tx1">
                    <a:lumMod val="50000"/>
                    <a:lumOff val="50000"/>
                  </a:schemeClr>
                </a:solidFill>
              </a:rPr>
              <a:t>Provide examples on real-life uses of big data analytics</a:t>
            </a:r>
          </a:p>
          <a:p>
            <a:pPr lvl="1"/>
            <a:endParaRPr lang="en-US" altLang="en-US" dirty="0"/>
          </a:p>
        </p:txBody>
      </p:sp>
    </p:spTree>
    <p:extLst>
      <p:ext uri="{BB962C8B-B14F-4D97-AF65-F5344CB8AC3E}">
        <p14:creationId xmlns:p14="http://schemas.microsoft.com/office/powerpoint/2010/main" val="3260751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6A0CC-2993-4264-B5B3-751964AAEE53}"/>
              </a:ext>
            </a:extLst>
          </p:cNvPr>
          <p:cNvSpPr>
            <a:spLocks noGrp="1"/>
          </p:cNvSpPr>
          <p:nvPr>
            <p:ph type="title"/>
          </p:nvPr>
        </p:nvSpPr>
        <p:spPr/>
        <p:txBody>
          <a:bodyPr/>
          <a:lstStyle/>
          <a:p>
            <a:r>
              <a:rPr lang="en-US"/>
              <a:t>Data vs. Information</a:t>
            </a:r>
          </a:p>
        </p:txBody>
      </p:sp>
      <p:sp>
        <p:nvSpPr>
          <p:cNvPr id="3" name="Content Placeholder 2">
            <a:extLst>
              <a:ext uri="{FF2B5EF4-FFF2-40B4-BE49-F238E27FC236}">
                <a16:creationId xmlns:a16="http://schemas.microsoft.com/office/drawing/2014/main" id="{D181842C-D89A-4075-B03F-6E6ECEF9F29F}"/>
              </a:ext>
            </a:extLst>
          </p:cNvPr>
          <p:cNvSpPr>
            <a:spLocks noGrp="1"/>
          </p:cNvSpPr>
          <p:nvPr>
            <p:ph idx="1"/>
          </p:nvPr>
        </p:nvSpPr>
        <p:spPr>
          <a:xfrm>
            <a:off x="320842" y="1697038"/>
            <a:ext cx="7154779" cy="4525962"/>
          </a:xfrm>
        </p:spPr>
        <p:txBody>
          <a:bodyPr/>
          <a:lstStyle/>
          <a:p>
            <a:r>
              <a:rPr lang="en-US" b="1" dirty="0"/>
              <a:t>Data</a:t>
            </a:r>
            <a:r>
              <a:rPr lang="en-US" dirty="0"/>
              <a:t> is </a:t>
            </a:r>
            <a:r>
              <a:rPr lang="en-US" b="1" dirty="0"/>
              <a:t>raw</a:t>
            </a:r>
            <a:r>
              <a:rPr lang="en-US" dirty="0"/>
              <a:t>, unorganized facts that need to be processed</a:t>
            </a:r>
          </a:p>
          <a:p>
            <a:r>
              <a:rPr lang="en-US" dirty="0"/>
              <a:t>Data can be something </a:t>
            </a:r>
            <a:r>
              <a:rPr lang="en-US" b="1" dirty="0"/>
              <a:t>simple</a:t>
            </a:r>
            <a:r>
              <a:rPr lang="en-US" dirty="0"/>
              <a:t> and seemingly </a:t>
            </a:r>
            <a:r>
              <a:rPr lang="en-US" b="1" dirty="0"/>
              <a:t>random</a:t>
            </a:r>
            <a:r>
              <a:rPr lang="en-US" dirty="0"/>
              <a:t> and useless until it is organized</a:t>
            </a:r>
          </a:p>
          <a:p>
            <a:r>
              <a:rPr lang="en-US" dirty="0"/>
              <a:t>When data is processed, organized, structured or presented in a given </a:t>
            </a:r>
            <a:r>
              <a:rPr lang="en-US" b="1" dirty="0"/>
              <a:t>context</a:t>
            </a:r>
            <a:r>
              <a:rPr lang="en-US" dirty="0"/>
              <a:t> so as to make it useful, it is called </a:t>
            </a:r>
            <a:r>
              <a:rPr lang="en-US" b="1" dirty="0"/>
              <a:t>information</a:t>
            </a:r>
            <a:endParaRPr lang="en-US" dirty="0"/>
          </a:p>
        </p:txBody>
      </p:sp>
      <p:pic>
        <p:nvPicPr>
          <p:cNvPr id="7" name="Picture 6"/>
          <p:cNvPicPr>
            <a:picLocks noChangeAspect="1"/>
          </p:cNvPicPr>
          <p:nvPr/>
        </p:nvPicPr>
        <p:blipFill>
          <a:blip r:embed="rId2"/>
          <a:stretch>
            <a:fillRect/>
          </a:stretch>
        </p:blipFill>
        <p:spPr>
          <a:xfrm>
            <a:off x="7694024" y="1867988"/>
            <a:ext cx="4177134" cy="4058187"/>
          </a:xfrm>
          <a:prstGeom prst="rect">
            <a:avLst/>
          </a:prstGeom>
        </p:spPr>
      </p:pic>
    </p:spTree>
    <p:extLst>
      <p:ext uri="{BB962C8B-B14F-4D97-AF65-F5344CB8AC3E}">
        <p14:creationId xmlns:p14="http://schemas.microsoft.com/office/powerpoint/2010/main" val="1448720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7796D-CF21-312A-A80F-AC94BC554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1061D8-1E48-BACC-8948-4BC5D35DF898}"/>
              </a:ext>
            </a:extLst>
          </p:cNvPr>
          <p:cNvSpPr>
            <a:spLocks noGrp="1"/>
          </p:cNvSpPr>
          <p:nvPr>
            <p:ph type="title"/>
          </p:nvPr>
        </p:nvSpPr>
        <p:spPr/>
        <p:txBody>
          <a:bodyPr/>
          <a:lstStyle/>
          <a:p>
            <a:r>
              <a:rPr lang="en-US"/>
              <a:t>Data vs. Information</a:t>
            </a:r>
          </a:p>
        </p:txBody>
      </p:sp>
      <p:pic>
        <p:nvPicPr>
          <p:cNvPr id="7" name="Picture 6">
            <a:extLst>
              <a:ext uri="{FF2B5EF4-FFF2-40B4-BE49-F238E27FC236}">
                <a16:creationId xmlns:a16="http://schemas.microsoft.com/office/drawing/2014/main" id="{A00D8F23-68E1-496C-C479-F71088EFBAAF}"/>
              </a:ext>
            </a:extLst>
          </p:cNvPr>
          <p:cNvPicPr>
            <a:picLocks noChangeAspect="1"/>
          </p:cNvPicPr>
          <p:nvPr/>
        </p:nvPicPr>
        <p:blipFill>
          <a:blip r:embed="rId2"/>
          <a:stretch>
            <a:fillRect/>
          </a:stretch>
        </p:blipFill>
        <p:spPr>
          <a:xfrm>
            <a:off x="1880075" y="244515"/>
            <a:ext cx="7632225" cy="6280225"/>
          </a:xfrm>
          <a:prstGeom prst="rect">
            <a:avLst/>
          </a:prstGeom>
        </p:spPr>
      </p:pic>
    </p:spTree>
    <p:extLst>
      <p:ext uri="{BB962C8B-B14F-4D97-AF65-F5344CB8AC3E}">
        <p14:creationId xmlns:p14="http://schemas.microsoft.com/office/powerpoint/2010/main" val="3191439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6A0CC-2993-4264-B5B3-751964AAEE53}"/>
              </a:ext>
            </a:extLst>
          </p:cNvPr>
          <p:cNvSpPr>
            <a:spLocks noGrp="1"/>
          </p:cNvSpPr>
          <p:nvPr>
            <p:ph type="title"/>
          </p:nvPr>
        </p:nvSpPr>
        <p:spPr/>
        <p:txBody>
          <a:bodyPr/>
          <a:lstStyle/>
          <a:p>
            <a:r>
              <a:rPr lang="en-US"/>
              <a:t>Data vs. Information</a:t>
            </a:r>
          </a:p>
        </p:txBody>
      </p:sp>
      <p:pic>
        <p:nvPicPr>
          <p:cNvPr id="5" name="Picture 4">
            <a:extLst>
              <a:ext uri="{FF2B5EF4-FFF2-40B4-BE49-F238E27FC236}">
                <a16:creationId xmlns:a16="http://schemas.microsoft.com/office/drawing/2014/main" id="{E6D46130-A4B1-481F-8467-9D7AF66D0FD0}"/>
              </a:ext>
            </a:extLst>
          </p:cNvPr>
          <p:cNvPicPr>
            <a:picLocks noChangeAspect="1"/>
          </p:cNvPicPr>
          <p:nvPr/>
        </p:nvPicPr>
        <p:blipFill>
          <a:blip r:embed="rId2"/>
          <a:stretch>
            <a:fillRect/>
          </a:stretch>
        </p:blipFill>
        <p:spPr>
          <a:xfrm>
            <a:off x="1175676" y="2032852"/>
            <a:ext cx="5578230" cy="3780119"/>
          </a:xfrm>
          <a:prstGeom prst="rect">
            <a:avLst/>
          </a:prstGeom>
        </p:spPr>
      </p:pic>
      <p:sp>
        <p:nvSpPr>
          <p:cNvPr id="7" name="Rectangle 6"/>
          <p:cNvSpPr/>
          <p:nvPr/>
        </p:nvSpPr>
        <p:spPr>
          <a:xfrm>
            <a:off x="7559194" y="2160117"/>
            <a:ext cx="1997663" cy="461665"/>
          </a:xfrm>
          <a:prstGeom prst="rect">
            <a:avLst/>
          </a:prstGeom>
        </p:spPr>
        <p:txBody>
          <a:bodyPr wrap="none">
            <a:spAutoFit/>
          </a:bodyPr>
          <a:lstStyle/>
          <a:p>
            <a:r>
              <a:rPr lang="en-US" sz="2400">
                <a:solidFill>
                  <a:srgbClr val="222222"/>
                </a:solidFill>
                <a:latin typeface="arial" panose="020B0604020202020204" pitchFamily="34" charset="0"/>
              </a:rPr>
              <a:t>a list of dates</a:t>
            </a:r>
            <a:endParaRPr lang="en-US" sz="2400"/>
          </a:p>
        </p:txBody>
      </p:sp>
      <p:cxnSp>
        <p:nvCxnSpPr>
          <p:cNvPr id="9" name="Straight Arrow Connector 8"/>
          <p:cNvCxnSpPr>
            <a:cxnSpLocks/>
            <a:stCxn id="7" idx="2"/>
            <a:endCxn id="10" idx="0"/>
          </p:cNvCxnSpPr>
          <p:nvPr/>
        </p:nvCxnSpPr>
        <p:spPr bwMode="auto">
          <a:xfrm>
            <a:off x="8558026" y="2621782"/>
            <a:ext cx="45684" cy="819409"/>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0" name="TextBox 9"/>
          <p:cNvSpPr txBox="1"/>
          <p:nvPr/>
        </p:nvSpPr>
        <p:spPr>
          <a:xfrm>
            <a:off x="7424541" y="3441191"/>
            <a:ext cx="2358338" cy="461665"/>
          </a:xfrm>
          <a:prstGeom prst="rect">
            <a:avLst/>
          </a:prstGeom>
          <a:noFill/>
        </p:spPr>
        <p:txBody>
          <a:bodyPr wrap="none" rtlCol="0">
            <a:spAutoFit/>
          </a:bodyPr>
          <a:lstStyle/>
          <a:p>
            <a:r>
              <a:rPr lang="en-US" sz="2400" dirty="0"/>
              <a:t>Booking system</a:t>
            </a:r>
          </a:p>
        </p:txBody>
      </p:sp>
      <p:sp>
        <p:nvSpPr>
          <p:cNvPr id="11" name="Rectangle 10"/>
          <p:cNvSpPr/>
          <p:nvPr/>
        </p:nvSpPr>
        <p:spPr>
          <a:xfrm>
            <a:off x="7193709" y="4695645"/>
            <a:ext cx="3079689" cy="461665"/>
          </a:xfrm>
          <a:prstGeom prst="rect">
            <a:avLst/>
          </a:prstGeom>
        </p:spPr>
        <p:txBody>
          <a:bodyPr wrap="none">
            <a:spAutoFit/>
          </a:bodyPr>
          <a:lstStyle/>
          <a:p>
            <a:r>
              <a:rPr lang="en-US" sz="2400" dirty="0">
                <a:solidFill>
                  <a:srgbClr val="222222"/>
                </a:solidFill>
                <a:latin typeface="arial" panose="020B0604020202020204" pitchFamily="34" charset="0"/>
              </a:rPr>
              <a:t>Departure and arrival</a:t>
            </a:r>
            <a:endParaRPr lang="en-US" sz="2400" dirty="0"/>
          </a:p>
        </p:txBody>
      </p:sp>
      <p:cxnSp>
        <p:nvCxnSpPr>
          <p:cNvPr id="12" name="Straight Arrow Connector 11"/>
          <p:cNvCxnSpPr/>
          <p:nvPr/>
        </p:nvCxnSpPr>
        <p:spPr bwMode="auto">
          <a:xfrm>
            <a:off x="8558026" y="3902856"/>
            <a:ext cx="0" cy="814642"/>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71F528E-EF45-4F87-BAFF-53CEC84F1996}"/>
                  </a:ext>
                </a:extLst>
              </p14:cNvPr>
              <p14:cNvContentPartPr/>
              <p14:nvPr/>
            </p14:nvContentPartPr>
            <p14:xfrm>
              <a:off x="-50130" y="4501816"/>
              <a:ext cx="9524" cy="9524"/>
            </p14:xfrm>
          </p:contentPart>
        </mc:Choice>
        <mc:Fallback xmlns="">
          <p:pic>
            <p:nvPicPr>
              <p:cNvPr id="3" name="Ink 2">
                <a:extLst>
                  <a:ext uri="{FF2B5EF4-FFF2-40B4-BE49-F238E27FC236}">
                    <a16:creationId xmlns:a16="http://schemas.microsoft.com/office/drawing/2014/main" id="{471F528E-EF45-4F87-BAFF-53CEC84F1996}"/>
                  </a:ext>
                </a:extLst>
              </p:cNvPr>
              <p:cNvPicPr/>
              <p:nvPr/>
            </p:nvPicPr>
            <p:blipFill>
              <a:blip r:embed="rId4"/>
              <a:stretch>
                <a:fillRect/>
              </a:stretch>
            </p:blipFill>
            <p:spPr>
              <a:xfrm>
                <a:off x="-526330" y="4025616"/>
                <a:ext cx="952400" cy="952400"/>
              </a:xfrm>
              <a:prstGeom prst="rect">
                <a:avLst/>
              </a:prstGeom>
            </p:spPr>
          </p:pic>
        </mc:Fallback>
      </mc:AlternateContent>
    </p:spTree>
    <p:extLst>
      <p:ext uri="{BB962C8B-B14F-4D97-AF65-F5344CB8AC3E}">
        <p14:creationId xmlns:p14="http://schemas.microsoft.com/office/powerpoint/2010/main" val="3786174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1B0AA-9FB9-4B86-BCEA-1C25FC3D0CA3}"/>
              </a:ext>
            </a:extLst>
          </p:cNvPr>
          <p:cNvSpPr>
            <a:spLocks noGrp="1"/>
          </p:cNvSpPr>
          <p:nvPr>
            <p:ph type="title"/>
          </p:nvPr>
        </p:nvSpPr>
        <p:spPr/>
        <p:txBody>
          <a:bodyPr/>
          <a:lstStyle/>
          <a:p>
            <a:r>
              <a:rPr lang="en-US"/>
              <a:t>Data Analytics</a:t>
            </a:r>
          </a:p>
        </p:txBody>
      </p:sp>
      <p:sp>
        <p:nvSpPr>
          <p:cNvPr id="3" name="Content Placeholder 2">
            <a:extLst>
              <a:ext uri="{FF2B5EF4-FFF2-40B4-BE49-F238E27FC236}">
                <a16:creationId xmlns:a16="http://schemas.microsoft.com/office/drawing/2014/main" id="{40E98427-F274-4997-BC43-1704B9CD713D}"/>
              </a:ext>
            </a:extLst>
          </p:cNvPr>
          <p:cNvSpPr>
            <a:spLocks noGrp="1"/>
          </p:cNvSpPr>
          <p:nvPr>
            <p:ph idx="1"/>
          </p:nvPr>
        </p:nvSpPr>
        <p:spPr/>
        <p:txBody>
          <a:bodyPr/>
          <a:lstStyle/>
          <a:p>
            <a:r>
              <a:rPr lang="en-US" dirty="0"/>
              <a:t>To benefit from the data collected, every aspect of data needs to be analyzed</a:t>
            </a:r>
          </a:p>
          <a:p>
            <a:pPr lvl="1"/>
            <a:r>
              <a:rPr lang="en-US" dirty="0"/>
              <a:t>The data being generated from </a:t>
            </a:r>
            <a:r>
              <a:rPr lang="en-US" b="1" dirty="0"/>
              <a:t>large-scale</a:t>
            </a:r>
            <a:r>
              <a:rPr lang="en-US" dirty="0"/>
              <a:t> enterprises </a:t>
            </a:r>
          </a:p>
          <a:p>
            <a:pPr lvl="1"/>
            <a:r>
              <a:rPr lang="en-US" dirty="0"/>
              <a:t>The data generated from an </a:t>
            </a:r>
            <a:r>
              <a:rPr lang="en-US" b="1" dirty="0"/>
              <a:t>individual</a:t>
            </a:r>
          </a:p>
          <a:p>
            <a:r>
              <a:rPr lang="en-US" b="1" dirty="0"/>
              <a:t>Data analytics: </a:t>
            </a:r>
            <a:r>
              <a:rPr lang="en-US" dirty="0"/>
              <a:t>The </a:t>
            </a:r>
            <a:r>
              <a:rPr lang="en-US" b="1" dirty="0"/>
              <a:t>science</a:t>
            </a:r>
            <a:r>
              <a:rPr lang="en-US" dirty="0"/>
              <a:t> of analyzing raw data in order to make </a:t>
            </a:r>
            <a:r>
              <a:rPr lang="en-US" b="1" dirty="0"/>
              <a:t>conclusions</a:t>
            </a:r>
            <a:r>
              <a:rPr lang="en-US" dirty="0"/>
              <a:t> about that information, to enhance </a:t>
            </a:r>
            <a:r>
              <a:rPr lang="en-US" b="1" dirty="0"/>
              <a:t>productivity</a:t>
            </a:r>
            <a:r>
              <a:rPr lang="en-US" dirty="0"/>
              <a:t> and </a:t>
            </a:r>
            <a:r>
              <a:rPr lang="en-US" b="1" dirty="0"/>
              <a:t>business gain.</a:t>
            </a:r>
          </a:p>
          <a:p>
            <a:endParaRPr lang="en-US" dirty="0"/>
          </a:p>
        </p:txBody>
      </p:sp>
    </p:spTree>
    <p:extLst>
      <p:ext uri="{BB962C8B-B14F-4D97-AF65-F5344CB8AC3E}">
        <p14:creationId xmlns:p14="http://schemas.microsoft.com/office/powerpoint/2010/main" val="10440622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A17C7-F58B-4D5B-8A13-4C0C940EDBCB}"/>
              </a:ext>
            </a:extLst>
          </p:cNvPr>
          <p:cNvSpPr>
            <a:spLocks noGrp="1"/>
          </p:cNvSpPr>
          <p:nvPr>
            <p:ph type="title"/>
          </p:nvPr>
        </p:nvSpPr>
        <p:spPr/>
        <p:txBody>
          <a:bodyPr/>
          <a:lstStyle/>
          <a:p>
            <a:r>
              <a:rPr lang="en-US"/>
              <a:t>Data Analytics</a:t>
            </a:r>
          </a:p>
        </p:txBody>
      </p:sp>
      <p:sp>
        <p:nvSpPr>
          <p:cNvPr id="3" name="Content Placeholder 2">
            <a:extLst>
              <a:ext uri="{FF2B5EF4-FFF2-40B4-BE49-F238E27FC236}">
                <a16:creationId xmlns:a16="http://schemas.microsoft.com/office/drawing/2014/main" id="{0BF7D3B6-560D-4D18-A86B-6B5397494901}"/>
              </a:ext>
            </a:extLst>
          </p:cNvPr>
          <p:cNvSpPr>
            <a:spLocks noGrp="1"/>
          </p:cNvSpPr>
          <p:nvPr>
            <p:ph idx="1"/>
          </p:nvPr>
        </p:nvSpPr>
        <p:spPr/>
        <p:txBody>
          <a:bodyPr/>
          <a:lstStyle/>
          <a:p>
            <a:r>
              <a:rPr lang="en-US" dirty="0"/>
              <a:t>Extracted data is cleaned and categorized to analyze different behavioral </a:t>
            </a:r>
            <a:r>
              <a:rPr lang="en-US" b="1" dirty="0"/>
              <a:t>patterns</a:t>
            </a:r>
            <a:r>
              <a:rPr lang="en-US" dirty="0"/>
              <a:t>. </a:t>
            </a:r>
          </a:p>
          <a:p>
            <a:r>
              <a:rPr lang="en-US" dirty="0"/>
              <a:t>The </a:t>
            </a:r>
            <a:r>
              <a:rPr lang="en-US" b="1" dirty="0"/>
              <a:t>techniques and the tools </a:t>
            </a:r>
            <a:r>
              <a:rPr lang="en-US" dirty="0"/>
              <a:t>used vary according to the organization or individual.</a:t>
            </a:r>
          </a:p>
          <a:p>
            <a:r>
              <a:rPr lang="en-US" dirty="0"/>
              <a:t>Many of the techniques and processes of data analytics have been </a:t>
            </a:r>
            <a:r>
              <a:rPr lang="en-US" b="1" dirty="0"/>
              <a:t>automated</a:t>
            </a:r>
            <a:r>
              <a:rPr lang="en-US" dirty="0"/>
              <a:t> into mechanical processes and algorithms that work over raw data for human consumption.</a:t>
            </a:r>
          </a:p>
          <a:p>
            <a:endParaRPr lang="en-US" dirty="0"/>
          </a:p>
        </p:txBody>
      </p:sp>
    </p:spTree>
    <p:extLst>
      <p:ext uri="{BB962C8B-B14F-4D97-AF65-F5344CB8AC3E}">
        <p14:creationId xmlns:p14="http://schemas.microsoft.com/office/powerpoint/2010/main" val="2638028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Data Analytics</a:t>
            </a:r>
          </a:p>
        </p:txBody>
      </p:sp>
      <p:sp>
        <p:nvSpPr>
          <p:cNvPr id="5" name="Rectangle 4"/>
          <p:cNvSpPr/>
          <p:nvPr/>
        </p:nvSpPr>
        <p:spPr>
          <a:xfrm>
            <a:off x="509451" y="1616337"/>
            <a:ext cx="10136777" cy="4370427"/>
          </a:xfrm>
          <a:prstGeom prst="rect">
            <a:avLst/>
          </a:prstGeom>
        </p:spPr>
        <p:txBody>
          <a:bodyPr wrap="square">
            <a:spAutoFit/>
          </a:bodyPr>
          <a:lstStyle/>
          <a:p>
            <a:pPr algn="just">
              <a:buFont typeface="+mj-lt"/>
              <a:buAutoNum type="arabicPeriod"/>
            </a:pPr>
            <a:r>
              <a:rPr lang="en-US" sz="2000" dirty="0">
                <a:latin typeface="+mj-lt"/>
              </a:rPr>
              <a:t> </a:t>
            </a:r>
            <a:r>
              <a:rPr lang="en-US" sz="2000" b="1" dirty="0">
                <a:latin typeface="+mj-lt"/>
              </a:rPr>
              <a:t>Fraud Management Report </a:t>
            </a:r>
            <a:r>
              <a:rPr lang="en-US" sz="2000" dirty="0">
                <a:latin typeface="+mj-lt"/>
              </a:rPr>
              <a:t>which is generally used in Banking Sectors to find the fraud transactions, hacking, unauthorized access to the account and so on.</a:t>
            </a:r>
          </a:p>
          <a:p>
            <a:pPr algn="just">
              <a:buFont typeface="+mj-lt"/>
              <a:buAutoNum type="arabicPeriod"/>
            </a:pPr>
            <a:endParaRPr lang="en-US" sz="2000" dirty="0">
              <a:latin typeface="+mj-lt"/>
            </a:endParaRPr>
          </a:p>
          <a:p>
            <a:pPr algn="just">
              <a:buFont typeface="+mj-lt"/>
              <a:buAutoNum type="arabicPeriod"/>
            </a:pPr>
            <a:r>
              <a:rPr lang="en-US" sz="2000" dirty="0">
                <a:latin typeface="+mj-lt"/>
              </a:rPr>
              <a:t> </a:t>
            </a:r>
            <a:r>
              <a:rPr lang="en-US" sz="2000" b="1" dirty="0">
                <a:latin typeface="+mj-lt"/>
              </a:rPr>
              <a:t>Live Tracking Report </a:t>
            </a:r>
            <a:r>
              <a:rPr lang="en-US" sz="2000" dirty="0">
                <a:latin typeface="+mj-lt"/>
              </a:rPr>
              <a:t>which is generally used by Transport Sectors such as Meru, Ola, Uber, and Mega to track the vehicles, customer’s requests, payment management, emergency alert and to find the daily needs and revenues and so on.</a:t>
            </a:r>
          </a:p>
          <a:p>
            <a:pPr algn="just">
              <a:buFont typeface="+mj-lt"/>
              <a:buAutoNum type="arabicPeriod"/>
            </a:pPr>
            <a:endParaRPr lang="en-US" sz="2000" dirty="0">
              <a:latin typeface="+mj-lt"/>
            </a:endParaRPr>
          </a:p>
          <a:p>
            <a:pPr algn="just">
              <a:buFont typeface="+mj-lt"/>
              <a:buAutoNum type="arabicPeriod"/>
            </a:pPr>
            <a:r>
              <a:rPr lang="en-US" sz="2000" dirty="0">
                <a:latin typeface="+mj-lt"/>
              </a:rPr>
              <a:t> </a:t>
            </a:r>
            <a:r>
              <a:rPr lang="en-US" sz="2000" b="1" dirty="0">
                <a:latin typeface="+mj-lt"/>
              </a:rPr>
              <a:t>Sales Report and Future </a:t>
            </a:r>
            <a:r>
              <a:rPr lang="en-US" sz="2000" dirty="0">
                <a:latin typeface="+mj-lt"/>
              </a:rPr>
              <a:t>target and goal analysis which is mostly used by all sectors to analyze their sales, revenues, and needs of customers and also used to determine the future target and so on.</a:t>
            </a:r>
          </a:p>
          <a:p>
            <a:pPr algn="just">
              <a:buFont typeface="+mj-lt"/>
              <a:buAutoNum type="arabicPeriod"/>
            </a:pPr>
            <a:endParaRPr lang="en-US" sz="2000" dirty="0">
              <a:latin typeface="+mj-lt"/>
            </a:endParaRPr>
          </a:p>
          <a:p>
            <a:pPr algn="just">
              <a:buFont typeface="+mj-lt"/>
              <a:buAutoNum type="arabicPeriod"/>
            </a:pPr>
            <a:r>
              <a:rPr lang="en-US" sz="2000" dirty="0">
                <a:latin typeface="+mj-lt"/>
              </a:rPr>
              <a:t> </a:t>
            </a:r>
            <a:r>
              <a:rPr lang="en-US" sz="2000" b="1" dirty="0">
                <a:latin typeface="+mj-lt"/>
              </a:rPr>
              <a:t>Google Analytics </a:t>
            </a:r>
            <a:r>
              <a:rPr lang="en-US" sz="2000" dirty="0">
                <a:latin typeface="+mj-lt"/>
              </a:rPr>
              <a:t>report where we can get how many user’s visit counts, from which location the user is from, from which device the site is accessing and so on.</a:t>
            </a:r>
          </a:p>
          <a:p>
            <a:endParaRPr lang="en-US" b="0" i="0" dirty="0">
              <a:solidFill>
                <a:srgbClr val="4D5968"/>
              </a:solidFill>
              <a:effectLst/>
              <a:latin typeface="Nunito Sans"/>
            </a:endParaRPr>
          </a:p>
        </p:txBody>
      </p:sp>
    </p:spTree>
    <p:extLst>
      <p:ext uri="{BB962C8B-B14F-4D97-AF65-F5344CB8AC3E}">
        <p14:creationId xmlns:p14="http://schemas.microsoft.com/office/powerpoint/2010/main" val="527294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Examples Data Analytics</a:t>
            </a:r>
          </a:p>
        </p:txBody>
      </p:sp>
      <p:pic>
        <p:nvPicPr>
          <p:cNvPr id="3074" name="Picture 2" descr="https://intellipaat.com/blog/wp-content/uploads/2016/07/BigData.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0055" y="1367327"/>
            <a:ext cx="7989116" cy="484340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hlinkClick r:id="rId3"/>
          </p:cNvPr>
          <p:cNvSpPr/>
          <p:nvPr/>
        </p:nvSpPr>
        <p:spPr bwMode="auto">
          <a:xfrm>
            <a:off x="4153988" y="6172011"/>
            <a:ext cx="1771015" cy="400783"/>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charset="0"/>
              </a:rPr>
              <a:t>READ ME</a:t>
            </a:r>
          </a:p>
        </p:txBody>
      </p:sp>
    </p:spTree>
    <p:extLst>
      <p:ext uri="{BB962C8B-B14F-4D97-AF65-F5344CB8AC3E}">
        <p14:creationId xmlns:p14="http://schemas.microsoft.com/office/powerpoint/2010/main" val="5361196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50D9E-6E96-420B-AF74-43E563D5CA5F}"/>
              </a:ext>
            </a:extLst>
          </p:cNvPr>
          <p:cNvSpPr>
            <a:spLocks noGrp="1"/>
          </p:cNvSpPr>
          <p:nvPr>
            <p:ph type="title"/>
          </p:nvPr>
        </p:nvSpPr>
        <p:spPr/>
        <p:txBody>
          <a:bodyPr/>
          <a:lstStyle/>
          <a:p>
            <a:r>
              <a:rPr lang="en-US"/>
              <a:t>Needs for Data Analytics</a:t>
            </a:r>
          </a:p>
        </p:txBody>
      </p:sp>
      <p:sp>
        <p:nvSpPr>
          <p:cNvPr id="3" name="Content Placeholder 2">
            <a:extLst>
              <a:ext uri="{FF2B5EF4-FFF2-40B4-BE49-F238E27FC236}">
                <a16:creationId xmlns:a16="http://schemas.microsoft.com/office/drawing/2014/main" id="{D3F5368E-4AF4-48C3-BE8E-72FFB7ADB791}"/>
              </a:ext>
            </a:extLst>
          </p:cNvPr>
          <p:cNvSpPr>
            <a:spLocks noGrp="1"/>
          </p:cNvSpPr>
          <p:nvPr>
            <p:ph idx="1"/>
          </p:nvPr>
        </p:nvSpPr>
        <p:spPr/>
        <p:txBody>
          <a:bodyPr/>
          <a:lstStyle/>
          <a:p>
            <a:r>
              <a:rPr lang="en-US" dirty="0"/>
              <a:t>Four main factors which signify the need for Data Analytics:</a:t>
            </a:r>
          </a:p>
          <a:p>
            <a:pPr marL="971550" lvl="1" indent="-514350">
              <a:buFont typeface="+mj-lt"/>
              <a:buAutoNum type="arabicPeriod"/>
            </a:pPr>
            <a:r>
              <a:rPr lang="en-US" b="1" dirty="0"/>
              <a:t>Gather Hidden Insights</a:t>
            </a:r>
            <a:r>
              <a:rPr lang="en-US" dirty="0"/>
              <a:t> – Hidden insights from data are gathered and then analyzed with respect to business requirements</a:t>
            </a:r>
          </a:p>
          <a:p>
            <a:pPr marL="971550" lvl="1" indent="-514350">
              <a:buFont typeface="+mj-lt"/>
              <a:buAutoNum type="arabicPeriod"/>
            </a:pPr>
            <a:r>
              <a:rPr lang="en-US" b="1" dirty="0"/>
              <a:t>Generate Reports</a:t>
            </a:r>
            <a:r>
              <a:rPr lang="en-US" dirty="0"/>
              <a:t> – Reports are generated from the data and are passed on to the respective teams and individuals to deal with further actions for a high rise in business</a:t>
            </a:r>
          </a:p>
          <a:p>
            <a:endParaRPr lang="en-US" dirty="0"/>
          </a:p>
        </p:txBody>
      </p:sp>
    </p:spTree>
    <p:extLst>
      <p:ext uri="{BB962C8B-B14F-4D97-AF65-F5344CB8AC3E}">
        <p14:creationId xmlns:p14="http://schemas.microsoft.com/office/powerpoint/2010/main" val="2507373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F1589-B87A-4C0F-9A82-36485BE819C6}"/>
              </a:ext>
            </a:extLst>
          </p:cNvPr>
          <p:cNvSpPr>
            <a:spLocks noGrp="1"/>
          </p:cNvSpPr>
          <p:nvPr>
            <p:ph type="title"/>
          </p:nvPr>
        </p:nvSpPr>
        <p:spPr/>
        <p:txBody>
          <a:bodyPr/>
          <a:lstStyle/>
          <a:p>
            <a:r>
              <a:rPr lang="en-US"/>
              <a:t>Needs for Data Analytics</a:t>
            </a:r>
          </a:p>
        </p:txBody>
      </p:sp>
      <p:sp>
        <p:nvSpPr>
          <p:cNvPr id="3" name="Content Placeholder 2">
            <a:extLst>
              <a:ext uri="{FF2B5EF4-FFF2-40B4-BE49-F238E27FC236}">
                <a16:creationId xmlns:a16="http://schemas.microsoft.com/office/drawing/2014/main" id="{506D7FA4-5895-48E0-8B16-DC3A4BF605FF}"/>
              </a:ext>
            </a:extLst>
          </p:cNvPr>
          <p:cNvSpPr>
            <a:spLocks noGrp="1"/>
          </p:cNvSpPr>
          <p:nvPr>
            <p:ph idx="1"/>
          </p:nvPr>
        </p:nvSpPr>
        <p:spPr/>
        <p:txBody>
          <a:bodyPr/>
          <a:lstStyle/>
          <a:p>
            <a:pPr marL="971550" lvl="1" indent="-514350">
              <a:buFont typeface="+mj-lt"/>
              <a:buAutoNum type="arabicPeriod" startAt="3"/>
            </a:pPr>
            <a:r>
              <a:rPr lang="en-US" b="1" dirty="0"/>
              <a:t>Perform Market Analysis</a:t>
            </a:r>
            <a:r>
              <a:rPr lang="en-US" dirty="0"/>
              <a:t> – Market Analysis can be performed to understand the strengths and the weaknesses of competitors.</a:t>
            </a:r>
          </a:p>
          <a:p>
            <a:pPr marL="971550" lvl="1" indent="-514350">
              <a:buFont typeface="+mj-lt"/>
              <a:buAutoNum type="arabicPeriod" startAt="3"/>
            </a:pPr>
            <a:r>
              <a:rPr lang="en-US" b="1" dirty="0"/>
              <a:t>Improve Business Requirement</a:t>
            </a:r>
            <a:r>
              <a:rPr lang="en-US" dirty="0"/>
              <a:t> – Analysis of data allows improving business to customer requirements and experience.</a:t>
            </a:r>
          </a:p>
          <a:p>
            <a:pPr marL="457200" lvl="1" indent="0">
              <a:buNone/>
            </a:pPr>
            <a:endParaRPr lang="en-US" dirty="0"/>
          </a:p>
        </p:txBody>
      </p:sp>
    </p:spTree>
    <p:extLst>
      <p:ext uri="{BB962C8B-B14F-4D97-AF65-F5344CB8AC3E}">
        <p14:creationId xmlns:p14="http://schemas.microsoft.com/office/powerpoint/2010/main" val="2058108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the needs for data analytics</a:t>
            </a:r>
          </a:p>
          <a:p>
            <a:pPr lvl="1"/>
            <a:r>
              <a:rPr lang="en-US" altLang="en-US" dirty="0"/>
              <a:t>List some of the tools available for data analytics</a:t>
            </a:r>
          </a:p>
          <a:p>
            <a:pPr lvl="1"/>
            <a:r>
              <a:rPr lang="en-US" altLang="en-US" dirty="0">
                <a:solidFill>
                  <a:schemeClr val="tx1">
                    <a:lumMod val="50000"/>
                    <a:lumOff val="50000"/>
                  </a:schemeClr>
                </a:solidFill>
              </a:rPr>
              <a:t>List some of the required skills for a data analyst</a:t>
            </a:r>
          </a:p>
          <a:p>
            <a:pPr lvl="1"/>
            <a:r>
              <a:rPr lang="en-US" altLang="en-US" dirty="0">
                <a:solidFill>
                  <a:schemeClr val="tx1">
                    <a:lumMod val="50000"/>
                    <a:lumOff val="50000"/>
                  </a:schemeClr>
                </a:solidFill>
              </a:rPr>
              <a:t>Define Big Data Analytics</a:t>
            </a:r>
          </a:p>
          <a:p>
            <a:pPr lvl="1"/>
            <a:r>
              <a:rPr lang="en-US" altLang="en-US" dirty="0">
                <a:solidFill>
                  <a:schemeClr val="tx1">
                    <a:lumMod val="50000"/>
                    <a:lumOff val="50000"/>
                  </a:schemeClr>
                </a:solidFill>
              </a:rPr>
              <a:t>Explain the different types of big data analytics</a:t>
            </a:r>
          </a:p>
          <a:p>
            <a:pPr lvl="1"/>
            <a:r>
              <a:rPr lang="en-US" altLang="en-US" dirty="0">
                <a:solidFill>
                  <a:schemeClr val="tx1">
                    <a:lumMod val="50000"/>
                    <a:lumOff val="50000"/>
                  </a:schemeClr>
                </a:solidFill>
              </a:rPr>
              <a:t>Provide examples on real-life uses of big data analytics</a:t>
            </a:r>
          </a:p>
          <a:p>
            <a:pPr lvl="1"/>
            <a:endParaRPr lang="en-US" altLang="en-US" dirty="0"/>
          </a:p>
        </p:txBody>
      </p:sp>
    </p:spTree>
    <p:extLst>
      <p:ext uri="{BB962C8B-B14F-4D97-AF65-F5344CB8AC3E}">
        <p14:creationId xmlns:p14="http://schemas.microsoft.com/office/powerpoint/2010/main" val="39276566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79A58-0323-4609-9E24-34FB7C530C52}"/>
              </a:ext>
            </a:extLst>
          </p:cNvPr>
          <p:cNvSpPr>
            <a:spLocks noGrp="1"/>
          </p:cNvSpPr>
          <p:nvPr>
            <p:ph type="title"/>
          </p:nvPr>
        </p:nvSpPr>
        <p:spPr/>
        <p:txBody>
          <a:bodyPr/>
          <a:lstStyle/>
          <a:p>
            <a:r>
              <a:rPr lang="en-US"/>
              <a:t>Tools in Data Analytics</a:t>
            </a:r>
          </a:p>
        </p:txBody>
      </p:sp>
      <p:sp>
        <p:nvSpPr>
          <p:cNvPr id="3" name="Content Placeholder 2">
            <a:extLst>
              <a:ext uri="{FF2B5EF4-FFF2-40B4-BE49-F238E27FC236}">
                <a16:creationId xmlns:a16="http://schemas.microsoft.com/office/drawing/2014/main" id="{74770212-E1EB-4899-A5A1-18E15A1AA8AD}"/>
              </a:ext>
            </a:extLst>
          </p:cNvPr>
          <p:cNvSpPr>
            <a:spLocks noGrp="1"/>
          </p:cNvSpPr>
          <p:nvPr>
            <p:ph idx="1"/>
          </p:nvPr>
        </p:nvSpPr>
        <p:spPr/>
        <p:txBody>
          <a:bodyPr/>
          <a:lstStyle/>
          <a:p>
            <a:r>
              <a:rPr lang="en-US" dirty="0"/>
              <a:t>Many tools have emerged with various functionalities:</a:t>
            </a:r>
          </a:p>
          <a:p>
            <a:pPr lvl="1"/>
            <a:r>
              <a:rPr lang="en-US" b="1" dirty="0"/>
              <a:t>R programming</a:t>
            </a:r>
            <a:r>
              <a:rPr lang="en-US" dirty="0"/>
              <a:t> – This tool is the leading analytics tool used for </a:t>
            </a:r>
            <a:r>
              <a:rPr lang="en-US" b="1" dirty="0"/>
              <a:t>statistics and data modeling</a:t>
            </a:r>
            <a:r>
              <a:rPr lang="en-US" dirty="0"/>
              <a:t>.</a:t>
            </a:r>
          </a:p>
          <a:p>
            <a:pPr lvl="1"/>
            <a:r>
              <a:rPr lang="en-US" b="1" dirty="0"/>
              <a:t>Python</a:t>
            </a:r>
            <a:r>
              <a:rPr lang="en-US" dirty="0"/>
              <a:t> –It provides various </a:t>
            </a:r>
            <a:r>
              <a:rPr lang="en-US" b="1" dirty="0"/>
              <a:t>machine learning and visualization </a:t>
            </a:r>
            <a:r>
              <a:rPr lang="en-US" dirty="0"/>
              <a:t>libraries such as Scikit-learn, TensorFlow, Matplotlib, Pandas, </a:t>
            </a:r>
            <a:r>
              <a:rPr lang="en-US" dirty="0" err="1"/>
              <a:t>Keras</a:t>
            </a:r>
            <a:r>
              <a:rPr lang="en-US" dirty="0"/>
              <a:t> etc. </a:t>
            </a:r>
          </a:p>
          <a:p>
            <a:pPr lvl="1"/>
            <a:r>
              <a:rPr lang="en-US" b="1" dirty="0"/>
              <a:t>Tableau Public</a:t>
            </a:r>
            <a:r>
              <a:rPr lang="en-US" dirty="0"/>
              <a:t> – This is a free software that connects to any data source such as Excel, Corporate Data Warehouse etc. It then creates </a:t>
            </a:r>
            <a:r>
              <a:rPr lang="en-US" b="1" dirty="0"/>
              <a:t>visualizations, maps, dashboards </a:t>
            </a:r>
            <a:r>
              <a:rPr lang="en-US" dirty="0" err="1"/>
              <a:t>etc</a:t>
            </a:r>
            <a:r>
              <a:rPr lang="en-US" dirty="0"/>
              <a:t> with real-time updates on the web.</a:t>
            </a:r>
          </a:p>
        </p:txBody>
      </p:sp>
    </p:spTree>
    <p:extLst>
      <p:ext uri="{BB962C8B-B14F-4D97-AF65-F5344CB8AC3E}">
        <p14:creationId xmlns:p14="http://schemas.microsoft.com/office/powerpoint/2010/main" val="1745482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19494-2A8C-45B6-9FE0-76832C513BBC}"/>
              </a:ext>
            </a:extLst>
          </p:cNvPr>
          <p:cNvSpPr>
            <a:spLocks noGrp="1"/>
          </p:cNvSpPr>
          <p:nvPr>
            <p:ph type="title"/>
          </p:nvPr>
        </p:nvSpPr>
        <p:spPr/>
        <p:txBody>
          <a:bodyPr/>
          <a:lstStyle/>
          <a:p>
            <a:r>
              <a:rPr lang="en-US"/>
              <a:t>Tools in Data Analytics</a:t>
            </a:r>
          </a:p>
        </p:txBody>
      </p:sp>
      <p:sp>
        <p:nvSpPr>
          <p:cNvPr id="3" name="Content Placeholder 2">
            <a:extLst>
              <a:ext uri="{FF2B5EF4-FFF2-40B4-BE49-F238E27FC236}">
                <a16:creationId xmlns:a16="http://schemas.microsoft.com/office/drawing/2014/main" id="{7B31424D-5E50-4E0F-8C55-F2EEA1167950}"/>
              </a:ext>
            </a:extLst>
          </p:cNvPr>
          <p:cNvSpPr>
            <a:spLocks noGrp="1"/>
          </p:cNvSpPr>
          <p:nvPr>
            <p:ph idx="1"/>
          </p:nvPr>
        </p:nvSpPr>
        <p:spPr>
          <a:xfrm>
            <a:off x="693360" y="1367328"/>
            <a:ext cx="10972800" cy="5120558"/>
          </a:xfrm>
        </p:spPr>
        <p:txBody>
          <a:bodyPr/>
          <a:lstStyle/>
          <a:p>
            <a:pPr lvl="1"/>
            <a:r>
              <a:rPr lang="en-US" b="1" dirty="0"/>
              <a:t>QlikView</a:t>
            </a:r>
            <a:r>
              <a:rPr lang="en-US" dirty="0"/>
              <a:t> – This tool offers in-memory data processing with the results delivered to the end-users quickly. It also offers </a:t>
            </a:r>
            <a:r>
              <a:rPr lang="en-US" b="1" dirty="0"/>
              <a:t>data association and data visualization </a:t>
            </a:r>
            <a:r>
              <a:rPr lang="en-US" dirty="0"/>
              <a:t>with data being </a:t>
            </a:r>
            <a:r>
              <a:rPr lang="en-US" b="1" dirty="0"/>
              <a:t>compressed</a:t>
            </a:r>
            <a:r>
              <a:rPr lang="en-US" dirty="0"/>
              <a:t> to almost 10% of its original size.</a:t>
            </a:r>
          </a:p>
          <a:p>
            <a:pPr lvl="1"/>
            <a:r>
              <a:rPr lang="en-US" b="1" dirty="0"/>
              <a:t>SAS</a:t>
            </a:r>
            <a:r>
              <a:rPr lang="en-US" dirty="0"/>
              <a:t> – A programming language and environment for </a:t>
            </a:r>
            <a:r>
              <a:rPr lang="en-US" b="1" dirty="0"/>
              <a:t>data manipulation and analytic</a:t>
            </a:r>
            <a:r>
              <a:rPr lang="en-US" dirty="0"/>
              <a:t>s, this tool is easily accessible and can analyze data from different sources.</a:t>
            </a:r>
          </a:p>
          <a:p>
            <a:pPr lvl="1"/>
            <a:r>
              <a:rPr lang="en-US" b="1" dirty="0" err="1"/>
              <a:t>OpenRefine</a:t>
            </a:r>
            <a:r>
              <a:rPr lang="en-US" b="1" dirty="0"/>
              <a:t>/</a:t>
            </a:r>
            <a:r>
              <a:rPr lang="en-US" b="1" dirty="0" err="1"/>
              <a:t>GoogleRefine</a:t>
            </a:r>
            <a:r>
              <a:rPr lang="en-US" dirty="0"/>
              <a:t> – A </a:t>
            </a:r>
            <a:r>
              <a:rPr lang="en-US" b="1" dirty="0"/>
              <a:t>data cleaning </a:t>
            </a:r>
            <a:r>
              <a:rPr lang="en-US" dirty="0"/>
              <a:t>software that will clean up data for analysis. It is used for cleaning messy data, the transformation of data and parsing data from websites.</a:t>
            </a:r>
          </a:p>
        </p:txBody>
      </p:sp>
    </p:spTree>
    <p:extLst>
      <p:ext uri="{BB962C8B-B14F-4D97-AF65-F5344CB8AC3E}">
        <p14:creationId xmlns:p14="http://schemas.microsoft.com/office/powerpoint/2010/main" val="1399328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F718-B578-4A2A-9C42-CC1A55533BA1}"/>
              </a:ext>
            </a:extLst>
          </p:cNvPr>
          <p:cNvSpPr>
            <a:spLocks noGrp="1"/>
          </p:cNvSpPr>
          <p:nvPr>
            <p:ph type="title"/>
          </p:nvPr>
        </p:nvSpPr>
        <p:spPr/>
        <p:txBody>
          <a:bodyPr/>
          <a:lstStyle/>
          <a:p>
            <a:r>
              <a:rPr lang="en-US"/>
              <a:t>Tools in Data Analytics</a:t>
            </a:r>
          </a:p>
        </p:txBody>
      </p:sp>
      <p:sp>
        <p:nvSpPr>
          <p:cNvPr id="3" name="Content Placeholder 2">
            <a:extLst>
              <a:ext uri="{FF2B5EF4-FFF2-40B4-BE49-F238E27FC236}">
                <a16:creationId xmlns:a16="http://schemas.microsoft.com/office/drawing/2014/main" id="{B3C829C6-F835-4DC7-8147-1D1D114A9BBC}"/>
              </a:ext>
            </a:extLst>
          </p:cNvPr>
          <p:cNvSpPr>
            <a:spLocks noGrp="1"/>
          </p:cNvSpPr>
          <p:nvPr>
            <p:ph idx="1"/>
          </p:nvPr>
        </p:nvSpPr>
        <p:spPr/>
        <p:txBody>
          <a:bodyPr/>
          <a:lstStyle/>
          <a:p>
            <a:pPr lvl="1"/>
            <a:r>
              <a:rPr lang="en-US" b="1" dirty="0"/>
              <a:t>Microsoft Excel</a:t>
            </a:r>
            <a:r>
              <a:rPr lang="en-US" dirty="0"/>
              <a:t> – This tool is one of the most widely used tools for data analytics. Mostly used for clients’ internal data, this tool analyzes the tasks that summarize the data with a preview of </a:t>
            </a:r>
            <a:r>
              <a:rPr lang="en-US" b="1" dirty="0"/>
              <a:t>pivot tables</a:t>
            </a:r>
            <a:r>
              <a:rPr lang="en-US" dirty="0"/>
              <a:t>.</a:t>
            </a:r>
          </a:p>
          <a:p>
            <a:pPr lvl="1"/>
            <a:r>
              <a:rPr lang="en-US" b="1" dirty="0"/>
              <a:t>RapidMiner</a:t>
            </a:r>
            <a:r>
              <a:rPr lang="en-US" dirty="0"/>
              <a:t> – A powerful, integrated platform that can integrate with any data source types such as Access, Excel, Microsoft SQL, Tera data, Oracle, Sybase etc. This tool is mostly used for </a:t>
            </a:r>
            <a:r>
              <a:rPr lang="en-US" b="1" dirty="0"/>
              <a:t>predictive analytics</a:t>
            </a:r>
            <a:r>
              <a:rPr lang="en-US" dirty="0"/>
              <a:t>, such as data mining, text analytics, machine learning.</a:t>
            </a:r>
          </a:p>
          <a:p>
            <a:endParaRPr lang="en-US" dirty="0"/>
          </a:p>
        </p:txBody>
      </p:sp>
    </p:spTree>
    <p:extLst>
      <p:ext uri="{BB962C8B-B14F-4D97-AF65-F5344CB8AC3E}">
        <p14:creationId xmlns:p14="http://schemas.microsoft.com/office/powerpoint/2010/main" val="2746923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E844-136C-47D1-BC90-8A502EF7E21E}"/>
              </a:ext>
            </a:extLst>
          </p:cNvPr>
          <p:cNvSpPr>
            <a:spLocks noGrp="1"/>
          </p:cNvSpPr>
          <p:nvPr>
            <p:ph type="title"/>
          </p:nvPr>
        </p:nvSpPr>
        <p:spPr/>
        <p:txBody>
          <a:bodyPr/>
          <a:lstStyle/>
          <a:p>
            <a:r>
              <a:rPr lang="en-US"/>
              <a:t>Tools in Data Analytics</a:t>
            </a:r>
          </a:p>
        </p:txBody>
      </p:sp>
      <p:sp>
        <p:nvSpPr>
          <p:cNvPr id="3" name="Content Placeholder 2">
            <a:extLst>
              <a:ext uri="{FF2B5EF4-FFF2-40B4-BE49-F238E27FC236}">
                <a16:creationId xmlns:a16="http://schemas.microsoft.com/office/drawing/2014/main" id="{F2B79CE8-5FDF-4C6B-B788-B9964908DD0A}"/>
              </a:ext>
            </a:extLst>
          </p:cNvPr>
          <p:cNvSpPr>
            <a:spLocks noGrp="1"/>
          </p:cNvSpPr>
          <p:nvPr>
            <p:ph idx="1"/>
          </p:nvPr>
        </p:nvSpPr>
        <p:spPr>
          <a:xfrm>
            <a:off x="649817" y="1723869"/>
            <a:ext cx="10972800" cy="4499131"/>
          </a:xfrm>
        </p:spPr>
        <p:txBody>
          <a:bodyPr/>
          <a:lstStyle/>
          <a:p>
            <a:pPr lvl="1"/>
            <a:r>
              <a:rPr lang="en-US" b="1" dirty="0"/>
              <a:t>Konstanz Information Miner (KNIME)</a:t>
            </a:r>
            <a:r>
              <a:rPr lang="en-US" dirty="0"/>
              <a:t> – Open-source data analytics platform, which allows you to analyze and model data. It provides a platform for </a:t>
            </a:r>
            <a:r>
              <a:rPr lang="en-US" b="1" dirty="0"/>
              <a:t>reporting and integration </a:t>
            </a:r>
            <a:r>
              <a:rPr lang="en-US" dirty="0"/>
              <a:t>through its modular data pipeline concept.</a:t>
            </a:r>
          </a:p>
          <a:p>
            <a:pPr lvl="1"/>
            <a:r>
              <a:rPr lang="en-US" b="1" dirty="0"/>
              <a:t>Apache Spark</a:t>
            </a:r>
            <a:r>
              <a:rPr lang="en-US" dirty="0"/>
              <a:t> – One of the largest large-scale data processing engine. It executes applications in Hadoop clusters 100 times faster in memory and 10 times faster on disk. Popular for </a:t>
            </a:r>
            <a:r>
              <a:rPr lang="en-US" b="1" dirty="0"/>
              <a:t>data pipelines and machine learning </a:t>
            </a:r>
            <a:r>
              <a:rPr lang="en-US" dirty="0"/>
              <a:t>model development</a:t>
            </a:r>
          </a:p>
        </p:txBody>
      </p:sp>
    </p:spTree>
    <p:extLst>
      <p:ext uri="{BB962C8B-B14F-4D97-AF65-F5344CB8AC3E}">
        <p14:creationId xmlns:p14="http://schemas.microsoft.com/office/powerpoint/2010/main" val="4643047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the needs for data analytics</a:t>
            </a:r>
          </a:p>
          <a:p>
            <a:pPr lvl="1"/>
            <a:r>
              <a:rPr lang="en-US" altLang="en-US" dirty="0">
                <a:solidFill>
                  <a:schemeClr val="tx1">
                    <a:lumMod val="50000"/>
                    <a:lumOff val="50000"/>
                  </a:schemeClr>
                </a:solidFill>
              </a:rPr>
              <a:t>List some of the tools available for data analytics</a:t>
            </a:r>
          </a:p>
          <a:p>
            <a:pPr lvl="1"/>
            <a:r>
              <a:rPr lang="en-US" altLang="en-US" dirty="0"/>
              <a:t>List some of the required skills for a data analyst</a:t>
            </a:r>
          </a:p>
          <a:p>
            <a:pPr lvl="1"/>
            <a:r>
              <a:rPr lang="en-US" altLang="en-US" dirty="0">
                <a:solidFill>
                  <a:schemeClr val="tx1">
                    <a:lumMod val="50000"/>
                    <a:lumOff val="50000"/>
                  </a:schemeClr>
                </a:solidFill>
              </a:rPr>
              <a:t>Define Big Data Analytics</a:t>
            </a:r>
          </a:p>
          <a:p>
            <a:pPr lvl="1"/>
            <a:r>
              <a:rPr lang="en-US" altLang="en-US" dirty="0">
                <a:solidFill>
                  <a:schemeClr val="tx1">
                    <a:lumMod val="50000"/>
                    <a:lumOff val="50000"/>
                  </a:schemeClr>
                </a:solidFill>
              </a:rPr>
              <a:t>Explain the different types of big data analytics</a:t>
            </a:r>
          </a:p>
          <a:p>
            <a:pPr lvl="1"/>
            <a:r>
              <a:rPr lang="en-US" altLang="en-US" dirty="0">
                <a:solidFill>
                  <a:schemeClr val="tx1">
                    <a:lumMod val="50000"/>
                    <a:lumOff val="50000"/>
                  </a:schemeClr>
                </a:solidFill>
              </a:rPr>
              <a:t>Provide examples on real-life uses of big data analytics</a:t>
            </a:r>
          </a:p>
          <a:p>
            <a:pPr lvl="1"/>
            <a:endParaRPr lang="en-US" altLang="en-US" dirty="0"/>
          </a:p>
        </p:txBody>
      </p:sp>
    </p:spTree>
    <p:extLst>
      <p:ext uri="{BB962C8B-B14F-4D97-AF65-F5344CB8AC3E}">
        <p14:creationId xmlns:p14="http://schemas.microsoft.com/office/powerpoint/2010/main" val="7986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F8F-B338-41EF-8346-437EBBD08DFC}"/>
              </a:ext>
            </a:extLst>
          </p:cNvPr>
          <p:cNvSpPr>
            <a:spLocks noGrp="1"/>
          </p:cNvSpPr>
          <p:nvPr>
            <p:ph type="title"/>
          </p:nvPr>
        </p:nvSpPr>
        <p:spPr/>
        <p:txBody>
          <a:bodyPr/>
          <a:lstStyle/>
          <a:p>
            <a:r>
              <a:rPr lang="en-US"/>
              <a:t>Data Analyst</a:t>
            </a:r>
          </a:p>
        </p:txBody>
      </p:sp>
      <p:sp>
        <p:nvSpPr>
          <p:cNvPr id="3" name="Content Placeholder 2">
            <a:extLst>
              <a:ext uri="{FF2B5EF4-FFF2-40B4-BE49-F238E27FC236}">
                <a16:creationId xmlns:a16="http://schemas.microsoft.com/office/drawing/2014/main" id="{B34F733C-3FE2-45B9-8FC2-F9F1D82144C0}"/>
              </a:ext>
            </a:extLst>
          </p:cNvPr>
          <p:cNvSpPr>
            <a:spLocks noGrp="1"/>
          </p:cNvSpPr>
          <p:nvPr>
            <p:ph idx="1"/>
          </p:nvPr>
        </p:nvSpPr>
        <p:spPr/>
        <p:txBody>
          <a:bodyPr/>
          <a:lstStyle/>
          <a:p>
            <a:r>
              <a:rPr lang="en-US" b="1" dirty="0"/>
              <a:t>Data Analyst </a:t>
            </a:r>
            <a:r>
              <a:rPr lang="en-US" dirty="0"/>
              <a:t>is a professional who can analyze data by applying various tool and techniques and gathering the required insights</a:t>
            </a:r>
          </a:p>
          <a:p>
            <a:r>
              <a:rPr lang="en-US" dirty="0"/>
              <a:t>Data analysts </a:t>
            </a:r>
            <a:r>
              <a:rPr lang="en-US" b="1" dirty="0"/>
              <a:t>translate</a:t>
            </a:r>
            <a:r>
              <a:rPr lang="en-US" dirty="0"/>
              <a:t> numbers into plain English</a:t>
            </a:r>
          </a:p>
        </p:txBody>
      </p:sp>
      <p:pic>
        <p:nvPicPr>
          <p:cNvPr id="5" name="Picture 4">
            <a:extLst>
              <a:ext uri="{FF2B5EF4-FFF2-40B4-BE49-F238E27FC236}">
                <a16:creationId xmlns:a16="http://schemas.microsoft.com/office/drawing/2014/main" id="{F4FC23FD-5D24-4D48-920B-D67C4F36C57B}"/>
              </a:ext>
            </a:extLst>
          </p:cNvPr>
          <p:cNvPicPr>
            <a:picLocks noChangeAspect="1"/>
          </p:cNvPicPr>
          <p:nvPr/>
        </p:nvPicPr>
        <p:blipFill>
          <a:blip r:embed="rId3"/>
          <a:stretch>
            <a:fillRect/>
          </a:stretch>
        </p:blipFill>
        <p:spPr>
          <a:xfrm>
            <a:off x="2493285" y="3960019"/>
            <a:ext cx="6905625" cy="2152650"/>
          </a:xfrm>
          <a:prstGeom prst="rect">
            <a:avLst/>
          </a:prstGeom>
        </p:spPr>
      </p:pic>
    </p:spTree>
    <p:extLst>
      <p:ext uri="{BB962C8B-B14F-4D97-AF65-F5344CB8AC3E}">
        <p14:creationId xmlns:p14="http://schemas.microsoft.com/office/powerpoint/2010/main" val="25529637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07D42-1730-41A2-BE7F-11F908284E36}"/>
              </a:ext>
            </a:extLst>
          </p:cNvPr>
          <p:cNvSpPr>
            <a:spLocks noGrp="1"/>
          </p:cNvSpPr>
          <p:nvPr>
            <p:ph type="title"/>
          </p:nvPr>
        </p:nvSpPr>
        <p:spPr/>
        <p:txBody>
          <a:bodyPr/>
          <a:lstStyle/>
          <a:p>
            <a:r>
              <a:rPr lang="en-US"/>
              <a:t>Data Analyst</a:t>
            </a:r>
          </a:p>
        </p:txBody>
      </p:sp>
      <p:sp>
        <p:nvSpPr>
          <p:cNvPr id="3" name="Content Placeholder 2">
            <a:extLst>
              <a:ext uri="{FF2B5EF4-FFF2-40B4-BE49-F238E27FC236}">
                <a16:creationId xmlns:a16="http://schemas.microsoft.com/office/drawing/2014/main" id="{E670987E-2678-4BC6-A644-6ABC0882B331}"/>
              </a:ext>
            </a:extLst>
          </p:cNvPr>
          <p:cNvSpPr>
            <a:spLocks noGrp="1"/>
          </p:cNvSpPr>
          <p:nvPr>
            <p:ph idx="1"/>
          </p:nvPr>
        </p:nvSpPr>
        <p:spPr>
          <a:xfrm>
            <a:off x="736903" y="1490208"/>
            <a:ext cx="10972800" cy="4616677"/>
          </a:xfrm>
        </p:spPr>
        <p:txBody>
          <a:bodyPr/>
          <a:lstStyle/>
          <a:p>
            <a:r>
              <a:rPr lang="en-US" dirty="0"/>
              <a:t>Skills required: </a:t>
            </a:r>
          </a:p>
          <a:p>
            <a:pPr lvl="1"/>
            <a:r>
              <a:rPr lang="en-US" dirty="0"/>
              <a:t>Statistic</a:t>
            </a:r>
          </a:p>
          <a:p>
            <a:pPr lvl="1"/>
            <a:r>
              <a:rPr lang="en-US" dirty="0"/>
              <a:t>Data collection  </a:t>
            </a:r>
          </a:p>
          <a:p>
            <a:pPr lvl="1"/>
            <a:r>
              <a:rPr lang="en-US" dirty="0"/>
              <a:t>Data cleaning</a:t>
            </a:r>
          </a:p>
          <a:p>
            <a:pPr lvl="1"/>
            <a:r>
              <a:rPr lang="en-US" dirty="0"/>
              <a:t>Data analysis </a:t>
            </a:r>
          </a:p>
          <a:p>
            <a:pPr lvl="1"/>
            <a:r>
              <a:rPr lang="en-US" dirty="0"/>
              <a:t>Hidden insights discovery</a:t>
            </a:r>
          </a:p>
          <a:p>
            <a:pPr lvl="1"/>
            <a:r>
              <a:rPr lang="en-US" dirty="0"/>
              <a:t>Data visualization</a:t>
            </a:r>
          </a:p>
          <a:p>
            <a:pPr lvl="1"/>
            <a:r>
              <a:rPr lang="en-US" dirty="0"/>
              <a:t>Reports generating</a:t>
            </a:r>
          </a:p>
          <a:p>
            <a:pPr lvl="1"/>
            <a:r>
              <a:rPr lang="en-US" dirty="0"/>
              <a:t>Machine learning</a:t>
            </a:r>
          </a:p>
        </p:txBody>
      </p:sp>
    </p:spTree>
    <p:extLst>
      <p:ext uri="{BB962C8B-B14F-4D97-AF65-F5344CB8AC3E}">
        <p14:creationId xmlns:p14="http://schemas.microsoft.com/office/powerpoint/2010/main" val="36965232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the needs for data analytics</a:t>
            </a:r>
          </a:p>
          <a:p>
            <a:pPr lvl="1"/>
            <a:r>
              <a:rPr lang="en-US" altLang="en-US" dirty="0">
                <a:solidFill>
                  <a:schemeClr val="tx1">
                    <a:lumMod val="50000"/>
                    <a:lumOff val="50000"/>
                  </a:schemeClr>
                </a:solidFill>
              </a:rPr>
              <a:t>List some of the tools available for data analytics</a:t>
            </a:r>
          </a:p>
          <a:p>
            <a:pPr lvl="1"/>
            <a:r>
              <a:rPr lang="en-US" altLang="en-US" dirty="0">
                <a:solidFill>
                  <a:schemeClr val="tx1">
                    <a:lumMod val="50000"/>
                    <a:lumOff val="50000"/>
                  </a:schemeClr>
                </a:solidFill>
              </a:rPr>
              <a:t>List some of the required skills for a data analyst</a:t>
            </a:r>
          </a:p>
          <a:p>
            <a:pPr lvl="1"/>
            <a:r>
              <a:rPr lang="en-US" altLang="en-US" dirty="0"/>
              <a:t>Define Big Data Analytics</a:t>
            </a:r>
          </a:p>
          <a:p>
            <a:pPr lvl="1"/>
            <a:r>
              <a:rPr lang="en-US" altLang="en-US" dirty="0">
                <a:solidFill>
                  <a:schemeClr val="tx1">
                    <a:lumMod val="50000"/>
                    <a:lumOff val="50000"/>
                  </a:schemeClr>
                </a:solidFill>
              </a:rPr>
              <a:t>Explain the different types of big data analytics</a:t>
            </a:r>
          </a:p>
          <a:p>
            <a:pPr lvl="1"/>
            <a:r>
              <a:rPr lang="en-US" altLang="en-US" dirty="0">
                <a:solidFill>
                  <a:schemeClr val="tx1">
                    <a:lumMod val="50000"/>
                    <a:lumOff val="50000"/>
                  </a:schemeClr>
                </a:solidFill>
              </a:rPr>
              <a:t>Provide examples on real-life uses of big data analytics</a:t>
            </a:r>
          </a:p>
          <a:p>
            <a:pPr lvl="1"/>
            <a:endParaRPr lang="en-US" altLang="en-US" dirty="0"/>
          </a:p>
        </p:txBody>
      </p:sp>
    </p:spTree>
    <p:extLst>
      <p:ext uri="{BB962C8B-B14F-4D97-AF65-F5344CB8AC3E}">
        <p14:creationId xmlns:p14="http://schemas.microsoft.com/office/powerpoint/2010/main" val="15878089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63186-4788-4991-892B-8DED85A58091}"/>
              </a:ext>
            </a:extLst>
          </p:cNvPr>
          <p:cNvSpPr>
            <a:spLocks noGrp="1"/>
          </p:cNvSpPr>
          <p:nvPr>
            <p:ph type="title"/>
          </p:nvPr>
        </p:nvSpPr>
        <p:spPr/>
        <p:txBody>
          <a:bodyPr/>
          <a:lstStyle/>
          <a:p>
            <a:r>
              <a:rPr lang="en-US"/>
              <a:t>Big Data Analytics</a:t>
            </a:r>
          </a:p>
        </p:txBody>
      </p:sp>
      <p:sp>
        <p:nvSpPr>
          <p:cNvPr id="3" name="Content Placeholder 2">
            <a:extLst>
              <a:ext uri="{FF2B5EF4-FFF2-40B4-BE49-F238E27FC236}">
                <a16:creationId xmlns:a16="http://schemas.microsoft.com/office/drawing/2014/main" id="{EB54592C-7B47-49F7-AFF3-5E01ECCA1802}"/>
              </a:ext>
            </a:extLst>
          </p:cNvPr>
          <p:cNvSpPr>
            <a:spLocks noGrp="1"/>
          </p:cNvSpPr>
          <p:nvPr>
            <p:ph idx="1"/>
          </p:nvPr>
        </p:nvSpPr>
        <p:spPr>
          <a:xfrm>
            <a:off x="726018" y="1367327"/>
            <a:ext cx="10972800" cy="5207643"/>
          </a:xfrm>
        </p:spPr>
        <p:txBody>
          <a:bodyPr/>
          <a:lstStyle/>
          <a:p>
            <a:r>
              <a:rPr lang="en-US" b="1" dirty="0"/>
              <a:t>Big Data</a:t>
            </a:r>
            <a:r>
              <a:rPr lang="en-US" dirty="0"/>
              <a:t>: A </a:t>
            </a:r>
            <a:r>
              <a:rPr lang="en-US" b="1" dirty="0"/>
              <a:t>concept</a:t>
            </a:r>
            <a:r>
              <a:rPr lang="en-US" dirty="0"/>
              <a:t> in Software Engineering which we use when we have a large sets of machine generated data, which in most of the cases is unstructured and not easy to use with traditional RDBMS concepts.</a:t>
            </a:r>
          </a:p>
          <a:p>
            <a:r>
              <a:rPr lang="en-US" b="1" dirty="0"/>
              <a:t>Data Analytics</a:t>
            </a:r>
            <a:r>
              <a:rPr lang="en-US" dirty="0"/>
              <a:t>: More of </a:t>
            </a:r>
            <a:r>
              <a:rPr lang="en-US" b="1" dirty="0"/>
              <a:t>analyzing data </a:t>
            </a:r>
            <a:r>
              <a:rPr lang="en-US" dirty="0"/>
              <a:t>which could be structured or unstructured. </a:t>
            </a:r>
          </a:p>
          <a:p>
            <a:r>
              <a:rPr lang="en-US" b="1" dirty="0"/>
              <a:t>Big Data Analytics</a:t>
            </a:r>
            <a:r>
              <a:rPr lang="en-US" dirty="0"/>
              <a:t>: Complex process of </a:t>
            </a:r>
            <a:r>
              <a:rPr lang="en-US" b="1" dirty="0"/>
              <a:t>examining</a:t>
            </a:r>
            <a:r>
              <a:rPr lang="en-US" dirty="0"/>
              <a:t> large and varied data sets, to </a:t>
            </a:r>
            <a:r>
              <a:rPr lang="en-US" b="1" dirty="0"/>
              <a:t>uncover</a:t>
            </a:r>
            <a:r>
              <a:rPr lang="en-US" dirty="0"/>
              <a:t> information that can help organizations make informed </a:t>
            </a:r>
            <a:r>
              <a:rPr lang="en-US" b="1" dirty="0"/>
              <a:t>business decisions.</a:t>
            </a:r>
          </a:p>
        </p:txBody>
      </p:sp>
    </p:spTree>
    <p:extLst>
      <p:ext uri="{BB962C8B-B14F-4D97-AF65-F5344CB8AC3E}">
        <p14:creationId xmlns:p14="http://schemas.microsoft.com/office/powerpoint/2010/main" val="3748855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the needs for data analytics</a:t>
            </a:r>
          </a:p>
          <a:p>
            <a:pPr lvl="1"/>
            <a:r>
              <a:rPr lang="en-US" altLang="en-US" dirty="0">
                <a:solidFill>
                  <a:schemeClr val="tx1">
                    <a:lumMod val="50000"/>
                    <a:lumOff val="50000"/>
                  </a:schemeClr>
                </a:solidFill>
              </a:rPr>
              <a:t>List some of the tools available for data analytics</a:t>
            </a:r>
          </a:p>
          <a:p>
            <a:pPr lvl="1"/>
            <a:r>
              <a:rPr lang="en-US" altLang="en-US" dirty="0">
                <a:solidFill>
                  <a:schemeClr val="tx1">
                    <a:lumMod val="50000"/>
                    <a:lumOff val="50000"/>
                  </a:schemeClr>
                </a:solidFill>
              </a:rPr>
              <a:t>List some of the required skills for a data analyst</a:t>
            </a:r>
          </a:p>
          <a:p>
            <a:pPr lvl="1"/>
            <a:r>
              <a:rPr lang="en-US" altLang="en-US" dirty="0">
                <a:solidFill>
                  <a:schemeClr val="tx1">
                    <a:lumMod val="50000"/>
                    <a:lumOff val="50000"/>
                  </a:schemeClr>
                </a:solidFill>
              </a:rPr>
              <a:t>Define Big Data Analytics</a:t>
            </a:r>
          </a:p>
          <a:p>
            <a:pPr lvl="1"/>
            <a:r>
              <a:rPr lang="en-US" altLang="en-US" dirty="0"/>
              <a:t>Explain the different types of big data analytics</a:t>
            </a:r>
          </a:p>
          <a:p>
            <a:pPr lvl="1"/>
            <a:r>
              <a:rPr lang="en-US" altLang="en-US" dirty="0">
                <a:solidFill>
                  <a:schemeClr val="tx1">
                    <a:lumMod val="50000"/>
                    <a:lumOff val="50000"/>
                  </a:schemeClr>
                </a:solidFill>
              </a:rPr>
              <a:t>Provide examples on real-life uses of big data analytics</a:t>
            </a:r>
          </a:p>
          <a:p>
            <a:pPr lvl="1"/>
            <a:endParaRPr lang="en-US" altLang="en-US" dirty="0"/>
          </a:p>
        </p:txBody>
      </p:sp>
    </p:spTree>
    <p:extLst>
      <p:ext uri="{BB962C8B-B14F-4D97-AF65-F5344CB8AC3E}">
        <p14:creationId xmlns:p14="http://schemas.microsoft.com/office/powerpoint/2010/main" val="761908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B624E-7FA6-4125-BA87-5143F3F8953B}"/>
              </a:ext>
            </a:extLst>
          </p:cNvPr>
          <p:cNvSpPr>
            <a:spLocks noGrp="1"/>
          </p:cNvSpPr>
          <p:nvPr>
            <p:ph type="title"/>
          </p:nvPr>
        </p:nvSpPr>
        <p:spPr/>
        <p:txBody>
          <a:bodyPr/>
          <a:lstStyle/>
          <a:p>
            <a:r>
              <a:rPr lang="en-US"/>
              <a:t>Big Data Analytics</a:t>
            </a:r>
          </a:p>
        </p:txBody>
      </p:sp>
      <p:sp>
        <p:nvSpPr>
          <p:cNvPr id="3" name="Content Placeholder 2">
            <a:extLst>
              <a:ext uri="{FF2B5EF4-FFF2-40B4-BE49-F238E27FC236}">
                <a16:creationId xmlns:a16="http://schemas.microsoft.com/office/drawing/2014/main" id="{F7CFB1B1-8DA8-45A9-9757-E16E95A59E90}"/>
              </a:ext>
            </a:extLst>
          </p:cNvPr>
          <p:cNvSpPr>
            <a:spLocks noGrp="1"/>
          </p:cNvSpPr>
          <p:nvPr>
            <p:ph idx="1"/>
          </p:nvPr>
        </p:nvSpPr>
        <p:spPr>
          <a:xfrm>
            <a:off x="449705" y="1367328"/>
            <a:ext cx="11172912" cy="4855672"/>
          </a:xfrm>
        </p:spPr>
        <p:txBody>
          <a:bodyPr/>
          <a:lstStyle/>
          <a:p>
            <a:r>
              <a:rPr lang="en-US" dirty="0"/>
              <a:t>Four </a:t>
            </a:r>
            <a:r>
              <a:rPr lang="en-US" b="1" dirty="0"/>
              <a:t>types</a:t>
            </a:r>
            <a:r>
              <a:rPr lang="en-US" dirty="0"/>
              <a:t> of Big Data Analytics:</a:t>
            </a:r>
          </a:p>
          <a:p>
            <a:pPr marL="0" indent="0">
              <a:buNone/>
            </a:pPr>
            <a:endParaRPr lang="en-US" sz="2800" b="1" dirty="0"/>
          </a:p>
          <a:p>
            <a:pPr lvl="1">
              <a:buFont typeface="Arial" panose="020B0604020202020204" pitchFamily="34" charset="0"/>
              <a:buChar char="–"/>
            </a:pPr>
            <a:r>
              <a:rPr lang="en-US" b="1" dirty="0"/>
              <a:t>Descriptive</a:t>
            </a:r>
            <a:r>
              <a:rPr lang="en-US" dirty="0"/>
              <a:t>: Allows organizations to learn from </a:t>
            </a:r>
            <a:r>
              <a:rPr lang="en-US" b="1" dirty="0"/>
              <a:t>past</a:t>
            </a:r>
            <a:r>
              <a:rPr lang="en-US" dirty="0"/>
              <a:t> behaviors, and help them in understanding how they might influence </a:t>
            </a:r>
            <a:r>
              <a:rPr lang="en-US" b="1" dirty="0"/>
              <a:t>future</a:t>
            </a:r>
            <a:r>
              <a:rPr lang="en-US" dirty="0"/>
              <a:t> outcomes: </a:t>
            </a:r>
            <a:r>
              <a:rPr lang="en-US" b="1" dirty="0"/>
              <a:t>What</a:t>
            </a:r>
            <a:r>
              <a:rPr lang="en-US" dirty="0"/>
              <a:t> has happened? </a:t>
            </a:r>
          </a:p>
          <a:p>
            <a:pPr lvl="1">
              <a:buFont typeface="Arial" panose="020B0604020202020204" pitchFamily="34" charset="0"/>
              <a:buChar char="–"/>
            </a:pPr>
            <a:endParaRPr lang="en-US" dirty="0"/>
          </a:p>
          <a:p>
            <a:pPr lvl="1">
              <a:buFont typeface="Arial" panose="020B0604020202020204" pitchFamily="34" charset="0"/>
              <a:buChar char="–"/>
            </a:pPr>
            <a:r>
              <a:rPr lang="en-US" b="1" dirty="0"/>
              <a:t>Diagnostic</a:t>
            </a:r>
            <a:r>
              <a:rPr lang="en-US" dirty="0"/>
              <a:t>: Often referred to as </a:t>
            </a:r>
            <a:r>
              <a:rPr lang="en-US" b="1" dirty="0"/>
              <a:t>root cause analysis</a:t>
            </a:r>
            <a:r>
              <a:rPr lang="en-US" dirty="0"/>
              <a:t>.  It provides deeper analysis to answer the question: </a:t>
            </a:r>
            <a:r>
              <a:rPr lang="en-US" b="1" dirty="0"/>
              <a:t>Why</a:t>
            </a:r>
            <a:r>
              <a:rPr lang="en-US" dirty="0"/>
              <a:t> did this happen? </a:t>
            </a:r>
          </a:p>
        </p:txBody>
      </p:sp>
    </p:spTree>
    <p:extLst>
      <p:ext uri="{BB962C8B-B14F-4D97-AF65-F5344CB8AC3E}">
        <p14:creationId xmlns:p14="http://schemas.microsoft.com/office/powerpoint/2010/main" val="1487797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B624E-7FA6-4125-BA87-5143F3F8953B}"/>
              </a:ext>
            </a:extLst>
          </p:cNvPr>
          <p:cNvSpPr>
            <a:spLocks noGrp="1"/>
          </p:cNvSpPr>
          <p:nvPr>
            <p:ph type="title"/>
          </p:nvPr>
        </p:nvSpPr>
        <p:spPr/>
        <p:txBody>
          <a:bodyPr/>
          <a:lstStyle/>
          <a:p>
            <a:r>
              <a:rPr lang="en-US"/>
              <a:t>Big Data Analytics</a:t>
            </a:r>
          </a:p>
        </p:txBody>
      </p:sp>
      <p:sp>
        <p:nvSpPr>
          <p:cNvPr id="3" name="Content Placeholder 2">
            <a:extLst>
              <a:ext uri="{FF2B5EF4-FFF2-40B4-BE49-F238E27FC236}">
                <a16:creationId xmlns:a16="http://schemas.microsoft.com/office/drawing/2014/main" id="{F7CFB1B1-8DA8-45A9-9757-E16E95A59E90}"/>
              </a:ext>
            </a:extLst>
          </p:cNvPr>
          <p:cNvSpPr>
            <a:spLocks noGrp="1"/>
          </p:cNvSpPr>
          <p:nvPr>
            <p:ph idx="1"/>
          </p:nvPr>
        </p:nvSpPr>
        <p:spPr>
          <a:xfrm>
            <a:off x="449705" y="1367328"/>
            <a:ext cx="11172912" cy="4855672"/>
          </a:xfrm>
        </p:spPr>
        <p:txBody>
          <a:bodyPr/>
          <a:lstStyle/>
          <a:p>
            <a:r>
              <a:rPr lang="en-US" dirty="0"/>
              <a:t>Four types of Big Data Analytics:</a:t>
            </a:r>
          </a:p>
          <a:p>
            <a:endParaRPr lang="en-US" dirty="0"/>
          </a:p>
          <a:p>
            <a:pPr lvl="1"/>
            <a:r>
              <a:rPr lang="en-US" b="1" dirty="0"/>
              <a:t>Predictive</a:t>
            </a:r>
            <a:r>
              <a:rPr lang="en-US" dirty="0"/>
              <a:t>: Uses this historical data, combined with customer insight, to predict future events. </a:t>
            </a:r>
            <a:r>
              <a:rPr lang="en-US" b="1" dirty="0"/>
              <a:t>What</a:t>
            </a:r>
            <a:r>
              <a:rPr lang="en-US" dirty="0"/>
              <a:t> will happen </a:t>
            </a:r>
            <a:r>
              <a:rPr lang="en-US" b="1" dirty="0"/>
              <a:t>if</a:t>
            </a:r>
            <a:r>
              <a:rPr lang="en-US" dirty="0"/>
              <a:t>…?</a:t>
            </a:r>
          </a:p>
          <a:p>
            <a:pPr lvl="1"/>
            <a:endParaRPr lang="en-US" dirty="0"/>
          </a:p>
          <a:p>
            <a:pPr lvl="1"/>
            <a:r>
              <a:rPr lang="en-US" b="1" dirty="0"/>
              <a:t>Prescriptive</a:t>
            </a:r>
            <a:r>
              <a:rPr lang="en-US" dirty="0"/>
              <a:t>: Uses AI to understand what the impact is of future decisions and uses those scenarios to determine the best outcome. </a:t>
            </a:r>
            <a:r>
              <a:rPr lang="en-US" b="1" dirty="0"/>
              <a:t>What should </a:t>
            </a:r>
            <a:r>
              <a:rPr lang="en-US" dirty="0"/>
              <a:t>we do about this? </a:t>
            </a:r>
          </a:p>
        </p:txBody>
      </p:sp>
    </p:spTree>
    <p:extLst>
      <p:ext uri="{BB962C8B-B14F-4D97-AF65-F5344CB8AC3E}">
        <p14:creationId xmlns:p14="http://schemas.microsoft.com/office/powerpoint/2010/main" val="12787252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B624E-7FA6-4125-BA87-5143F3F8953B}"/>
              </a:ext>
            </a:extLst>
          </p:cNvPr>
          <p:cNvSpPr>
            <a:spLocks noGrp="1"/>
          </p:cNvSpPr>
          <p:nvPr>
            <p:ph type="title"/>
          </p:nvPr>
        </p:nvSpPr>
        <p:spPr/>
        <p:txBody>
          <a:bodyPr/>
          <a:lstStyle/>
          <a:p>
            <a:r>
              <a:rPr lang="en-US"/>
              <a:t>Big Data Analytics</a:t>
            </a:r>
          </a:p>
        </p:txBody>
      </p:sp>
      <p:pic>
        <p:nvPicPr>
          <p:cNvPr id="4098" name="Picture 2" descr="Predictive Analytics Usage and Implications in Healthcare"/>
          <p:cNvPicPr>
            <a:picLocks noChangeAspect="1" noChangeArrowheads="1"/>
          </p:cNvPicPr>
          <p:nvPr/>
        </p:nvPicPr>
        <p:blipFill rotWithShape="1">
          <a:blip r:embed="rId2">
            <a:extLst>
              <a:ext uri="{28A0092B-C50C-407E-A947-70E740481C1C}">
                <a14:useLocalDpi xmlns:a14="http://schemas.microsoft.com/office/drawing/2010/main" val="0"/>
              </a:ext>
            </a:extLst>
          </a:blip>
          <a:srcRect t="7923" b="8152"/>
          <a:stretch/>
        </p:blipFill>
        <p:spPr bwMode="auto">
          <a:xfrm>
            <a:off x="1679972" y="1360623"/>
            <a:ext cx="8239458" cy="519163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2D4EE98-FBA4-459A-8E8C-994B7B5EF659}"/>
                  </a:ext>
                </a:extLst>
              </p14:cNvPr>
              <p14:cNvContentPartPr/>
              <p14:nvPr/>
            </p14:nvContentPartPr>
            <p14:xfrm>
              <a:off x="391026" y="1911055"/>
              <a:ext cx="9524" cy="9524"/>
            </p14:xfrm>
          </p:contentPart>
        </mc:Choice>
        <mc:Fallback xmlns="">
          <p:pic>
            <p:nvPicPr>
              <p:cNvPr id="3" name="Ink 2">
                <a:extLst>
                  <a:ext uri="{FF2B5EF4-FFF2-40B4-BE49-F238E27FC236}">
                    <a16:creationId xmlns:a16="http://schemas.microsoft.com/office/drawing/2014/main" id="{D2D4EE98-FBA4-459A-8E8C-994B7B5EF659}"/>
                  </a:ext>
                </a:extLst>
              </p:cNvPr>
              <p:cNvPicPr/>
              <p:nvPr/>
            </p:nvPicPr>
            <p:blipFill>
              <a:blip r:embed="rId4"/>
              <a:stretch>
                <a:fillRect/>
              </a:stretch>
            </p:blipFill>
            <p:spPr>
              <a:xfrm>
                <a:off x="-85174" y="1871372"/>
                <a:ext cx="952400" cy="88097"/>
              </a:xfrm>
              <a:prstGeom prst="rect">
                <a:avLst/>
              </a:prstGeom>
            </p:spPr>
          </p:pic>
        </mc:Fallback>
      </mc:AlternateContent>
    </p:spTree>
    <p:extLst>
      <p:ext uri="{BB962C8B-B14F-4D97-AF65-F5344CB8AC3E}">
        <p14:creationId xmlns:p14="http://schemas.microsoft.com/office/powerpoint/2010/main" val="1074669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3D047-F806-4D5F-89FA-E41CCAC55A94}"/>
              </a:ext>
            </a:extLst>
          </p:cNvPr>
          <p:cNvSpPr>
            <a:spLocks noGrp="1"/>
          </p:cNvSpPr>
          <p:nvPr>
            <p:ph type="title"/>
          </p:nvPr>
        </p:nvSpPr>
        <p:spPr/>
        <p:txBody>
          <a:bodyPr/>
          <a:lstStyle/>
          <a:p>
            <a:r>
              <a:rPr lang="en-US"/>
              <a:t>Group Discussion</a:t>
            </a:r>
          </a:p>
        </p:txBody>
      </p:sp>
      <p:sp>
        <p:nvSpPr>
          <p:cNvPr id="3" name="Content Placeholder 2">
            <a:extLst>
              <a:ext uri="{FF2B5EF4-FFF2-40B4-BE49-F238E27FC236}">
                <a16:creationId xmlns:a16="http://schemas.microsoft.com/office/drawing/2014/main" id="{3E9E2044-43E3-4947-BD82-12007E300B27}"/>
              </a:ext>
            </a:extLst>
          </p:cNvPr>
          <p:cNvSpPr>
            <a:spLocks noGrp="1"/>
          </p:cNvSpPr>
          <p:nvPr>
            <p:ph idx="1"/>
          </p:nvPr>
        </p:nvSpPr>
        <p:spPr/>
        <p:txBody>
          <a:bodyPr/>
          <a:lstStyle/>
          <a:p>
            <a:r>
              <a:rPr lang="en-US" dirty="0"/>
              <a:t>Watch and discuss the content of the video:</a:t>
            </a:r>
          </a:p>
          <a:p>
            <a:pPr lvl="1"/>
            <a:r>
              <a:rPr lang="en-US" dirty="0">
                <a:hlinkClick r:id="rId2"/>
              </a:rPr>
              <a:t>https://www.youtube.com/watch?v=aeHqYLgZP84</a:t>
            </a:r>
            <a:endParaRPr lang="en-US" dirty="0"/>
          </a:p>
        </p:txBody>
      </p:sp>
      <p:pic>
        <p:nvPicPr>
          <p:cNvPr id="5" name="Picture 4">
            <a:hlinkClick r:id="rId2"/>
            <a:extLst>
              <a:ext uri="{FF2B5EF4-FFF2-40B4-BE49-F238E27FC236}">
                <a16:creationId xmlns:a16="http://schemas.microsoft.com/office/drawing/2014/main" id="{6B3ACF31-4EFD-4930-B3C3-EC8EE0A76587}"/>
              </a:ext>
            </a:extLst>
          </p:cNvPr>
          <p:cNvPicPr>
            <a:picLocks noChangeAspect="1"/>
          </p:cNvPicPr>
          <p:nvPr/>
        </p:nvPicPr>
        <p:blipFill>
          <a:blip r:embed="rId3"/>
          <a:stretch>
            <a:fillRect/>
          </a:stretch>
        </p:blipFill>
        <p:spPr>
          <a:xfrm>
            <a:off x="3812937" y="3542848"/>
            <a:ext cx="2686050" cy="1695450"/>
          </a:xfrm>
          <a:prstGeom prst="rect">
            <a:avLst/>
          </a:prstGeom>
        </p:spPr>
      </p:pic>
    </p:spTree>
    <p:extLst>
      <p:ext uri="{BB962C8B-B14F-4D97-AF65-F5344CB8AC3E}">
        <p14:creationId xmlns:p14="http://schemas.microsoft.com/office/powerpoint/2010/main" val="7896590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6FC83-D2A5-4D05-8BF2-F929B5BCA8AD}"/>
              </a:ext>
            </a:extLst>
          </p:cNvPr>
          <p:cNvSpPr>
            <a:spLocks noGrp="1"/>
          </p:cNvSpPr>
          <p:nvPr>
            <p:ph type="title"/>
          </p:nvPr>
        </p:nvSpPr>
        <p:spPr/>
        <p:txBody>
          <a:bodyPr/>
          <a:lstStyle/>
          <a:p>
            <a:r>
              <a:rPr lang="en-US"/>
              <a:t>Learning Outcomes for the Lecture</a:t>
            </a:r>
          </a:p>
        </p:txBody>
      </p:sp>
      <p:sp>
        <p:nvSpPr>
          <p:cNvPr id="3" name="Content Placeholder 2">
            <a:extLst>
              <a:ext uri="{FF2B5EF4-FFF2-40B4-BE49-F238E27FC236}">
                <a16:creationId xmlns:a16="http://schemas.microsoft.com/office/drawing/2014/main" id="{443DD340-36DA-4ED1-989B-9D2CBC44CFD2}"/>
              </a:ext>
            </a:extLst>
          </p:cNvPr>
          <p:cNvSpPr>
            <a:spLocks noGrp="1"/>
          </p:cNvSpPr>
          <p:nvPr>
            <p:ph idx="1"/>
          </p:nvPr>
        </p:nvSpPr>
        <p:spPr/>
        <p:txBody>
          <a:bodyPr/>
          <a:lstStyle/>
          <a:p>
            <a:r>
              <a:rPr lang="en-US" altLang="en-US" b="1" dirty="0"/>
              <a:t>At the end of this lecture you will be able to:</a:t>
            </a:r>
          </a:p>
          <a:p>
            <a:pPr lvl="1"/>
            <a:r>
              <a:rPr lang="en-US" altLang="en-US" dirty="0">
                <a:solidFill>
                  <a:schemeClr val="tx1">
                    <a:lumMod val="50000"/>
                    <a:lumOff val="50000"/>
                  </a:schemeClr>
                </a:solidFill>
              </a:rPr>
              <a:t>Explain the needs for data analytics</a:t>
            </a:r>
          </a:p>
          <a:p>
            <a:pPr lvl="1"/>
            <a:r>
              <a:rPr lang="en-US" altLang="en-US" dirty="0">
                <a:solidFill>
                  <a:schemeClr val="tx1">
                    <a:lumMod val="50000"/>
                    <a:lumOff val="50000"/>
                  </a:schemeClr>
                </a:solidFill>
              </a:rPr>
              <a:t>List some of the tools available for data analytics</a:t>
            </a:r>
          </a:p>
          <a:p>
            <a:pPr lvl="1"/>
            <a:r>
              <a:rPr lang="en-US" altLang="en-US" dirty="0">
                <a:solidFill>
                  <a:schemeClr val="tx1">
                    <a:lumMod val="50000"/>
                    <a:lumOff val="50000"/>
                  </a:schemeClr>
                </a:solidFill>
              </a:rPr>
              <a:t>List some of the required skills for a data analyst</a:t>
            </a:r>
          </a:p>
          <a:p>
            <a:pPr lvl="1"/>
            <a:r>
              <a:rPr lang="en-US" altLang="en-US" dirty="0">
                <a:solidFill>
                  <a:schemeClr val="tx1">
                    <a:lumMod val="50000"/>
                    <a:lumOff val="50000"/>
                  </a:schemeClr>
                </a:solidFill>
              </a:rPr>
              <a:t>Define Big Data Analytics</a:t>
            </a:r>
          </a:p>
          <a:p>
            <a:pPr lvl="1"/>
            <a:r>
              <a:rPr lang="en-US" altLang="en-US" dirty="0">
                <a:solidFill>
                  <a:schemeClr val="tx1">
                    <a:lumMod val="50000"/>
                    <a:lumOff val="50000"/>
                  </a:schemeClr>
                </a:solidFill>
              </a:rPr>
              <a:t>Explain the different types of big data analytics</a:t>
            </a:r>
          </a:p>
          <a:p>
            <a:pPr lvl="1"/>
            <a:r>
              <a:rPr lang="en-US" altLang="en-US" dirty="0"/>
              <a:t>Provide examples on real-life uses of big data analytics</a:t>
            </a:r>
          </a:p>
          <a:p>
            <a:pPr lvl="1"/>
            <a:endParaRPr lang="en-US" altLang="en-US" dirty="0"/>
          </a:p>
        </p:txBody>
      </p:sp>
    </p:spTree>
    <p:extLst>
      <p:ext uri="{BB962C8B-B14F-4D97-AF65-F5344CB8AC3E}">
        <p14:creationId xmlns:p14="http://schemas.microsoft.com/office/powerpoint/2010/main" val="752469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2E71B-F350-4EE1-A401-01CE3720270F}"/>
              </a:ext>
            </a:extLst>
          </p:cNvPr>
          <p:cNvSpPr>
            <a:spLocks noGrp="1"/>
          </p:cNvSpPr>
          <p:nvPr>
            <p:ph type="title"/>
          </p:nvPr>
        </p:nvSpPr>
        <p:spPr/>
        <p:txBody>
          <a:bodyPr/>
          <a:lstStyle/>
          <a:p>
            <a:r>
              <a:rPr lang="en-US"/>
              <a:t>Uses of Big Data Analytics</a:t>
            </a:r>
          </a:p>
        </p:txBody>
      </p:sp>
      <p:sp>
        <p:nvSpPr>
          <p:cNvPr id="3" name="Content Placeholder 2">
            <a:extLst>
              <a:ext uri="{FF2B5EF4-FFF2-40B4-BE49-F238E27FC236}">
                <a16:creationId xmlns:a16="http://schemas.microsoft.com/office/drawing/2014/main" id="{2A22A971-6B86-468C-9BB0-E04E4891FE9F}"/>
              </a:ext>
            </a:extLst>
          </p:cNvPr>
          <p:cNvSpPr>
            <a:spLocks noGrp="1"/>
          </p:cNvSpPr>
          <p:nvPr>
            <p:ph idx="1"/>
          </p:nvPr>
        </p:nvSpPr>
        <p:spPr>
          <a:xfrm>
            <a:off x="609600" y="1457552"/>
            <a:ext cx="10972800" cy="4525962"/>
          </a:xfrm>
        </p:spPr>
        <p:txBody>
          <a:bodyPr/>
          <a:lstStyle/>
          <a:p>
            <a:pPr marL="514350" indent="-514350">
              <a:buFont typeface="+mj-lt"/>
              <a:buAutoNum type="arabicPeriod"/>
            </a:pPr>
            <a:r>
              <a:rPr lang="en-US" dirty="0"/>
              <a:t>Using Big Data Analytics to Boost Customer Acquisition and Retention</a:t>
            </a:r>
          </a:p>
          <a:p>
            <a:pPr lvl="1"/>
            <a:r>
              <a:rPr lang="en-US" dirty="0"/>
              <a:t>In the year 2015, Coca-Cola managed to strengthen its data strategy by building a digital-led </a:t>
            </a:r>
            <a:r>
              <a:rPr lang="en-US" b="1" dirty="0"/>
              <a:t>loyalty program</a:t>
            </a:r>
            <a:r>
              <a:rPr lang="en-US" dirty="0"/>
              <a:t>. </a:t>
            </a:r>
          </a:p>
          <a:p>
            <a:pPr lvl="1"/>
            <a:r>
              <a:rPr lang="en-US" dirty="0"/>
              <a:t>Coca-Cola director of data strategy was interviewed by ADMA managing editor. The interview made it clear that big data analytics is strongly behind </a:t>
            </a:r>
            <a:r>
              <a:rPr lang="en-US" b="1" dirty="0"/>
              <a:t>customer retention </a:t>
            </a:r>
            <a:r>
              <a:rPr lang="en-US" dirty="0"/>
              <a:t>at Coca-Cola</a:t>
            </a:r>
          </a:p>
          <a:p>
            <a:pPr marL="744538" lvl="1" indent="0">
              <a:buNone/>
            </a:pPr>
            <a:r>
              <a:rPr lang="en-US" sz="2400" dirty="0">
                <a:hlinkClick r:id="rId2"/>
              </a:rPr>
              <a:t>https://www.adma.com.au/resources/how-coca-cola-uses-data-to-supercharge-its-superbrand-status</a:t>
            </a:r>
            <a:endParaRPr lang="en-US" sz="2400" dirty="0"/>
          </a:p>
        </p:txBody>
      </p:sp>
    </p:spTree>
    <p:extLst>
      <p:ext uri="{BB962C8B-B14F-4D97-AF65-F5344CB8AC3E}">
        <p14:creationId xmlns:p14="http://schemas.microsoft.com/office/powerpoint/2010/main" val="1227230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4910B-D6DC-403A-A565-189140BCBA28}"/>
              </a:ext>
            </a:extLst>
          </p:cNvPr>
          <p:cNvSpPr>
            <a:spLocks noGrp="1"/>
          </p:cNvSpPr>
          <p:nvPr>
            <p:ph type="title"/>
          </p:nvPr>
        </p:nvSpPr>
        <p:spPr/>
        <p:txBody>
          <a:bodyPr/>
          <a:lstStyle/>
          <a:p>
            <a:r>
              <a:rPr lang="en-US"/>
              <a:t>Uses of Big Data Analytics</a:t>
            </a:r>
          </a:p>
        </p:txBody>
      </p:sp>
      <p:sp>
        <p:nvSpPr>
          <p:cNvPr id="3" name="Content Placeholder 2">
            <a:extLst>
              <a:ext uri="{FF2B5EF4-FFF2-40B4-BE49-F238E27FC236}">
                <a16:creationId xmlns:a16="http://schemas.microsoft.com/office/drawing/2014/main" id="{3A4BBE4F-8378-4FCB-A616-F55B117762EE}"/>
              </a:ext>
            </a:extLst>
          </p:cNvPr>
          <p:cNvSpPr>
            <a:spLocks noGrp="1"/>
          </p:cNvSpPr>
          <p:nvPr>
            <p:ph idx="1"/>
          </p:nvPr>
        </p:nvSpPr>
        <p:spPr/>
        <p:txBody>
          <a:bodyPr/>
          <a:lstStyle/>
          <a:p>
            <a:pPr marL="514350" indent="-514350">
              <a:buFont typeface="+mj-lt"/>
              <a:buAutoNum type="arabicPeriod" startAt="2"/>
            </a:pPr>
            <a:r>
              <a:rPr lang="en-US"/>
              <a:t>Use of Big Data Analytics to Solve Advertisers Problem and Offer Marketing Insights</a:t>
            </a:r>
          </a:p>
          <a:p>
            <a:pPr lvl="1"/>
            <a:r>
              <a:rPr lang="en-US"/>
              <a:t>Netflix uses big data analytics for targeted advertising</a:t>
            </a:r>
          </a:p>
          <a:p>
            <a:pPr lvl="1"/>
            <a:r>
              <a:rPr lang="en-US"/>
              <a:t>Netflix sends subscriber suggestions of the next movie to watch based the past search and watch data. This data is used to give them insights on what interests the subscriber most. </a:t>
            </a:r>
          </a:p>
        </p:txBody>
      </p:sp>
    </p:spTree>
    <p:extLst>
      <p:ext uri="{BB962C8B-B14F-4D97-AF65-F5344CB8AC3E}">
        <p14:creationId xmlns:p14="http://schemas.microsoft.com/office/powerpoint/2010/main" val="20062636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7FE00-B74A-41C3-8DE1-88A1F8CF5319}"/>
              </a:ext>
            </a:extLst>
          </p:cNvPr>
          <p:cNvSpPr>
            <a:spLocks noGrp="1"/>
          </p:cNvSpPr>
          <p:nvPr>
            <p:ph type="title"/>
          </p:nvPr>
        </p:nvSpPr>
        <p:spPr/>
        <p:txBody>
          <a:bodyPr/>
          <a:lstStyle/>
          <a:p>
            <a:r>
              <a:rPr lang="en-US"/>
              <a:t>Uses of Big Data Analytics</a:t>
            </a:r>
          </a:p>
        </p:txBody>
      </p:sp>
      <p:sp>
        <p:nvSpPr>
          <p:cNvPr id="3" name="Content Placeholder 2">
            <a:extLst>
              <a:ext uri="{FF2B5EF4-FFF2-40B4-BE49-F238E27FC236}">
                <a16:creationId xmlns:a16="http://schemas.microsoft.com/office/drawing/2014/main" id="{36FDC3C8-CAC3-4360-B840-AD80A7258BB2}"/>
              </a:ext>
            </a:extLst>
          </p:cNvPr>
          <p:cNvSpPr>
            <a:spLocks noGrp="1"/>
          </p:cNvSpPr>
          <p:nvPr>
            <p:ph idx="1"/>
          </p:nvPr>
        </p:nvSpPr>
        <p:spPr/>
        <p:txBody>
          <a:bodyPr/>
          <a:lstStyle/>
          <a:p>
            <a:pPr marL="514350" indent="-514350">
              <a:buFont typeface="+mj-lt"/>
              <a:buAutoNum type="arabicPeriod" startAt="3"/>
            </a:pPr>
            <a:r>
              <a:rPr lang="en-US" dirty="0"/>
              <a:t>Big Data Analytics for Risk Management</a:t>
            </a:r>
          </a:p>
          <a:p>
            <a:pPr lvl="1"/>
            <a:r>
              <a:rPr lang="en-US" dirty="0"/>
              <a:t>UOB bank tested a risk management system that is based on big data. </a:t>
            </a:r>
          </a:p>
          <a:p>
            <a:pPr lvl="1"/>
            <a:r>
              <a:rPr lang="en-US" dirty="0"/>
              <a:t>The big data risk management system enables the bank to reduce the calculation time of the value at risk. </a:t>
            </a:r>
          </a:p>
          <a:p>
            <a:pPr lvl="2"/>
            <a:r>
              <a:rPr lang="en-US" dirty="0"/>
              <a:t>It would initially take about 18 hours</a:t>
            </a:r>
          </a:p>
          <a:p>
            <a:pPr lvl="2"/>
            <a:r>
              <a:rPr lang="en-US" dirty="0"/>
              <a:t>With the risk management system that uses big data, it only takes a few minutes. </a:t>
            </a:r>
          </a:p>
          <a:p>
            <a:pPr lvl="1"/>
            <a:r>
              <a:rPr lang="en-US" dirty="0"/>
              <a:t>Through this initiative, the bank will possibly be able to carry out real-time risk analysis in the near future</a:t>
            </a:r>
          </a:p>
        </p:txBody>
      </p:sp>
    </p:spTree>
    <p:extLst>
      <p:ext uri="{BB962C8B-B14F-4D97-AF65-F5344CB8AC3E}">
        <p14:creationId xmlns:p14="http://schemas.microsoft.com/office/powerpoint/2010/main" val="1587171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8B218-F78A-4B25-A415-58731298F188}"/>
              </a:ext>
            </a:extLst>
          </p:cNvPr>
          <p:cNvSpPr>
            <a:spLocks noGrp="1"/>
          </p:cNvSpPr>
          <p:nvPr>
            <p:ph type="title"/>
          </p:nvPr>
        </p:nvSpPr>
        <p:spPr/>
        <p:txBody>
          <a:bodyPr/>
          <a:lstStyle/>
          <a:p>
            <a:r>
              <a:rPr lang="en-US"/>
              <a:t>Uses of Big Data Analytics</a:t>
            </a:r>
          </a:p>
        </p:txBody>
      </p:sp>
      <p:sp>
        <p:nvSpPr>
          <p:cNvPr id="3" name="Content Placeholder 2">
            <a:extLst>
              <a:ext uri="{FF2B5EF4-FFF2-40B4-BE49-F238E27FC236}">
                <a16:creationId xmlns:a16="http://schemas.microsoft.com/office/drawing/2014/main" id="{A6781884-5C74-4641-A40A-5C50AB3EA1A8}"/>
              </a:ext>
            </a:extLst>
          </p:cNvPr>
          <p:cNvSpPr>
            <a:spLocks noGrp="1"/>
          </p:cNvSpPr>
          <p:nvPr>
            <p:ph idx="1"/>
          </p:nvPr>
        </p:nvSpPr>
        <p:spPr/>
        <p:txBody>
          <a:bodyPr/>
          <a:lstStyle/>
          <a:p>
            <a:pPr marL="514350" indent="-514350">
              <a:buFont typeface="+mj-lt"/>
              <a:buAutoNum type="arabicPeriod" startAt="4"/>
            </a:pPr>
            <a:r>
              <a:rPr lang="en-US"/>
              <a:t>Big Data Analytics As a Driver of Innovations and Product Development</a:t>
            </a:r>
          </a:p>
          <a:p>
            <a:pPr lvl="1"/>
            <a:r>
              <a:rPr lang="en-US"/>
              <a:t>Amazon Fresh and Whole Foods</a:t>
            </a:r>
          </a:p>
          <a:p>
            <a:pPr lvl="1"/>
            <a:r>
              <a:rPr lang="en-US"/>
              <a:t>The data-driven logistics gives Amazon the required expertise to enable creation and achievement of greater value. </a:t>
            </a:r>
          </a:p>
          <a:p>
            <a:pPr lvl="1"/>
            <a:r>
              <a:rPr lang="en-US"/>
              <a:t>Amazon whole foods is able to understand how customers buy groceries and how suppliers interact with the grocer. </a:t>
            </a:r>
          </a:p>
        </p:txBody>
      </p:sp>
    </p:spTree>
    <p:extLst>
      <p:ext uri="{BB962C8B-B14F-4D97-AF65-F5344CB8AC3E}">
        <p14:creationId xmlns:p14="http://schemas.microsoft.com/office/powerpoint/2010/main" val="1619881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0BB88-23E0-432A-8056-F81371988FC0}"/>
              </a:ext>
            </a:extLst>
          </p:cNvPr>
          <p:cNvSpPr>
            <a:spLocks noGrp="1"/>
          </p:cNvSpPr>
          <p:nvPr>
            <p:ph type="title"/>
          </p:nvPr>
        </p:nvSpPr>
        <p:spPr/>
        <p:txBody>
          <a:bodyPr/>
          <a:lstStyle/>
          <a:p>
            <a:r>
              <a:rPr lang="en-US"/>
              <a:t>Uses of Big Data Analytics</a:t>
            </a:r>
          </a:p>
        </p:txBody>
      </p:sp>
      <p:sp>
        <p:nvSpPr>
          <p:cNvPr id="3" name="Content Placeholder 2">
            <a:extLst>
              <a:ext uri="{FF2B5EF4-FFF2-40B4-BE49-F238E27FC236}">
                <a16:creationId xmlns:a16="http://schemas.microsoft.com/office/drawing/2014/main" id="{BB78781D-0D90-43E6-9635-C7CBA72D3BFD}"/>
              </a:ext>
            </a:extLst>
          </p:cNvPr>
          <p:cNvSpPr>
            <a:spLocks noGrp="1"/>
          </p:cNvSpPr>
          <p:nvPr>
            <p:ph idx="1"/>
          </p:nvPr>
        </p:nvSpPr>
        <p:spPr/>
        <p:txBody>
          <a:bodyPr/>
          <a:lstStyle/>
          <a:p>
            <a:pPr marL="514350" indent="-514350">
              <a:buFont typeface="+mj-lt"/>
              <a:buAutoNum type="arabicPeriod" startAt="5"/>
            </a:pPr>
            <a:r>
              <a:rPr lang="en-US"/>
              <a:t>Use of Big Data in Supply Chain Management</a:t>
            </a:r>
          </a:p>
          <a:p>
            <a:pPr lvl="1"/>
            <a:r>
              <a:rPr lang="en-US"/>
              <a:t>PepsiCo relies on huge volumes of data for an efficient supply chain management. </a:t>
            </a:r>
          </a:p>
          <a:p>
            <a:pPr lvl="1"/>
            <a:r>
              <a:rPr lang="en-US"/>
              <a:t>The company is committed to ensuring they replenish the retailers’ shelves with appropriate volumes and types of products. </a:t>
            </a:r>
          </a:p>
          <a:p>
            <a:pPr lvl="2"/>
            <a:r>
              <a:rPr lang="en-US"/>
              <a:t>The company’s clients provide reports that include their warehouse inventory and the POS inventory to the company </a:t>
            </a:r>
          </a:p>
          <a:p>
            <a:pPr lvl="2"/>
            <a:r>
              <a:rPr lang="en-US"/>
              <a:t>This data is used to reconcile and forecast the production and shipment needs. </a:t>
            </a:r>
          </a:p>
        </p:txBody>
      </p:sp>
    </p:spTree>
    <p:extLst>
      <p:ext uri="{BB962C8B-B14F-4D97-AF65-F5344CB8AC3E}">
        <p14:creationId xmlns:p14="http://schemas.microsoft.com/office/powerpoint/2010/main" val="22445784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CBF6D-E77E-4674-B949-961BB957152D}"/>
              </a:ext>
            </a:extLst>
          </p:cNvPr>
          <p:cNvSpPr>
            <a:spLocks noGrp="1"/>
          </p:cNvSpPr>
          <p:nvPr>
            <p:ph type="title"/>
          </p:nvPr>
        </p:nvSpPr>
        <p:spPr/>
        <p:txBody>
          <a:bodyPr/>
          <a:lstStyle/>
          <a:p>
            <a:r>
              <a:rPr lang="en-US"/>
              <a:t>Summary</a:t>
            </a:r>
          </a:p>
        </p:txBody>
      </p:sp>
      <p:sp>
        <p:nvSpPr>
          <p:cNvPr id="3" name="Content Placeholder 2">
            <a:extLst>
              <a:ext uri="{FF2B5EF4-FFF2-40B4-BE49-F238E27FC236}">
                <a16:creationId xmlns:a16="http://schemas.microsoft.com/office/drawing/2014/main" id="{71E55D8B-925E-4FE7-94B1-68866C8002A6}"/>
              </a:ext>
            </a:extLst>
          </p:cNvPr>
          <p:cNvSpPr>
            <a:spLocks noGrp="1"/>
          </p:cNvSpPr>
          <p:nvPr>
            <p:ph idx="1"/>
          </p:nvPr>
        </p:nvSpPr>
        <p:spPr/>
        <p:txBody>
          <a:bodyPr/>
          <a:lstStyle/>
          <a:p>
            <a:r>
              <a:rPr lang="en-US"/>
              <a:t>Data Analytics/Big Data Analytics</a:t>
            </a:r>
          </a:p>
          <a:p>
            <a:r>
              <a:rPr lang="en-US"/>
              <a:t>Needs for Data Analytics</a:t>
            </a:r>
          </a:p>
          <a:p>
            <a:r>
              <a:rPr lang="en-US"/>
              <a:t>Tools for Data Analytics</a:t>
            </a:r>
          </a:p>
          <a:p>
            <a:r>
              <a:rPr lang="en-US"/>
              <a:t>Types of Big Data Analytics</a:t>
            </a:r>
          </a:p>
          <a:p>
            <a:r>
              <a:rPr lang="en-US"/>
              <a:t>Real-Life Uses of Big Data Analytics</a:t>
            </a:r>
          </a:p>
          <a:p>
            <a:endParaRPr lang="en-US"/>
          </a:p>
          <a:p>
            <a:endParaRPr lang="en-US"/>
          </a:p>
        </p:txBody>
      </p:sp>
    </p:spTree>
    <p:extLst>
      <p:ext uri="{BB962C8B-B14F-4D97-AF65-F5344CB8AC3E}">
        <p14:creationId xmlns:p14="http://schemas.microsoft.com/office/powerpoint/2010/main" val="4468146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94A81-853A-43F0-A2F6-C57F1AE3AA8B}"/>
              </a:ext>
            </a:extLst>
          </p:cNvPr>
          <p:cNvSpPr>
            <a:spLocks noGrp="1"/>
          </p:cNvSpPr>
          <p:nvPr>
            <p:ph type="title"/>
          </p:nvPr>
        </p:nvSpPr>
        <p:spPr/>
        <p:txBody>
          <a:bodyPr/>
          <a:lstStyle/>
          <a:p>
            <a:r>
              <a:rPr lang="en-SG" altLang="en-US" kern="0"/>
              <a:t>Questions and Answer</a:t>
            </a:r>
            <a:endParaRPr lang="en-US"/>
          </a:p>
        </p:txBody>
      </p:sp>
      <p:sp>
        <p:nvSpPr>
          <p:cNvPr id="5" name="Text Box 2">
            <a:extLst>
              <a:ext uri="{FF2B5EF4-FFF2-40B4-BE49-F238E27FC236}">
                <a16:creationId xmlns:a16="http://schemas.microsoft.com/office/drawing/2014/main" id="{06655399-1AA0-499D-9F83-D25A33D10FB3}"/>
              </a:ext>
            </a:extLst>
          </p:cNvPr>
          <p:cNvSpPr txBox="1">
            <a:spLocks noChangeArrowheads="1"/>
          </p:cNvSpPr>
          <p:nvPr/>
        </p:nvSpPr>
        <p:spPr bwMode="auto">
          <a:xfrm>
            <a:off x="2590800" y="2286000"/>
            <a:ext cx="49688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9600"/>
              <a:t>Q &amp; A</a:t>
            </a:r>
          </a:p>
        </p:txBody>
      </p:sp>
    </p:spTree>
    <p:extLst>
      <p:ext uri="{BB962C8B-B14F-4D97-AF65-F5344CB8AC3E}">
        <p14:creationId xmlns:p14="http://schemas.microsoft.com/office/powerpoint/2010/main" val="33991855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E2DC4-A488-4E79-B51B-CA576DB11655}"/>
              </a:ext>
            </a:extLst>
          </p:cNvPr>
          <p:cNvSpPr>
            <a:spLocks noGrp="1"/>
          </p:cNvSpPr>
          <p:nvPr>
            <p:ph type="title"/>
          </p:nvPr>
        </p:nvSpPr>
        <p:spPr/>
        <p:txBody>
          <a:bodyPr/>
          <a:lstStyle/>
          <a:p>
            <a:r>
              <a:rPr lang="en-US"/>
              <a:t>Next Lecture</a:t>
            </a:r>
            <a:br>
              <a:rPr lang="en-US"/>
            </a:br>
            <a:endParaRPr lang="en-US"/>
          </a:p>
        </p:txBody>
      </p:sp>
      <p:sp>
        <p:nvSpPr>
          <p:cNvPr id="3" name="Content Placeholder 2">
            <a:extLst>
              <a:ext uri="{FF2B5EF4-FFF2-40B4-BE49-F238E27FC236}">
                <a16:creationId xmlns:a16="http://schemas.microsoft.com/office/drawing/2014/main" id="{FDD2AF34-FA72-4CCE-AF24-76B70A7AF362}"/>
              </a:ext>
            </a:extLst>
          </p:cNvPr>
          <p:cNvSpPr>
            <a:spLocks noGrp="1"/>
          </p:cNvSpPr>
          <p:nvPr>
            <p:ph idx="1"/>
          </p:nvPr>
        </p:nvSpPr>
        <p:spPr/>
        <p:txBody>
          <a:bodyPr/>
          <a:lstStyle/>
          <a:p>
            <a:r>
              <a:rPr lang="en-US"/>
              <a:t>Innovation through IoE</a:t>
            </a:r>
          </a:p>
        </p:txBody>
      </p:sp>
      <p:pic>
        <p:nvPicPr>
          <p:cNvPr id="5" name="Picture 4">
            <a:extLst>
              <a:ext uri="{FF2B5EF4-FFF2-40B4-BE49-F238E27FC236}">
                <a16:creationId xmlns:a16="http://schemas.microsoft.com/office/drawing/2014/main" id="{34DAAFF3-CA3B-4A05-BBFD-E66A70395051}"/>
              </a:ext>
            </a:extLst>
          </p:cNvPr>
          <p:cNvPicPr>
            <a:picLocks noChangeAspect="1"/>
          </p:cNvPicPr>
          <p:nvPr/>
        </p:nvPicPr>
        <p:blipFill>
          <a:blip r:embed="rId2"/>
          <a:stretch>
            <a:fillRect/>
          </a:stretch>
        </p:blipFill>
        <p:spPr>
          <a:xfrm>
            <a:off x="3127175" y="2491812"/>
            <a:ext cx="5204025" cy="3731188"/>
          </a:xfrm>
          <a:prstGeom prst="rect">
            <a:avLst/>
          </a:prstGeom>
        </p:spPr>
      </p:pic>
    </p:spTree>
    <p:extLst>
      <p:ext uri="{BB962C8B-B14F-4D97-AF65-F5344CB8AC3E}">
        <p14:creationId xmlns:p14="http://schemas.microsoft.com/office/powerpoint/2010/main" val="77585051"/>
      </p:ext>
    </p:extLst>
  </p:cSld>
  <p:clrMapOvr>
    <a:masterClrMapping/>
  </p:clrMapOvr>
</p:sld>
</file>

<file path=ppt/theme/theme1.xml><?xml version="1.0" encoding="utf-8"?>
<a:theme xmlns:a="http://schemas.openxmlformats.org/drawingml/2006/main" name="UCTI-Template-foundation-level">
  <a:themeElements>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CTI-Template-foundation-leve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1C6B378645544D9F10C30D9F2BCFB4" ma:contentTypeVersion="9" ma:contentTypeDescription="Create a new document." ma:contentTypeScope="" ma:versionID="3dcaa56ea438123d557e24c465044b3c">
  <xsd:schema xmlns:xsd="http://www.w3.org/2001/XMLSchema" xmlns:xs="http://www.w3.org/2001/XMLSchema" xmlns:p="http://schemas.microsoft.com/office/2006/metadata/properties" xmlns:ns2="6d54a27f-32b3-46ed-801e-110df5e77a46" targetNamespace="http://schemas.microsoft.com/office/2006/metadata/properties" ma:root="true" ma:fieldsID="4208030726db9b86847690f0b0a379ad" ns2:_="">
    <xsd:import namespace="6d54a27f-32b3-46ed-801e-110df5e77a4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AutoKeyPoints" minOccurs="0"/>
                <xsd:element ref="ns2:MediaServiceKeyPoint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54a27f-32b3-46ed-801e-110df5e77a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2FF9219-96E3-467E-A8E4-98054FBC12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54a27f-32b3-46ed-801e-110df5e77a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7529618-EB26-4050-9F43-8A2E3D18336F}">
  <ds:schemaRefs>
    <ds:schemaRef ds:uri="http://schemas.microsoft.com/sharepoint/v3/contenttype/forms"/>
  </ds:schemaRefs>
</ds:datastoreItem>
</file>

<file path=customXml/itemProps3.xml><?xml version="1.0" encoding="utf-8"?>
<ds:datastoreItem xmlns:ds="http://schemas.openxmlformats.org/officeDocument/2006/customXml" ds:itemID="{92DC5710-840F-4972-B928-C0ADF5533252}">
  <ds:schemaRefs>
    <ds:schemaRef ds:uri="http://purl.org/dc/elements/1.1/"/>
    <ds:schemaRef ds:uri="http://schemas.microsoft.com/office/infopath/2007/PartnerControls"/>
    <ds:schemaRef ds:uri="http://schemas.microsoft.com/office/2006/documentManagement/types"/>
    <ds:schemaRef ds:uri="http://purl.org/dc/terms/"/>
    <ds:schemaRef ds:uri="http://schemas.microsoft.com/office/2006/metadata/properties"/>
    <ds:schemaRef ds:uri="http://purl.org/dc/dcmitype/"/>
    <ds:schemaRef ds:uri="http://schemas.openxmlformats.org/package/2006/metadata/core-properties"/>
    <ds:schemaRef ds:uri="6d54a27f-32b3-46ed-801e-110df5e77a4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1900</TotalTime>
  <Words>2049</Words>
  <Application>Microsoft Office PowerPoint</Application>
  <PresentationFormat>Widescreen</PresentationFormat>
  <Paragraphs>201</Paragraphs>
  <Slides>41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arial</vt:lpstr>
      <vt:lpstr>Calibri</vt:lpstr>
      <vt:lpstr>Nunito Sans</vt:lpstr>
      <vt:lpstr>UCTI-Template-foundation-level</vt:lpstr>
      <vt:lpstr>Digital Thinking and Innovation</vt:lpstr>
      <vt:lpstr>PowerPoint Presentation</vt:lpstr>
      <vt:lpstr>Digital Thinking and Innovation</vt:lpstr>
      <vt:lpstr>Introduction</vt:lpstr>
      <vt:lpstr>Learning Outcomes for the Lecture</vt:lpstr>
      <vt:lpstr>Content</vt:lpstr>
      <vt:lpstr>Mind Map</vt:lpstr>
      <vt:lpstr>Learning Outcomes for the Lecture</vt:lpstr>
      <vt:lpstr>Data vs. Information</vt:lpstr>
      <vt:lpstr>Data vs. Information</vt:lpstr>
      <vt:lpstr>Data vs. Information</vt:lpstr>
      <vt:lpstr>Data Analytics</vt:lpstr>
      <vt:lpstr>Data Analytics</vt:lpstr>
      <vt:lpstr>Examples Data Analytics</vt:lpstr>
      <vt:lpstr>Examples Data Analytics</vt:lpstr>
      <vt:lpstr>Needs for Data Analytics</vt:lpstr>
      <vt:lpstr>Needs for Data Analytics</vt:lpstr>
      <vt:lpstr>Learning Outcomes for the Lecture</vt:lpstr>
      <vt:lpstr>Tools in Data Analytics</vt:lpstr>
      <vt:lpstr>Tools in Data Analytics</vt:lpstr>
      <vt:lpstr>Tools in Data Analytics</vt:lpstr>
      <vt:lpstr>Tools in Data Analytics</vt:lpstr>
      <vt:lpstr>Learning Outcomes for the Lecture</vt:lpstr>
      <vt:lpstr>Data Analyst</vt:lpstr>
      <vt:lpstr>Data Analyst</vt:lpstr>
      <vt:lpstr>Learning Outcomes for the Lecture</vt:lpstr>
      <vt:lpstr>Big Data Analytics</vt:lpstr>
      <vt:lpstr>Learning Outcomes for the Lecture</vt:lpstr>
      <vt:lpstr>Big Data Analytics</vt:lpstr>
      <vt:lpstr>Big Data Analytics</vt:lpstr>
      <vt:lpstr>Big Data Analytics</vt:lpstr>
      <vt:lpstr>Group Discussion</vt:lpstr>
      <vt:lpstr>Learning Outcomes for the Lecture</vt:lpstr>
      <vt:lpstr>Uses of Big Data Analytics</vt:lpstr>
      <vt:lpstr>Uses of Big Data Analytics</vt:lpstr>
      <vt:lpstr>Uses of Big Data Analytics</vt:lpstr>
      <vt:lpstr>Uses of Big Data Analytics</vt:lpstr>
      <vt:lpstr>Uses of Big Data Analytics</vt:lpstr>
      <vt:lpstr>Summary</vt:lpstr>
      <vt:lpstr>Questions and Answer</vt:lpstr>
      <vt:lpstr>Next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Thinking and Innovation</dc:title>
  <dc:creator>Rozita Yati Masri</dc:creator>
  <cp:lastModifiedBy>Dr. Safaie Mangir</cp:lastModifiedBy>
  <cp:revision>13</cp:revision>
  <dcterms:created xsi:type="dcterms:W3CDTF">2020-05-10T10:13:35Z</dcterms:created>
  <dcterms:modified xsi:type="dcterms:W3CDTF">2025-05-09T09:34:36Z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0x010100241C6B378645544D9F10C30D9F2BCFB4</vt:lpwstr>
  </property>
</Properties>
</file>