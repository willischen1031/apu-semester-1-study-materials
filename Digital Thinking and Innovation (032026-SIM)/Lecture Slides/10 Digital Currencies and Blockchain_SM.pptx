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7"/>
  </p:notesMasterIdLst>
  <p:sldIdLst>
    <p:sldId id="256" r:id="rId5"/>
    <p:sldId id="268" r:id="rId6"/>
    <p:sldId id="269" r:id="rId7"/>
    <p:sldId id="330" r:id="rId8"/>
    <p:sldId id="271" r:id="rId9"/>
    <p:sldId id="393" r:id="rId10"/>
    <p:sldId id="367" r:id="rId11"/>
    <p:sldId id="368" r:id="rId12"/>
    <p:sldId id="398" r:id="rId13"/>
    <p:sldId id="399" r:id="rId14"/>
    <p:sldId id="394" r:id="rId15"/>
    <p:sldId id="391" r:id="rId16"/>
    <p:sldId id="369" r:id="rId17"/>
    <p:sldId id="395" r:id="rId18"/>
    <p:sldId id="381" r:id="rId19"/>
    <p:sldId id="384" r:id="rId20"/>
    <p:sldId id="385" r:id="rId21"/>
    <p:sldId id="386" r:id="rId22"/>
    <p:sldId id="387" r:id="rId23"/>
    <p:sldId id="388" r:id="rId24"/>
    <p:sldId id="389" r:id="rId25"/>
    <p:sldId id="390" r:id="rId26"/>
    <p:sldId id="374" r:id="rId27"/>
    <p:sldId id="400" r:id="rId28"/>
    <p:sldId id="396" r:id="rId29"/>
    <p:sldId id="380" r:id="rId30"/>
    <p:sldId id="370" r:id="rId31"/>
    <p:sldId id="371" r:id="rId32"/>
    <p:sldId id="379" r:id="rId33"/>
    <p:sldId id="372" r:id="rId34"/>
    <p:sldId id="375" r:id="rId35"/>
    <p:sldId id="392" r:id="rId36"/>
    <p:sldId id="354" r:id="rId37"/>
    <p:sldId id="382" r:id="rId38"/>
    <p:sldId id="383" r:id="rId39"/>
    <p:sldId id="397" r:id="rId40"/>
    <p:sldId id="378" r:id="rId41"/>
    <p:sldId id="376" r:id="rId42"/>
    <p:sldId id="377" r:id="rId43"/>
    <p:sldId id="267" r:id="rId44"/>
    <p:sldId id="272" r:id="rId45"/>
    <p:sldId id="273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BD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668D7F-0EFD-483D-BF72-2C4134ADE74B}" v="3" dt="2020-10-11T09:06:52.6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4" autoAdjust="0"/>
    <p:restoredTop sz="94660"/>
  </p:normalViewPr>
  <p:slideViewPr>
    <p:cSldViewPr snapToGrid="0">
      <p:cViewPr varScale="1">
        <p:scale>
          <a:sx n="57" d="100"/>
          <a:sy n="57" d="100"/>
        </p:scale>
        <p:origin x="87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9D288B-AADE-42F6-AA28-8E1938A8743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7C63AB-086C-40A2-8498-A1709C25C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901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19A55E57-38E4-41C7-8154-A8B991DEA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3429000"/>
          </a:xfrm>
          <a:prstGeom prst="rect">
            <a:avLst/>
          </a:prstGeom>
          <a:solidFill>
            <a:srgbClr val="A2FFA3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sz="1800"/>
          </a:p>
        </p:txBody>
      </p:sp>
      <p:pic>
        <p:nvPicPr>
          <p:cNvPr id="5" name="Picture 10" descr="APU Logo_Final_Vertical_V1_HR1 copy.png">
            <a:extLst>
              <a:ext uri="{FF2B5EF4-FFF2-40B4-BE49-F238E27FC236}">
                <a16:creationId xmlns:a16="http://schemas.microsoft.com/office/drawing/2014/main" id="{D82D9B23-9521-4397-A0C7-7D0BE0B0C4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517" y="2514600"/>
            <a:ext cx="3373968" cy="238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85584" y="1952626"/>
            <a:ext cx="9006416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66533" y="3886200"/>
            <a:ext cx="9025467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361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311925" cy="1367327"/>
          </a:xfrm>
          <a:solidFill>
            <a:srgbClr val="A2FFA3"/>
          </a:solidFill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CCE7B-8C0C-42E3-87DC-DE817FB78B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47238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392066-0EF0-4FF8-93AA-2093B8EDA0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71153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9817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2D113-A871-44A2-B949-2DB5FAFF9E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72881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7D21544-1A19-450A-9A54-709EC423BC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65718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7AD2FE-548C-4C8C-86B4-F659E1B7E9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50485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917C336-48FB-4D30-BD06-54EA5295C4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49959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35719-93FB-4BCB-999D-ADC5B6C8FE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08955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97F50-3179-4421-9233-93FB4F4AE8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45223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899FE-50CE-4592-8241-9731B40B43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80653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79417" y="274638"/>
            <a:ext cx="2743200" cy="59483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7700" y="274638"/>
            <a:ext cx="8028517" cy="59483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B6B087-45F3-4C06-AF9A-3C17798800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29502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74638"/>
            <a:ext cx="9389533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24417" y="1641476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2417" y="1641476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5A6DC315-7F58-4763-BC2C-AF70BD9B47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B7D8E3-266E-47CB-8CC4-A3D79B48A3B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8479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7" descr="ucti_globe1_transparent_small">
            <a:extLst>
              <a:ext uri="{FF2B5EF4-FFF2-40B4-BE49-F238E27FC236}">
                <a16:creationId xmlns:a16="http://schemas.microsoft.com/office/drawing/2014/main" id="{78D6A39E-0BA3-4626-8EF0-3422758B0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lum bright="80000" contrast="-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21934" y="2570164"/>
            <a:ext cx="9609667" cy="409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5D889B73-4BC7-4175-8777-89F604986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5034" y="6564768"/>
            <a:ext cx="12192000" cy="236537"/>
          </a:xfrm>
          <a:prstGeom prst="rect">
            <a:avLst/>
          </a:prstGeom>
          <a:solidFill>
            <a:srgbClr val="A2FFA3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GB" sz="1800" dirty="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1326838-1107-4D82-B9EC-B2E5D9B1D4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49817" y="16970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3E5B5E28-740F-4CE1-8D47-D46EA3E4FC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47700" y="274638"/>
            <a:ext cx="938953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86024" name="Rectangle 8">
            <a:extLst>
              <a:ext uri="{FF2B5EF4-FFF2-40B4-BE49-F238E27FC236}">
                <a16:creationId xmlns:a16="http://schemas.microsoft.com/office/drawing/2014/main" id="{C50B826F-79B0-4D38-A8FA-4FBA74C95EB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331200" y="6623050"/>
            <a:ext cx="38608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 smtClean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8716479A-60E4-42E1-B9D1-F4016DE67B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2" name="Rectangle 9">
            <a:extLst>
              <a:ext uri="{FF2B5EF4-FFF2-40B4-BE49-F238E27FC236}">
                <a16:creationId xmlns:a16="http://schemas.microsoft.com/office/drawing/2014/main" id="{9E037968-5E94-4DFF-A255-3B9193204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3333" y="6597650"/>
            <a:ext cx="3615267" cy="260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GB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3A5908B1-49F6-461B-A3D4-C9A0E65D124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701" y="1"/>
            <a:ext cx="201930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7">
            <a:extLst>
              <a:ext uri="{FF2B5EF4-FFF2-40B4-BE49-F238E27FC236}">
                <a16:creationId xmlns:a16="http://schemas.microsoft.com/office/drawing/2014/main" id="{4C5EEC73-748F-417C-830F-975268B80E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GB" sz="1000" dirty="0">
                <a:latin typeface="Calibri" pitchFamily="34" charset="0"/>
                <a:cs typeface="Calibri" pitchFamily="34" charset="0"/>
              </a:rPr>
              <a:t>CT109-3-1 Digital Thinking and Innovation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5963D0-5B9A-4889-A2AB-CEFEAC94CBE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24979" y="6597650"/>
            <a:ext cx="3134360" cy="270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GB" sz="1000" dirty="0">
                <a:latin typeface="Calibri" pitchFamily="34" charset="0"/>
                <a:cs typeface="Calibri" pitchFamily="34" charset="0"/>
              </a:rPr>
              <a:t>Digital Currencies and Blockchain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53C1E9-9E60-4A23-AE18-FA9F536F8D5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457835" y="6607810"/>
            <a:ext cx="271145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r>
              <a:rPr lang="en-GB" sz="1000" dirty="0">
                <a:latin typeface="Calibri" pitchFamily="34" charset="0"/>
                <a:cs typeface="Calibri" pitchFamily="34" charset="0"/>
              </a:rPr>
              <a:t>Slide </a:t>
            </a:r>
            <a:fld id="{DECA9CF0-005F-441B-BAB5-56B8212B3760}" type="slidenum">
              <a:rPr lang="en-GB" sz="1000" smtClean="0">
                <a:latin typeface="Calibri" pitchFamily="34" charset="0"/>
                <a:cs typeface="Calibri" pitchFamily="34" charset="0"/>
              </a:rPr>
              <a:pPr algn="r">
                <a:defRPr/>
              </a:pPr>
              <a:t>‹#›</a:t>
            </a:fld>
            <a:r>
              <a:rPr lang="en-GB" sz="1000" dirty="0">
                <a:latin typeface="Calibri" pitchFamily="34" charset="0"/>
                <a:cs typeface="Calibri" pitchFamily="34" charset="0"/>
              </a:rPr>
              <a:t> out of 34</a:t>
            </a:r>
          </a:p>
        </p:txBody>
      </p:sp>
    </p:spTree>
    <p:extLst>
      <p:ext uri="{BB962C8B-B14F-4D97-AF65-F5344CB8AC3E}">
        <p14:creationId xmlns:p14="http://schemas.microsoft.com/office/powerpoint/2010/main" val="717840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6Gu2QMTAkEU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youtube.com/watch?v=SSo_EIwHSd4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youtube.com/watch?v=s4g1XFU8Gto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youtube.com/watch?v=GmOzih6I1zs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72033-E616-4689-8B30-032E753181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Digital Thinking and Innovation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5624DE-0F9F-4A4F-8533-D7F4AD4E9C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Digital Currencies and Blockchain</a:t>
            </a:r>
          </a:p>
        </p:txBody>
      </p:sp>
    </p:spTree>
    <p:extLst>
      <p:ext uri="{BB962C8B-B14F-4D97-AF65-F5344CB8AC3E}">
        <p14:creationId xmlns:p14="http://schemas.microsoft.com/office/powerpoint/2010/main" val="1680535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17FD2-3BC9-4D69-A5CA-55E909379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1EA78-3F9D-4EBF-BBC6-460FCCBF5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817" y="1697038"/>
            <a:ext cx="10899758" cy="452596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This topic discusses the current trend of digital currencies and blockchain.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80F82D-0216-4685-BE0D-ADEB202BC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6931" y="4192858"/>
            <a:ext cx="3625252" cy="203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751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6FC83-D2A5-4D05-8BF2-F929B5BCA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 for the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DD340-36DA-4ED1-989B-9D2CBC44C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At the end of this lecture you will be able to:</a:t>
            </a:r>
          </a:p>
          <a:p>
            <a:pPr lvl="1"/>
            <a:r>
              <a:rPr lang="en-US" altLang="en-US" dirty="0"/>
              <a:t>Explain digital currency </a:t>
            </a:r>
          </a:p>
          <a:p>
            <a:pPr lvl="1"/>
            <a:r>
              <a:rPr lang="en-US" altLang="en-US" dirty="0"/>
              <a:t>Explain cryptocurrency</a:t>
            </a:r>
          </a:p>
          <a:p>
            <a:pPr lvl="1"/>
            <a:r>
              <a:rPr lang="en-US" altLang="en-US" dirty="0"/>
              <a:t>Provide the advantages and cons of cryptocurrency</a:t>
            </a:r>
          </a:p>
          <a:p>
            <a:pPr lvl="1"/>
            <a:r>
              <a:rPr lang="en-US" altLang="en-US" dirty="0"/>
              <a:t>Explain the blockchain, bitcoin, and mining</a:t>
            </a:r>
          </a:p>
          <a:p>
            <a:pPr lvl="1"/>
            <a:r>
              <a:rPr lang="en-US" dirty="0"/>
              <a:t>Discuss the Present and Future of Digital Currency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58772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93EA3-2049-4811-B9DA-3FCCAD17F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195F8-D25D-4E3C-83E1-C6B2753B1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Digital Currency</a:t>
            </a:r>
          </a:p>
          <a:p>
            <a:r>
              <a:rPr lang="en-US" dirty="0"/>
              <a:t>Advantages of Digital Currency</a:t>
            </a:r>
          </a:p>
          <a:p>
            <a:r>
              <a:rPr lang="en-US" dirty="0"/>
              <a:t>Cryptocurrency</a:t>
            </a:r>
          </a:p>
          <a:p>
            <a:r>
              <a:rPr lang="en-US" dirty="0"/>
              <a:t>Advantages and Cons of Cryptocurrency</a:t>
            </a:r>
          </a:p>
          <a:p>
            <a:r>
              <a:rPr lang="en-US" dirty="0"/>
              <a:t>Blockchain</a:t>
            </a:r>
          </a:p>
          <a:p>
            <a:r>
              <a:rPr lang="en-US" dirty="0"/>
              <a:t>Bitcoin</a:t>
            </a:r>
          </a:p>
          <a:p>
            <a:r>
              <a:rPr lang="en-US" dirty="0"/>
              <a:t>Miners</a:t>
            </a:r>
          </a:p>
          <a:p>
            <a:r>
              <a:rPr lang="en-US" dirty="0"/>
              <a:t>The Present and Future of Digital Currency</a:t>
            </a:r>
          </a:p>
        </p:txBody>
      </p:sp>
    </p:spTree>
    <p:extLst>
      <p:ext uri="{BB962C8B-B14F-4D97-AF65-F5344CB8AC3E}">
        <p14:creationId xmlns:p14="http://schemas.microsoft.com/office/powerpoint/2010/main" val="1527904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DE481BA-8336-4B81-A977-71281F263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311926" cy="1367327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Mind Map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4ACE16-6CE7-448D-9C3E-78AD07549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102" y="1697038"/>
            <a:ext cx="9380230" cy="45259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00942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6FC83-D2A5-4D05-8BF2-F929B5BCA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 for the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DD340-36DA-4ED1-989B-9D2CBC44C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At the end of this lecture, you will be able to:</a:t>
            </a:r>
          </a:p>
          <a:p>
            <a:pPr lvl="1"/>
            <a:r>
              <a:rPr lang="en-US" altLang="en-US" dirty="0"/>
              <a:t>Explain digital currency 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Explain cryptocurrency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Provide the advantages and cons of cryptocurrency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Explain the blockchain, bitcoin, and mining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Discuss the Present and Future of Digital Currency</a:t>
            </a:r>
          </a:p>
          <a:p>
            <a:pPr lvl="1"/>
            <a:endParaRPr lang="en-US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0318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C70B2-CF2D-48EF-B5EB-28D57C819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27FCC-1F19-496F-B9AD-38F0ECE98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Digital currencies </a:t>
            </a:r>
            <a:r>
              <a:rPr lang="en-US" dirty="0"/>
              <a:t>or </a:t>
            </a:r>
            <a:r>
              <a:rPr lang="en-US" b="1" dirty="0"/>
              <a:t>e-money</a:t>
            </a:r>
            <a:r>
              <a:rPr lang="en-US" dirty="0"/>
              <a:t>, are now more popular than ever</a:t>
            </a:r>
          </a:p>
          <a:p>
            <a:r>
              <a:rPr lang="en-US" dirty="0"/>
              <a:t>They fill all the uses of traditional forms of money</a:t>
            </a:r>
          </a:p>
          <a:p>
            <a:r>
              <a:rPr lang="en-US" dirty="0"/>
              <a:t>Only exist on the internet, and is completely intangible</a:t>
            </a:r>
          </a:p>
          <a:p>
            <a:r>
              <a:rPr lang="en-US" dirty="0"/>
              <a:t>Every aspect of their issuance, transfer, and record-keeping is digital</a:t>
            </a:r>
          </a:p>
        </p:txBody>
      </p:sp>
    </p:spTree>
    <p:extLst>
      <p:ext uri="{BB962C8B-B14F-4D97-AF65-F5344CB8AC3E}">
        <p14:creationId xmlns:p14="http://schemas.microsoft.com/office/powerpoint/2010/main" val="694350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43481-2750-4DB9-8CC1-D8E2B9B56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solidFill>
                  <a:srgbClr val="000000"/>
                </a:solidFill>
                <a:effectLst/>
                <a:latin typeface="Roboto"/>
              </a:rPr>
              <a:t>Advantages of Digital Currency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E3AD4-2FDC-45A3-9462-805BF5E9328B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Provide users with a more streamlined alternative</a:t>
            </a:r>
          </a:p>
          <a:p>
            <a:r>
              <a:rPr lang="en-US" dirty="0"/>
              <a:t>Peer-to-peer transactions</a:t>
            </a:r>
          </a:p>
          <a:p>
            <a:r>
              <a:rPr lang="en-US" dirty="0"/>
              <a:t>Digital currency payments are both instantaneous and low-cost</a:t>
            </a:r>
          </a:p>
          <a:p>
            <a:r>
              <a:rPr lang="en-US" dirty="0"/>
              <a:t>Introduce a higher level of record-keeping and transparency to the sector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826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125B6-9213-8C46-E4A2-4C028A539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8E964-ED52-7266-31AB-3558150E9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96316"/>
            <a:ext cx="10972800" cy="4525962"/>
          </a:xfrm>
        </p:spPr>
        <p:txBody>
          <a:bodyPr/>
          <a:lstStyle/>
          <a:p>
            <a:r>
              <a:rPr lang="en-MY" sz="2800" dirty="0"/>
              <a:t>What is e-money?</a:t>
            </a:r>
          </a:p>
          <a:p>
            <a:pPr marL="457200" lvl="1" indent="0">
              <a:buNone/>
            </a:pPr>
            <a:endParaRPr lang="en-US" sz="1400" dirty="0"/>
          </a:p>
          <a:p>
            <a:r>
              <a:rPr lang="en-MY" sz="2800" dirty="0"/>
              <a:t>What are the advantages of digital currencies?</a:t>
            </a:r>
          </a:p>
          <a:p>
            <a:pPr marL="0" indent="0">
              <a:buNone/>
            </a:pPr>
            <a:endParaRPr lang="en-MY" sz="2800" dirty="0"/>
          </a:p>
        </p:txBody>
      </p:sp>
    </p:spTree>
    <p:extLst>
      <p:ext uri="{BB962C8B-B14F-4D97-AF65-F5344CB8AC3E}">
        <p14:creationId xmlns:p14="http://schemas.microsoft.com/office/powerpoint/2010/main" val="2078114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40BCC-7D1E-1B90-0171-17B7CD13C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56707-D5C0-12D0-7353-E9EE5F989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E9B06-C6D8-191A-EADC-595CD78B2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96316"/>
            <a:ext cx="10972800" cy="4525962"/>
          </a:xfrm>
        </p:spPr>
        <p:txBody>
          <a:bodyPr/>
          <a:lstStyle/>
          <a:p>
            <a:r>
              <a:rPr lang="en-MY" sz="2800" dirty="0"/>
              <a:t>What is e-money?</a:t>
            </a:r>
          </a:p>
          <a:p>
            <a:pPr lvl="1"/>
            <a:r>
              <a:rPr lang="en-US" sz="2000" b="1" dirty="0"/>
              <a:t>Digital currencies</a:t>
            </a:r>
            <a:endParaRPr lang="en-US" sz="2000" dirty="0"/>
          </a:p>
          <a:p>
            <a:pPr lvl="1"/>
            <a:r>
              <a:rPr lang="en-US" sz="2000" dirty="0"/>
              <a:t>They fill all the uses of traditional forms of money</a:t>
            </a:r>
          </a:p>
          <a:p>
            <a:pPr lvl="1"/>
            <a:r>
              <a:rPr lang="en-US" sz="2000" dirty="0"/>
              <a:t>Only exist on the internet, and is completely intangible</a:t>
            </a:r>
          </a:p>
          <a:p>
            <a:pPr lvl="1"/>
            <a:r>
              <a:rPr lang="en-US" sz="2000" dirty="0"/>
              <a:t>Every aspect of their issuance, transfer, and record-keeping is digital</a:t>
            </a:r>
          </a:p>
          <a:p>
            <a:pPr marL="457200" lvl="1" indent="0">
              <a:buNone/>
            </a:pPr>
            <a:endParaRPr lang="en-US" sz="1400" dirty="0"/>
          </a:p>
          <a:p>
            <a:r>
              <a:rPr lang="en-MY" sz="2800" dirty="0"/>
              <a:t>What are the advantages of digital currencies?</a:t>
            </a:r>
          </a:p>
          <a:p>
            <a:pPr lvl="1"/>
            <a:r>
              <a:rPr lang="en-US" sz="1800" b="1" dirty="0"/>
              <a:t>more streamlined alternative</a:t>
            </a:r>
          </a:p>
          <a:p>
            <a:pPr lvl="1"/>
            <a:r>
              <a:rPr lang="en-US" sz="1800" b="1" dirty="0"/>
              <a:t>Peer-to-peer transactions</a:t>
            </a:r>
          </a:p>
          <a:p>
            <a:pPr lvl="1"/>
            <a:r>
              <a:rPr lang="en-US" sz="1800" b="1" dirty="0"/>
              <a:t>Transactions are instantaneous and low-cost</a:t>
            </a:r>
          </a:p>
          <a:p>
            <a:pPr lvl="1"/>
            <a:r>
              <a:rPr lang="en-US" sz="1800" b="1" dirty="0"/>
              <a:t>higher level of record-keeping and transparency to the sector</a:t>
            </a:r>
          </a:p>
          <a:p>
            <a:endParaRPr lang="en-MY" sz="2800" dirty="0"/>
          </a:p>
        </p:txBody>
      </p:sp>
    </p:spTree>
    <p:extLst>
      <p:ext uri="{BB962C8B-B14F-4D97-AF65-F5344CB8AC3E}">
        <p14:creationId xmlns:p14="http://schemas.microsoft.com/office/powerpoint/2010/main" val="1850324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6FC83-D2A5-4D05-8BF2-F929B5BCA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 for the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DD340-36DA-4ED1-989B-9D2CBC44C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At the end of this lecture you will be able to: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Explain digital currency </a:t>
            </a:r>
          </a:p>
          <a:p>
            <a:pPr lvl="1"/>
            <a:r>
              <a:rPr lang="en-US" altLang="en-US" dirty="0"/>
              <a:t>Explain cryptocurrency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Provide the advantages and cons of cryptocurrency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Explain the blockchain, bitcoin, and mining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Discuss the Present and Future of Digital Currency</a:t>
            </a:r>
          </a:p>
          <a:p>
            <a:pPr lvl="1"/>
            <a:endParaRPr lang="en-US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5059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49919-D4E1-4E30-A5F0-851F5C810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What is Cryptocurrency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92A27-807B-42A0-91E7-8790C2557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Let’s look into this video related to cryptocurrency:</a:t>
            </a:r>
          </a:p>
          <a:p>
            <a:endParaRPr lang="en-MY" dirty="0"/>
          </a:p>
          <a:p>
            <a:pPr marL="0" indent="0">
              <a:buNone/>
            </a:pPr>
            <a:r>
              <a:rPr lang="en-MY" dirty="0">
                <a:hlinkClick r:id="rId2"/>
              </a:rPr>
              <a:t>https://youtu.be/6Gu2QMTAkEU</a:t>
            </a:r>
            <a:r>
              <a:rPr lang="en-MY" dirty="0"/>
              <a:t> (this video  is obsolete)</a:t>
            </a:r>
          </a:p>
        </p:txBody>
      </p:sp>
    </p:spTree>
    <p:extLst>
      <p:ext uri="{BB962C8B-B14F-4D97-AF65-F5344CB8AC3E}">
        <p14:creationId xmlns:p14="http://schemas.microsoft.com/office/powerpoint/2010/main" val="1262310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E4EE4-1DAB-476E-8243-BFD8B2A35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Cryptocurrency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12052-EF59-429C-BA60-2E28D6ED4C73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Digital currencies encountered a problem known as “double-spend” </a:t>
            </a:r>
          </a:p>
          <a:p>
            <a:r>
              <a:rPr lang="en-US" dirty="0"/>
              <a:t>This issue saw resolution with the introduction of the world’s first Cryptocurrency – Bitcoin.</a:t>
            </a:r>
          </a:p>
          <a:p>
            <a:r>
              <a:rPr lang="en-US" b="1" dirty="0"/>
              <a:t>Cryptocurrency</a:t>
            </a:r>
            <a:r>
              <a:rPr lang="en-US" dirty="0"/>
              <a:t> makes it nearly impossible to counterfeit or double-spend</a:t>
            </a:r>
          </a:p>
          <a:p>
            <a:r>
              <a:rPr lang="en-US" dirty="0"/>
              <a:t>Many cryptocurrencies are decentralized networks based on </a:t>
            </a:r>
            <a:r>
              <a:rPr lang="en-US" b="1" dirty="0"/>
              <a:t>blockchain technology</a:t>
            </a:r>
          </a:p>
        </p:txBody>
      </p:sp>
    </p:spTree>
    <p:extLst>
      <p:ext uri="{BB962C8B-B14F-4D97-AF65-F5344CB8AC3E}">
        <p14:creationId xmlns:p14="http://schemas.microsoft.com/office/powerpoint/2010/main" val="2326633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6FC83-D2A5-4D05-8BF2-F929B5BCA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 for the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DD340-36DA-4ED1-989B-9D2CBC44C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At the end of this lecture you will be able to: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Explain digital currency 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Explain cryptocurrency</a:t>
            </a:r>
          </a:p>
          <a:p>
            <a:pPr lvl="1"/>
            <a:r>
              <a:rPr lang="en-US" altLang="en-US" dirty="0"/>
              <a:t>Provide the advantages and cons of cryptocurrency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Explain the blockchain, bitcoin, and mining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Discuss the Present and Future of Digital Currency</a:t>
            </a:r>
          </a:p>
          <a:p>
            <a:pPr lvl="1"/>
            <a:endParaRPr lang="en-US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510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B3388-97A2-4B23-BB57-5CDF108A5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Cryptocurrency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3033B-EA19-4DB2-8798-B4524DA4E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Built-in Scarcity May Support Value </a:t>
            </a:r>
          </a:p>
          <a:p>
            <a:pPr lvl="1"/>
            <a:r>
              <a:rPr lang="en-US" dirty="0"/>
              <a:t>Cryptocurrencies are more like precious metals than fiat currencies. Like precious metals, they may offer inflation protection unavailable to fiat currency users</a:t>
            </a:r>
          </a:p>
          <a:p>
            <a:r>
              <a:rPr lang="en-US" dirty="0"/>
              <a:t>Loosening of Government Currency Monopolies</a:t>
            </a:r>
          </a:p>
          <a:p>
            <a:pPr lvl="1"/>
            <a:r>
              <a:rPr lang="en-US" dirty="0"/>
              <a:t>Offer a reliable means of exchange outside the direct control of national banks’ quantitative easing (central banks’ “printing money” by purchasing government bonds)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171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02589-7905-4E03-96E3-B999D8823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Cryptocurrency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F1E74-F7D0-4136-B91B-2FB93D476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Self-Interested, Self-Policing Communities</a:t>
            </a:r>
          </a:p>
          <a:p>
            <a:pPr lvl="1"/>
            <a:r>
              <a:rPr lang="en-US" dirty="0"/>
              <a:t>Because miners are paid for their efforts, they have a financial stake in keeping accurate, up-to-date transaction records – thereby securing the integrity of the system and the value of the currency</a:t>
            </a:r>
          </a:p>
          <a:p>
            <a:r>
              <a:rPr lang="en-US" dirty="0"/>
              <a:t>Robust Privacy Protections</a:t>
            </a:r>
          </a:p>
          <a:p>
            <a:pPr lvl="1"/>
            <a:r>
              <a:rPr lang="en-US" dirty="0"/>
              <a:t>Many cryptocurrency users employ pseudonyms unconnected to any information, accounts, or stored data that could identify them</a:t>
            </a:r>
          </a:p>
        </p:txBody>
      </p:sp>
    </p:spTree>
    <p:extLst>
      <p:ext uri="{BB962C8B-B14F-4D97-AF65-F5344CB8AC3E}">
        <p14:creationId xmlns:p14="http://schemas.microsoft.com/office/powerpoint/2010/main" val="829365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3BB82-C3FF-48BD-9583-0B6CFF53F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Cryptocurrency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302D3-3857-4132-958C-41ADA7853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Harder for Governments to Exact Financial Retribution</a:t>
            </a:r>
          </a:p>
          <a:p>
            <a:pPr lvl="1"/>
            <a:r>
              <a:rPr lang="en-US" dirty="0"/>
              <a:t>Governments can freeze or seize domestic bank accounts, or reverse transactions made in local currency. Cryptocurrencies are virtually immune from authoritarian caprice</a:t>
            </a:r>
          </a:p>
          <a:p>
            <a:r>
              <a:rPr lang="en-US" dirty="0"/>
              <a:t>Fewer Barriers and Costs to International Transactions</a:t>
            </a:r>
          </a:p>
          <a:p>
            <a:pPr lvl="1"/>
            <a:r>
              <a:rPr lang="en-US" dirty="0"/>
              <a:t>Cryptocurrencies don’t treat international transactions any differently than domestic transactions. Transactions are either free or come with a nominal transaction fee, no matter where the sender and recipient are located.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721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3BB82-C3FF-48BD-9583-0B6CFF53F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Cryptocurrency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302D3-3857-4132-958C-41ADA7853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Generally Cheaper Than Traditional Electronic Transactions</a:t>
            </a:r>
            <a:endParaRPr lang="en-US" sz="2800" dirty="0"/>
          </a:p>
          <a:p>
            <a:pPr lvl="1"/>
            <a:r>
              <a:rPr lang="en-US" sz="2400" dirty="0"/>
              <a:t>Eliminate the need for a third-party payment processor – such as Visa or PayPal – to authenticate and verify every electronic financial transaction, hence eliminating the need for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mandatory transaction fees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Miners, the cryptocurrency equivalent of payment processors, earn new currency units for their work in addition to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optional transaction fees</a:t>
            </a:r>
            <a:r>
              <a:rPr lang="en-US" sz="2400" dirty="0"/>
              <a:t>. </a:t>
            </a:r>
          </a:p>
          <a:p>
            <a:pPr lvl="1"/>
            <a:r>
              <a:rPr lang="en-US" sz="2400" dirty="0"/>
              <a:t>Cryptocurrency transaction fees are generally less than 1% of the transaction value, versus 1.5% to 3% for credit card payment processors and PayPal</a:t>
            </a:r>
          </a:p>
        </p:txBody>
      </p:sp>
    </p:spTree>
    <p:extLst>
      <p:ext uri="{BB962C8B-B14F-4D97-AF65-F5344CB8AC3E}">
        <p14:creationId xmlns:p14="http://schemas.microsoft.com/office/powerpoint/2010/main" val="729084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E066A-B9C9-4174-BFD4-9861B3F28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 of Cryptocurrency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C9499-1155-4D49-BF3D-36C5A08FC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Lack of Regulation Facilitates Black Market Activity</a:t>
            </a:r>
          </a:p>
          <a:p>
            <a:pPr lvl="1"/>
            <a:r>
              <a:rPr lang="en-US" dirty="0"/>
              <a:t>Many gray and black-market online transactions are denominated in Bitcoin and other cryptocurrencies</a:t>
            </a:r>
          </a:p>
          <a:p>
            <a:r>
              <a:rPr lang="en-US" dirty="0"/>
              <a:t>Potential for Tax Evasion in Some Jurisdictions</a:t>
            </a:r>
          </a:p>
          <a:p>
            <a:pPr lvl="1"/>
            <a:r>
              <a:rPr lang="en-US" dirty="0"/>
              <a:t>Since cryptocurrencies aren’t regulated by national governments and usually exist outside their direct control, they naturally attract tax evaders</a:t>
            </a:r>
          </a:p>
        </p:txBody>
      </p:sp>
    </p:spTree>
    <p:extLst>
      <p:ext uri="{BB962C8B-B14F-4D97-AF65-F5344CB8AC3E}">
        <p14:creationId xmlns:p14="http://schemas.microsoft.com/office/powerpoint/2010/main" val="28265838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D7DFA-BB27-43D8-BA73-C5B730765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 of Cryptocurrency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9D701-0036-4107-8F62-C73E14B38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Potential for Financial Loss Due to Data Loss</a:t>
            </a:r>
          </a:p>
          <a:p>
            <a:pPr lvl="1"/>
            <a:r>
              <a:rPr lang="en-US" dirty="0"/>
              <a:t>The infrastructure may be robust, but humans are the weakest link. Cryptocurrency users may not take the proper precautions to avoid data loss</a:t>
            </a:r>
          </a:p>
          <a:p>
            <a:r>
              <a:rPr lang="en-US" dirty="0"/>
              <a:t>Potential for High Price Volatility and Manipulation</a:t>
            </a:r>
          </a:p>
          <a:p>
            <a:pPr lvl="1"/>
            <a:r>
              <a:rPr lang="en-US" dirty="0"/>
              <a:t>Many cryptocurrencies have relatively few outstanding units concentrated in a handful of individuals’ (often the currencies’ creators and close associates) hands. These holders effectively control these currencies’ supplies, making them susceptible to wild value swings and outright manipulation</a:t>
            </a:r>
          </a:p>
        </p:txBody>
      </p:sp>
    </p:spTree>
    <p:extLst>
      <p:ext uri="{BB962C8B-B14F-4D97-AF65-F5344CB8AC3E}">
        <p14:creationId xmlns:p14="http://schemas.microsoft.com/office/powerpoint/2010/main" val="12529474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3B528-CF66-48E8-95FE-1027289DA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 of Cryptocurrency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C9230-E457-405F-82B8-5C9A1D9B3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Often Can’t Be Exchanged for Fiat Currency</a:t>
            </a:r>
          </a:p>
          <a:p>
            <a:pPr lvl="1"/>
            <a:r>
              <a:rPr lang="en-US" dirty="0"/>
              <a:t>Only the most popular cryptocurrencies – those with the highest market capitalization, in dollar terms – have dedicated online exchanges that permit direct exchange for fiat currency</a:t>
            </a:r>
          </a:p>
          <a:p>
            <a:r>
              <a:rPr lang="en-US" dirty="0"/>
              <a:t>Limited to No Facility for Chargebacks or Refunds</a:t>
            </a:r>
          </a:p>
          <a:p>
            <a:pPr lvl="1"/>
            <a:r>
              <a:rPr lang="en-US" dirty="0"/>
              <a:t>Although cryptocurrency miners serve as quasi-intermediaries for cryptocurrency transactions, they’re not responsible for arbitrating disputes between transacting parties. This means that you have no one to appeal to if you’re cheated in a cryptocurrency transaction</a:t>
            </a:r>
          </a:p>
        </p:txBody>
      </p:sp>
    </p:spTree>
    <p:extLst>
      <p:ext uri="{BB962C8B-B14F-4D97-AF65-F5344CB8AC3E}">
        <p14:creationId xmlns:p14="http://schemas.microsoft.com/office/powerpoint/2010/main" val="28833339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59A34-FA1B-40D9-A3DC-0A58C1F81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 of Cryptocurrency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87A02-3C22-4246-83D7-E8C3B4FC4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Adverse Environmental Impacts of Cryptocurrency Mining</a:t>
            </a:r>
          </a:p>
          <a:p>
            <a:pPr lvl="1"/>
            <a:r>
              <a:rPr lang="en-US" dirty="0"/>
              <a:t>Cryptocurrency experts acknowledge that mining presents a serious environmental threat at current rates of growth</a:t>
            </a:r>
          </a:p>
          <a:p>
            <a:pPr lvl="1"/>
            <a:r>
              <a:rPr lang="en-US" dirty="0"/>
              <a:t>Refer to </a:t>
            </a:r>
            <a:r>
              <a:rPr lang="en-US" dirty="0">
                <a:hlinkClick r:id="rId2" action="ppaction://hlinksldjump"/>
              </a:rPr>
              <a:t>slide 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5501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41D24-8F3F-4B2F-A083-6F0BB1326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Currency Vs. Cryptocurrency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CF9FB3-410F-485A-9170-A7084CB1C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68" y="1883456"/>
            <a:ext cx="9048159" cy="222754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12E7E03-E44F-44AD-9B98-00AD5D91B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1332" y="4318782"/>
            <a:ext cx="5117937" cy="1904217"/>
          </a:xfrm>
        </p:spPr>
        <p:txBody>
          <a:bodyPr/>
          <a:lstStyle/>
          <a:p>
            <a:r>
              <a:rPr lang="en-US" dirty="0"/>
              <a:t>Cryptocurrency includes:</a:t>
            </a:r>
          </a:p>
          <a:p>
            <a:pPr lvl="1"/>
            <a:r>
              <a:rPr lang="en-US" dirty="0"/>
              <a:t>Bitcoin</a:t>
            </a:r>
          </a:p>
          <a:p>
            <a:pPr lvl="1"/>
            <a:r>
              <a:rPr lang="en-US" dirty="0"/>
              <a:t>Litecoin</a:t>
            </a:r>
          </a:p>
          <a:p>
            <a:pPr lvl="1"/>
            <a:r>
              <a:rPr lang="en-US" dirty="0"/>
              <a:t>Ripple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4A37B4B-DFC7-4A15-B66C-2FB2949883A8}"/>
              </a:ext>
            </a:extLst>
          </p:cNvPr>
          <p:cNvSpPr txBox="1">
            <a:spLocks/>
          </p:cNvSpPr>
          <p:nvPr/>
        </p:nvSpPr>
        <p:spPr bwMode="auto">
          <a:xfrm>
            <a:off x="4774778" y="4833964"/>
            <a:ext cx="5117937" cy="190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1"/>
            <a:r>
              <a:rPr lang="en-US" kern="0" dirty="0" err="1"/>
              <a:t>Etherium</a:t>
            </a:r>
            <a:endParaRPr lang="en-US" kern="0" dirty="0"/>
          </a:p>
          <a:p>
            <a:pPr lvl="1"/>
            <a:r>
              <a:rPr lang="en-US" kern="0" dirty="0"/>
              <a:t>Dogecoin</a:t>
            </a:r>
          </a:p>
          <a:p>
            <a:pPr lvl="1"/>
            <a:r>
              <a:rPr lang="en-US" kern="0" dirty="0" err="1"/>
              <a:t>Coinye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6705303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1758E-F7CA-F1E3-E5FC-F44E6E5E5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CE82F-EE05-BDF5-DBA7-96A9A2751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022E8-2C78-F7CB-F1D5-08A351973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96316"/>
            <a:ext cx="10972800" cy="4525962"/>
          </a:xfrm>
        </p:spPr>
        <p:txBody>
          <a:bodyPr/>
          <a:lstStyle/>
          <a:p>
            <a:r>
              <a:rPr lang="en-MY" sz="2800" dirty="0"/>
              <a:t>What are the upsides and downsides of cryptocurrency?</a:t>
            </a:r>
          </a:p>
          <a:p>
            <a:pPr lvl="1"/>
            <a:r>
              <a:rPr lang="en-MY" sz="2400" dirty="0"/>
              <a:t>Upsides</a:t>
            </a:r>
          </a:p>
          <a:p>
            <a:pPr lvl="2"/>
            <a:r>
              <a:rPr lang="en-MY" sz="2000" dirty="0"/>
              <a:t>No govt monopoly</a:t>
            </a:r>
          </a:p>
          <a:p>
            <a:pPr lvl="2"/>
            <a:r>
              <a:rPr lang="en-MY" sz="2000" dirty="0"/>
              <a:t>Scarce</a:t>
            </a:r>
          </a:p>
          <a:p>
            <a:pPr lvl="2"/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28829630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6FC83-D2A5-4D05-8BF2-F929B5BCA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 for the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DD340-36DA-4ED1-989B-9D2CBC44C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At the end of this lecture you will be able to: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Explain digital currency 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Explain cryptocurrency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Provide the advantages and cons of cryptocurrency</a:t>
            </a:r>
          </a:p>
          <a:p>
            <a:pPr lvl="1"/>
            <a:r>
              <a:rPr lang="en-US" altLang="en-US" dirty="0"/>
              <a:t>Explain the blockchain, bitcoin, and mining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Discuss the Present and Future of Digital Currency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351444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D498B-D240-4A0F-B0FE-C737A35E7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8A2F2-2FC6-4D6A-9590-CAA743587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Blockchain</a:t>
            </a:r>
            <a:r>
              <a:rPr lang="en-US" dirty="0"/>
              <a:t> is the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master ledger </a:t>
            </a:r>
            <a:r>
              <a:rPr lang="en-US" dirty="0"/>
              <a:t>that records and stores all prior transactions and activity, validating ownership of all units of the currency at any given point in time</a:t>
            </a:r>
          </a:p>
          <a:p>
            <a:r>
              <a:rPr lang="en-US" dirty="0"/>
              <a:t>It records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the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entire transaction history to date</a:t>
            </a:r>
          </a:p>
          <a:p>
            <a:pPr lvl="1"/>
            <a:r>
              <a:rPr lang="en-US" dirty="0"/>
              <a:t>A blockchain has a finite length, containing a finite number of transactions that increases over time</a:t>
            </a:r>
          </a:p>
          <a:p>
            <a:r>
              <a:rPr lang="en-US" dirty="0"/>
              <a:t>A cryptocurrency transaction isn’t finalized until it’s added to the blockchain; once the transaction is finalized, it’s usually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irreversible</a:t>
            </a:r>
          </a:p>
        </p:txBody>
      </p:sp>
    </p:spTree>
    <p:extLst>
      <p:ext uri="{BB962C8B-B14F-4D97-AF65-F5344CB8AC3E}">
        <p14:creationId xmlns:p14="http://schemas.microsoft.com/office/powerpoint/2010/main" val="6630019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BA09E-DA95-40E2-A01F-EA82AFE89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27C7B-3396-4DB3-B8AD-95D221E0A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blockchain is a peer-to-peer system with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no central authority managing data flow</a:t>
            </a:r>
          </a:p>
          <a:p>
            <a:r>
              <a:rPr lang="en-US" dirty="0"/>
              <a:t>It has a large distributed network of independent users in more than one location, referred to as </a:t>
            </a:r>
            <a:r>
              <a:rPr lang="en-US" i="1" dirty="0"/>
              <a:t>full nodes</a:t>
            </a:r>
          </a:p>
          <a:p>
            <a:r>
              <a:rPr lang="en-US" dirty="0"/>
              <a:t>To prevent the network from being corrupted, blockchain networks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produce cryptocurrencies as an incentive to maintain the integrity of the network</a:t>
            </a:r>
          </a:p>
        </p:txBody>
      </p:sp>
    </p:spTree>
    <p:extLst>
      <p:ext uri="{BB962C8B-B14F-4D97-AF65-F5344CB8AC3E}">
        <p14:creationId xmlns:p14="http://schemas.microsoft.com/office/powerpoint/2010/main" val="17918268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FE98D-C256-4296-80B7-901029358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EE1AB-49FB-4D19-9A5D-04A6579F9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Blockchains originated with the creation of Bitcoin</a:t>
            </a:r>
          </a:p>
          <a:p>
            <a:r>
              <a:rPr lang="en-US" dirty="0"/>
              <a:t>The original Bitcoin network was built to secure the Bitcoin cryptocurrency </a:t>
            </a:r>
          </a:p>
          <a:p>
            <a:pPr lvl="1"/>
            <a:r>
              <a:rPr lang="en-US" dirty="0"/>
              <a:t>Around 5,000 full nodes and is globally distributed</a:t>
            </a:r>
          </a:p>
          <a:p>
            <a:pPr lvl="1"/>
            <a:r>
              <a:rPr lang="en-US" dirty="0"/>
              <a:t>Primarily used to trade Bitcoin and exchange value</a:t>
            </a:r>
          </a:p>
          <a:p>
            <a:pPr lvl="1"/>
            <a:r>
              <a:rPr lang="en-US" dirty="0"/>
              <a:t>Being used to secure other smaller blockchains and blockchain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4841478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D047-F806-4D5F-89FA-E41CCAC55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E2044-43E3-4947-BD82-12007E300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Watch and discuss the content of the video:</a:t>
            </a:r>
          </a:p>
          <a:p>
            <a:pPr lvl="1"/>
            <a:r>
              <a:rPr lang="en-US" dirty="0">
                <a:hlinkClick r:id="rId2"/>
              </a:rPr>
              <a:t>https://www.youtube.com/watch?v=SSo_EIwHSd4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6B3ACF31-4EFD-4930-B3C3-EC8EE0A76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2937" y="3542848"/>
            <a:ext cx="2686050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5262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C534E-013C-4473-ABE5-44B3D7CA3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Bitcoin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CAE2E-AC6F-4D6E-B9BB-D90B8EECC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Bitcoin marked a change in financial theory within the market</a:t>
            </a:r>
          </a:p>
          <a:p>
            <a:pPr lvl="1"/>
            <a:r>
              <a:rPr lang="en-US" dirty="0"/>
              <a:t>A medium of exchange</a:t>
            </a:r>
          </a:p>
          <a:p>
            <a:pPr lvl="1"/>
            <a:r>
              <a:rPr lang="en-US" dirty="0"/>
              <a:t>A unit of account</a:t>
            </a:r>
          </a:p>
          <a:p>
            <a:pPr lvl="1"/>
            <a:r>
              <a:rPr lang="en-US" dirty="0"/>
              <a:t>A store of value</a:t>
            </a:r>
          </a:p>
          <a:p>
            <a:r>
              <a:rPr lang="en-US" dirty="0"/>
              <a:t>Additionally, Bitcoin was </a:t>
            </a:r>
          </a:p>
          <a:p>
            <a:pPr lvl="1"/>
            <a:r>
              <a:rPr lang="en-US" dirty="0"/>
              <a:t>Scarce</a:t>
            </a:r>
          </a:p>
          <a:p>
            <a:pPr lvl="1"/>
            <a:r>
              <a:rPr lang="en-US" dirty="0"/>
              <a:t>Unduplicable</a:t>
            </a:r>
          </a:p>
          <a:p>
            <a:pPr lvl="1"/>
            <a:r>
              <a:rPr lang="en-US" dirty="0"/>
              <a:t>Portable</a:t>
            </a:r>
          </a:p>
        </p:txBody>
      </p:sp>
    </p:spTree>
    <p:extLst>
      <p:ext uri="{BB962C8B-B14F-4D97-AF65-F5344CB8AC3E}">
        <p14:creationId xmlns:p14="http://schemas.microsoft.com/office/powerpoint/2010/main" val="11083935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DDF27-6A50-41D8-811E-5B6C075FF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Bitcoin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06634-FAB9-4320-935A-B898C503D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Solved the double-spend issue through the integration of timestamped cryptographic blocks</a:t>
            </a:r>
          </a:p>
          <a:p>
            <a:r>
              <a:rPr lang="en-US" dirty="0"/>
              <a:t>Utilizes part of the time stamp in the hashing algorithm of the following block</a:t>
            </a:r>
          </a:p>
          <a:p>
            <a:r>
              <a:rPr lang="en-US" dirty="0"/>
              <a:t>Bitcoin became the first immutable and unalterable digital currency in existence</a:t>
            </a:r>
          </a:p>
          <a:p>
            <a:r>
              <a:rPr lang="en-US" dirty="0"/>
              <a:t>A hacker would need to redo the entire blockchain to alter it</a:t>
            </a:r>
          </a:p>
        </p:txBody>
      </p:sp>
    </p:spTree>
    <p:extLst>
      <p:ext uri="{BB962C8B-B14F-4D97-AF65-F5344CB8AC3E}">
        <p14:creationId xmlns:p14="http://schemas.microsoft.com/office/powerpoint/2010/main" val="3205638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A662C-3569-419F-BB78-430DAB9CA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Bitcoin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78A9E-FC3F-4826-8104-2B7BFEB73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Bitcoin Transaction Process Flow </a:t>
            </a:r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2682B41B-EF9E-4063-BE93-AA3A9DFD9F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860" y="2333767"/>
            <a:ext cx="10699262" cy="421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2133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D047-F806-4D5F-89FA-E41CCAC55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E2044-43E3-4947-BD82-12007E300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Watch and discuss the content of the video:</a:t>
            </a:r>
          </a:p>
          <a:p>
            <a:pPr lvl="1"/>
            <a:r>
              <a:rPr lang="en-US" dirty="0">
                <a:hlinkClick r:id="rId2"/>
              </a:rPr>
              <a:t>https://www.youtube.com/watch?v=s4g1XFU8Gto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6B3ACF31-4EFD-4930-B3C3-EC8EE0A76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2937" y="3542848"/>
            <a:ext cx="2686050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37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DA685-E5B5-4F63-8F95-FEAF47653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11A81-0A07-4BBC-ADE8-44B181355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Miners serve as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record-keepers</a:t>
            </a:r>
            <a:r>
              <a:rPr lang="en-US" dirty="0"/>
              <a:t> for cryptocurrency communities, and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indirect arbiters </a:t>
            </a:r>
            <a:r>
              <a:rPr lang="en-US" dirty="0"/>
              <a:t>of the currencies’ value</a:t>
            </a:r>
          </a:p>
          <a:p>
            <a:r>
              <a:rPr lang="en-US" dirty="0"/>
              <a:t>Using vast amounts of computing power, miners use highly technical methods to verify the completeness, accuracy, and security of currencies’ block chains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6148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D047-F806-4D5F-89FA-E41CCAC55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E2044-43E3-4947-BD82-12007E300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Watch and discuss the content of the video:</a:t>
            </a:r>
          </a:p>
          <a:p>
            <a:pPr lvl="1"/>
            <a:r>
              <a:rPr lang="en-US" dirty="0">
                <a:hlinkClick r:id="rId2"/>
              </a:rPr>
              <a:t>https://www.youtube.com/watch?v=GmOzih6I1zs</a:t>
            </a:r>
            <a:endParaRPr lang="en-US" dirty="0"/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6B3ACF31-4EFD-4930-B3C3-EC8EE0A76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2937" y="3542848"/>
            <a:ext cx="2686050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1575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6FC83-D2A5-4D05-8BF2-F929B5BCA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 for the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DD340-36DA-4ED1-989B-9D2CBC44C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At the end of this lecture you will be able to: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Explain digital currency 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Explain cryptocurrency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Provide the advantages and cons of cryptocurrency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Explain the blockchain, bitcoin, and mining</a:t>
            </a:r>
          </a:p>
          <a:p>
            <a:pPr lvl="1"/>
            <a:r>
              <a:rPr lang="en-US" dirty="0"/>
              <a:t>Discuss the Present and Future of Digital Currency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397502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1350D-4866-44D0-A515-A2AF5A319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Present and Future of Digital 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F25C2-3E61-4976-AA7A-94828848D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Today, there is a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robust digital infrastructure</a:t>
            </a:r>
            <a:r>
              <a:rPr lang="en-US" b="1" dirty="0"/>
              <a:t> </a:t>
            </a:r>
            <a:r>
              <a:rPr lang="en-US" dirty="0"/>
              <a:t>in place to support the mass adoption of these currencies </a:t>
            </a:r>
          </a:p>
          <a:p>
            <a:r>
              <a:rPr lang="en-US" dirty="0"/>
              <a:t>Additionally, their development is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being catapulted into the spotlight</a:t>
            </a:r>
            <a:r>
              <a:rPr lang="en-US" dirty="0"/>
              <a:t> thanks to the Coronavirus pandemic </a:t>
            </a:r>
          </a:p>
          <a:p>
            <a:r>
              <a:rPr lang="en-US" dirty="0"/>
              <a:t>This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trend is expected to continue</a:t>
            </a:r>
            <a:r>
              <a:rPr lang="en-US" b="1" dirty="0"/>
              <a:t> </a:t>
            </a:r>
            <a:r>
              <a:rPr lang="en-US" dirty="0"/>
              <a:t>as more people across the world gain access to high-speed internet</a:t>
            </a:r>
          </a:p>
          <a:p>
            <a:r>
              <a:rPr lang="en-US" dirty="0"/>
              <a:t>For now, digital currencies such as Bitcoin continue to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reshape the international communities’ definition of money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96852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999AC-D6A0-433C-90E8-67AE7F505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Present and Future of Digital 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1B69D-A9C3-42BE-B04A-571ADA721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Recognizing the technological advantages of blockchain technology, Central Bankers are now major players in the cryptocurrency space</a:t>
            </a:r>
          </a:p>
          <a:p>
            <a:r>
              <a:rPr lang="en-US" dirty="0"/>
              <a:t>However, unlike Bitcoin, CBDC features a centralized distributed ledger technology (DLT)</a:t>
            </a:r>
          </a:p>
          <a:p>
            <a:pPr lvl="1"/>
            <a:r>
              <a:rPr lang="en-US" dirty="0"/>
              <a:t>Allows the central bankers to issue and control the monetary supply in a manner similar to the current fiat currency system in place.</a:t>
            </a:r>
          </a:p>
        </p:txBody>
      </p:sp>
    </p:spTree>
    <p:extLst>
      <p:ext uri="{BB962C8B-B14F-4D97-AF65-F5344CB8AC3E}">
        <p14:creationId xmlns:p14="http://schemas.microsoft.com/office/powerpoint/2010/main" val="23205157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999AC-D6A0-433C-90E8-67AE7F505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Present and Future of Digital 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1B69D-A9C3-42BE-B04A-571ADA721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Today, multiple countries, have plans to issue digital currencies in the coming years. </a:t>
            </a:r>
          </a:p>
          <a:p>
            <a:pPr lvl="1"/>
            <a:r>
              <a:rPr lang="en-US" dirty="0"/>
              <a:t>Russia, India, Uruguay, England, and Sweden all announced digital currency initiatives</a:t>
            </a:r>
          </a:p>
          <a:p>
            <a:pPr lvl="1"/>
            <a:r>
              <a:rPr lang="en-US" dirty="0"/>
              <a:t>Many other countries to follow in the future</a:t>
            </a:r>
          </a:p>
        </p:txBody>
      </p:sp>
    </p:spTree>
    <p:extLst>
      <p:ext uri="{BB962C8B-B14F-4D97-AF65-F5344CB8AC3E}">
        <p14:creationId xmlns:p14="http://schemas.microsoft.com/office/powerpoint/2010/main" val="35696521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CBF6D-E77E-4674-B949-961BB9571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55D8B-925E-4FE7-94B1-68866C800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Digital Currency</a:t>
            </a:r>
          </a:p>
          <a:p>
            <a:r>
              <a:rPr lang="en-US" dirty="0"/>
              <a:t>Advantages of Digital Currency</a:t>
            </a:r>
          </a:p>
          <a:p>
            <a:r>
              <a:rPr lang="en-US" dirty="0"/>
              <a:t>Cryptocurrency</a:t>
            </a:r>
          </a:p>
          <a:p>
            <a:r>
              <a:rPr lang="en-US" dirty="0"/>
              <a:t>Advantages and Cons of Cryptocurrency</a:t>
            </a:r>
          </a:p>
          <a:p>
            <a:r>
              <a:rPr lang="en-US" dirty="0"/>
              <a:t>Blockchain</a:t>
            </a:r>
          </a:p>
          <a:p>
            <a:r>
              <a:rPr lang="en-US" dirty="0"/>
              <a:t>Bitcoin</a:t>
            </a:r>
          </a:p>
          <a:p>
            <a:r>
              <a:rPr lang="en-US" dirty="0"/>
              <a:t>Miners</a:t>
            </a:r>
          </a:p>
          <a:p>
            <a:r>
              <a:rPr lang="en-US" dirty="0"/>
              <a:t>The Present and Future of Digital Currency</a:t>
            </a:r>
          </a:p>
        </p:txBody>
      </p:sp>
    </p:spTree>
    <p:extLst>
      <p:ext uri="{BB962C8B-B14F-4D97-AF65-F5344CB8AC3E}">
        <p14:creationId xmlns:p14="http://schemas.microsoft.com/office/powerpoint/2010/main" val="4468146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94A81-853A-43F0-A2F6-C57F1AE3A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altLang="en-US" kern="0" dirty="0"/>
              <a:t>Questions and Answer</a:t>
            </a:r>
            <a:endParaRPr lang="en-US" dirty="0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06655399-1AA0-499D-9F83-D25A33D10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286000"/>
            <a:ext cx="4968875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9600" dirty="0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33991855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E2DC4-A488-4E79-B51B-CA576DB11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Lecture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2AF34-FA72-4CCE-AF24-76B70A7AF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Digital Security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749C28-74D4-4389-8938-BB5494A66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957" y="2540052"/>
            <a:ext cx="5366479" cy="355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85051"/>
      </p:ext>
    </p:extLst>
  </p:cSld>
  <p:clrMapOvr>
    <a:masterClrMapping/>
  </p:clrMapOvr>
</p:sld>
</file>

<file path=ppt/theme/theme1.xml><?xml version="1.0" encoding="utf-8"?>
<a:theme xmlns:a="http://schemas.openxmlformats.org/drawingml/2006/main" name="UCTI-Template-foundation-level">
  <a:themeElements>
    <a:clrScheme name="UCTI-Template-foundation-leve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UCTI-Template-foundation-lev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CTI-Template-foundation-lev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1C6B378645544D9F10C30D9F2BCFB4" ma:contentTypeVersion="9" ma:contentTypeDescription="Create a new document." ma:contentTypeScope="" ma:versionID="3dcaa56ea438123d557e24c465044b3c">
  <xsd:schema xmlns:xsd="http://www.w3.org/2001/XMLSchema" xmlns:xs="http://www.w3.org/2001/XMLSchema" xmlns:p="http://schemas.microsoft.com/office/2006/metadata/properties" xmlns:ns2="6d54a27f-32b3-46ed-801e-110df5e77a46" targetNamespace="http://schemas.microsoft.com/office/2006/metadata/properties" ma:root="true" ma:fieldsID="4208030726db9b86847690f0b0a379ad" ns2:_="">
    <xsd:import namespace="6d54a27f-32b3-46ed-801e-110df5e77a4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54a27f-32b3-46ed-801e-110df5e77a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79704A7-0660-4C4E-933E-F5027A5E42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591F91-B22B-4867-8650-8765A7D639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54a27f-32b3-46ed-801e-110df5e77a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D8443CE-D2C2-47BC-97C6-35AF0B7DD287}">
  <ds:schemaRefs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terms/"/>
    <ds:schemaRef ds:uri="http://www.w3.org/XML/1998/namespace"/>
    <ds:schemaRef ds:uri="http://purl.org/dc/elements/1.1/"/>
    <ds:schemaRef ds:uri="http://schemas.microsoft.com/office/2006/metadata/properties"/>
    <ds:schemaRef ds:uri="6d54a27f-32b3-46ed-801e-110df5e77a4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1320</TotalTime>
  <Words>1714</Words>
  <Application>Microsoft Office PowerPoint</Application>
  <PresentationFormat>Widescreen</PresentationFormat>
  <Paragraphs>212</Paragraphs>
  <Slides>42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Calibri</vt:lpstr>
      <vt:lpstr>Roboto</vt:lpstr>
      <vt:lpstr>UCTI-Template-foundation-level</vt:lpstr>
      <vt:lpstr>Digital Thinking and Innovation</vt:lpstr>
      <vt:lpstr>Introduction</vt:lpstr>
      <vt:lpstr>Learning Outcomes for the Lecture</vt:lpstr>
      <vt:lpstr>Content</vt:lpstr>
      <vt:lpstr>Mind Map</vt:lpstr>
      <vt:lpstr>Learning Outcomes for the Lecture</vt:lpstr>
      <vt:lpstr>Digital Currency</vt:lpstr>
      <vt:lpstr>Advantages of Digital Currency</vt:lpstr>
      <vt:lpstr>Recap</vt:lpstr>
      <vt:lpstr>Recap</vt:lpstr>
      <vt:lpstr>Learning Outcomes for the Lecture</vt:lpstr>
      <vt:lpstr>What is Cryptocurrency</vt:lpstr>
      <vt:lpstr>Cryptocurrency</vt:lpstr>
      <vt:lpstr>Learning Outcomes for the Lecture</vt:lpstr>
      <vt:lpstr>Advantages of Cryptocurrency</vt:lpstr>
      <vt:lpstr>Advantages of Cryptocurrency</vt:lpstr>
      <vt:lpstr>Advantages of Cryptocurrency</vt:lpstr>
      <vt:lpstr>Advantages of Cryptocurrency</vt:lpstr>
      <vt:lpstr>Cons of Cryptocurrency</vt:lpstr>
      <vt:lpstr>Cons of Cryptocurrency</vt:lpstr>
      <vt:lpstr>Cons of Cryptocurrency</vt:lpstr>
      <vt:lpstr>Cons of Cryptocurrency</vt:lpstr>
      <vt:lpstr>Digital Currency Vs. Cryptocurrency</vt:lpstr>
      <vt:lpstr>Recap</vt:lpstr>
      <vt:lpstr>Learning Outcomes for the Lecture</vt:lpstr>
      <vt:lpstr>Blockchain</vt:lpstr>
      <vt:lpstr>Blockchain</vt:lpstr>
      <vt:lpstr>Blockchain</vt:lpstr>
      <vt:lpstr>Group Discussion</vt:lpstr>
      <vt:lpstr>Bitcoin</vt:lpstr>
      <vt:lpstr>Bitcoin</vt:lpstr>
      <vt:lpstr>Bitcoin </vt:lpstr>
      <vt:lpstr>Group Discussion</vt:lpstr>
      <vt:lpstr>Miners</vt:lpstr>
      <vt:lpstr>Group Discussion</vt:lpstr>
      <vt:lpstr>Learning Outcomes for the Lecture</vt:lpstr>
      <vt:lpstr>The Present and Future of Digital Currency</vt:lpstr>
      <vt:lpstr>The Present and Future of Digital Currency</vt:lpstr>
      <vt:lpstr>The Present and Future of Digital Currency</vt:lpstr>
      <vt:lpstr>Summary</vt:lpstr>
      <vt:lpstr>Questions and Answer</vt:lpstr>
      <vt:lpstr>Next Lecture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Thinking and Innovation</dc:title>
  <dc:creator>Rozita Yati Masri</dc:creator>
  <cp:lastModifiedBy>Dr. Safaie Mangir</cp:lastModifiedBy>
  <cp:revision>8</cp:revision>
  <dcterms:created xsi:type="dcterms:W3CDTF">2020-09-11T11:04:46Z</dcterms:created>
  <dcterms:modified xsi:type="dcterms:W3CDTF">2025-10-16T06:36:02Z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0x010100241C6B378645544D9F10C30D9F2BCFB4</vt:lpwstr>
  </property>
</Properties>
</file>