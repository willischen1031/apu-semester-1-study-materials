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0"/>
  </p:notesMasterIdLst>
  <p:sldIdLst>
    <p:sldId id="256" r:id="rId5"/>
    <p:sldId id="268" r:id="rId6"/>
    <p:sldId id="297" r:id="rId7"/>
    <p:sldId id="298" r:id="rId8"/>
    <p:sldId id="299" r:id="rId9"/>
    <p:sldId id="296" r:id="rId10"/>
    <p:sldId id="269" r:id="rId11"/>
    <p:sldId id="270" r:id="rId12"/>
    <p:sldId id="271" r:id="rId13"/>
    <p:sldId id="293" r:id="rId14"/>
    <p:sldId id="275" r:id="rId15"/>
    <p:sldId id="287" r:id="rId16"/>
    <p:sldId id="274" r:id="rId17"/>
    <p:sldId id="294" r:id="rId18"/>
    <p:sldId id="276" r:id="rId19"/>
    <p:sldId id="288" r:id="rId20"/>
    <p:sldId id="277" r:id="rId21"/>
    <p:sldId id="279" r:id="rId22"/>
    <p:sldId id="280" r:id="rId23"/>
    <p:sldId id="266" r:id="rId24"/>
    <p:sldId id="295" r:id="rId25"/>
    <p:sldId id="278" r:id="rId26"/>
    <p:sldId id="289" r:id="rId27"/>
    <p:sldId id="290" r:id="rId28"/>
    <p:sldId id="281" r:id="rId29"/>
    <p:sldId id="283" r:id="rId30"/>
    <p:sldId id="282" r:id="rId31"/>
    <p:sldId id="291" r:id="rId32"/>
    <p:sldId id="284" r:id="rId33"/>
    <p:sldId id="285" r:id="rId34"/>
    <p:sldId id="286" r:id="rId35"/>
    <p:sldId id="292" r:id="rId36"/>
    <p:sldId id="267" r:id="rId37"/>
    <p:sldId id="272" r:id="rId38"/>
    <p:sldId id="27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BD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3E3A6-03B2-4752-BED7-DDEBEF40EF0C}" v="3" dt="2020-10-11T08:54:42.4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0" autoAdjust="0"/>
    <p:restoredTop sz="94660"/>
  </p:normalViewPr>
  <p:slideViewPr>
    <p:cSldViewPr snapToGrid="0">
      <p:cViewPr varScale="1">
        <p:scale>
          <a:sx n="57" d="100"/>
          <a:sy n="57" d="100"/>
        </p:scale>
        <p:origin x="756"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zita Yati Masri" userId="fb57b885-c824-4da2-946a-d71ef420875c" providerId="ADAL" clId="{4AB3E3A6-03B2-4752-BED7-DDEBEF40EF0C}"/>
    <pc:docChg chg="custSel modMainMaster">
      <pc:chgData name="Rozita Yati Masri" userId="fb57b885-c824-4da2-946a-d71ef420875c" providerId="ADAL" clId="{4AB3E3A6-03B2-4752-BED7-DDEBEF40EF0C}" dt="2020-10-11T08:54:42.413" v="12"/>
      <pc:docMkLst>
        <pc:docMk/>
      </pc:docMkLst>
      <pc:sldMasterChg chg="addSp delSp modSp modSldLayout">
        <pc:chgData name="Rozita Yati Masri" userId="fb57b885-c824-4da2-946a-d71ef420875c" providerId="ADAL" clId="{4AB3E3A6-03B2-4752-BED7-DDEBEF40EF0C}" dt="2020-10-11T08:54:42.413" v="12"/>
        <pc:sldMasterMkLst>
          <pc:docMk/>
          <pc:sldMasterMk cId="717840518" sldId="2147483660"/>
        </pc:sldMasterMkLst>
        <pc:spChg chg="add">
          <ac:chgData name="Rozita Yati Masri" userId="fb57b885-c824-4da2-946a-d71ef420875c" providerId="ADAL" clId="{4AB3E3A6-03B2-4752-BED7-DDEBEF40EF0C}" dt="2020-10-11T08:53:34.737" v="9"/>
          <ac:spMkLst>
            <pc:docMk/>
            <pc:sldMasterMk cId="717840518" sldId="2147483660"/>
            <ac:spMk id="9" creationId="{43485DA5-BB14-4953-AB3C-BD0ED6F0FDA0}"/>
          </ac:spMkLst>
        </pc:spChg>
        <pc:spChg chg="add mod">
          <ac:chgData name="Rozita Yati Masri" userId="fb57b885-c824-4da2-946a-d71ef420875c" providerId="ADAL" clId="{4AB3E3A6-03B2-4752-BED7-DDEBEF40EF0C}" dt="2020-10-11T08:54:42.413" v="12"/>
          <ac:spMkLst>
            <pc:docMk/>
            <pc:sldMasterMk cId="717840518" sldId="2147483660"/>
            <ac:spMk id="10" creationId="{E14832A6-70E1-4EEB-BD77-7759AEA178AD}"/>
          </ac:spMkLst>
        </pc:spChg>
        <pc:spChg chg="add mod">
          <ac:chgData name="Rozita Yati Masri" userId="fb57b885-c824-4da2-946a-d71ef420875c" providerId="ADAL" clId="{4AB3E3A6-03B2-4752-BED7-DDEBEF40EF0C}" dt="2020-10-11T08:53:38.574" v="11" actId="20577"/>
          <ac:spMkLst>
            <pc:docMk/>
            <pc:sldMasterMk cId="717840518" sldId="2147483660"/>
            <ac:spMk id="11" creationId="{A127C802-E6E8-4475-82C1-37AAEFBA3DE5}"/>
          </ac:spMkLst>
        </pc:spChg>
        <pc:spChg chg="del">
          <ac:chgData name="Rozita Yati Masri" userId="fb57b885-c824-4da2-946a-d71ef420875c" providerId="ADAL" clId="{4AB3E3A6-03B2-4752-BED7-DDEBEF40EF0C}" dt="2020-10-11T08:53:05.011" v="0" actId="478"/>
          <ac:spMkLst>
            <pc:docMk/>
            <pc:sldMasterMk cId="717840518" sldId="2147483660"/>
            <ac:spMk id="86024" creationId="{C50B826F-79B0-4D38-A8FA-4FBA74C95EB1}"/>
          </ac:spMkLst>
        </pc:spChg>
        <pc:sldLayoutChg chg="delSp">
          <pc:chgData name="Rozita Yati Masri" userId="fb57b885-c824-4da2-946a-d71ef420875c" providerId="ADAL" clId="{4AB3E3A6-03B2-4752-BED7-DDEBEF40EF0C}" dt="2020-10-11T08:53:09.067" v="1" actId="478"/>
          <pc:sldLayoutMkLst>
            <pc:docMk/>
            <pc:sldMasterMk cId="717840518" sldId="2147483660"/>
            <pc:sldLayoutMk cId="1347238553" sldId="2147483662"/>
          </pc:sldLayoutMkLst>
          <pc:spChg chg="del">
            <ac:chgData name="Rozita Yati Masri" userId="fb57b885-c824-4da2-946a-d71ef420875c" providerId="ADAL" clId="{4AB3E3A6-03B2-4752-BED7-DDEBEF40EF0C}" dt="2020-10-11T08:53:09.067" v="1" actId="478"/>
            <ac:spMkLst>
              <pc:docMk/>
              <pc:sldMasterMk cId="717840518" sldId="2147483660"/>
              <pc:sldLayoutMk cId="1347238553" sldId="2147483662"/>
              <ac:spMk id="4" creationId="{C94CCE7B-8C0C-42E3-87DC-DE817FB78B76}"/>
            </ac:spMkLst>
          </pc:spChg>
        </pc:sldLayoutChg>
        <pc:sldLayoutChg chg="delSp modSp">
          <pc:chgData name="Rozita Yati Masri" userId="fb57b885-c824-4da2-946a-d71ef420875c" providerId="ADAL" clId="{4AB3E3A6-03B2-4752-BED7-DDEBEF40EF0C}" dt="2020-10-11T08:53:20.462" v="5" actId="478"/>
          <pc:sldLayoutMkLst>
            <pc:docMk/>
            <pc:sldMasterMk cId="717840518" sldId="2147483660"/>
            <pc:sldLayoutMk cId="2372881982" sldId="2147483664"/>
          </pc:sldLayoutMkLst>
          <pc:spChg chg="del mod">
            <ac:chgData name="Rozita Yati Masri" userId="fb57b885-c824-4da2-946a-d71ef420875c" providerId="ADAL" clId="{4AB3E3A6-03B2-4752-BED7-DDEBEF40EF0C}" dt="2020-10-11T08:53:20.462" v="5" actId="478"/>
            <ac:spMkLst>
              <pc:docMk/>
              <pc:sldMasterMk cId="717840518" sldId="2147483660"/>
              <pc:sldLayoutMk cId="2372881982" sldId="2147483664"/>
              <ac:spMk id="5" creationId="{D7A2D113-A871-44A2-B949-2DB5FAFF9E66}"/>
            </ac:spMkLst>
          </pc:spChg>
        </pc:sldLayoutChg>
        <pc:sldLayoutChg chg="delSp">
          <pc:chgData name="Rozita Yati Masri" userId="fb57b885-c824-4da2-946a-d71ef420875c" providerId="ADAL" clId="{4AB3E3A6-03B2-4752-BED7-DDEBEF40EF0C}" dt="2020-10-11T08:53:16.969" v="3" actId="478"/>
          <pc:sldLayoutMkLst>
            <pc:docMk/>
            <pc:sldMasterMk cId="717840518" sldId="2147483660"/>
            <pc:sldLayoutMk cId="1265718146" sldId="2147483665"/>
          </pc:sldLayoutMkLst>
          <pc:spChg chg="del">
            <ac:chgData name="Rozita Yati Masri" userId="fb57b885-c824-4da2-946a-d71ef420875c" providerId="ADAL" clId="{4AB3E3A6-03B2-4752-BED7-DDEBEF40EF0C}" dt="2020-10-11T08:53:16.969" v="3" actId="478"/>
            <ac:spMkLst>
              <pc:docMk/>
              <pc:sldMasterMk cId="717840518" sldId="2147483660"/>
              <pc:sldLayoutMk cId="1265718146" sldId="2147483665"/>
              <ac:spMk id="7" creationId="{47D21544-1A19-450A-9A54-709EC423BCFE}"/>
            </ac:spMkLst>
          </pc:spChg>
        </pc:sldLayoutChg>
        <pc:sldLayoutChg chg="delSp">
          <pc:chgData name="Rozita Yati Masri" userId="fb57b885-c824-4da2-946a-d71ef420875c" providerId="ADAL" clId="{4AB3E3A6-03B2-4752-BED7-DDEBEF40EF0C}" dt="2020-10-11T08:53:24.297" v="6" actId="478"/>
          <pc:sldLayoutMkLst>
            <pc:docMk/>
            <pc:sldMasterMk cId="717840518" sldId="2147483660"/>
            <pc:sldLayoutMk cId="1850485038" sldId="2147483666"/>
          </pc:sldLayoutMkLst>
          <pc:spChg chg="del">
            <ac:chgData name="Rozita Yati Masri" userId="fb57b885-c824-4da2-946a-d71ef420875c" providerId="ADAL" clId="{4AB3E3A6-03B2-4752-BED7-DDEBEF40EF0C}" dt="2020-10-11T08:53:24.297" v="6" actId="478"/>
            <ac:spMkLst>
              <pc:docMk/>
              <pc:sldMasterMk cId="717840518" sldId="2147483660"/>
              <pc:sldLayoutMk cId="1850485038" sldId="2147483666"/>
              <ac:spMk id="3" creationId="{D77AD2FE-548C-4C8C-86B4-F659E1B7E949}"/>
            </ac:spMkLst>
          </pc:spChg>
        </pc:sldLayoutChg>
        <pc:sldLayoutChg chg="delSp">
          <pc:chgData name="Rozita Yati Masri" userId="fb57b885-c824-4da2-946a-d71ef420875c" providerId="ADAL" clId="{4AB3E3A6-03B2-4752-BED7-DDEBEF40EF0C}" dt="2020-10-11T08:53:26.887" v="7" actId="478"/>
          <pc:sldLayoutMkLst>
            <pc:docMk/>
            <pc:sldMasterMk cId="717840518" sldId="2147483660"/>
            <pc:sldLayoutMk cId="3549959257" sldId="2147483667"/>
          </pc:sldLayoutMkLst>
          <pc:spChg chg="del">
            <ac:chgData name="Rozita Yati Masri" userId="fb57b885-c824-4da2-946a-d71ef420875c" providerId="ADAL" clId="{4AB3E3A6-03B2-4752-BED7-DDEBEF40EF0C}" dt="2020-10-11T08:53:26.887" v="7" actId="478"/>
            <ac:spMkLst>
              <pc:docMk/>
              <pc:sldMasterMk cId="717840518" sldId="2147483660"/>
              <pc:sldLayoutMk cId="3549959257" sldId="2147483667"/>
              <ac:spMk id="2" creationId="{2917C336-48FB-4D30-BD06-54EA5295C452}"/>
            </ac:spMkLst>
          </pc:spChg>
        </pc:sldLayoutChg>
        <pc:sldLayoutChg chg="delSp">
          <pc:chgData name="Rozita Yati Masri" userId="fb57b885-c824-4da2-946a-d71ef420875c" providerId="ADAL" clId="{4AB3E3A6-03B2-4752-BED7-DDEBEF40EF0C}" dt="2020-10-11T08:53:29.060" v="8" actId="478"/>
          <pc:sldLayoutMkLst>
            <pc:docMk/>
            <pc:sldMasterMk cId="717840518" sldId="2147483660"/>
            <pc:sldLayoutMk cId="2208955643" sldId="2147483668"/>
          </pc:sldLayoutMkLst>
          <pc:spChg chg="del">
            <ac:chgData name="Rozita Yati Masri" userId="fb57b885-c824-4da2-946a-d71ef420875c" providerId="ADAL" clId="{4AB3E3A6-03B2-4752-BED7-DDEBEF40EF0C}" dt="2020-10-11T08:53:29.060" v="8" actId="478"/>
            <ac:spMkLst>
              <pc:docMk/>
              <pc:sldMasterMk cId="717840518" sldId="2147483660"/>
              <pc:sldLayoutMk cId="2208955643" sldId="2147483668"/>
              <ac:spMk id="5" creationId="{43535719-93FB-4BCB-999D-ADC5B6C8FEA1}"/>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266F09-BA3B-4F29-B9DA-EF1A45916DBE}" type="datetimeFigureOut">
              <a:rPr lang="en-US" smtClean="0"/>
              <a:t>8/15/2025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984D03-145B-40D4-ADA1-0026A1E5BAC7}" type="slidenum">
              <a:rPr lang="en-US" smtClean="0"/>
              <a:t>‹#›</a:t>
            </a:fld>
            <a:endParaRPr lang="en-US"/>
          </a:p>
        </p:txBody>
      </p:sp>
    </p:spTree>
    <p:extLst>
      <p:ext uri="{BB962C8B-B14F-4D97-AF65-F5344CB8AC3E}">
        <p14:creationId xmlns:p14="http://schemas.microsoft.com/office/powerpoint/2010/main" val="8301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19A55E57-38E4-41C7-8154-A8B991DEA4F6}"/>
              </a:ext>
            </a:extLst>
          </p:cNvPr>
          <p:cNvSpPr>
            <a:spLocks noChangeArrowheads="1"/>
          </p:cNvSpPr>
          <p:nvPr/>
        </p:nvSpPr>
        <p:spPr bwMode="auto">
          <a:xfrm>
            <a:off x="0" y="0"/>
            <a:ext cx="12192000" cy="3429000"/>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sz="1800"/>
          </a:p>
        </p:txBody>
      </p:sp>
      <p:pic>
        <p:nvPicPr>
          <p:cNvPr id="5" name="Picture 10" descr="APU Logo_Final_Vertical_V1_HR1 copy.png">
            <a:extLst>
              <a:ext uri="{FF2B5EF4-FFF2-40B4-BE49-F238E27FC236}">
                <a16:creationId xmlns:a16="http://schemas.microsoft.com/office/drawing/2014/main" id="{D82D9B23-9521-4397-A0C7-7D0BE0B0C4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2687638"/>
            <a:ext cx="2671948"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2" name="Rectangle 2"/>
          <p:cNvSpPr>
            <a:spLocks noGrp="1" noChangeArrowheads="1"/>
          </p:cNvSpPr>
          <p:nvPr>
            <p:ph type="ctrTitle"/>
          </p:nvPr>
        </p:nvSpPr>
        <p:spPr>
          <a:xfrm>
            <a:off x="2505695" y="1952626"/>
            <a:ext cx="9686305" cy="1470025"/>
          </a:xfrm>
        </p:spPr>
        <p:txBody>
          <a:bodyPr/>
          <a:lstStyle>
            <a:lvl1pPr>
              <a:defRPr/>
            </a:lvl1pPr>
          </a:lstStyle>
          <a:p>
            <a:r>
              <a:rPr lang="en-US" dirty="0"/>
              <a:t>Click to edit Master title style</a:t>
            </a:r>
            <a:endParaRPr lang="en-GB" dirty="0"/>
          </a:p>
        </p:txBody>
      </p:sp>
      <p:sp>
        <p:nvSpPr>
          <p:cNvPr id="87043" name="Rectangle 3"/>
          <p:cNvSpPr>
            <a:spLocks noGrp="1" noChangeArrowheads="1"/>
          </p:cNvSpPr>
          <p:nvPr>
            <p:ph type="subTitle" idx="1"/>
          </p:nvPr>
        </p:nvSpPr>
        <p:spPr>
          <a:xfrm>
            <a:off x="2505695" y="3886200"/>
            <a:ext cx="9686306" cy="1752600"/>
          </a:xfrm>
        </p:spPr>
        <p:txBody>
          <a:bodyPr/>
          <a:lstStyle>
            <a:lvl1pPr marL="0" indent="0" algn="ctr">
              <a:buFontTx/>
              <a:buNone/>
              <a:defRPr/>
            </a:lvl1pPr>
          </a:lstStyle>
          <a:p>
            <a:r>
              <a:rPr lang="en-US" dirty="0"/>
              <a:t>Click to edit Master subtitle style</a:t>
            </a:r>
            <a:endParaRPr lang="en-GB" dirty="0"/>
          </a:p>
        </p:txBody>
      </p:sp>
    </p:spTree>
    <p:extLst>
      <p:ext uri="{BB962C8B-B14F-4D97-AF65-F5344CB8AC3E}">
        <p14:creationId xmlns:p14="http://schemas.microsoft.com/office/powerpoint/2010/main" val="1328361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311925" cy="1367327"/>
          </a:xfrm>
          <a:solidFill>
            <a:srgbClr val="A2FFA3"/>
          </a:solidFill>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4723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a:extLst>
              <a:ext uri="{FF2B5EF4-FFF2-40B4-BE49-F238E27FC236}">
                <a16:creationId xmlns:a16="http://schemas.microsoft.com/office/drawing/2014/main" id="{B6392066-0EF0-4FF8-93AA-2093B8EDA099}"/>
              </a:ext>
            </a:extLst>
          </p:cNvPr>
          <p:cNvSpPr>
            <a:spLocks noGrp="1"/>
          </p:cNvSpPr>
          <p:nvPr>
            <p:ph type="ftr" sz="quarter" idx="10"/>
          </p:nvPr>
        </p:nvSpPr>
        <p:spPr>
          <a:xfrm>
            <a:off x="8331200" y="6623050"/>
            <a:ext cx="3860800" cy="234950"/>
          </a:xfrm>
          <a:prstGeom prst="rect">
            <a:avLst/>
          </a:prstGeom>
        </p:spPr>
        <p:txBody>
          <a:bodyPr/>
          <a:lstStyle>
            <a:lvl1pPr>
              <a:defRPr>
                <a:ea typeface="+mn-ea"/>
              </a:defRPr>
            </a:lvl1pPr>
          </a:lstStyle>
          <a:p>
            <a:pPr>
              <a:defRPr/>
            </a:pPr>
            <a:endParaRPr lang="en-GB"/>
          </a:p>
        </p:txBody>
      </p:sp>
    </p:spTree>
    <p:extLst>
      <p:ext uri="{BB962C8B-B14F-4D97-AF65-F5344CB8AC3E}">
        <p14:creationId xmlns:p14="http://schemas.microsoft.com/office/powerpoint/2010/main" val="347115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49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72881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6571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5048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995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0895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E197F50-3179-4421-9233-93FB4F4AE80B}"/>
              </a:ext>
            </a:extLst>
          </p:cNvPr>
          <p:cNvSpPr>
            <a:spLocks noGrp="1"/>
          </p:cNvSpPr>
          <p:nvPr>
            <p:ph type="ftr" sz="quarter" idx="10"/>
          </p:nvPr>
        </p:nvSpPr>
        <p:spPr>
          <a:xfrm>
            <a:off x="8331200" y="6623050"/>
            <a:ext cx="3860800" cy="234950"/>
          </a:xfrm>
          <a:prstGeom prst="rect">
            <a:avLst/>
          </a:prstGeom>
        </p:spPr>
        <p:txBody>
          <a:bodyPr/>
          <a:lstStyle>
            <a:lvl1pPr>
              <a:defRPr>
                <a:ea typeface="+mn-ea"/>
              </a:defRPr>
            </a:lvl1pPr>
          </a:lstStyle>
          <a:p>
            <a:pPr>
              <a:defRPr/>
            </a:pPr>
            <a:endParaRPr lang="en-GB"/>
          </a:p>
        </p:txBody>
      </p:sp>
    </p:spTree>
    <p:extLst>
      <p:ext uri="{BB962C8B-B14F-4D97-AF65-F5344CB8AC3E}">
        <p14:creationId xmlns:p14="http://schemas.microsoft.com/office/powerpoint/2010/main" val="845223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790899FE-50CE-4592-8241-9731B40B4305}"/>
              </a:ext>
            </a:extLst>
          </p:cNvPr>
          <p:cNvSpPr>
            <a:spLocks noGrp="1"/>
          </p:cNvSpPr>
          <p:nvPr>
            <p:ph type="ftr" sz="quarter" idx="10"/>
          </p:nvPr>
        </p:nvSpPr>
        <p:spPr>
          <a:xfrm>
            <a:off x="8331200" y="6623050"/>
            <a:ext cx="3860800" cy="234950"/>
          </a:xfrm>
          <a:prstGeom prst="rect">
            <a:avLst/>
          </a:prstGeom>
        </p:spPr>
        <p:txBody>
          <a:bodyPr/>
          <a:lstStyle>
            <a:lvl1pPr>
              <a:defRPr>
                <a:ea typeface="+mn-ea"/>
              </a:defRPr>
            </a:lvl1pPr>
          </a:lstStyle>
          <a:p>
            <a:pPr>
              <a:defRPr/>
            </a:pPr>
            <a:endParaRPr lang="en-GB"/>
          </a:p>
        </p:txBody>
      </p:sp>
    </p:spTree>
    <p:extLst>
      <p:ext uri="{BB962C8B-B14F-4D97-AF65-F5344CB8AC3E}">
        <p14:creationId xmlns:p14="http://schemas.microsoft.com/office/powerpoint/2010/main" val="68065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9417" y="274638"/>
            <a:ext cx="2743200" cy="59483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47700" y="274638"/>
            <a:ext cx="8028517" cy="594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DFB6B087-45F3-4C06-AF9A-3C1779880019}"/>
              </a:ext>
            </a:extLst>
          </p:cNvPr>
          <p:cNvSpPr>
            <a:spLocks noGrp="1"/>
          </p:cNvSpPr>
          <p:nvPr>
            <p:ph type="ftr" sz="quarter" idx="10"/>
          </p:nvPr>
        </p:nvSpPr>
        <p:spPr>
          <a:xfrm>
            <a:off x="8331200" y="6623050"/>
            <a:ext cx="3860800" cy="234950"/>
          </a:xfrm>
          <a:prstGeom prst="rect">
            <a:avLst/>
          </a:prstGeom>
        </p:spPr>
        <p:txBody>
          <a:bodyPr/>
          <a:lstStyle>
            <a:lvl1pPr>
              <a:defRPr>
                <a:ea typeface="+mn-ea"/>
              </a:defRPr>
            </a:lvl1pPr>
          </a:lstStyle>
          <a:p>
            <a:pPr>
              <a:defRPr/>
            </a:pPr>
            <a:endParaRPr lang="en-GB"/>
          </a:p>
        </p:txBody>
      </p:sp>
    </p:spTree>
    <p:extLst>
      <p:ext uri="{BB962C8B-B14F-4D97-AF65-F5344CB8AC3E}">
        <p14:creationId xmlns:p14="http://schemas.microsoft.com/office/powerpoint/2010/main" val="1929502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74638"/>
            <a:ext cx="9389533" cy="1143000"/>
          </a:xfrm>
        </p:spPr>
        <p:txBody>
          <a:bodyPr/>
          <a:lstStyle/>
          <a:p>
            <a:r>
              <a:rPr lang="en-US"/>
              <a:t>Click to edit Master title style</a:t>
            </a:r>
          </a:p>
        </p:txBody>
      </p:sp>
      <p:sp>
        <p:nvSpPr>
          <p:cNvPr id="3" name="Text Placeholder 2"/>
          <p:cNvSpPr>
            <a:spLocks noGrp="1"/>
          </p:cNvSpPr>
          <p:nvPr>
            <p:ph type="body" sz="half" idx="1"/>
          </p:nvPr>
        </p:nvSpPr>
        <p:spPr>
          <a:xfrm>
            <a:off x="624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2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5A6DC315-7F58-4763-BC2C-AF70BD9B47C6}"/>
              </a:ext>
            </a:extLst>
          </p:cNvPr>
          <p:cNvSpPr>
            <a:spLocks noGrp="1" noChangeArrowheads="1"/>
          </p:cNvSpPr>
          <p:nvPr>
            <p:ph type="ftr" sz="quarter" idx="10"/>
          </p:nvPr>
        </p:nvSpPr>
        <p:spPr>
          <a:xfrm>
            <a:off x="8331200" y="6623050"/>
            <a:ext cx="3860800" cy="234950"/>
          </a:xfrm>
          <a:prstGeom prst="rect">
            <a:avLst/>
          </a:prstGeom>
          <a:ln/>
        </p:spPr>
        <p:txBody>
          <a:bodyPr/>
          <a:lstStyle>
            <a:lvl1pPr>
              <a:defRPr/>
            </a:lvl1pPr>
          </a:lstStyle>
          <a:p>
            <a:pPr>
              <a:defRPr/>
            </a:pPr>
            <a:endParaRPr lang="en-US" altLang="en-US"/>
          </a:p>
        </p:txBody>
      </p:sp>
    </p:spTree>
    <p:extLst>
      <p:ext uri="{BB962C8B-B14F-4D97-AF65-F5344CB8AC3E}">
        <p14:creationId xmlns:p14="http://schemas.microsoft.com/office/powerpoint/2010/main" val="174847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7" descr="ucti_globe1_transparent_small">
            <a:extLst>
              <a:ext uri="{FF2B5EF4-FFF2-40B4-BE49-F238E27FC236}">
                <a16:creationId xmlns:a16="http://schemas.microsoft.com/office/drawing/2014/main" id="{78D6A39E-0BA3-4626-8EF0-3422758B0867}"/>
              </a:ext>
            </a:extLst>
          </p:cNvPr>
          <p:cNvPicPr>
            <a:picLocks noChangeAspect="1" noChangeArrowheads="1"/>
          </p:cNvPicPr>
          <p:nvPr/>
        </p:nvPicPr>
        <p:blipFill>
          <a:blip r:embed="rId14">
            <a:lum bright="80000" contrast="-90000"/>
            <a:extLst>
              <a:ext uri="{28A0092B-C50C-407E-A947-70E740481C1C}">
                <a14:useLocalDpi xmlns:a14="http://schemas.microsoft.com/office/drawing/2010/main" val="0"/>
              </a:ext>
            </a:extLst>
          </a:blip>
          <a:srcRect/>
          <a:stretch>
            <a:fillRect/>
          </a:stretch>
        </p:blipFill>
        <p:spPr bwMode="auto">
          <a:xfrm>
            <a:off x="-1921934" y="2570164"/>
            <a:ext cx="9609667"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5D889B73-4BC7-4175-8777-89F6049860A0}"/>
              </a:ext>
            </a:extLst>
          </p:cNvPr>
          <p:cNvSpPr>
            <a:spLocks noChangeArrowheads="1"/>
          </p:cNvSpPr>
          <p:nvPr/>
        </p:nvSpPr>
        <p:spPr bwMode="auto">
          <a:xfrm>
            <a:off x="-55034" y="6564768"/>
            <a:ext cx="12192000" cy="236537"/>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GB" sz="1800" dirty="0"/>
          </a:p>
        </p:txBody>
      </p:sp>
      <p:sp>
        <p:nvSpPr>
          <p:cNvPr id="1028" name="Rectangle 4">
            <a:extLst>
              <a:ext uri="{FF2B5EF4-FFF2-40B4-BE49-F238E27FC236}">
                <a16:creationId xmlns:a16="http://schemas.microsoft.com/office/drawing/2014/main" id="{01326838-1107-4D82-B9EC-B2E5D9B1D4B4}"/>
              </a:ext>
            </a:extLst>
          </p:cNvPr>
          <p:cNvSpPr>
            <a:spLocks noGrp="1" noChangeArrowheads="1"/>
          </p:cNvSpPr>
          <p:nvPr>
            <p:ph type="body" idx="1"/>
          </p:nvPr>
        </p:nvSpPr>
        <p:spPr bwMode="auto">
          <a:xfrm>
            <a:off x="649817" y="16970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6">
            <a:extLst>
              <a:ext uri="{FF2B5EF4-FFF2-40B4-BE49-F238E27FC236}">
                <a16:creationId xmlns:a16="http://schemas.microsoft.com/office/drawing/2014/main" id="{3E5B5E28-740F-4CE1-8D47-D46EA3E4FCE8}"/>
              </a:ext>
            </a:extLst>
          </p:cNvPr>
          <p:cNvSpPr>
            <a:spLocks noGrp="1" noChangeArrowheads="1"/>
          </p:cNvSpPr>
          <p:nvPr>
            <p:ph type="title"/>
          </p:nvPr>
        </p:nvSpPr>
        <p:spPr bwMode="auto">
          <a:xfrm>
            <a:off x="647700" y="274638"/>
            <a:ext cx="1004009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2" name="Rectangle 9">
            <a:extLst>
              <a:ext uri="{FF2B5EF4-FFF2-40B4-BE49-F238E27FC236}">
                <a16:creationId xmlns:a16="http://schemas.microsoft.com/office/drawing/2014/main" id="{9E037968-5E94-4DFF-A255-3B9193204320}"/>
              </a:ext>
            </a:extLst>
          </p:cNvPr>
          <p:cNvSpPr>
            <a:spLocks noChangeArrowheads="1"/>
          </p:cNvSpPr>
          <p:nvPr/>
        </p:nvSpPr>
        <p:spPr bwMode="auto">
          <a:xfrm>
            <a:off x="4233333" y="6597650"/>
            <a:ext cx="3615267" cy="260350"/>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GB" sz="8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0" descr="APU Logo Final-medium.jpg">
            <a:extLst>
              <a:ext uri="{FF2B5EF4-FFF2-40B4-BE49-F238E27FC236}">
                <a16:creationId xmlns:a16="http://schemas.microsoft.com/office/drawing/2014/main" id="{3A5908B1-49F6-461B-A3D4-C9A0E65D1248}"/>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10687792" y="1"/>
            <a:ext cx="1504209"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7">
            <a:extLst>
              <a:ext uri="{FF2B5EF4-FFF2-40B4-BE49-F238E27FC236}">
                <a16:creationId xmlns:a16="http://schemas.microsoft.com/office/drawing/2014/main" id="{43485DA5-BB14-4953-AB3C-BD0ED6F0FDA0}"/>
              </a:ext>
            </a:extLst>
          </p:cNvPr>
          <p:cNvSpPr>
            <a:spLocks noChangeArrowheads="1"/>
          </p:cNvSpPr>
          <p:nvPr userDrawn="1"/>
        </p:nvSpPr>
        <p:spPr bwMode="auto">
          <a:xfrm>
            <a:off x="0" y="6597650"/>
            <a:ext cx="2711450" cy="260350"/>
          </a:xfrm>
          <a:prstGeom prst="rect">
            <a:avLst/>
          </a:prstGeom>
          <a:noFill/>
          <a:ln w="9525">
            <a:noFill/>
            <a:miter lim="800000"/>
            <a:headEnd/>
            <a:tailEnd/>
          </a:ln>
          <a:effectLst/>
        </p:spPr>
        <p:txBody>
          <a:bodyPr/>
          <a:lstStyle/>
          <a:p>
            <a:pPr>
              <a:defRPr/>
            </a:pPr>
            <a:r>
              <a:rPr lang="en-GB" sz="1000" dirty="0">
                <a:latin typeface="Calibri" pitchFamily="34" charset="0"/>
                <a:cs typeface="Calibri" pitchFamily="34" charset="0"/>
              </a:rPr>
              <a:t>CT109-3-1 Digital Thinking and Innovation</a:t>
            </a:r>
          </a:p>
        </p:txBody>
      </p:sp>
      <p:sp>
        <p:nvSpPr>
          <p:cNvPr id="10" name="Rectangle 9">
            <a:extLst>
              <a:ext uri="{FF2B5EF4-FFF2-40B4-BE49-F238E27FC236}">
                <a16:creationId xmlns:a16="http://schemas.microsoft.com/office/drawing/2014/main" id="{E14832A6-70E1-4EEB-BD77-7759AEA178AD}"/>
              </a:ext>
            </a:extLst>
          </p:cNvPr>
          <p:cNvSpPr>
            <a:spLocks noChangeArrowheads="1"/>
          </p:cNvSpPr>
          <p:nvPr userDrawn="1"/>
        </p:nvSpPr>
        <p:spPr bwMode="auto">
          <a:xfrm>
            <a:off x="4624979" y="6597650"/>
            <a:ext cx="3134360" cy="270510"/>
          </a:xfrm>
          <a:prstGeom prst="rect">
            <a:avLst/>
          </a:prstGeom>
          <a:noFill/>
          <a:ln w="9525">
            <a:noFill/>
            <a:miter lim="800000"/>
            <a:headEnd/>
            <a:tailEnd/>
          </a:ln>
          <a:effectLst/>
        </p:spPr>
        <p:txBody>
          <a:bodyPr/>
          <a:lstStyle/>
          <a:p>
            <a:pPr algn="ctr">
              <a:defRPr/>
            </a:pPr>
            <a:r>
              <a:rPr lang="en-GB" sz="1000" dirty="0">
                <a:latin typeface="Calibri" pitchFamily="34" charset="0"/>
                <a:cs typeface="Calibri" pitchFamily="34" charset="0"/>
              </a:rPr>
              <a:t>Digital Culture and Society</a:t>
            </a:r>
          </a:p>
        </p:txBody>
      </p:sp>
      <p:sp>
        <p:nvSpPr>
          <p:cNvPr id="11" name="Rectangle 10">
            <a:extLst>
              <a:ext uri="{FF2B5EF4-FFF2-40B4-BE49-F238E27FC236}">
                <a16:creationId xmlns:a16="http://schemas.microsoft.com/office/drawing/2014/main" id="{A127C802-E6E8-4475-82C1-37AAEFBA3DE5}"/>
              </a:ext>
            </a:extLst>
          </p:cNvPr>
          <p:cNvSpPr>
            <a:spLocks noChangeArrowheads="1"/>
          </p:cNvSpPr>
          <p:nvPr userDrawn="1"/>
        </p:nvSpPr>
        <p:spPr bwMode="auto">
          <a:xfrm>
            <a:off x="9457835" y="6607810"/>
            <a:ext cx="2711450" cy="260350"/>
          </a:xfrm>
          <a:prstGeom prst="rect">
            <a:avLst/>
          </a:prstGeom>
          <a:noFill/>
          <a:ln w="9525">
            <a:noFill/>
            <a:miter lim="800000"/>
            <a:headEnd/>
            <a:tailEnd/>
          </a:ln>
          <a:effectLst/>
        </p:spPr>
        <p:txBody>
          <a:bodyPr/>
          <a:lstStyle/>
          <a:p>
            <a:pPr algn="r">
              <a:defRPr/>
            </a:pPr>
            <a:r>
              <a:rPr lang="en-GB" sz="1000" dirty="0">
                <a:latin typeface="Calibri" pitchFamily="34" charset="0"/>
                <a:cs typeface="Calibri" pitchFamily="34" charset="0"/>
              </a:rPr>
              <a:t>Slide </a:t>
            </a:r>
            <a:fld id="{DECA9CF0-005F-441B-BAB5-56B8212B3760}" type="slidenum">
              <a:rPr lang="en-GB" sz="1000" smtClean="0">
                <a:latin typeface="Calibri" pitchFamily="34" charset="0"/>
                <a:cs typeface="Calibri" pitchFamily="34" charset="0"/>
              </a:rPr>
              <a:pPr algn="r">
                <a:defRPr/>
              </a:pPr>
              <a:t>‹#›</a:t>
            </a:fld>
            <a:r>
              <a:rPr lang="en-GB" sz="1000" dirty="0">
                <a:latin typeface="Calibri" pitchFamily="34" charset="0"/>
                <a:cs typeface="Calibri" pitchFamily="34" charset="0"/>
              </a:rPr>
              <a:t> out of 28</a:t>
            </a:r>
          </a:p>
        </p:txBody>
      </p:sp>
    </p:spTree>
    <p:extLst>
      <p:ext uri="{BB962C8B-B14F-4D97-AF65-F5344CB8AC3E}">
        <p14:creationId xmlns:p14="http://schemas.microsoft.com/office/powerpoint/2010/main" val="717840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hyperlink" Target="https://econsultancy.com/10-companies-with-a-digital-culture/" TargetMode="Externa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youtube.com/watch?v=xBQQ1dQ_2Ow"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youtube.com/watch?v=hEPCTFuuqgY"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vibrant.org/what-we-do/call-text-chat-online-services/" TargetMode="External"/><Relationship Id="rId2" Type="http://schemas.openxmlformats.org/officeDocument/2006/relationships/hyperlink" Target="http://www.im-in-crisis.or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youtube.com/watch?v=9bYpk75JnZ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2033-E616-4689-8B30-032E753181F7}"/>
              </a:ext>
            </a:extLst>
          </p:cNvPr>
          <p:cNvSpPr>
            <a:spLocks noGrp="1"/>
          </p:cNvSpPr>
          <p:nvPr>
            <p:ph type="ctrTitle"/>
          </p:nvPr>
        </p:nvSpPr>
        <p:spPr/>
        <p:txBody>
          <a:bodyPr/>
          <a:lstStyle/>
          <a:p>
            <a:r>
              <a:rPr lang="en-US" dirty="0"/>
              <a:t>Digital Thinking and Innovation</a:t>
            </a:r>
          </a:p>
        </p:txBody>
      </p:sp>
      <p:sp>
        <p:nvSpPr>
          <p:cNvPr id="3" name="Subtitle 2">
            <a:extLst>
              <a:ext uri="{FF2B5EF4-FFF2-40B4-BE49-F238E27FC236}">
                <a16:creationId xmlns:a16="http://schemas.microsoft.com/office/drawing/2014/main" id="{EA5624DE-0F9F-4A4F-8533-D7F4AD4E9C42}"/>
              </a:ext>
            </a:extLst>
          </p:cNvPr>
          <p:cNvSpPr>
            <a:spLocks noGrp="1"/>
          </p:cNvSpPr>
          <p:nvPr>
            <p:ph type="subTitle" idx="1"/>
          </p:nvPr>
        </p:nvSpPr>
        <p:spPr/>
        <p:txBody>
          <a:bodyPr/>
          <a:lstStyle/>
          <a:p>
            <a:r>
              <a:rPr lang="en-US" dirty="0"/>
              <a:t>Digital Culture and Society</a:t>
            </a:r>
          </a:p>
        </p:txBody>
      </p:sp>
    </p:spTree>
    <p:extLst>
      <p:ext uri="{BB962C8B-B14F-4D97-AF65-F5344CB8AC3E}">
        <p14:creationId xmlns:p14="http://schemas.microsoft.com/office/powerpoint/2010/main" val="1680535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7FD2-3BC9-4D69-A5CA-55E909379DE4}"/>
              </a:ext>
            </a:extLst>
          </p:cNvPr>
          <p:cNvSpPr>
            <a:spLocks noGrp="1"/>
          </p:cNvSpPr>
          <p:nvPr>
            <p:ph type="title"/>
          </p:nvPr>
        </p:nvSpPr>
        <p:spPr/>
        <p:txBody>
          <a:bodyPr/>
          <a:lstStyle/>
          <a:p>
            <a:r>
              <a:rPr lang="en-US" dirty="0"/>
              <a:t>Recap Topic 1 – Digital Generation</a:t>
            </a:r>
          </a:p>
        </p:txBody>
      </p:sp>
      <p:sp>
        <p:nvSpPr>
          <p:cNvPr id="4" name="Content Placeholder 3">
            <a:extLst>
              <a:ext uri="{FF2B5EF4-FFF2-40B4-BE49-F238E27FC236}">
                <a16:creationId xmlns:a16="http://schemas.microsoft.com/office/drawing/2014/main" id="{7A30D132-B870-4C32-B157-F530A717312C}"/>
              </a:ext>
            </a:extLst>
          </p:cNvPr>
          <p:cNvSpPr>
            <a:spLocks noGrp="1"/>
          </p:cNvSpPr>
          <p:nvPr>
            <p:ph idx="1"/>
          </p:nvPr>
        </p:nvSpPr>
        <p:spPr/>
        <p:txBody>
          <a:bodyPr/>
          <a:lstStyle/>
          <a:p>
            <a:pPr marL="0" indent="0">
              <a:buNone/>
            </a:pPr>
            <a:r>
              <a:rPr lang="en-US" dirty="0"/>
              <a:t>Define/Describe </a:t>
            </a:r>
            <a:r>
              <a:rPr lang="en-US" b="1" dirty="0"/>
              <a:t>Agile Thinking</a:t>
            </a:r>
            <a:endParaRPr lang="en-US" dirty="0"/>
          </a:p>
          <a:p>
            <a:endParaRPr lang="en-MY" dirty="0"/>
          </a:p>
        </p:txBody>
      </p:sp>
    </p:spTree>
    <p:extLst>
      <p:ext uri="{BB962C8B-B14F-4D97-AF65-F5344CB8AC3E}">
        <p14:creationId xmlns:p14="http://schemas.microsoft.com/office/powerpoint/2010/main" val="343075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C0A08-3814-3516-57CB-41D9FB6D3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26E26-3665-2EF7-2578-C78C2B3CF5F5}"/>
              </a:ext>
            </a:extLst>
          </p:cNvPr>
          <p:cNvSpPr>
            <a:spLocks noGrp="1"/>
          </p:cNvSpPr>
          <p:nvPr>
            <p:ph type="title"/>
          </p:nvPr>
        </p:nvSpPr>
        <p:spPr/>
        <p:txBody>
          <a:bodyPr/>
          <a:lstStyle/>
          <a:p>
            <a:r>
              <a:rPr lang="en-US" dirty="0"/>
              <a:t>Recap Topic 1 – Digital Generation</a:t>
            </a:r>
          </a:p>
        </p:txBody>
      </p:sp>
      <p:sp>
        <p:nvSpPr>
          <p:cNvPr id="4" name="Content Placeholder 3">
            <a:extLst>
              <a:ext uri="{FF2B5EF4-FFF2-40B4-BE49-F238E27FC236}">
                <a16:creationId xmlns:a16="http://schemas.microsoft.com/office/drawing/2014/main" id="{0404599D-A63C-ABB5-6234-A8E8D3AE388A}"/>
              </a:ext>
            </a:extLst>
          </p:cNvPr>
          <p:cNvSpPr>
            <a:spLocks noGrp="1"/>
          </p:cNvSpPr>
          <p:nvPr>
            <p:ph idx="1"/>
          </p:nvPr>
        </p:nvSpPr>
        <p:spPr>
          <a:xfrm>
            <a:off x="393339" y="1596676"/>
            <a:ext cx="11137022" cy="4770669"/>
          </a:xfrm>
        </p:spPr>
        <p:txBody>
          <a:bodyPr/>
          <a:lstStyle/>
          <a:p>
            <a:pPr marL="0" indent="0">
              <a:buNone/>
            </a:pPr>
            <a:r>
              <a:rPr lang="en-US" sz="2800" dirty="0"/>
              <a:t>Define/Describe </a:t>
            </a:r>
            <a:r>
              <a:rPr lang="en-US" sz="2800" b="1" dirty="0"/>
              <a:t>Agile Thinking</a:t>
            </a:r>
            <a:endParaRPr lang="en-US" sz="2800" dirty="0"/>
          </a:p>
          <a:p>
            <a:pPr marL="0" indent="0">
              <a:buNone/>
            </a:pPr>
            <a:endParaRPr lang="en-US" sz="2800" b="1" dirty="0"/>
          </a:p>
          <a:p>
            <a:pPr marL="0" indent="0">
              <a:buNone/>
            </a:pPr>
            <a:r>
              <a:rPr lang="en-US" sz="2800" dirty="0"/>
              <a:t>Ans</a:t>
            </a:r>
            <a:r>
              <a:rPr lang="en-US" sz="2800" b="1" dirty="0"/>
              <a:t>: Agile Thinking</a:t>
            </a:r>
            <a:r>
              <a:rPr lang="en-US" sz="2800" dirty="0"/>
              <a:t> is the </a:t>
            </a:r>
            <a:r>
              <a:rPr lang="en-US" sz="2800" dirty="0">
                <a:highlight>
                  <a:srgbClr val="FFFF00"/>
                </a:highlight>
              </a:rPr>
              <a:t>way of thinking </a:t>
            </a:r>
            <a:r>
              <a:rPr lang="en-US" sz="2800" dirty="0"/>
              <a:t>which enables the </a:t>
            </a:r>
            <a:r>
              <a:rPr lang="en-US" sz="2800" dirty="0">
                <a:highlight>
                  <a:srgbClr val="FFFF00"/>
                </a:highlight>
              </a:rPr>
              <a:t>ability to respond to change or solve problems</a:t>
            </a:r>
            <a:r>
              <a:rPr lang="en-US" sz="2800" dirty="0"/>
              <a:t> quickly and easily</a:t>
            </a:r>
          </a:p>
          <a:p>
            <a:pPr lvl="1"/>
            <a:r>
              <a:rPr lang="en-US" sz="2400" dirty="0"/>
              <a:t>Take everything as </a:t>
            </a:r>
            <a:r>
              <a:rPr lang="en-US" sz="2400" dirty="0">
                <a:highlight>
                  <a:srgbClr val="FFFF00"/>
                </a:highlight>
              </a:rPr>
              <a:t>lessons </a:t>
            </a:r>
            <a:r>
              <a:rPr lang="en-US" sz="2400" dirty="0"/>
              <a:t> </a:t>
            </a:r>
          </a:p>
          <a:p>
            <a:pPr lvl="1"/>
            <a:r>
              <a:rPr lang="en-US" sz="2400" dirty="0"/>
              <a:t>Adjust actions according to the </a:t>
            </a:r>
            <a:r>
              <a:rPr lang="en-US" sz="2400" dirty="0">
                <a:highlight>
                  <a:srgbClr val="FFFF00"/>
                </a:highlight>
              </a:rPr>
              <a:t>feedback</a:t>
            </a:r>
          </a:p>
          <a:p>
            <a:pPr lvl="1"/>
            <a:r>
              <a:rPr lang="en-US" sz="2400" dirty="0"/>
              <a:t>Proceed toward desired outcomes, resulting in </a:t>
            </a:r>
            <a:r>
              <a:rPr lang="en-US" sz="2400" dirty="0">
                <a:highlight>
                  <a:srgbClr val="FFFF00"/>
                </a:highlight>
              </a:rPr>
              <a:t>continuous improvement</a:t>
            </a:r>
          </a:p>
          <a:p>
            <a:endParaRPr lang="en-MY" sz="2800" dirty="0"/>
          </a:p>
        </p:txBody>
      </p:sp>
    </p:spTree>
    <p:extLst>
      <p:ext uri="{BB962C8B-B14F-4D97-AF65-F5344CB8AC3E}">
        <p14:creationId xmlns:p14="http://schemas.microsoft.com/office/powerpoint/2010/main" val="891386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BB682-274F-86C6-6BFF-8C4E6DF24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DD043-CDDA-CA02-5738-F3713EF63520}"/>
              </a:ext>
            </a:extLst>
          </p:cNvPr>
          <p:cNvSpPr>
            <a:spLocks noGrp="1"/>
          </p:cNvSpPr>
          <p:nvPr>
            <p:ph type="title"/>
          </p:nvPr>
        </p:nvSpPr>
        <p:spPr/>
        <p:txBody>
          <a:bodyPr/>
          <a:lstStyle/>
          <a:p>
            <a:r>
              <a:rPr lang="en-US" dirty="0"/>
              <a:t>Recap Topic 1 – Digital Generation</a:t>
            </a:r>
          </a:p>
        </p:txBody>
      </p:sp>
      <p:sp>
        <p:nvSpPr>
          <p:cNvPr id="4" name="Content Placeholder 3">
            <a:extLst>
              <a:ext uri="{FF2B5EF4-FFF2-40B4-BE49-F238E27FC236}">
                <a16:creationId xmlns:a16="http://schemas.microsoft.com/office/drawing/2014/main" id="{D4C4C9B5-1657-0012-F37D-79B29D90694B}"/>
              </a:ext>
            </a:extLst>
          </p:cNvPr>
          <p:cNvSpPr>
            <a:spLocks noGrp="1"/>
          </p:cNvSpPr>
          <p:nvPr>
            <p:ph idx="1"/>
          </p:nvPr>
        </p:nvSpPr>
        <p:spPr/>
        <p:txBody>
          <a:bodyPr/>
          <a:lstStyle/>
          <a:p>
            <a:r>
              <a:rPr lang="en-US" dirty="0"/>
              <a:t>Define/Describe </a:t>
            </a:r>
            <a:r>
              <a:rPr lang="en-US" b="1" dirty="0"/>
              <a:t>Digital Thinking</a:t>
            </a:r>
          </a:p>
          <a:p>
            <a:endParaRPr lang="en-US" dirty="0"/>
          </a:p>
          <a:p>
            <a:r>
              <a:rPr lang="en-US" dirty="0"/>
              <a:t>Define/Describe </a:t>
            </a:r>
            <a:r>
              <a:rPr lang="en-US" b="1" dirty="0"/>
              <a:t>Digital Literacy</a:t>
            </a:r>
          </a:p>
          <a:p>
            <a:endParaRPr lang="en-MY" dirty="0"/>
          </a:p>
        </p:txBody>
      </p:sp>
    </p:spTree>
    <p:extLst>
      <p:ext uri="{BB962C8B-B14F-4D97-AF65-F5344CB8AC3E}">
        <p14:creationId xmlns:p14="http://schemas.microsoft.com/office/powerpoint/2010/main" val="475369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FAFD8-F507-8E3B-656E-59FDC5FC5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53E05-0977-D98C-2F94-67134CFCA6FD}"/>
              </a:ext>
            </a:extLst>
          </p:cNvPr>
          <p:cNvSpPr>
            <a:spLocks noGrp="1"/>
          </p:cNvSpPr>
          <p:nvPr>
            <p:ph type="title"/>
          </p:nvPr>
        </p:nvSpPr>
        <p:spPr/>
        <p:txBody>
          <a:bodyPr/>
          <a:lstStyle/>
          <a:p>
            <a:r>
              <a:rPr lang="en-US" dirty="0"/>
              <a:t>Recap Topic 1 – Digital Generation</a:t>
            </a:r>
          </a:p>
        </p:txBody>
      </p:sp>
      <p:sp>
        <p:nvSpPr>
          <p:cNvPr id="4" name="Content Placeholder 3">
            <a:extLst>
              <a:ext uri="{FF2B5EF4-FFF2-40B4-BE49-F238E27FC236}">
                <a16:creationId xmlns:a16="http://schemas.microsoft.com/office/drawing/2014/main" id="{90F5F0B0-43FE-BBA2-4A59-0E2F1CDA79B6}"/>
              </a:ext>
            </a:extLst>
          </p:cNvPr>
          <p:cNvSpPr>
            <a:spLocks noGrp="1"/>
          </p:cNvSpPr>
          <p:nvPr>
            <p:ph idx="1"/>
          </p:nvPr>
        </p:nvSpPr>
        <p:spPr/>
        <p:txBody>
          <a:bodyPr/>
          <a:lstStyle/>
          <a:p>
            <a:pPr marL="0" indent="0">
              <a:buNone/>
            </a:pPr>
            <a:r>
              <a:rPr lang="en-US" sz="2800" dirty="0"/>
              <a:t>Define/Describe </a:t>
            </a:r>
            <a:r>
              <a:rPr lang="en-US" sz="2800" b="1" dirty="0"/>
              <a:t>Digital Thinking</a:t>
            </a:r>
          </a:p>
          <a:p>
            <a:pPr marL="0" indent="0">
              <a:buNone/>
            </a:pPr>
            <a:endParaRPr lang="en-US" sz="2800" b="1" dirty="0"/>
          </a:p>
          <a:p>
            <a:pPr marL="0" indent="0">
              <a:buNone/>
            </a:pPr>
            <a:r>
              <a:rPr lang="en-US" sz="2800" b="1" i="1" dirty="0">
                <a:highlight>
                  <a:srgbClr val="FFFF00"/>
                </a:highlight>
              </a:rPr>
              <a:t>Ans: The variety of thinking skills that comprise digital literacy</a:t>
            </a:r>
            <a:r>
              <a:rPr lang="en-US" sz="2800" i="1" dirty="0"/>
              <a:t>.</a:t>
            </a:r>
          </a:p>
          <a:p>
            <a:pPr marL="0" indent="0">
              <a:buNone/>
            </a:pPr>
            <a:endParaRPr lang="en-US" sz="2800" dirty="0"/>
          </a:p>
          <a:p>
            <a:pPr marL="0" indent="0">
              <a:buNone/>
            </a:pPr>
            <a:r>
              <a:rPr lang="en-US" sz="2800" dirty="0"/>
              <a:t>Define/Describe </a:t>
            </a:r>
            <a:r>
              <a:rPr lang="en-US" sz="2800" b="1" dirty="0"/>
              <a:t>Digital Literacy</a:t>
            </a:r>
          </a:p>
          <a:p>
            <a:pPr marL="0" indent="0">
              <a:buNone/>
            </a:pPr>
            <a:endParaRPr lang="en-US" sz="2800" b="1" dirty="0"/>
          </a:p>
          <a:p>
            <a:pPr marL="0" indent="0">
              <a:buNone/>
            </a:pPr>
            <a:r>
              <a:rPr lang="en-US" sz="2800" b="1" i="1" dirty="0">
                <a:highlight>
                  <a:srgbClr val="FFFF00"/>
                </a:highlight>
              </a:rPr>
              <a:t>Ans: An individual's ability to find, evaluate, and compose clear information through writing and other media on various digital platforms</a:t>
            </a:r>
            <a:endParaRPr lang="en-MY" sz="2800" b="1" i="1" dirty="0">
              <a:highlight>
                <a:srgbClr val="FFFF00"/>
              </a:highlight>
            </a:endParaRPr>
          </a:p>
          <a:p>
            <a:endParaRPr lang="en-US" sz="2800" b="1" dirty="0"/>
          </a:p>
          <a:p>
            <a:endParaRPr lang="en-US" sz="2800" dirty="0"/>
          </a:p>
          <a:p>
            <a:endParaRPr lang="en-MY" sz="2800" dirty="0"/>
          </a:p>
          <a:p>
            <a:endParaRPr lang="en-US" sz="2800" dirty="0"/>
          </a:p>
          <a:p>
            <a:endParaRPr lang="en-MY" sz="2800" dirty="0"/>
          </a:p>
        </p:txBody>
      </p:sp>
    </p:spTree>
    <p:extLst>
      <p:ext uri="{BB962C8B-B14F-4D97-AF65-F5344CB8AC3E}">
        <p14:creationId xmlns:p14="http://schemas.microsoft.com/office/powerpoint/2010/main" val="3079621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153F3-E32C-AD3A-D977-E964B945E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A3111C-6117-2271-1EC5-6037CEE3BCF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63E72653-A086-AF86-4464-4A66665F19BB}"/>
              </a:ext>
            </a:extLst>
          </p:cNvPr>
          <p:cNvSpPr>
            <a:spLocks noGrp="1"/>
          </p:cNvSpPr>
          <p:nvPr>
            <p:ph idx="1"/>
          </p:nvPr>
        </p:nvSpPr>
        <p:spPr/>
        <p:txBody>
          <a:bodyPr/>
          <a:lstStyle/>
          <a:p>
            <a:pPr marL="0" indent="0">
              <a:buNone/>
            </a:pPr>
            <a:r>
              <a:rPr lang="en-US" dirty="0"/>
              <a:t>This topic discusses how technology promotes culture change towards the digital world, which ultimately leads to the digital society.</a:t>
            </a:r>
          </a:p>
        </p:txBody>
      </p:sp>
      <p:pic>
        <p:nvPicPr>
          <p:cNvPr id="7" name="Picture 6">
            <a:extLst>
              <a:ext uri="{FF2B5EF4-FFF2-40B4-BE49-F238E27FC236}">
                <a16:creationId xmlns:a16="http://schemas.microsoft.com/office/drawing/2014/main" id="{A79982D5-3000-6B87-AF19-791706CAADE3}"/>
              </a:ext>
            </a:extLst>
          </p:cNvPr>
          <p:cNvPicPr>
            <a:picLocks noChangeAspect="1"/>
          </p:cNvPicPr>
          <p:nvPr/>
        </p:nvPicPr>
        <p:blipFill>
          <a:blip r:embed="rId2"/>
          <a:stretch>
            <a:fillRect/>
          </a:stretch>
        </p:blipFill>
        <p:spPr>
          <a:xfrm>
            <a:off x="4744543" y="2942078"/>
            <a:ext cx="7447457" cy="3915921"/>
          </a:xfrm>
          <a:prstGeom prst="rect">
            <a:avLst/>
          </a:prstGeom>
        </p:spPr>
      </p:pic>
    </p:spTree>
    <p:extLst>
      <p:ext uri="{BB962C8B-B14F-4D97-AF65-F5344CB8AC3E}">
        <p14:creationId xmlns:p14="http://schemas.microsoft.com/office/powerpoint/2010/main" val="560306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Explain </a:t>
            </a:r>
            <a:r>
              <a:rPr lang="en-US" altLang="en-US" b="1" dirty="0">
                <a:highlight>
                  <a:srgbClr val="FFFF00"/>
                </a:highlight>
              </a:rPr>
              <a:t>culture change</a:t>
            </a:r>
          </a:p>
          <a:p>
            <a:pPr lvl="1"/>
            <a:r>
              <a:rPr lang="en-US" altLang="en-US" dirty="0"/>
              <a:t>Understand the </a:t>
            </a:r>
            <a:r>
              <a:rPr lang="en-US" altLang="en-US" b="1" dirty="0">
                <a:highlight>
                  <a:srgbClr val="FFFF00"/>
                </a:highlight>
              </a:rPr>
              <a:t>evolution</a:t>
            </a:r>
            <a:r>
              <a:rPr lang="en-US" altLang="en-US" dirty="0"/>
              <a:t> to digital world (digital culture)</a:t>
            </a:r>
          </a:p>
          <a:p>
            <a:pPr lvl="1"/>
            <a:r>
              <a:rPr lang="en-US" altLang="en-US" dirty="0"/>
              <a:t>Understand the </a:t>
            </a:r>
            <a:r>
              <a:rPr lang="en-US" altLang="en-US" b="1" dirty="0">
                <a:highlight>
                  <a:srgbClr val="FFFF00"/>
                </a:highlight>
              </a:rPr>
              <a:t>impacts</a:t>
            </a:r>
            <a:r>
              <a:rPr lang="en-US" altLang="en-US" dirty="0"/>
              <a:t> of digital culture to the society (digital society)</a:t>
            </a:r>
          </a:p>
        </p:txBody>
      </p:sp>
    </p:spTree>
    <p:extLst>
      <p:ext uri="{BB962C8B-B14F-4D97-AF65-F5344CB8AC3E}">
        <p14:creationId xmlns:p14="http://schemas.microsoft.com/office/powerpoint/2010/main" val="2358772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F062-B23F-44E2-9B0F-C4D4FC40830E}"/>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6DE95035-1134-4319-BC7F-D0D92E8E7607}"/>
              </a:ext>
            </a:extLst>
          </p:cNvPr>
          <p:cNvSpPr>
            <a:spLocks noGrp="1"/>
          </p:cNvSpPr>
          <p:nvPr>
            <p:ph idx="1"/>
          </p:nvPr>
        </p:nvSpPr>
        <p:spPr/>
        <p:txBody>
          <a:bodyPr/>
          <a:lstStyle/>
          <a:p>
            <a:r>
              <a:rPr lang="en-US" dirty="0"/>
              <a:t>Culture Change</a:t>
            </a:r>
          </a:p>
          <a:p>
            <a:r>
              <a:rPr lang="en-US" dirty="0"/>
              <a:t>Digital Culture</a:t>
            </a:r>
          </a:p>
          <a:p>
            <a:r>
              <a:rPr lang="en-US" dirty="0"/>
              <a:t>Digital Society</a:t>
            </a:r>
          </a:p>
        </p:txBody>
      </p:sp>
    </p:spTree>
    <p:extLst>
      <p:ext uri="{BB962C8B-B14F-4D97-AF65-F5344CB8AC3E}">
        <p14:creationId xmlns:p14="http://schemas.microsoft.com/office/powerpoint/2010/main" val="1153307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E6F806-B198-4436-818A-0F4CDA7CE38C}"/>
              </a:ext>
            </a:extLst>
          </p:cNvPr>
          <p:cNvPicPr>
            <a:picLocks noChangeAspect="1"/>
          </p:cNvPicPr>
          <p:nvPr/>
        </p:nvPicPr>
        <p:blipFill>
          <a:blip r:embed="rId2"/>
          <a:stretch>
            <a:fillRect/>
          </a:stretch>
        </p:blipFill>
        <p:spPr>
          <a:xfrm>
            <a:off x="491318" y="95535"/>
            <a:ext cx="9785447" cy="6632081"/>
          </a:xfrm>
          <a:prstGeom prst="rect">
            <a:avLst/>
          </a:prstGeom>
        </p:spPr>
      </p:pic>
      <p:sp>
        <p:nvSpPr>
          <p:cNvPr id="7" name="Title 1">
            <a:extLst>
              <a:ext uri="{FF2B5EF4-FFF2-40B4-BE49-F238E27FC236}">
                <a16:creationId xmlns:a16="http://schemas.microsoft.com/office/drawing/2014/main" id="{347E2344-37D9-4CF9-A80A-E807DF71D982}"/>
              </a:ext>
            </a:extLst>
          </p:cNvPr>
          <p:cNvSpPr txBox="1">
            <a:spLocks/>
          </p:cNvSpPr>
          <p:nvPr/>
        </p:nvSpPr>
        <p:spPr bwMode="auto">
          <a:xfrm>
            <a:off x="0" y="12309"/>
            <a:ext cx="6837528" cy="1367327"/>
          </a:xfrm>
          <a:prstGeom prst="rect">
            <a:avLst/>
          </a:prstGeom>
          <a:solidFill>
            <a:srgbClr val="A2FF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a:lstStyle>
          <a:p>
            <a:r>
              <a:rPr lang="en-US" kern="0" dirty="0"/>
              <a:t>Mind Map</a:t>
            </a:r>
          </a:p>
        </p:txBody>
      </p:sp>
    </p:spTree>
    <p:extLst>
      <p:ext uri="{BB962C8B-B14F-4D97-AF65-F5344CB8AC3E}">
        <p14:creationId xmlns:p14="http://schemas.microsoft.com/office/powerpoint/2010/main" val="4000942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Explain culture change</a:t>
            </a:r>
          </a:p>
          <a:p>
            <a:pPr lvl="1"/>
            <a:r>
              <a:rPr lang="en-US" altLang="en-US" dirty="0">
                <a:solidFill>
                  <a:schemeClr val="tx1">
                    <a:lumMod val="50000"/>
                    <a:lumOff val="50000"/>
                  </a:schemeClr>
                </a:solidFill>
              </a:rPr>
              <a:t>Understand the evolution to digital world (digital culture)</a:t>
            </a:r>
          </a:p>
          <a:p>
            <a:pPr lvl="1"/>
            <a:r>
              <a:rPr lang="en-US" altLang="en-US" dirty="0">
                <a:solidFill>
                  <a:schemeClr val="tx1">
                    <a:lumMod val="50000"/>
                    <a:lumOff val="50000"/>
                  </a:schemeClr>
                </a:solidFill>
              </a:rPr>
              <a:t>Understand the impacts of digital culture to the society (digital society)</a:t>
            </a:r>
          </a:p>
        </p:txBody>
      </p:sp>
    </p:spTree>
    <p:extLst>
      <p:ext uri="{BB962C8B-B14F-4D97-AF65-F5344CB8AC3E}">
        <p14:creationId xmlns:p14="http://schemas.microsoft.com/office/powerpoint/2010/main" val="1850168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CD53C-B2E8-4F37-95F7-61539CF57F9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E6529E5-04AB-45AA-AEE6-451D8223CBEA}"/>
              </a:ext>
            </a:extLst>
          </p:cNvPr>
          <p:cNvSpPr>
            <a:spLocks noGrp="1"/>
          </p:cNvSpPr>
          <p:nvPr>
            <p:ph idx="1"/>
          </p:nvPr>
        </p:nvSpPr>
        <p:spPr>
          <a:xfrm>
            <a:off x="649817" y="1697038"/>
            <a:ext cx="7681383" cy="4525962"/>
          </a:xfrm>
        </p:spPr>
        <p:txBody>
          <a:bodyPr/>
          <a:lstStyle/>
          <a:p>
            <a:r>
              <a:rPr lang="en-US" b="1" dirty="0"/>
              <a:t>Culture</a:t>
            </a:r>
            <a:r>
              <a:rPr lang="en-US" dirty="0"/>
              <a:t> is symbolic communication and acceptance by the community.</a:t>
            </a:r>
          </a:p>
          <a:p>
            <a:r>
              <a:rPr lang="en-US" i="1" dirty="0"/>
              <a:t>Definition</a:t>
            </a:r>
            <a:r>
              <a:rPr lang="en-US" dirty="0"/>
              <a:t>: A way of life of a group of people– the behaviors, beliefs and values that they accept without thinking much about them, and that are passed along by communication and imitation from one generation to the next. </a:t>
            </a:r>
          </a:p>
          <a:p>
            <a:pPr marL="0" indent="0">
              <a:buNone/>
            </a:pPr>
            <a:endParaRPr lang="en-US" dirty="0"/>
          </a:p>
        </p:txBody>
      </p:sp>
      <p:pic>
        <p:nvPicPr>
          <p:cNvPr id="5" name="Picture 4">
            <a:extLst>
              <a:ext uri="{FF2B5EF4-FFF2-40B4-BE49-F238E27FC236}">
                <a16:creationId xmlns:a16="http://schemas.microsoft.com/office/drawing/2014/main" id="{F7906A91-CDB1-4A38-8FFA-AAB6B67C493A}"/>
              </a:ext>
            </a:extLst>
          </p:cNvPr>
          <p:cNvPicPr>
            <a:picLocks noChangeAspect="1"/>
          </p:cNvPicPr>
          <p:nvPr/>
        </p:nvPicPr>
        <p:blipFill>
          <a:blip r:embed="rId2"/>
          <a:stretch>
            <a:fillRect/>
          </a:stretch>
        </p:blipFill>
        <p:spPr>
          <a:xfrm>
            <a:off x="4388252" y="-29917"/>
            <a:ext cx="2924175" cy="1562100"/>
          </a:xfrm>
          <a:prstGeom prst="rect">
            <a:avLst/>
          </a:prstGeom>
        </p:spPr>
      </p:pic>
      <p:pic>
        <p:nvPicPr>
          <p:cNvPr id="6" name="Picture 5">
            <a:extLst>
              <a:ext uri="{FF2B5EF4-FFF2-40B4-BE49-F238E27FC236}">
                <a16:creationId xmlns:a16="http://schemas.microsoft.com/office/drawing/2014/main" id="{F6D42100-7C7E-4A10-9F56-869FDE8A083D}"/>
              </a:ext>
            </a:extLst>
          </p:cNvPr>
          <p:cNvPicPr>
            <a:picLocks noChangeAspect="1"/>
          </p:cNvPicPr>
          <p:nvPr/>
        </p:nvPicPr>
        <p:blipFill>
          <a:blip r:embed="rId3"/>
          <a:stretch>
            <a:fillRect/>
          </a:stretch>
        </p:blipFill>
        <p:spPr>
          <a:xfrm>
            <a:off x="8331200" y="2067161"/>
            <a:ext cx="3434504" cy="3419239"/>
          </a:xfrm>
          <a:prstGeom prst="rect">
            <a:avLst/>
          </a:prstGeom>
        </p:spPr>
      </p:pic>
    </p:spTree>
    <p:extLst>
      <p:ext uri="{BB962C8B-B14F-4D97-AF65-F5344CB8AC3E}">
        <p14:creationId xmlns:p14="http://schemas.microsoft.com/office/powerpoint/2010/main" val="2019540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culture change?</a:t>
            </a:r>
          </a:p>
        </p:txBody>
      </p:sp>
      <p:sp>
        <p:nvSpPr>
          <p:cNvPr id="5" name="Rectangle 4"/>
          <p:cNvSpPr/>
          <p:nvPr/>
        </p:nvSpPr>
        <p:spPr>
          <a:xfrm>
            <a:off x="282387" y="2931563"/>
            <a:ext cx="3590366" cy="1200329"/>
          </a:xfrm>
          <a:prstGeom prst="rect">
            <a:avLst/>
          </a:prstGeom>
        </p:spPr>
        <p:txBody>
          <a:bodyPr wrap="square">
            <a:spAutoFit/>
          </a:bodyPr>
          <a:lstStyle/>
          <a:p>
            <a:pPr algn="just"/>
            <a:r>
              <a:rPr lang="en-US" b="1" dirty="0">
                <a:solidFill>
                  <a:schemeClr val="accent2"/>
                </a:solidFill>
                <a:latin typeface="Open Sans"/>
              </a:rPr>
              <a:t>Cultural change can occur from within through new philosophical ideas or technological advancement.</a:t>
            </a:r>
            <a:endParaRPr lang="en-US" b="1" dirty="0">
              <a:solidFill>
                <a:schemeClr val="accent2"/>
              </a:solidFill>
            </a:endParaRPr>
          </a:p>
        </p:txBody>
      </p:sp>
      <p:sp>
        <p:nvSpPr>
          <p:cNvPr id="6" name="Rectangle 5"/>
          <p:cNvSpPr/>
          <p:nvPr/>
        </p:nvSpPr>
        <p:spPr bwMode="auto">
          <a:xfrm>
            <a:off x="714934" y="1667436"/>
            <a:ext cx="2725271" cy="632012"/>
          </a:xfrm>
          <a:prstGeom prst="rect">
            <a:avLst/>
          </a:prstGeom>
          <a:solidFill>
            <a:schemeClr val="bg2">
              <a:lumMod val="40000"/>
              <a:lumOff val="6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sz="2400" b="1" dirty="0">
                <a:solidFill>
                  <a:schemeClr val="accent2"/>
                </a:solidFill>
                <a:effectLst>
                  <a:outerShdw blurRad="38100" dist="38100" dir="2700000" algn="tl">
                    <a:srgbClr val="000000">
                      <a:alpha val="43137"/>
                    </a:srgbClr>
                  </a:outerShdw>
                </a:effectLst>
              </a:rPr>
              <a:t>Culture Change</a:t>
            </a:r>
            <a:endParaRPr kumimoji="0" lang="en-US" sz="2400" b="1" i="0" u="none" strike="noStrike" cap="none" normalizeH="0" baseline="0" dirty="0">
              <a:ln>
                <a:noFill/>
              </a:ln>
              <a:solidFill>
                <a:schemeClr val="accent2"/>
              </a:solidFill>
              <a:effectLst>
                <a:outerShdw blurRad="38100" dist="38100" dir="2700000" algn="tl">
                  <a:srgbClr val="000000">
                    <a:alpha val="43137"/>
                  </a:srgbClr>
                </a:outerShdw>
              </a:effectLst>
              <a:latin typeface="Arial" charset="0"/>
            </a:endParaRPr>
          </a:p>
        </p:txBody>
      </p:sp>
      <p:sp>
        <p:nvSpPr>
          <p:cNvPr id="7" name="Down Arrow 6"/>
          <p:cNvSpPr/>
          <p:nvPr/>
        </p:nvSpPr>
        <p:spPr bwMode="auto">
          <a:xfrm>
            <a:off x="1872502" y="2478533"/>
            <a:ext cx="410134" cy="457304"/>
          </a:xfrm>
          <a:prstGeom prst="downArrow">
            <a:avLst/>
          </a:prstGeom>
          <a:solidFill>
            <a:srgbClr val="FF00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8" name="Rectangle 7"/>
          <p:cNvSpPr/>
          <p:nvPr/>
        </p:nvSpPr>
        <p:spPr>
          <a:xfrm>
            <a:off x="7153835" y="2815022"/>
            <a:ext cx="4276165" cy="2308324"/>
          </a:xfrm>
          <a:prstGeom prst="rect">
            <a:avLst/>
          </a:prstGeom>
        </p:spPr>
        <p:txBody>
          <a:bodyPr wrap="square">
            <a:spAutoFit/>
          </a:bodyPr>
          <a:lstStyle/>
          <a:p>
            <a:pPr algn="just"/>
            <a:r>
              <a:rPr lang="en-US" b="1" dirty="0">
                <a:solidFill>
                  <a:schemeClr val="accent2"/>
                </a:solidFill>
                <a:latin typeface="Open Sans"/>
              </a:rPr>
              <a:t>Technology is changing every aspect of our lives. The benefits provided by new digital approaches are having a huge impact on our societies. Many facets of global communications today are influenced by cultural differences – be it email, Skype, social media or the telephone.</a:t>
            </a:r>
          </a:p>
        </p:txBody>
      </p:sp>
      <p:sp>
        <p:nvSpPr>
          <p:cNvPr id="9" name="Rectangle 8"/>
          <p:cNvSpPr/>
          <p:nvPr/>
        </p:nvSpPr>
        <p:spPr bwMode="auto">
          <a:xfrm>
            <a:off x="7611035" y="1550894"/>
            <a:ext cx="3027829" cy="748553"/>
          </a:xfrm>
          <a:prstGeom prst="rect">
            <a:avLst/>
          </a:prstGeom>
          <a:solidFill>
            <a:schemeClr val="bg2">
              <a:lumMod val="40000"/>
              <a:lumOff val="6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sz="2400" b="1" dirty="0">
                <a:solidFill>
                  <a:schemeClr val="accent2"/>
                </a:solidFill>
                <a:effectLst>
                  <a:outerShdw blurRad="38100" dist="38100" dir="2700000" algn="tl">
                    <a:srgbClr val="000000">
                      <a:alpha val="43137"/>
                    </a:srgbClr>
                  </a:outerShdw>
                </a:effectLst>
              </a:rPr>
              <a:t>technology in culture</a:t>
            </a:r>
          </a:p>
        </p:txBody>
      </p:sp>
      <p:sp>
        <p:nvSpPr>
          <p:cNvPr id="10" name="Down Arrow 9"/>
          <p:cNvSpPr/>
          <p:nvPr/>
        </p:nvSpPr>
        <p:spPr bwMode="auto">
          <a:xfrm>
            <a:off x="9071161" y="2361992"/>
            <a:ext cx="410134" cy="457304"/>
          </a:xfrm>
          <a:prstGeom prst="downArrow">
            <a:avLst/>
          </a:prstGeom>
          <a:solidFill>
            <a:srgbClr val="FF00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1" name="Rectangle 10"/>
          <p:cNvSpPr/>
          <p:nvPr/>
        </p:nvSpPr>
        <p:spPr>
          <a:xfrm>
            <a:off x="1987170" y="5496348"/>
            <a:ext cx="7083991" cy="646331"/>
          </a:xfrm>
          <a:prstGeom prst="rect">
            <a:avLst/>
          </a:prstGeom>
          <a:noFill/>
        </p:spPr>
        <p:txBody>
          <a:bodyPr wrap="none" lIns="91440" tIns="45720" rIns="91440" bIns="45720">
            <a:spAutoFit/>
          </a:bodyPr>
          <a:lstStyle/>
          <a:p>
            <a:pPr algn="ctr"/>
            <a:r>
              <a:rPr lang="en-US" sz="3600" b="1" cap="none" spc="0" dirty="0">
                <a:ln w="22225">
                  <a:solidFill>
                    <a:schemeClr val="accent2"/>
                  </a:solidFill>
                  <a:prstDash val="solid"/>
                </a:ln>
                <a:effectLst/>
              </a:rPr>
              <a:t>Why these changes happened?</a:t>
            </a:r>
          </a:p>
        </p:txBody>
      </p:sp>
    </p:spTree>
    <p:extLst>
      <p:ext uri="{BB962C8B-B14F-4D97-AF65-F5344CB8AC3E}">
        <p14:creationId xmlns:p14="http://schemas.microsoft.com/office/powerpoint/2010/main" val="1163699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7E4C-F06C-470E-9909-4F490B47B541}"/>
              </a:ext>
            </a:extLst>
          </p:cNvPr>
          <p:cNvSpPr>
            <a:spLocks noGrp="1"/>
          </p:cNvSpPr>
          <p:nvPr>
            <p:ph type="title"/>
          </p:nvPr>
        </p:nvSpPr>
        <p:spPr/>
        <p:txBody>
          <a:bodyPr/>
          <a:lstStyle/>
          <a:p>
            <a:r>
              <a:rPr lang="en-US" dirty="0"/>
              <a:t>Technology Promotes Culture Change</a:t>
            </a:r>
          </a:p>
        </p:txBody>
      </p:sp>
      <p:sp>
        <p:nvSpPr>
          <p:cNvPr id="3" name="Content Placeholder 2">
            <a:extLst>
              <a:ext uri="{FF2B5EF4-FFF2-40B4-BE49-F238E27FC236}">
                <a16:creationId xmlns:a16="http://schemas.microsoft.com/office/drawing/2014/main" id="{3BFB046B-1EDF-494A-9399-D2D70D43CAA8}"/>
              </a:ext>
            </a:extLst>
          </p:cNvPr>
          <p:cNvSpPr>
            <a:spLocks noGrp="1"/>
          </p:cNvSpPr>
          <p:nvPr>
            <p:ph idx="1"/>
          </p:nvPr>
        </p:nvSpPr>
        <p:spPr>
          <a:xfrm>
            <a:off x="495438" y="1367328"/>
            <a:ext cx="10972800" cy="4000319"/>
          </a:xfrm>
        </p:spPr>
        <p:txBody>
          <a:bodyPr/>
          <a:lstStyle/>
          <a:p>
            <a:r>
              <a:rPr lang="en-US" dirty="0"/>
              <a:t>Technology today has changed the way people do just about everything – from shopping and researching to getting the news and accessing healthcare</a:t>
            </a:r>
          </a:p>
          <a:p>
            <a:pPr lvl="1"/>
            <a:r>
              <a:rPr lang="en-US" dirty="0"/>
              <a:t>Radio and television have evolved into streaming services and can be accessed 24 hours a day </a:t>
            </a:r>
          </a:p>
          <a:p>
            <a:pPr lvl="1"/>
            <a:r>
              <a:rPr lang="en-US" dirty="0"/>
              <a:t>Wearable technology is now available</a:t>
            </a:r>
          </a:p>
          <a:p>
            <a:pPr lvl="2"/>
            <a:r>
              <a:rPr lang="en-US" dirty="0"/>
              <a:t>Monitoring steps and activity through a fitness tracker </a:t>
            </a:r>
          </a:p>
          <a:p>
            <a:pPr lvl="2"/>
            <a:r>
              <a:rPr lang="en-US" dirty="0"/>
              <a:t>GPS tracker for children and elderly</a:t>
            </a:r>
          </a:p>
        </p:txBody>
      </p:sp>
      <p:pic>
        <p:nvPicPr>
          <p:cNvPr id="5" name="Picture 4">
            <a:extLst>
              <a:ext uri="{FF2B5EF4-FFF2-40B4-BE49-F238E27FC236}">
                <a16:creationId xmlns:a16="http://schemas.microsoft.com/office/drawing/2014/main" id="{FA4CEE4D-C6DA-4F08-9984-71D843BBC87E}"/>
              </a:ext>
            </a:extLst>
          </p:cNvPr>
          <p:cNvPicPr>
            <a:picLocks noChangeAspect="1"/>
          </p:cNvPicPr>
          <p:nvPr/>
        </p:nvPicPr>
        <p:blipFill>
          <a:blip r:embed="rId2"/>
          <a:stretch>
            <a:fillRect/>
          </a:stretch>
        </p:blipFill>
        <p:spPr>
          <a:xfrm>
            <a:off x="8116936" y="5160962"/>
            <a:ext cx="2645371" cy="1212591"/>
          </a:xfrm>
          <a:prstGeom prst="rect">
            <a:avLst/>
          </a:prstGeom>
        </p:spPr>
      </p:pic>
      <p:pic>
        <p:nvPicPr>
          <p:cNvPr id="8" name="Picture 7">
            <a:extLst>
              <a:ext uri="{FF2B5EF4-FFF2-40B4-BE49-F238E27FC236}">
                <a16:creationId xmlns:a16="http://schemas.microsoft.com/office/drawing/2014/main" id="{30ED7FAB-66B8-44B9-93EE-B1C6E131893C}"/>
              </a:ext>
            </a:extLst>
          </p:cNvPr>
          <p:cNvPicPr>
            <a:picLocks noChangeAspect="1"/>
          </p:cNvPicPr>
          <p:nvPr/>
        </p:nvPicPr>
        <p:blipFill>
          <a:blip r:embed="rId3"/>
          <a:stretch>
            <a:fillRect/>
          </a:stretch>
        </p:blipFill>
        <p:spPr>
          <a:xfrm>
            <a:off x="9555494" y="3783516"/>
            <a:ext cx="1212590" cy="1212590"/>
          </a:xfrm>
          <a:prstGeom prst="rect">
            <a:avLst/>
          </a:prstGeom>
        </p:spPr>
      </p:pic>
      <p:sp>
        <p:nvSpPr>
          <p:cNvPr id="6" name="TextBox 5">
            <a:extLst>
              <a:ext uri="{FF2B5EF4-FFF2-40B4-BE49-F238E27FC236}">
                <a16:creationId xmlns:a16="http://schemas.microsoft.com/office/drawing/2014/main" id="{509CBD42-BEF5-60A3-E749-2BEE18D98B9B}"/>
              </a:ext>
            </a:extLst>
          </p:cNvPr>
          <p:cNvSpPr txBox="1"/>
          <p:nvPr/>
        </p:nvSpPr>
        <p:spPr>
          <a:xfrm>
            <a:off x="776247" y="5767257"/>
            <a:ext cx="7059880" cy="369332"/>
          </a:xfrm>
          <a:prstGeom prst="rect">
            <a:avLst/>
          </a:prstGeom>
          <a:noFill/>
        </p:spPr>
        <p:txBody>
          <a:bodyPr wrap="square">
            <a:spAutoFit/>
          </a:bodyPr>
          <a:lstStyle/>
          <a:p>
            <a:r>
              <a:rPr lang="en-MY" dirty="0"/>
              <a:t>https://www.youtube.com/watch?v=HfL7WzKiXm4</a:t>
            </a:r>
          </a:p>
        </p:txBody>
      </p:sp>
    </p:spTree>
    <p:extLst>
      <p:ext uri="{BB962C8B-B14F-4D97-AF65-F5344CB8AC3E}">
        <p14:creationId xmlns:p14="http://schemas.microsoft.com/office/powerpoint/2010/main" val="514105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culture change</a:t>
            </a:r>
          </a:p>
          <a:p>
            <a:pPr lvl="1"/>
            <a:r>
              <a:rPr lang="en-US" altLang="en-US" dirty="0"/>
              <a:t>Understand the evolution to digital world (digital culture)</a:t>
            </a:r>
          </a:p>
          <a:p>
            <a:pPr lvl="1"/>
            <a:r>
              <a:rPr lang="en-US" altLang="en-US" dirty="0">
                <a:solidFill>
                  <a:schemeClr val="tx1">
                    <a:lumMod val="50000"/>
                    <a:lumOff val="50000"/>
                  </a:schemeClr>
                </a:solidFill>
              </a:rPr>
              <a:t>Understand the impacts of digital culture to the society (digital society)</a:t>
            </a:r>
          </a:p>
        </p:txBody>
      </p:sp>
    </p:spTree>
    <p:extLst>
      <p:ext uri="{BB962C8B-B14F-4D97-AF65-F5344CB8AC3E}">
        <p14:creationId xmlns:p14="http://schemas.microsoft.com/office/powerpoint/2010/main" val="1014325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2933-8DAE-4019-A16D-30386D351906}"/>
              </a:ext>
            </a:extLst>
          </p:cNvPr>
          <p:cNvSpPr>
            <a:spLocks noGrp="1"/>
          </p:cNvSpPr>
          <p:nvPr>
            <p:ph type="title"/>
          </p:nvPr>
        </p:nvSpPr>
        <p:spPr/>
        <p:txBody>
          <a:bodyPr/>
          <a:lstStyle/>
          <a:p>
            <a:r>
              <a:rPr lang="en-US" dirty="0"/>
              <a:t>Impact on Culture</a:t>
            </a:r>
          </a:p>
        </p:txBody>
      </p:sp>
      <p:sp>
        <p:nvSpPr>
          <p:cNvPr id="3" name="Content Placeholder 2">
            <a:extLst>
              <a:ext uri="{FF2B5EF4-FFF2-40B4-BE49-F238E27FC236}">
                <a16:creationId xmlns:a16="http://schemas.microsoft.com/office/drawing/2014/main" id="{A2E12CE3-206B-4582-86DB-3DFDC99E7DF2}"/>
              </a:ext>
            </a:extLst>
          </p:cNvPr>
          <p:cNvSpPr>
            <a:spLocks noGrp="1"/>
          </p:cNvSpPr>
          <p:nvPr>
            <p:ph idx="1"/>
          </p:nvPr>
        </p:nvSpPr>
        <p:spPr/>
        <p:txBody>
          <a:bodyPr/>
          <a:lstStyle/>
          <a:p>
            <a:r>
              <a:rPr lang="en-US" dirty="0"/>
              <a:t>Digital Culture:</a:t>
            </a:r>
          </a:p>
          <a:p>
            <a:pPr lvl="1"/>
            <a:r>
              <a:rPr lang="en-US" dirty="0"/>
              <a:t>Payment</a:t>
            </a:r>
          </a:p>
          <a:p>
            <a:pPr lvl="1"/>
            <a:r>
              <a:rPr lang="en-US" dirty="0"/>
              <a:t>Shopping</a:t>
            </a:r>
          </a:p>
          <a:p>
            <a:pPr lvl="1"/>
            <a:r>
              <a:rPr lang="en-US" dirty="0"/>
              <a:t>Services</a:t>
            </a:r>
          </a:p>
          <a:p>
            <a:pPr lvl="1"/>
            <a:r>
              <a:rPr lang="en-US" dirty="0"/>
              <a:t>Education</a:t>
            </a:r>
          </a:p>
          <a:p>
            <a:pPr lvl="1"/>
            <a:r>
              <a:rPr lang="en-US" dirty="0"/>
              <a:t>Navigation</a:t>
            </a:r>
          </a:p>
          <a:p>
            <a:pPr lvl="1"/>
            <a:r>
              <a:rPr lang="en-US" dirty="0"/>
              <a:t>News</a:t>
            </a:r>
          </a:p>
          <a:p>
            <a:pPr lvl="1"/>
            <a:r>
              <a:rPr lang="en-US" dirty="0"/>
              <a:t>Entertainment</a:t>
            </a:r>
          </a:p>
          <a:p>
            <a:pPr lvl="1"/>
            <a:r>
              <a:rPr lang="en-US" dirty="0"/>
              <a:t>Social Connection</a:t>
            </a:r>
          </a:p>
          <a:p>
            <a:endParaRPr lang="en-US" dirty="0"/>
          </a:p>
        </p:txBody>
      </p:sp>
      <p:pic>
        <p:nvPicPr>
          <p:cNvPr id="5" name="Picture 4">
            <a:extLst>
              <a:ext uri="{FF2B5EF4-FFF2-40B4-BE49-F238E27FC236}">
                <a16:creationId xmlns:a16="http://schemas.microsoft.com/office/drawing/2014/main" id="{7D919D76-974E-4634-904B-0112A000BFBE}"/>
              </a:ext>
            </a:extLst>
          </p:cNvPr>
          <p:cNvPicPr>
            <a:picLocks noChangeAspect="1"/>
          </p:cNvPicPr>
          <p:nvPr/>
        </p:nvPicPr>
        <p:blipFill>
          <a:blip r:embed="rId2"/>
          <a:stretch>
            <a:fillRect/>
          </a:stretch>
        </p:blipFill>
        <p:spPr>
          <a:xfrm>
            <a:off x="6166472" y="1165750"/>
            <a:ext cx="4329455" cy="3172730"/>
          </a:xfrm>
          <a:prstGeom prst="rect">
            <a:avLst/>
          </a:prstGeom>
        </p:spPr>
      </p:pic>
      <p:sp>
        <p:nvSpPr>
          <p:cNvPr id="6" name="Rectangle 5"/>
          <p:cNvSpPr/>
          <p:nvPr/>
        </p:nvSpPr>
        <p:spPr>
          <a:xfrm>
            <a:off x="5155962" y="4738530"/>
            <a:ext cx="5832046" cy="584775"/>
          </a:xfrm>
          <a:prstGeom prst="rect">
            <a:avLst/>
          </a:prstGeom>
          <a:noFill/>
        </p:spPr>
        <p:txBody>
          <a:bodyPr wrap="none" lIns="91440" tIns="45720" rIns="91440" bIns="45720">
            <a:spAutoFit/>
          </a:bodyPr>
          <a:lstStyle/>
          <a:p>
            <a:pPr algn="ctr"/>
            <a:r>
              <a:rPr lang="en-US" sz="3200" b="0" cap="none" spc="0" dirty="0">
                <a:ln w="0"/>
                <a:solidFill>
                  <a:srgbClr val="FF0000"/>
                </a:solidFill>
                <a:effectLst>
                  <a:outerShdw blurRad="38100" dist="19050" dir="2700000" algn="tl" rotWithShape="0">
                    <a:schemeClr val="dk1">
                      <a:alpha val="40000"/>
                    </a:schemeClr>
                  </a:outerShdw>
                </a:effectLst>
              </a:rPr>
              <a:t>What was before the changes?</a:t>
            </a:r>
          </a:p>
        </p:txBody>
      </p:sp>
    </p:spTree>
    <p:extLst>
      <p:ext uri="{BB962C8B-B14F-4D97-AF65-F5344CB8AC3E}">
        <p14:creationId xmlns:p14="http://schemas.microsoft.com/office/powerpoint/2010/main" val="2613788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Culture</a:t>
            </a:r>
          </a:p>
        </p:txBody>
      </p:sp>
      <p:sp>
        <p:nvSpPr>
          <p:cNvPr id="5" name="Rectangle 4"/>
          <p:cNvSpPr/>
          <p:nvPr/>
        </p:nvSpPr>
        <p:spPr>
          <a:xfrm>
            <a:off x="1855694" y="1623990"/>
            <a:ext cx="7315200" cy="1938992"/>
          </a:xfrm>
          <a:prstGeom prst="rect">
            <a:avLst/>
          </a:prstGeom>
        </p:spPr>
        <p:txBody>
          <a:bodyPr wrap="square">
            <a:spAutoFit/>
          </a:bodyPr>
          <a:lstStyle/>
          <a:p>
            <a:pPr algn="just"/>
            <a:r>
              <a:rPr lang="en-US" sz="2000" dirty="0">
                <a:solidFill>
                  <a:schemeClr val="accent2"/>
                </a:solidFill>
                <a:latin typeface="Open Sans"/>
              </a:rPr>
              <a:t>A digital culture is a concept that describes how technology and the internet are shaping the way that we interact as humans. It’s the way that we behave, think and communicate within society. A digital culture is the product of the endless persuasive technology around us and the result of disruptive technological innovation. </a:t>
            </a:r>
            <a:endParaRPr lang="en-US" sz="2000" dirty="0">
              <a:solidFill>
                <a:schemeClr val="accent2"/>
              </a:solidFill>
            </a:endParaRPr>
          </a:p>
        </p:txBody>
      </p:sp>
      <p:sp>
        <p:nvSpPr>
          <p:cNvPr id="6" name="Rectangle 5"/>
          <p:cNvSpPr/>
          <p:nvPr/>
        </p:nvSpPr>
        <p:spPr>
          <a:xfrm>
            <a:off x="4523627" y="3714215"/>
            <a:ext cx="6096000" cy="400110"/>
          </a:xfrm>
          <a:prstGeom prst="rect">
            <a:avLst/>
          </a:prstGeom>
        </p:spPr>
        <p:txBody>
          <a:bodyPr>
            <a:spAutoFit/>
          </a:bodyPr>
          <a:lstStyle/>
          <a:p>
            <a:pPr algn="ctr"/>
            <a:r>
              <a:rPr lang="en-US" sz="2000" b="1" dirty="0">
                <a:latin typeface="var(--ff-sans2)"/>
              </a:rPr>
              <a:t>10 companies with a digital culture</a:t>
            </a:r>
            <a:endParaRPr lang="en-US" dirty="0"/>
          </a:p>
        </p:txBody>
      </p:sp>
      <p:sp>
        <p:nvSpPr>
          <p:cNvPr id="7" name="Rectangle 6">
            <a:hlinkClick r:id="rId2"/>
          </p:cNvPr>
          <p:cNvSpPr/>
          <p:nvPr/>
        </p:nvSpPr>
        <p:spPr bwMode="auto">
          <a:xfrm>
            <a:off x="0" y="6101062"/>
            <a:ext cx="1815353" cy="497541"/>
          </a:xfrm>
          <a:prstGeom prst="rect">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rPr>
              <a:t>CLICK ME</a:t>
            </a:r>
          </a:p>
        </p:txBody>
      </p:sp>
      <p:pic>
        <p:nvPicPr>
          <p:cNvPr id="9" name="Picture 8"/>
          <p:cNvPicPr>
            <a:picLocks noChangeAspect="1"/>
          </p:cNvPicPr>
          <p:nvPr/>
        </p:nvPicPr>
        <p:blipFill>
          <a:blip r:embed="rId3"/>
          <a:stretch>
            <a:fillRect/>
          </a:stretch>
        </p:blipFill>
        <p:spPr>
          <a:xfrm>
            <a:off x="7771465" y="4541612"/>
            <a:ext cx="1346574" cy="828661"/>
          </a:xfrm>
          <a:prstGeom prst="rect">
            <a:avLst/>
          </a:prstGeom>
        </p:spPr>
      </p:pic>
      <p:pic>
        <p:nvPicPr>
          <p:cNvPr id="11" name="Picture 10"/>
          <p:cNvPicPr>
            <a:picLocks noChangeAspect="1"/>
          </p:cNvPicPr>
          <p:nvPr/>
        </p:nvPicPr>
        <p:blipFill>
          <a:blip r:embed="rId4"/>
          <a:stretch>
            <a:fillRect/>
          </a:stretch>
        </p:blipFill>
        <p:spPr>
          <a:xfrm>
            <a:off x="9420814" y="5508446"/>
            <a:ext cx="1335792" cy="556580"/>
          </a:xfrm>
          <a:prstGeom prst="rect">
            <a:avLst/>
          </a:prstGeom>
        </p:spPr>
      </p:pic>
      <p:pic>
        <p:nvPicPr>
          <p:cNvPr id="13" name="Picture 12"/>
          <p:cNvPicPr>
            <a:picLocks noChangeAspect="1"/>
          </p:cNvPicPr>
          <p:nvPr/>
        </p:nvPicPr>
        <p:blipFill>
          <a:blip r:embed="rId5"/>
          <a:stretch>
            <a:fillRect/>
          </a:stretch>
        </p:blipFill>
        <p:spPr>
          <a:xfrm>
            <a:off x="9372094" y="5871345"/>
            <a:ext cx="1433232" cy="802610"/>
          </a:xfrm>
          <a:prstGeom prst="rect">
            <a:avLst/>
          </a:prstGeom>
        </p:spPr>
      </p:pic>
      <p:pic>
        <p:nvPicPr>
          <p:cNvPr id="15" name="Picture 14"/>
          <p:cNvPicPr>
            <a:picLocks noChangeAspect="1"/>
          </p:cNvPicPr>
          <p:nvPr/>
        </p:nvPicPr>
        <p:blipFill>
          <a:blip r:embed="rId6"/>
          <a:stretch>
            <a:fillRect/>
          </a:stretch>
        </p:blipFill>
        <p:spPr>
          <a:xfrm>
            <a:off x="9420814" y="4565756"/>
            <a:ext cx="1433232" cy="802610"/>
          </a:xfrm>
          <a:prstGeom prst="rect">
            <a:avLst/>
          </a:prstGeom>
        </p:spPr>
      </p:pic>
      <p:pic>
        <p:nvPicPr>
          <p:cNvPr id="17" name="Picture 16"/>
          <p:cNvPicPr>
            <a:picLocks noChangeAspect="1"/>
          </p:cNvPicPr>
          <p:nvPr/>
        </p:nvPicPr>
        <p:blipFill>
          <a:blip r:embed="rId7"/>
          <a:stretch>
            <a:fillRect/>
          </a:stretch>
        </p:blipFill>
        <p:spPr>
          <a:xfrm>
            <a:off x="7771465" y="5414730"/>
            <a:ext cx="1404845" cy="999134"/>
          </a:xfrm>
          <a:prstGeom prst="rect">
            <a:avLst/>
          </a:prstGeom>
        </p:spPr>
      </p:pic>
      <p:pic>
        <p:nvPicPr>
          <p:cNvPr id="19" name="Picture 18"/>
          <p:cNvPicPr>
            <a:picLocks noChangeAspect="1"/>
          </p:cNvPicPr>
          <p:nvPr/>
        </p:nvPicPr>
        <p:blipFill>
          <a:blip r:embed="rId8"/>
          <a:stretch>
            <a:fillRect/>
          </a:stretch>
        </p:blipFill>
        <p:spPr>
          <a:xfrm>
            <a:off x="6531656" y="5625673"/>
            <a:ext cx="878706" cy="878706"/>
          </a:xfrm>
          <a:prstGeom prst="rect">
            <a:avLst/>
          </a:prstGeom>
        </p:spPr>
      </p:pic>
      <p:pic>
        <p:nvPicPr>
          <p:cNvPr id="21" name="Picture 20"/>
          <p:cNvPicPr>
            <a:picLocks noChangeAspect="1"/>
          </p:cNvPicPr>
          <p:nvPr/>
        </p:nvPicPr>
        <p:blipFill>
          <a:blip r:embed="rId9"/>
          <a:stretch>
            <a:fillRect/>
          </a:stretch>
        </p:blipFill>
        <p:spPr>
          <a:xfrm>
            <a:off x="5836023" y="4669673"/>
            <a:ext cx="1391266" cy="897591"/>
          </a:xfrm>
          <a:prstGeom prst="rect">
            <a:avLst/>
          </a:prstGeom>
        </p:spPr>
      </p:pic>
      <p:pic>
        <p:nvPicPr>
          <p:cNvPr id="23" name="Picture 22"/>
          <p:cNvPicPr>
            <a:picLocks noChangeAspect="1"/>
          </p:cNvPicPr>
          <p:nvPr/>
        </p:nvPicPr>
        <p:blipFill>
          <a:blip r:embed="rId10"/>
          <a:stretch>
            <a:fillRect/>
          </a:stretch>
        </p:blipFill>
        <p:spPr>
          <a:xfrm>
            <a:off x="4014337" y="5586962"/>
            <a:ext cx="1553708" cy="956128"/>
          </a:xfrm>
          <a:prstGeom prst="rect">
            <a:avLst/>
          </a:prstGeom>
        </p:spPr>
      </p:pic>
      <p:pic>
        <p:nvPicPr>
          <p:cNvPr id="25" name="Picture 24"/>
          <p:cNvPicPr>
            <a:picLocks noChangeAspect="1"/>
          </p:cNvPicPr>
          <p:nvPr/>
        </p:nvPicPr>
        <p:blipFill>
          <a:blip r:embed="rId11"/>
          <a:stretch>
            <a:fillRect/>
          </a:stretch>
        </p:blipFill>
        <p:spPr>
          <a:xfrm>
            <a:off x="3899377" y="4156093"/>
            <a:ext cx="1633871" cy="918028"/>
          </a:xfrm>
          <a:prstGeom prst="rect">
            <a:avLst/>
          </a:prstGeom>
        </p:spPr>
      </p:pic>
      <p:pic>
        <p:nvPicPr>
          <p:cNvPr id="27" name="Picture 26"/>
          <p:cNvPicPr>
            <a:picLocks noChangeAspect="1"/>
          </p:cNvPicPr>
          <p:nvPr/>
        </p:nvPicPr>
        <p:blipFill>
          <a:blip r:embed="rId12"/>
          <a:stretch>
            <a:fillRect/>
          </a:stretch>
        </p:blipFill>
        <p:spPr>
          <a:xfrm>
            <a:off x="2265211" y="5169706"/>
            <a:ext cx="1749126" cy="730903"/>
          </a:xfrm>
          <a:prstGeom prst="rect">
            <a:avLst/>
          </a:prstGeom>
        </p:spPr>
      </p:pic>
    </p:spTree>
    <p:extLst>
      <p:ext uri="{BB962C8B-B14F-4D97-AF65-F5344CB8AC3E}">
        <p14:creationId xmlns:p14="http://schemas.microsoft.com/office/powerpoint/2010/main" val="963833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DF15E-9CAC-48D4-ACF5-23BF9E1EA224}"/>
              </a:ext>
            </a:extLst>
          </p:cNvPr>
          <p:cNvSpPr>
            <a:spLocks noGrp="1"/>
          </p:cNvSpPr>
          <p:nvPr>
            <p:ph type="title"/>
          </p:nvPr>
        </p:nvSpPr>
        <p:spPr/>
        <p:txBody>
          <a:bodyPr/>
          <a:lstStyle/>
          <a:p>
            <a:r>
              <a:rPr lang="en-US" dirty="0"/>
              <a:t>Digital Culture</a:t>
            </a:r>
          </a:p>
        </p:txBody>
      </p:sp>
      <p:sp>
        <p:nvSpPr>
          <p:cNvPr id="3" name="Content Placeholder 2">
            <a:extLst>
              <a:ext uri="{FF2B5EF4-FFF2-40B4-BE49-F238E27FC236}">
                <a16:creationId xmlns:a16="http://schemas.microsoft.com/office/drawing/2014/main" id="{57824186-472C-440F-9C96-F3FC4822D9DB}"/>
              </a:ext>
            </a:extLst>
          </p:cNvPr>
          <p:cNvSpPr>
            <a:spLocks noGrp="1"/>
          </p:cNvSpPr>
          <p:nvPr>
            <p:ph idx="1"/>
          </p:nvPr>
        </p:nvSpPr>
        <p:spPr>
          <a:xfrm>
            <a:off x="649817" y="1697038"/>
            <a:ext cx="8546415" cy="4525962"/>
          </a:xfrm>
        </p:spPr>
        <p:txBody>
          <a:bodyPr/>
          <a:lstStyle/>
          <a:p>
            <a:r>
              <a:rPr lang="en-US" dirty="0"/>
              <a:t>Payment:</a:t>
            </a:r>
          </a:p>
          <a:p>
            <a:pPr lvl="1"/>
            <a:r>
              <a:rPr lang="en-US" dirty="0"/>
              <a:t>PayPal, Apple Pay, Google Pay, WeChat Pay, Touch 'n Go </a:t>
            </a:r>
            <a:r>
              <a:rPr lang="en-US" dirty="0" err="1"/>
              <a:t>eWallet</a:t>
            </a:r>
            <a:endParaRPr lang="en-US" dirty="0"/>
          </a:p>
          <a:p>
            <a:r>
              <a:rPr lang="en-US" dirty="0"/>
              <a:t>Shopping:</a:t>
            </a:r>
          </a:p>
          <a:p>
            <a:pPr lvl="1"/>
            <a:r>
              <a:rPr lang="en-US" dirty="0"/>
              <a:t>Online Shopping ranging from clothes to electronics, and to  food; Lazada, </a:t>
            </a:r>
            <a:r>
              <a:rPr lang="en-US" dirty="0" err="1"/>
              <a:t>Shopee</a:t>
            </a:r>
            <a:r>
              <a:rPr lang="en-US" dirty="0"/>
              <a:t>, eBay </a:t>
            </a:r>
          </a:p>
          <a:p>
            <a:r>
              <a:rPr lang="en-US" dirty="0"/>
              <a:t>Services:</a:t>
            </a:r>
          </a:p>
          <a:p>
            <a:pPr lvl="1"/>
            <a:r>
              <a:rPr lang="en-US" dirty="0" err="1"/>
              <a:t>eMedicine</a:t>
            </a:r>
            <a:r>
              <a:rPr lang="en-US" dirty="0"/>
              <a:t>, </a:t>
            </a:r>
            <a:r>
              <a:rPr lang="en-US" dirty="0" err="1"/>
              <a:t>MyEG</a:t>
            </a:r>
            <a:r>
              <a:rPr lang="en-US" dirty="0"/>
              <a:t>, Online Legal Services </a:t>
            </a:r>
          </a:p>
        </p:txBody>
      </p:sp>
      <p:pic>
        <p:nvPicPr>
          <p:cNvPr id="5" name="Picture 4">
            <a:extLst>
              <a:ext uri="{FF2B5EF4-FFF2-40B4-BE49-F238E27FC236}">
                <a16:creationId xmlns:a16="http://schemas.microsoft.com/office/drawing/2014/main" id="{ACADCB7C-1B6E-4265-B899-5BA01896CC04}"/>
              </a:ext>
            </a:extLst>
          </p:cNvPr>
          <p:cNvPicPr>
            <a:picLocks noChangeAspect="1"/>
          </p:cNvPicPr>
          <p:nvPr/>
        </p:nvPicPr>
        <p:blipFill>
          <a:blip r:embed="rId2"/>
          <a:stretch>
            <a:fillRect/>
          </a:stretch>
        </p:blipFill>
        <p:spPr>
          <a:xfrm>
            <a:off x="9498591" y="1767378"/>
            <a:ext cx="2229674" cy="1367327"/>
          </a:xfrm>
          <a:prstGeom prst="rect">
            <a:avLst/>
          </a:prstGeom>
        </p:spPr>
      </p:pic>
      <p:pic>
        <p:nvPicPr>
          <p:cNvPr id="6" name="Picture 5">
            <a:extLst>
              <a:ext uri="{FF2B5EF4-FFF2-40B4-BE49-F238E27FC236}">
                <a16:creationId xmlns:a16="http://schemas.microsoft.com/office/drawing/2014/main" id="{7A7C1AD6-B56D-4264-AB39-402A335F1590}"/>
              </a:ext>
            </a:extLst>
          </p:cNvPr>
          <p:cNvPicPr>
            <a:picLocks noChangeAspect="1"/>
          </p:cNvPicPr>
          <p:nvPr/>
        </p:nvPicPr>
        <p:blipFill>
          <a:blip r:embed="rId3"/>
          <a:stretch>
            <a:fillRect/>
          </a:stretch>
        </p:blipFill>
        <p:spPr>
          <a:xfrm>
            <a:off x="9196232" y="3504775"/>
            <a:ext cx="2840405" cy="1320918"/>
          </a:xfrm>
          <a:prstGeom prst="rect">
            <a:avLst/>
          </a:prstGeom>
        </p:spPr>
      </p:pic>
      <p:pic>
        <p:nvPicPr>
          <p:cNvPr id="8" name="Picture 7">
            <a:extLst>
              <a:ext uri="{FF2B5EF4-FFF2-40B4-BE49-F238E27FC236}">
                <a16:creationId xmlns:a16="http://schemas.microsoft.com/office/drawing/2014/main" id="{D8440F7A-2683-4FA7-857C-1A2894BD9EB6}"/>
              </a:ext>
            </a:extLst>
          </p:cNvPr>
          <p:cNvPicPr>
            <a:picLocks noChangeAspect="1"/>
          </p:cNvPicPr>
          <p:nvPr/>
        </p:nvPicPr>
        <p:blipFill>
          <a:blip r:embed="rId4"/>
          <a:stretch>
            <a:fillRect/>
          </a:stretch>
        </p:blipFill>
        <p:spPr>
          <a:xfrm>
            <a:off x="9532444" y="5141702"/>
            <a:ext cx="2161967" cy="1481348"/>
          </a:xfrm>
          <a:prstGeom prst="rect">
            <a:avLst/>
          </a:prstGeom>
        </p:spPr>
      </p:pic>
    </p:spTree>
    <p:extLst>
      <p:ext uri="{BB962C8B-B14F-4D97-AF65-F5344CB8AC3E}">
        <p14:creationId xmlns:p14="http://schemas.microsoft.com/office/powerpoint/2010/main" val="943018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E3AA2-DD83-437D-9DA4-59D4A6890FBA}"/>
              </a:ext>
            </a:extLst>
          </p:cNvPr>
          <p:cNvSpPr>
            <a:spLocks noGrp="1"/>
          </p:cNvSpPr>
          <p:nvPr>
            <p:ph type="title"/>
          </p:nvPr>
        </p:nvSpPr>
        <p:spPr/>
        <p:txBody>
          <a:bodyPr/>
          <a:lstStyle/>
          <a:p>
            <a:r>
              <a:rPr lang="en-US" dirty="0"/>
              <a:t>Digital Culture</a:t>
            </a:r>
          </a:p>
        </p:txBody>
      </p:sp>
      <p:sp>
        <p:nvSpPr>
          <p:cNvPr id="3" name="Content Placeholder 2">
            <a:extLst>
              <a:ext uri="{FF2B5EF4-FFF2-40B4-BE49-F238E27FC236}">
                <a16:creationId xmlns:a16="http://schemas.microsoft.com/office/drawing/2014/main" id="{C7B515CD-9231-4CC3-AB06-7D9939C67468}"/>
              </a:ext>
            </a:extLst>
          </p:cNvPr>
          <p:cNvSpPr>
            <a:spLocks noGrp="1"/>
          </p:cNvSpPr>
          <p:nvPr>
            <p:ph idx="1"/>
          </p:nvPr>
        </p:nvSpPr>
        <p:spPr>
          <a:xfrm>
            <a:off x="649817" y="1697038"/>
            <a:ext cx="8712547" cy="4525962"/>
          </a:xfrm>
        </p:spPr>
        <p:txBody>
          <a:bodyPr/>
          <a:lstStyle/>
          <a:p>
            <a:r>
              <a:rPr lang="en-US" dirty="0"/>
              <a:t>Education: </a:t>
            </a:r>
          </a:p>
          <a:p>
            <a:pPr lvl="1"/>
            <a:r>
              <a:rPr lang="en-US" dirty="0"/>
              <a:t>Blended Learning, Online Distance Learning</a:t>
            </a:r>
          </a:p>
          <a:p>
            <a:r>
              <a:rPr lang="en-US" dirty="0"/>
              <a:t>Navigation:</a:t>
            </a:r>
          </a:p>
          <a:p>
            <a:pPr lvl="1"/>
            <a:r>
              <a:rPr lang="en-US" dirty="0"/>
              <a:t>GPS + Social Media = Waze: Uses crowdsourcing and other integrated social features to provide navigation</a:t>
            </a:r>
          </a:p>
          <a:p>
            <a:r>
              <a:rPr lang="en-US" dirty="0"/>
              <a:t>News:</a:t>
            </a:r>
          </a:p>
          <a:p>
            <a:pPr lvl="1"/>
            <a:r>
              <a:rPr lang="en-US" dirty="0"/>
              <a:t>Breaking news alert through push notification</a:t>
            </a:r>
          </a:p>
          <a:p>
            <a:endParaRPr lang="en-US" dirty="0"/>
          </a:p>
        </p:txBody>
      </p:sp>
      <p:pic>
        <p:nvPicPr>
          <p:cNvPr id="5" name="Picture 4">
            <a:extLst>
              <a:ext uri="{FF2B5EF4-FFF2-40B4-BE49-F238E27FC236}">
                <a16:creationId xmlns:a16="http://schemas.microsoft.com/office/drawing/2014/main" id="{502B555B-A8C2-4E6A-8EBD-57237DA14E82}"/>
              </a:ext>
            </a:extLst>
          </p:cNvPr>
          <p:cNvPicPr>
            <a:picLocks noChangeAspect="1"/>
          </p:cNvPicPr>
          <p:nvPr/>
        </p:nvPicPr>
        <p:blipFill>
          <a:blip r:embed="rId2"/>
          <a:stretch>
            <a:fillRect/>
          </a:stretch>
        </p:blipFill>
        <p:spPr>
          <a:xfrm>
            <a:off x="9047448" y="1367329"/>
            <a:ext cx="2293843" cy="1526448"/>
          </a:xfrm>
          <a:prstGeom prst="rect">
            <a:avLst/>
          </a:prstGeom>
        </p:spPr>
      </p:pic>
      <p:pic>
        <p:nvPicPr>
          <p:cNvPr id="6" name="Picture 5">
            <a:extLst>
              <a:ext uri="{FF2B5EF4-FFF2-40B4-BE49-F238E27FC236}">
                <a16:creationId xmlns:a16="http://schemas.microsoft.com/office/drawing/2014/main" id="{65FFD605-43E1-41EE-87E5-5CBCE55923BC}"/>
              </a:ext>
            </a:extLst>
          </p:cNvPr>
          <p:cNvPicPr>
            <a:picLocks noChangeAspect="1"/>
          </p:cNvPicPr>
          <p:nvPr/>
        </p:nvPicPr>
        <p:blipFill>
          <a:blip r:embed="rId3"/>
          <a:stretch>
            <a:fillRect/>
          </a:stretch>
        </p:blipFill>
        <p:spPr>
          <a:xfrm>
            <a:off x="8960881" y="2880296"/>
            <a:ext cx="2466975" cy="1847850"/>
          </a:xfrm>
          <a:prstGeom prst="rect">
            <a:avLst/>
          </a:prstGeom>
        </p:spPr>
      </p:pic>
      <p:pic>
        <p:nvPicPr>
          <p:cNvPr id="7" name="Picture 6">
            <a:extLst>
              <a:ext uri="{FF2B5EF4-FFF2-40B4-BE49-F238E27FC236}">
                <a16:creationId xmlns:a16="http://schemas.microsoft.com/office/drawing/2014/main" id="{F9241DF6-ACB0-401E-959E-A4E6340B3AFE}"/>
              </a:ext>
            </a:extLst>
          </p:cNvPr>
          <p:cNvPicPr>
            <a:picLocks noChangeAspect="1"/>
          </p:cNvPicPr>
          <p:nvPr/>
        </p:nvPicPr>
        <p:blipFill>
          <a:blip r:embed="rId4"/>
          <a:stretch>
            <a:fillRect/>
          </a:stretch>
        </p:blipFill>
        <p:spPr>
          <a:xfrm>
            <a:off x="8868745" y="4823849"/>
            <a:ext cx="2676525" cy="1704975"/>
          </a:xfrm>
          <a:prstGeom prst="rect">
            <a:avLst/>
          </a:prstGeom>
        </p:spPr>
      </p:pic>
    </p:spTree>
    <p:extLst>
      <p:ext uri="{BB962C8B-B14F-4D97-AF65-F5344CB8AC3E}">
        <p14:creationId xmlns:p14="http://schemas.microsoft.com/office/powerpoint/2010/main" val="1534919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9D376-F9C0-422E-8FC3-545BD63E6CD7}"/>
              </a:ext>
            </a:extLst>
          </p:cNvPr>
          <p:cNvSpPr>
            <a:spLocks noGrp="1"/>
          </p:cNvSpPr>
          <p:nvPr>
            <p:ph type="title"/>
          </p:nvPr>
        </p:nvSpPr>
        <p:spPr/>
        <p:txBody>
          <a:bodyPr/>
          <a:lstStyle/>
          <a:p>
            <a:r>
              <a:rPr lang="en-US" dirty="0"/>
              <a:t>Digital Culture</a:t>
            </a:r>
          </a:p>
        </p:txBody>
      </p:sp>
      <p:sp>
        <p:nvSpPr>
          <p:cNvPr id="3" name="Content Placeholder 2">
            <a:extLst>
              <a:ext uri="{FF2B5EF4-FFF2-40B4-BE49-F238E27FC236}">
                <a16:creationId xmlns:a16="http://schemas.microsoft.com/office/drawing/2014/main" id="{339A5FD1-7AE7-429E-AA33-CD221F22A170}"/>
              </a:ext>
            </a:extLst>
          </p:cNvPr>
          <p:cNvSpPr>
            <a:spLocks noGrp="1"/>
          </p:cNvSpPr>
          <p:nvPr>
            <p:ph idx="1"/>
          </p:nvPr>
        </p:nvSpPr>
        <p:spPr>
          <a:xfrm>
            <a:off x="649817" y="1697038"/>
            <a:ext cx="8166637" cy="4525962"/>
          </a:xfrm>
        </p:spPr>
        <p:txBody>
          <a:bodyPr/>
          <a:lstStyle/>
          <a:p>
            <a:r>
              <a:rPr lang="en-US" dirty="0"/>
              <a:t>Entertainment:</a:t>
            </a:r>
          </a:p>
          <a:p>
            <a:pPr lvl="1"/>
            <a:r>
              <a:rPr lang="en-US" dirty="0"/>
              <a:t>DIY hacks, for a good laugh, music and movies are all readily available; YouTube, Netflix, Spotify</a:t>
            </a:r>
          </a:p>
          <a:p>
            <a:r>
              <a:rPr lang="en-US" dirty="0"/>
              <a:t>Social Connection:</a:t>
            </a:r>
          </a:p>
          <a:p>
            <a:pPr lvl="1"/>
            <a:r>
              <a:rPr lang="en-US" dirty="0"/>
              <a:t>Snapchat, Instagram, Facebook, Twitter, Reddit and other online communities</a:t>
            </a:r>
          </a:p>
        </p:txBody>
      </p:sp>
      <p:pic>
        <p:nvPicPr>
          <p:cNvPr id="5" name="Picture 4">
            <a:extLst>
              <a:ext uri="{FF2B5EF4-FFF2-40B4-BE49-F238E27FC236}">
                <a16:creationId xmlns:a16="http://schemas.microsoft.com/office/drawing/2014/main" id="{4C7CB497-11CA-480A-A6BA-F407147D9E8C}"/>
              </a:ext>
            </a:extLst>
          </p:cNvPr>
          <p:cNvPicPr>
            <a:picLocks noChangeAspect="1"/>
          </p:cNvPicPr>
          <p:nvPr/>
        </p:nvPicPr>
        <p:blipFill>
          <a:blip r:embed="rId2"/>
          <a:stretch>
            <a:fillRect/>
          </a:stretch>
        </p:blipFill>
        <p:spPr>
          <a:xfrm>
            <a:off x="8700660" y="1981413"/>
            <a:ext cx="2733675" cy="1666875"/>
          </a:xfrm>
          <a:prstGeom prst="rect">
            <a:avLst/>
          </a:prstGeom>
        </p:spPr>
      </p:pic>
      <p:pic>
        <p:nvPicPr>
          <p:cNvPr id="6" name="Picture 5">
            <a:extLst>
              <a:ext uri="{FF2B5EF4-FFF2-40B4-BE49-F238E27FC236}">
                <a16:creationId xmlns:a16="http://schemas.microsoft.com/office/drawing/2014/main" id="{DD00D276-FEAC-400D-B6A8-55B1EFE38772}"/>
              </a:ext>
            </a:extLst>
          </p:cNvPr>
          <p:cNvPicPr>
            <a:picLocks noChangeAspect="1"/>
          </p:cNvPicPr>
          <p:nvPr/>
        </p:nvPicPr>
        <p:blipFill>
          <a:blip r:embed="rId3"/>
          <a:stretch>
            <a:fillRect/>
          </a:stretch>
        </p:blipFill>
        <p:spPr>
          <a:xfrm>
            <a:off x="8816454" y="3785487"/>
            <a:ext cx="2545095" cy="2745403"/>
          </a:xfrm>
          <a:prstGeom prst="rect">
            <a:avLst/>
          </a:prstGeom>
        </p:spPr>
      </p:pic>
    </p:spTree>
    <p:extLst>
      <p:ext uri="{BB962C8B-B14F-4D97-AF65-F5344CB8AC3E}">
        <p14:creationId xmlns:p14="http://schemas.microsoft.com/office/powerpoint/2010/main" val="646534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D047-F806-4D5F-89FA-E41CCAC55A94}"/>
              </a:ext>
            </a:extLst>
          </p:cNvPr>
          <p:cNvSpPr>
            <a:spLocks noGrp="1"/>
          </p:cNvSpPr>
          <p:nvPr>
            <p:ph type="title"/>
          </p:nvPr>
        </p:nvSpPr>
        <p:spPr/>
        <p:txBody>
          <a:bodyPr/>
          <a:lstStyle/>
          <a:p>
            <a:r>
              <a:rPr lang="en-US" dirty="0"/>
              <a:t>Group Discussion</a:t>
            </a:r>
          </a:p>
        </p:txBody>
      </p:sp>
      <p:sp>
        <p:nvSpPr>
          <p:cNvPr id="3" name="Content Placeholder 2">
            <a:extLst>
              <a:ext uri="{FF2B5EF4-FFF2-40B4-BE49-F238E27FC236}">
                <a16:creationId xmlns:a16="http://schemas.microsoft.com/office/drawing/2014/main" id="{3E9E2044-43E3-4947-BD82-12007E300B27}"/>
              </a:ext>
            </a:extLst>
          </p:cNvPr>
          <p:cNvSpPr>
            <a:spLocks noGrp="1"/>
          </p:cNvSpPr>
          <p:nvPr>
            <p:ph idx="1"/>
          </p:nvPr>
        </p:nvSpPr>
        <p:spPr/>
        <p:txBody>
          <a:bodyPr/>
          <a:lstStyle/>
          <a:p>
            <a:r>
              <a:rPr lang="en-US" dirty="0"/>
              <a:t>Watch and discuss the content of the video:</a:t>
            </a:r>
          </a:p>
          <a:p>
            <a:pPr lvl="1"/>
            <a:r>
              <a:rPr lang="en-US" dirty="0">
                <a:hlinkClick r:id="rId2"/>
              </a:rPr>
              <a:t>https://www.youtube.com/watch?v=xBQQ1dQ_2Ow</a:t>
            </a:r>
            <a:endParaRPr lang="en-US" dirty="0"/>
          </a:p>
        </p:txBody>
      </p:sp>
      <p:pic>
        <p:nvPicPr>
          <p:cNvPr id="5" name="Picture 4">
            <a:hlinkClick r:id="rId2"/>
            <a:extLst>
              <a:ext uri="{FF2B5EF4-FFF2-40B4-BE49-F238E27FC236}">
                <a16:creationId xmlns:a16="http://schemas.microsoft.com/office/drawing/2014/main" id="{6B3ACF31-4EFD-4930-B3C3-EC8EE0A76587}"/>
              </a:ext>
            </a:extLst>
          </p:cNvPr>
          <p:cNvPicPr>
            <a:picLocks noChangeAspect="1"/>
          </p:cNvPicPr>
          <p:nvPr/>
        </p:nvPicPr>
        <p:blipFill>
          <a:blip r:embed="rId3"/>
          <a:stretch>
            <a:fillRect/>
          </a:stretch>
        </p:blipFill>
        <p:spPr>
          <a:xfrm>
            <a:off x="3812937" y="3542848"/>
            <a:ext cx="2686050" cy="1695450"/>
          </a:xfrm>
          <a:prstGeom prst="rect">
            <a:avLst/>
          </a:prstGeom>
        </p:spPr>
      </p:pic>
    </p:spTree>
    <p:extLst>
      <p:ext uri="{BB962C8B-B14F-4D97-AF65-F5344CB8AC3E}">
        <p14:creationId xmlns:p14="http://schemas.microsoft.com/office/powerpoint/2010/main" val="3597272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culture change</a:t>
            </a:r>
          </a:p>
          <a:p>
            <a:pPr lvl="1"/>
            <a:r>
              <a:rPr lang="en-US" altLang="en-US" dirty="0">
                <a:solidFill>
                  <a:schemeClr val="tx1">
                    <a:lumMod val="50000"/>
                    <a:lumOff val="50000"/>
                  </a:schemeClr>
                </a:solidFill>
              </a:rPr>
              <a:t>Understand the evolution to digital world (digital culture)</a:t>
            </a:r>
          </a:p>
          <a:p>
            <a:pPr lvl="1"/>
            <a:r>
              <a:rPr lang="en-US" altLang="en-US" dirty="0"/>
              <a:t>Understand the impacts of digital culture to the society (digital society)</a:t>
            </a:r>
          </a:p>
        </p:txBody>
      </p:sp>
    </p:spTree>
    <p:extLst>
      <p:ext uri="{BB962C8B-B14F-4D97-AF65-F5344CB8AC3E}">
        <p14:creationId xmlns:p14="http://schemas.microsoft.com/office/powerpoint/2010/main" val="2693827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CA69F-86CB-427A-B247-1D833D11A6B2}"/>
              </a:ext>
            </a:extLst>
          </p:cNvPr>
          <p:cNvSpPr>
            <a:spLocks noGrp="1"/>
          </p:cNvSpPr>
          <p:nvPr>
            <p:ph type="title"/>
          </p:nvPr>
        </p:nvSpPr>
        <p:spPr/>
        <p:txBody>
          <a:bodyPr/>
          <a:lstStyle/>
          <a:p>
            <a:r>
              <a:rPr lang="en-US" dirty="0"/>
              <a:t>The Digital Society</a:t>
            </a:r>
          </a:p>
        </p:txBody>
      </p:sp>
      <p:sp>
        <p:nvSpPr>
          <p:cNvPr id="3" name="Content Placeholder 2">
            <a:extLst>
              <a:ext uri="{FF2B5EF4-FFF2-40B4-BE49-F238E27FC236}">
                <a16:creationId xmlns:a16="http://schemas.microsoft.com/office/drawing/2014/main" id="{FDCD3E29-4988-4C88-8504-F66C5678DCC0}"/>
              </a:ext>
            </a:extLst>
          </p:cNvPr>
          <p:cNvSpPr>
            <a:spLocks noGrp="1"/>
          </p:cNvSpPr>
          <p:nvPr>
            <p:ph idx="1"/>
          </p:nvPr>
        </p:nvSpPr>
        <p:spPr/>
        <p:txBody>
          <a:bodyPr/>
          <a:lstStyle/>
          <a:p>
            <a:r>
              <a:rPr lang="en-US" dirty="0"/>
              <a:t>Engaging in the digital world has become an integral part of life. </a:t>
            </a:r>
          </a:p>
          <a:p>
            <a:r>
              <a:rPr lang="en-US" dirty="0"/>
              <a:t>However, a delicate tipping point between the benefits of unlimited content/connection and overuse/dependency. </a:t>
            </a:r>
          </a:p>
          <a:p>
            <a:r>
              <a:rPr lang="en-US" dirty="0"/>
              <a:t>Generation Z’s perspectives and behaviors are shaped by the technology used– for better and for worse. </a:t>
            </a:r>
          </a:p>
        </p:txBody>
      </p:sp>
    </p:spTree>
    <p:extLst>
      <p:ext uri="{BB962C8B-B14F-4D97-AF65-F5344CB8AC3E}">
        <p14:creationId xmlns:p14="http://schemas.microsoft.com/office/powerpoint/2010/main" val="4153538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CA69F-86CB-427A-B247-1D833D11A6B2}"/>
              </a:ext>
            </a:extLst>
          </p:cNvPr>
          <p:cNvSpPr>
            <a:spLocks noGrp="1"/>
          </p:cNvSpPr>
          <p:nvPr>
            <p:ph type="title"/>
          </p:nvPr>
        </p:nvSpPr>
        <p:spPr>
          <a:xfrm>
            <a:off x="0" y="0"/>
            <a:ext cx="10311925" cy="1367327"/>
          </a:xfrm>
        </p:spPr>
        <p:txBody>
          <a:bodyPr/>
          <a:lstStyle/>
          <a:p>
            <a:r>
              <a:rPr lang="en-US" dirty="0"/>
              <a:t>The Digital Society</a:t>
            </a:r>
          </a:p>
        </p:txBody>
      </p:sp>
      <p:sp>
        <p:nvSpPr>
          <p:cNvPr id="3" name="Content Placeholder 2">
            <a:extLst>
              <a:ext uri="{FF2B5EF4-FFF2-40B4-BE49-F238E27FC236}">
                <a16:creationId xmlns:a16="http://schemas.microsoft.com/office/drawing/2014/main" id="{FDCD3E29-4988-4C88-8504-F66C5678DCC0}"/>
              </a:ext>
            </a:extLst>
          </p:cNvPr>
          <p:cNvSpPr>
            <a:spLocks noGrp="1"/>
          </p:cNvSpPr>
          <p:nvPr>
            <p:ph idx="1"/>
          </p:nvPr>
        </p:nvSpPr>
        <p:spPr>
          <a:xfrm>
            <a:off x="489396" y="1367326"/>
            <a:ext cx="10972800" cy="1679665"/>
          </a:xfrm>
        </p:spPr>
        <p:txBody>
          <a:bodyPr/>
          <a:lstStyle/>
          <a:p>
            <a:pPr algn="just"/>
            <a:r>
              <a:rPr lang="en-US" sz="2800" dirty="0"/>
              <a:t>A </a:t>
            </a:r>
            <a:r>
              <a:rPr lang="en-US" sz="2800" b="1" dirty="0"/>
              <a:t>Digital Society</a:t>
            </a:r>
            <a:r>
              <a:rPr lang="en-US" sz="2800" dirty="0"/>
              <a:t> is an interdisciplinary research area and a kind of progressive </a:t>
            </a:r>
            <a:r>
              <a:rPr lang="en-US" sz="2800" b="1" dirty="0"/>
              <a:t>society</a:t>
            </a:r>
            <a:r>
              <a:rPr lang="en-US" sz="2800" dirty="0"/>
              <a:t> that has been formed as a result of adaptation as well as integration of advanced technologies into the </a:t>
            </a:r>
            <a:r>
              <a:rPr lang="en-US" sz="2800" b="1" dirty="0"/>
              <a:t>society</a:t>
            </a:r>
            <a:r>
              <a:rPr lang="en-US" sz="2800" dirty="0"/>
              <a:t> and culture</a:t>
            </a:r>
          </a:p>
        </p:txBody>
      </p:sp>
      <p:pic>
        <p:nvPicPr>
          <p:cNvPr id="2050" name="Picture 2" descr="The Birth Years of Millennials and Generation Z | Millennial Marke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5091" y="3266284"/>
            <a:ext cx="5321604" cy="3166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1397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discuss…</a:t>
            </a:r>
          </a:p>
        </p:txBody>
      </p:sp>
      <p:pic>
        <p:nvPicPr>
          <p:cNvPr id="3074" name="Picture 2" descr="For payments, Generation Z is 'generation e-wallet' | PaymentsSource"/>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759781" y="1367328"/>
            <a:ext cx="8048627" cy="5245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084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56BBA-D55C-457B-8623-23B6B80065F2}"/>
              </a:ext>
            </a:extLst>
          </p:cNvPr>
          <p:cNvSpPr>
            <a:spLocks noGrp="1"/>
          </p:cNvSpPr>
          <p:nvPr>
            <p:ph type="title"/>
          </p:nvPr>
        </p:nvSpPr>
        <p:spPr/>
        <p:txBody>
          <a:bodyPr/>
          <a:lstStyle/>
          <a:p>
            <a:r>
              <a:rPr lang="en-US" dirty="0"/>
              <a:t>The Digital Society</a:t>
            </a:r>
          </a:p>
        </p:txBody>
      </p:sp>
      <p:sp>
        <p:nvSpPr>
          <p:cNvPr id="3" name="Content Placeholder 2">
            <a:extLst>
              <a:ext uri="{FF2B5EF4-FFF2-40B4-BE49-F238E27FC236}">
                <a16:creationId xmlns:a16="http://schemas.microsoft.com/office/drawing/2014/main" id="{2F2CF5CB-6B36-4D31-9355-56423C16F001}"/>
              </a:ext>
            </a:extLst>
          </p:cNvPr>
          <p:cNvSpPr>
            <a:spLocks noGrp="1"/>
          </p:cNvSpPr>
          <p:nvPr>
            <p:ph idx="1"/>
          </p:nvPr>
        </p:nvSpPr>
        <p:spPr>
          <a:xfrm>
            <a:off x="649817" y="1697038"/>
            <a:ext cx="8584124" cy="4525962"/>
          </a:xfrm>
        </p:spPr>
        <p:txBody>
          <a:bodyPr/>
          <a:lstStyle/>
          <a:p>
            <a:pPr marL="0" indent="0">
              <a:buNone/>
            </a:pPr>
            <a:endParaRPr lang="en-US" u="sng" dirty="0"/>
          </a:p>
          <a:p>
            <a:r>
              <a:rPr lang="en-US" dirty="0"/>
              <a:t>Researchers found that “</a:t>
            </a:r>
            <a:r>
              <a:rPr lang="en-US" b="1" i="1" dirty="0"/>
              <a:t>70% percent </a:t>
            </a:r>
            <a:r>
              <a:rPr lang="en-US" i="1" dirty="0"/>
              <a:t>of younger Millennials and older members of Generation Z </a:t>
            </a:r>
            <a:r>
              <a:rPr lang="en-US" b="1" i="1" dirty="0"/>
              <a:t>have their phone within arm’s reach when they sleep</a:t>
            </a:r>
            <a:r>
              <a:rPr lang="en-US" i="1" dirty="0"/>
              <a:t>, and more than half check their phones if they happen to wake up sometime during the night.</a:t>
            </a:r>
            <a:r>
              <a:rPr lang="en-US" dirty="0"/>
              <a:t>” – A study by </a:t>
            </a:r>
            <a:r>
              <a:rPr lang="en-US" dirty="0" err="1"/>
              <a:t>LivePerson</a:t>
            </a:r>
            <a:endParaRPr lang="en-US" dirty="0"/>
          </a:p>
        </p:txBody>
      </p:sp>
      <p:pic>
        <p:nvPicPr>
          <p:cNvPr id="6" name="Picture 5">
            <a:extLst>
              <a:ext uri="{FF2B5EF4-FFF2-40B4-BE49-F238E27FC236}">
                <a16:creationId xmlns:a16="http://schemas.microsoft.com/office/drawing/2014/main" id="{4FAB6EE1-0080-4889-878A-2962C885F699}"/>
              </a:ext>
            </a:extLst>
          </p:cNvPr>
          <p:cNvPicPr>
            <a:picLocks noChangeAspect="1"/>
          </p:cNvPicPr>
          <p:nvPr/>
        </p:nvPicPr>
        <p:blipFill>
          <a:blip r:embed="rId2"/>
          <a:stretch>
            <a:fillRect/>
          </a:stretch>
        </p:blipFill>
        <p:spPr>
          <a:xfrm>
            <a:off x="9399058" y="2888456"/>
            <a:ext cx="2143125" cy="2143125"/>
          </a:xfrm>
          <a:prstGeom prst="rect">
            <a:avLst/>
          </a:prstGeom>
        </p:spPr>
      </p:pic>
    </p:spTree>
    <p:extLst>
      <p:ext uri="{BB962C8B-B14F-4D97-AF65-F5344CB8AC3E}">
        <p14:creationId xmlns:p14="http://schemas.microsoft.com/office/powerpoint/2010/main" val="4099312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DD839-ACE2-4DD8-A567-B2F529F71CC3}"/>
              </a:ext>
            </a:extLst>
          </p:cNvPr>
          <p:cNvSpPr>
            <a:spLocks noGrp="1"/>
          </p:cNvSpPr>
          <p:nvPr>
            <p:ph type="title"/>
          </p:nvPr>
        </p:nvSpPr>
        <p:spPr/>
        <p:txBody>
          <a:bodyPr/>
          <a:lstStyle/>
          <a:p>
            <a:r>
              <a:rPr lang="en-US" dirty="0"/>
              <a:t>The Digital Society</a:t>
            </a:r>
          </a:p>
        </p:txBody>
      </p:sp>
      <p:sp>
        <p:nvSpPr>
          <p:cNvPr id="3" name="Content Placeholder 2">
            <a:extLst>
              <a:ext uri="{FF2B5EF4-FFF2-40B4-BE49-F238E27FC236}">
                <a16:creationId xmlns:a16="http://schemas.microsoft.com/office/drawing/2014/main" id="{01007564-7B84-46A5-B78F-D18D7EEFF7DC}"/>
              </a:ext>
            </a:extLst>
          </p:cNvPr>
          <p:cNvSpPr>
            <a:spLocks noGrp="1"/>
          </p:cNvSpPr>
          <p:nvPr>
            <p:ph idx="1"/>
          </p:nvPr>
        </p:nvSpPr>
        <p:spPr/>
        <p:txBody>
          <a:bodyPr/>
          <a:lstStyle/>
          <a:p>
            <a:r>
              <a:rPr lang="en-US" dirty="0"/>
              <a:t>Another study found that 18 to 24 year-olds check their phones “86 times a day, which is higher than any other age group… With 89 percent of Generation Z teens utilizing the Internet multiple times a day” – Deloitte (2017).</a:t>
            </a:r>
          </a:p>
        </p:txBody>
      </p:sp>
      <p:pic>
        <p:nvPicPr>
          <p:cNvPr id="6" name="Picture 5">
            <a:extLst>
              <a:ext uri="{FF2B5EF4-FFF2-40B4-BE49-F238E27FC236}">
                <a16:creationId xmlns:a16="http://schemas.microsoft.com/office/drawing/2014/main" id="{A2F99CFB-3939-4B68-AA10-3ABD038556D5}"/>
              </a:ext>
            </a:extLst>
          </p:cNvPr>
          <p:cNvPicPr>
            <a:picLocks noChangeAspect="1"/>
          </p:cNvPicPr>
          <p:nvPr/>
        </p:nvPicPr>
        <p:blipFill>
          <a:blip r:embed="rId2"/>
          <a:stretch>
            <a:fillRect/>
          </a:stretch>
        </p:blipFill>
        <p:spPr>
          <a:xfrm>
            <a:off x="4522588" y="4609371"/>
            <a:ext cx="3227257" cy="1613629"/>
          </a:xfrm>
          <a:prstGeom prst="rect">
            <a:avLst/>
          </a:prstGeom>
        </p:spPr>
      </p:pic>
    </p:spTree>
    <p:extLst>
      <p:ext uri="{BB962C8B-B14F-4D97-AF65-F5344CB8AC3E}">
        <p14:creationId xmlns:p14="http://schemas.microsoft.com/office/powerpoint/2010/main" val="2921501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5D14-D9FB-4E6C-BEEF-0B00DBC81B48}"/>
              </a:ext>
            </a:extLst>
          </p:cNvPr>
          <p:cNvSpPr>
            <a:spLocks noGrp="1"/>
          </p:cNvSpPr>
          <p:nvPr>
            <p:ph type="title"/>
          </p:nvPr>
        </p:nvSpPr>
        <p:spPr/>
        <p:txBody>
          <a:bodyPr/>
          <a:lstStyle/>
          <a:p>
            <a:r>
              <a:rPr lang="en-US" dirty="0"/>
              <a:t>The Digital Society</a:t>
            </a:r>
          </a:p>
        </p:txBody>
      </p:sp>
      <p:sp>
        <p:nvSpPr>
          <p:cNvPr id="3" name="Content Placeholder 2">
            <a:extLst>
              <a:ext uri="{FF2B5EF4-FFF2-40B4-BE49-F238E27FC236}">
                <a16:creationId xmlns:a16="http://schemas.microsoft.com/office/drawing/2014/main" id="{2A9B2F86-9349-471A-B117-51E039496E83}"/>
              </a:ext>
            </a:extLst>
          </p:cNvPr>
          <p:cNvSpPr>
            <a:spLocks noGrp="1"/>
          </p:cNvSpPr>
          <p:nvPr>
            <p:ph idx="1"/>
          </p:nvPr>
        </p:nvSpPr>
        <p:spPr/>
        <p:txBody>
          <a:bodyPr/>
          <a:lstStyle/>
          <a:p>
            <a:r>
              <a:rPr lang="en-US" dirty="0"/>
              <a:t>Widespread access and use of digital technology today: </a:t>
            </a:r>
            <a:r>
              <a:rPr lang="en-US" u="sng" dirty="0"/>
              <a:t>Potential for dependency and addiction is a real concern</a:t>
            </a:r>
          </a:p>
          <a:p>
            <a:endParaRPr lang="en-US" sz="2400" dirty="0"/>
          </a:p>
          <a:p>
            <a:r>
              <a:rPr lang="en-US" dirty="0"/>
              <a:t>Digitally native and digitally dependent</a:t>
            </a:r>
          </a:p>
          <a:p>
            <a:pPr lvl="1"/>
            <a:r>
              <a:rPr lang="en-US" dirty="0"/>
              <a:t>Very unlikely Gen Z will disconnect from the online world with ease</a:t>
            </a:r>
          </a:p>
          <a:p>
            <a:pPr lvl="1"/>
            <a:r>
              <a:rPr lang="en-US" dirty="0"/>
              <a:t>Not easily swayed by monetary rewards: 43% under the age of 35 would “give up their smartphone forever if they were paid to do so, but only to the tune of </a:t>
            </a:r>
            <a:r>
              <a:rPr lang="en-US" i="1" dirty="0"/>
              <a:t>$5 million</a:t>
            </a:r>
            <a:r>
              <a:rPr lang="en-US" dirty="0"/>
              <a:t>” - </a:t>
            </a:r>
            <a:r>
              <a:rPr lang="en-US" dirty="0" err="1"/>
              <a:t>LivePerson</a:t>
            </a:r>
            <a:endParaRPr lang="en-US" dirty="0"/>
          </a:p>
        </p:txBody>
      </p:sp>
    </p:spTree>
    <p:extLst>
      <p:ext uri="{BB962C8B-B14F-4D97-AF65-F5344CB8AC3E}">
        <p14:creationId xmlns:p14="http://schemas.microsoft.com/office/powerpoint/2010/main" val="4055323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5D14-D9FB-4E6C-BEEF-0B00DBC81B48}"/>
              </a:ext>
            </a:extLst>
          </p:cNvPr>
          <p:cNvSpPr>
            <a:spLocks noGrp="1"/>
          </p:cNvSpPr>
          <p:nvPr>
            <p:ph type="title"/>
          </p:nvPr>
        </p:nvSpPr>
        <p:spPr/>
        <p:txBody>
          <a:bodyPr/>
          <a:lstStyle/>
          <a:p>
            <a:r>
              <a:rPr lang="en-US" dirty="0"/>
              <a:t>The Digital Society</a:t>
            </a:r>
          </a:p>
        </p:txBody>
      </p:sp>
      <p:sp>
        <p:nvSpPr>
          <p:cNvPr id="3" name="Content Placeholder 2">
            <a:extLst>
              <a:ext uri="{FF2B5EF4-FFF2-40B4-BE49-F238E27FC236}">
                <a16:creationId xmlns:a16="http://schemas.microsoft.com/office/drawing/2014/main" id="{2A9B2F86-9349-471A-B117-51E039496E83}"/>
              </a:ext>
            </a:extLst>
          </p:cNvPr>
          <p:cNvSpPr>
            <a:spLocks noGrp="1"/>
          </p:cNvSpPr>
          <p:nvPr>
            <p:ph idx="1"/>
          </p:nvPr>
        </p:nvSpPr>
        <p:spPr/>
        <p:txBody>
          <a:bodyPr/>
          <a:lstStyle/>
          <a:p>
            <a:pPr algn="just"/>
            <a:r>
              <a:rPr lang="en-US" b="1" dirty="0">
                <a:solidFill>
                  <a:schemeClr val="accent2"/>
                </a:solidFill>
              </a:rPr>
              <a:t>Digitally native </a:t>
            </a:r>
            <a:r>
              <a:rPr lang="en-US" dirty="0"/>
              <a:t>a person who has grown up in the </a:t>
            </a:r>
            <a:r>
              <a:rPr lang="en-US" b="1" dirty="0"/>
              <a:t>digital</a:t>
            </a:r>
            <a:r>
              <a:rPr lang="en-US" dirty="0"/>
              <a:t> age, (rather than having acquired familiarity with </a:t>
            </a:r>
            <a:r>
              <a:rPr lang="en-US" b="1" dirty="0"/>
              <a:t>digital</a:t>
            </a:r>
            <a:r>
              <a:rPr lang="en-US" dirty="0"/>
              <a:t> systems as an adult, as a </a:t>
            </a:r>
            <a:r>
              <a:rPr lang="en-US" b="1" dirty="0"/>
              <a:t>digital</a:t>
            </a:r>
            <a:r>
              <a:rPr lang="en-US" dirty="0"/>
              <a:t> immigrant). </a:t>
            </a:r>
          </a:p>
          <a:p>
            <a:pPr algn="just"/>
            <a:endParaRPr lang="en-US" dirty="0"/>
          </a:p>
          <a:p>
            <a:pPr algn="just"/>
            <a:r>
              <a:rPr lang="en-US" b="1" dirty="0">
                <a:solidFill>
                  <a:schemeClr val="accent2"/>
                </a:solidFill>
              </a:rPr>
              <a:t>Digital dependency</a:t>
            </a:r>
            <a:r>
              <a:rPr lang="en-US" dirty="0"/>
              <a:t> can be defined as the overuse of the internet or electronics to the point that one's daily life is affected.</a:t>
            </a:r>
          </a:p>
        </p:txBody>
      </p:sp>
    </p:spTree>
    <p:extLst>
      <p:ext uri="{BB962C8B-B14F-4D97-AF65-F5344CB8AC3E}">
        <p14:creationId xmlns:p14="http://schemas.microsoft.com/office/powerpoint/2010/main" val="1102663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F4FEB-45D0-4BA8-AA55-6987A641A703}"/>
              </a:ext>
            </a:extLst>
          </p:cNvPr>
          <p:cNvSpPr>
            <a:spLocks noGrp="1"/>
          </p:cNvSpPr>
          <p:nvPr>
            <p:ph type="title"/>
          </p:nvPr>
        </p:nvSpPr>
        <p:spPr/>
        <p:txBody>
          <a:bodyPr/>
          <a:lstStyle/>
          <a:p>
            <a:r>
              <a:rPr lang="en-US" dirty="0"/>
              <a:t>Multitasking Across Multiple Devices</a:t>
            </a:r>
          </a:p>
        </p:txBody>
      </p:sp>
      <p:sp>
        <p:nvSpPr>
          <p:cNvPr id="3" name="Content Placeholder 2">
            <a:extLst>
              <a:ext uri="{FF2B5EF4-FFF2-40B4-BE49-F238E27FC236}">
                <a16:creationId xmlns:a16="http://schemas.microsoft.com/office/drawing/2014/main" id="{CEAF10D9-3B6A-4E51-AE0E-91C8C6A10EF3}"/>
              </a:ext>
            </a:extLst>
          </p:cNvPr>
          <p:cNvSpPr>
            <a:spLocks noGrp="1"/>
          </p:cNvSpPr>
          <p:nvPr>
            <p:ph idx="1"/>
          </p:nvPr>
        </p:nvSpPr>
        <p:spPr/>
        <p:txBody>
          <a:bodyPr/>
          <a:lstStyle/>
          <a:p>
            <a:r>
              <a:rPr lang="en-US" dirty="0"/>
              <a:t>2/3 of Gen Z are engaged on multiple devices at one time</a:t>
            </a:r>
          </a:p>
          <a:p>
            <a:r>
              <a:rPr lang="en-US" dirty="0"/>
              <a:t>Others may argue: Multitasking leads to decreases in the filtering of irrelevant or incorrect information</a:t>
            </a:r>
          </a:p>
          <a:p>
            <a:r>
              <a:rPr lang="en-US" dirty="0"/>
              <a:t>More than half of Gen Z do not feel that multitasking negatively impacts the quality of their work</a:t>
            </a:r>
          </a:p>
        </p:txBody>
      </p:sp>
      <p:pic>
        <p:nvPicPr>
          <p:cNvPr id="5" name="Picture 4">
            <a:extLst>
              <a:ext uri="{FF2B5EF4-FFF2-40B4-BE49-F238E27FC236}">
                <a16:creationId xmlns:a16="http://schemas.microsoft.com/office/drawing/2014/main" id="{CECB4E8E-2813-499C-B773-FE561971BC1C}"/>
              </a:ext>
            </a:extLst>
          </p:cNvPr>
          <p:cNvPicPr>
            <a:picLocks noChangeAspect="1"/>
          </p:cNvPicPr>
          <p:nvPr/>
        </p:nvPicPr>
        <p:blipFill>
          <a:blip r:embed="rId2"/>
          <a:stretch>
            <a:fillRect/>
          </a:stretch>
        </p:blipFill>
        <p:spPr>
          <a:xfrm>
            <a:off x="3971505" y="4620384"/>
            <a:ext cx="3452881" cy="1694070"/>
          </a:xfrm>
          <a:prstGeom prst="rect">
            <a:avLst/>
          </a:prstGeom>
        </p:spPr>
      </p:pic>
    </p:spTree>
    <p:extLst>
      <p:ext uri="{BB962C8B-B14F-4D97-AF65-F5344CB8AC3E}">
        <p14:creationId xmlns:p14="http://schemas.microsoft.com/office/powerpoint/2010/main" val="2735965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D047-F806-4D5F-89FA-E41CCAC55A94}"/>
              </a:ext>
            </a:extLst>
          </p:cNvPr>
          <p:cNvSpPr>
            <a:spLocks noGrp="1"/>
          </p:cNvSpPr>
          <p:nvPr>
            <p:ph type="title"/>
          </p:nvPr>
        </p:nvSpPr>
        <p:spPr/>
        <p:txBody>
          <a:bodyPr/>
          <a:lstStyle/>
          <a:p>
            <a:r>
              <a:rPr lang="en-US" dirty="0"/>
              <a:t>Group Discussion</a:t>
            </a:r>
          </a:p>
        </p:txBody>
      </p:sp>
      <p:sp>
        <p:nvSpPr>
          <p:cNvPr id="3" name="Content Placeholder 2">
            <a:extLst>
              <a:ext uri="{FF2B5EF4-FFF2-40B4-BE49-F238E27FC236}">
                <a16:creationId xmlns:a16="http://schemas.microsoft.com/office/drawing/2014/main" id="{3E9E2044-43E3-4947-BD82-12007E300B27}"/>
              </a:ext>
            </a:extLst>
          </p:cNvPr>
          <p:cNvSpPr>
            <a:spLocks noGrp="1"/>
          </p:cNvSpPr>
          <p:nvPr>
            <p:ph idx="1"/>
          </p:nvPr>
        </p:nvSpPr>
        <p:spPr/>
        <p:txBody>
          <a:bodyPr/>
          <a:lstStyle/>
          <a:p>
            <a:r>
              <a:rPr lang="en-US" dirty="0"/>
              <a:t>Watch and discuss the content of the video:</a:t>
            </a:r>
          </a:p>
          <a:p>
            <a:pPr lvl="1"/>
            <a:r>
              <a:rPr lang="en-US" dirty="0">
                <a:hlinkClick r:id="rId2"/>
              </a:rPr>
              <a:t>https://www.youtube.com/watch?v=hEPCTFuuqgY</a:t>
            </a:r>
            <a:endParaRPr lang="en-US" dirty="0"/>
          </a:p>
        </p:txBody>
      </p:sp>
      <p:pic>
        <p:nvPicPr>
          <p:cNvPr id="5" name="Picture 4">
            <a:hlinkClick r:id="rId2"/>
            <a:extLst>
              <a:ext uri="{FF2B5EF4-FFF2-40B4-BE49-F238E27FC236}">
                <a16:creationId xmlns:a16="http://schemas.microsoft.com/office/drawing/2014/main" id="{6B3ACF31-4EFD-4930-B3C3-EC8EE0A76587}"/>
              </a:ext>
            </a:extLst>
          </p:cNvPr>
          <p:cNvPicPr>
            <a:picLocks noChangeAspect="1"/>
          </p:cNvPicPr>
          <p:nvPr/>
        </p:nvPicPr>
        <p:blipFill>
          <a:blip r:embed="rId3"/>
          <a:stretch>
            <a:fillRect/>
          </a:stretch>
        </p:blipFill>
        <p:spPr>
          <a:xfrm>
            <a:off x="3812937" y="3542848"/>
            <a:ext cx="2686050" cy="1695450"/>
          </a:xfrm>
          <a:prstGeom prst="rect">
            <a:avLst/>
          </a:prstGeom>
        </p:spPr>
      </p:pic>
    </p:spTree>
    <p:extLst>
      <p:ext uri="{BB962C8B-B14F-4D97-AF65-F5344CB8AC3E}">
        <p14:creationId xmlns:p14="http://schemas.microsoft.com/office/powerpoint/2010/main" val="867371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FAACE-30DE-4EE2-9208-299D0BB09B62}"/>
              </a:ext>
            </a:extLst>
          </p:cNvPr>
          <p:cNvSpPr>
            <a:spLocks noGrp="1"/>
          </p:cNvSpPr>
          <p:nvPr>
            <p:ph type="title"/>
          </p:nvPr>
        </p:nvSpPr>
        <p:spPr/>
        <p:txBody>
          <a:bodyPr/>
          <a:lstStyle/>
          <a:p>
            <a:r>
              <a:rPr lang="en-US" dirty="0" err="1"/>
              <a:t>eMotional</a:t>
            </a:r>
            <a:r>
              <a:rPr lang="en-US" dirty="0"/>
              <a:t> Impact and Support</a:t>
            </a:r>
          </a:p>
        </p:txBody>
      </p:sp>
      <p:sp>
        <p:nvSpPr>
          <p:cNvPr id="3" name="Content Placeholder 2">
            <a:extLst>
              <a:ext uri="{FF2B5EF4-FFF2-40B4-BE49-F238E27FC236}">
                <a16:creationId xmlns:a16="http://schemas.microsoft.com/office/drawing/2014/main" id="{6961FCF0-06C9-4BBF-ABDA-6158D7E7B5B8}"/>
              </a:ext>
            </a:extLst>
          </p:cNvPr>
          <p:cNvSpPr>
            <a:spLocks noGrp="1"/>
          </p:cNvSpPr>
          <p:nvPr>
            <p:ph idx="1"/>
          </p:nvPr>
        </p:nvSpPr>
        <p:spPr/>
        <p:txBody>
          <a:bodyPr/>
          <a:lstStyle/>
          <a:p>
            <a:r>
              <a:rPr lang="en-US" dirty="0"/>
              <a:t>The identities of many in Gen Z are intertwined with their online lives impacting the emotional health</a:t>
            </a:r>
          </a:p>
          <a:p>
            <a:r>
              <a:rPr lang="en-US" dirty="0"/>
              <a:t>The digital technology offers a venue to connect with others for emotional support</a:t>
            </a:r>
          </a:p>
          <a:p>
            <a:r>
              <a:rPr lang="en-US" dirty="0"/>
              <a:t>Pew Research Center found nearly 70% of Gen Z “had received support on social media while dealing with a challenge or going through a tough time”</a:t>
            </a:r>
          </a:p>
          <a:p>
            <a:pPr lvl="1"/>
            <a:r>
              <a:rPr lang="en-US" sz="2400" dirty="0">
                <a:hlinkClick r:id="rId2"/>
              </a:rPr>
              <a:t>http://www.im-in-crisis.org/</a:t>
            </a:r>
            <a:endParaRPr lang="en-US" sz="2400" dirty="0"/>
          </a:p>
          <a:p>
            <a:pPr lvl="1"/>
            <a:r>
              <a:rPr lang="en-US" sz="2400" dirty="0">
                <a:hlinkClick r:id="rId3"/>
              </a:rPr>
              <a:t>https://www.vibrant.org/what-we-do/call-text-chat-online-services/</a:t>
            </a:r>
            <a:endParaRPr lang="en-US" sz="2400" dirty="0"/>
          </a:p>
        </p:txBody>
      </p:sp>
    </p:spTree>
    <p:extLst>
      <p:ext uri="{BB962C8B-B14F-4D97-AF65-F5344CB8AC3E}">
        <p14:creationId xmlns:p14="http://schemas.microsoft.com/office/powerpoint/2010/main" val="942893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discuss…</a:t>
            </a:r>
          </a:p>
        </p:txBody>
      </p:sp>
      <p:pic>
        <p:nvPicPr>
          <p:cNvPr id="4098" name="Picture 2" descr="Digital Culture - McKinsey Digital Survey of 2,135 respond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075" y="1540788"/>
            <a:ext cx="7556850" cy="4908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4262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BF6D-E77E-4674-B949-961BB957152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1E55D8B-925E-4FE7-94B1-68866C8002A6}"/>
              </a:ext>
            </a:extLst>
          </p:cNvPr>
          <p:cNvSpPr>
            <a:spLocks noGrp="1"/>
          </p:cNvSpPr>
          <p:nvPr>
            <p:ph idx="1"/>
          </p:nvPr>
        </p:nvSpPr>
        <p:spPr/>
        <p:txBody>
          <a:bodyPr/>
          <a:lstStyle/>
          <a:p>
            <a:r>
              <a:rPr lang="en-US" dirty="0"/>
              <a:t>Culture Change</a:t>
            </a:r>
          </a:p>
          <a:p>
            <a:r>
              <a:rPr lang="en-US" dirty="0"/>
              <a:t>Digital Culture</a:t>
            </a:r>
          </a:p>
          <a:p>
            <a:r>
              <a:rPr lang="en-US" dirty="0"/>
              <a:t>Digital Society</a:t>
            </a:r>
          </a:p>
          <a:p>
            <a:r>
              <a:rPr lang="en-US" dirty="0" err="1"/>
              <a:t>eMotional</a:t>
            </a:r>
            <a:r>
              <a:rPr lang="en-US" dirty="0"/>
              <a:t> Support</a:t>
            </a:r>
          </a:p>
        </p:txBody>
      </p:sp>
    </p:spTree>
    <p:extLst>
      <p:ext uri="{BB962C8B-B14F-4D97-AF65-F5344CB8AC3E}">
        <p14:creationId xmlns:p14="http://schemas.microsoft.com/office/powerpoint/2010/main" val="4468146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4A81-853A-43F0-A2F6-C57F1AE3AA8B}"/>
              </a:ext>
            </a:extLst>
          </p:cNvPr>
          <p:cNvSpPr>
            <a:spLocks noGrp="1"/>
          </p:cNvSpPr>
          <p:nvPr>
            <p:ph type="title"/>
          </p:nvPr>
        </p:nvSpPr>
        <p:spPr/>
        <p:txBody>
          <a:bodyPr/>
          <a:lstStyle/>
          <a:p>
            <a:r>
              <a:rPr lang="en-SG" altLang="en-US" kern="0" dirty="0"/>
              <a:t>Questions and Answer</a:t>
            </a:r>
            <a:endParaRPr lang="en-US" dirty="0"/>
          </a:p>
        </p:txBody>
      </p:sp>
      <p:sp>
        <p:nvSpPr>
          <p:cNvPr id="5" name="Text Box 2">
            <a:extLst>
              <a:ext uri="{FF2B5EF4-FFF2-40B4-BE49-F238E27FC236}">
                <a16:creationId xmlns:a16="http://schemas.microsoft.com/office/drawing/2014/main" id="{06655399-1AA0-499D-9F83-D25A33D10FB3}"/>
              </a:ext>
            </a:extLst>
          </p:cNvPr>
          <p:cNvSpPr txBox="1">
            <a:spLocks noChangeArrowheads="1"/>
          </p:cNvSpPr>
          <p:nvPr/>
        </p:nvSpPr>
        <p:spPr bwMode="auto">
          <a:xfrm>
            <a:off x="2590800" y="2286000"/>
            <a:ext cx="49688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dirty="0"/>
              <a:t>Q &amp; A</a:t>
            </a:r>
          </a:p>
        </p:txBody>
      </p:sp>
    </p:spTree>
    <p:extLst>
      <p:ext uri="{BB962C8B-B14F-4D97-AF65-F5344CB8AC3E}">
        <p14:creationId xmlns:p14="http://schemas.microsoft.com/office/powerpoint/2010/main" val="33991855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2DC4-A488-4E79-B51B-CA576DB11655}"/>
              </a:ext>
            </a:extLst>
          </p:cNvPr>
          <p:cNvSpPr>
            <a:spLocks noGrp="1"/>
          </p:cNvSpPr>
          <p:nvPr>
            <p:ph type="title"/>
          </p:nvPr>
        </p:nvSpPr>
        <p:spPr/>
        <p:txBody>
          <a:bodyPr/>
          <a:lstStyle/>
          <a:p>
            <a:r>
              <a:rPr lang="en-US" dirty="0"/>
              <a:t>Next Lecture</a:t>
            </a:r>
            <a:br>
              <a:rPr lang="en-US" dirty="0"/>
            </a:br>
            <a:endParaRPr lang="en-US" dirty="0"/>
          </a:p>
        </p:txBody>
      </p:sp>
      <p:sp>
        <p:nvSpPr>
          <p:cNvPr id="3" name="Content Placeholder 2">
            <a:extLst>
              <a:ext uri="{FF2B5EF4-FFF2-40B4-BE49-F238E27FC236}">
                <a16:creationId xmlns:a16="http://schemas.microsoft.com/office/drawing/2014/main" id="{FDD2AF34-FA72-4CCE-AF24-76B70A7AF362}"/>
              </a:ext>
            </a:extLst>
          </p:cNvPr>
          <p:cNvSpPr>
            <a:spLocks noGrp="1"/>
          </p:cNvSpPr>
          <p:nvPr>
            <p:ph idx="1"/>
          </p:nvPr>
        </p:nvSpPr>
        <p:spPr/>
        <p:txBody>
          <a:bodyPr/>
          <a:lstStyle/>
          <a:p>
            <a:r>
              <a:rPr lang="en-US" dirty="0"/>
              <a:t>System Thinking and Organizational Innovation</a:t>
            </a:r>
          </a:p>
          <a:p>
            <a:pPr lvl="1"/>
            <a:r>
              <a:rPr lang="en-US" dirty="0"/>
              <a:t>Please watch this video: </a:t>
            </a:r>
            <a:r>
              <a:rPr lang="en-US" u="sng" dirty="0">
                <a:hlinkClick r:id="rId2"/>
              </a:rPr>
              <a:t>https://www.youtube.com/watch?v=9bYpk75JnZU</a:t>
            </a:r>
            <a:endParaRPr lang="en-US" dirty="0"/>
          </a:p>
          <a:p>
            <a:pPr lvl="1"/>
            <a:endParaRPr lang="en-US" dirty="0"/>
          </a:p>
        </p:txBody>
      </p:sp>
      <p:pic>
        <p:nvPicPr>
          <p:cNvPr id="7" name="Picture 6">
            <a:hlinkClick r:id="rId2"/>
            <a:extLst>
              <a:ext uri="{FF2B5EF4-FFF2-40B4-BE49-F238E27FC236}">
                <a16:creationId xmlns:a16="http://schemas.microsoft.com/office/drawing/2014/main" id="{11DE4F28-3545-4081-887F-8F1D014471B3}"/>
              </a:ext>
            </a:extLst>
          </p:cNvPr>
          <p:cNvPicPr>
            <a:picLocks noChangeAspect="1"/>
          </p:cNvPicPr>
          <p:nvPr/>
        </p:nvPicPr>
        <p:blipFill>
          <a:blip r:embed="rId3"/>
          <a:stretch>
            <a:fillRect/>
          </a:stretch>
        </p:blipFill>
        <p:spPr>
          <a:xfrm>
            <a:off x="3812937" y="3542848"/>
            <a:ext cx="2686050" cy="1695450"/>
          </a:xfrm>
          <a:prstGeom prst="rect">
            <a:avLst/>
          </a:prstGeom>
        </p:spPr>
      </p:pic>
    </p:spTree>
    <p:extLst>
      <p:ext uri="{BB962C8B-B14F-4D97-AF65-F5344CB8AC3E}">
        <p14:creationId xmlns:p14="http://schemas.microsoft.com/office/powerpoint/2010/main" val="77585051"/>
      </p:ext>
    </p:extLst>
  </p:cSld>
  <p:clrMapOvr>
    <a:masterClrMapping/>
  </p:clrMapOvr>
</p:sld>
</file>

<file path=ppt/theme/theme1.xml><?xml version="1.0" encoding="utf-8"?>
<a:theme xmlns:a="http://schemas.openxmlformats.org/drawingml/2006/main" name="UCTI-Template-foundation-level">
  <a:themeElements>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CTI-Template-foundation-lev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1C6B378645544D9F10C30D9F2BCFB4" ma:contentTypeVersion="9" ma:contentTypeDescription="Create a new document." ma:contentTypeScope="" ma:versionID="3dcaa56ea438123d557e24c465044b3c">
  <xsd:schema xmlns:xsd="http://www.w3.org/2001/XMLSchema" xmlns:xs="http://www.w3.org/2001/XMLSchema" xmlns:p="http://schemas.microsoft.com/office/2006/metadata/properties" xmlns:ns2="6d54a27f-32b3-46ed-801e-110df5e77a46" targetNamespace="http://schemas.microsoft.com/office/2006/metadata/properties" ma:root="true" ma:fieldsID="4208030726db9b86847690f0b0a379ad" ns2:_="">
    <xsd:import namespace="6d54a27f-32b3-46ed-801e-110df5e77a4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AutoKeyPoints" minOccurs="0"/>
                <xsd:element ref="ns2:MediaServiceKeyPoint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54a27f-32b3-46ed-801e-110df5e77a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7A8C43-5E7E-406E-B9A3-9E5D0D0A995E}">
  <ds:schemaRefs>
    <ds:schemaRef ds:uri="http://schemas.microsoft.com/sharepoint/v3/contenttype/forms"/>
  </ds:schemaRefs>
</ds:datastoreItem>
</file>

<file path=customXml/itemProps2.xml><?xml version="1.0" encoding="utf-8"?>
<ds:datastoreItem xmlns:ds="http://schemas.openxmlformats.org/officeDocument/2006/customXml" ds:itemID="{383FEAD1-F7C0-41F0-B7EE-DBE237097A71}">
  <ds:schemaRefs>
    <ds:schemaRef ds:uri="http://schemas.microsoft.com/office/2006/metadata/properties"/>
    <ds:schemaRef ds:uri="http://purl.org/dc/dcmitype/"/>
    <ds:schemaRef ds:uri="http://purl.org/dc/terms/"/>
    <ds:schemaRef ds:uri="http://schemas.openxmlformats.org/package/2006/metadata/core-properties"/>
    <ds:schemaRef ds:uri="http://purl.org/dc/elements/1.1/"/>
    <ds:schemaRef ds:uri="http://schemas.microsoft.com/office/2006/documentManagement/types"/>
    <ds:schemaRef ds:uri="http://www.w3.org/XML/1998/namespace"/>
    <ds:schemaRef ds:uri="http://schemas.microsoft.com/office/infopath/2007/PartnerControls"/>
    <ds:schemaRef ds:uri="6d54a27f-32b3-46ed-801e-110df5e77a46"/>
  </ds:schemaRefs>
</ds:datastoreItem>
</file>

<file path=customXml/itemProps3.xml><?xml version="1.0" encoding="utf-8"?>
<ds:datastoreItem xmlns:ds="http://schemas.openxmlformats.org/officeDocument/2006/customXml" ds:itemID="{2A380726-7987-4D64-A33A-78A64DE432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54a27f-32b3-46ed-801e-110df5e77a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4862</TotalTime>
  <Words>1321</Words>
  <Application>Microsoft Office PowerPoint</Application>
  <PresentationFormat>Widescreen</PresentationFormat>
  <Paragraphs>152</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Open Sans</vt:lpstr>
      <vt:lpstr>var(--ff-sans2)</vt:lpstr>
      <vt:lpstr>UCTI-Template-foundation-level</vt:lpstr>
      <vt:lpstr>Digital Thinking and Innovation</vt:lpstr>
      <vt:lpstr>Recap Topic 1 – Digital Generation</vt:lpstr>
      <vt:lpstr>Recap Topic 1 – Digital Generation</vt:lpstr>
      <vt:lpstr>Recap Topic 1 – Digital Generation</vt:lpstr>
      <vt:lpstr>Recap Topic 1 – Digital Generation</vt:lpstr>
      <vt:lpstr>Introduction</vt:lpstr>
      <vt:lpstr>Learning Outcomes for the Lecture</vt:lpstr>
      <vt:lpstr>Content</vt:lpstr>
      <vt:lpstr>PowerPoint Presentation</vt:lpstr>
      <vt:lpstr>Learning Outcomes for the Lecture</vt:lpstr>
      <vt:lpstr>  </vt:lpstr>
      <vt:lpstr>What is culture change?</vt:lpstr>
      <vt:lpstr>Technology Promotes Culture Change</vt:lpstr>
      <vt:lpstr>Learning Outcomes for the Lecture</vt:lpstr>
      <vt:lpstr>Impact on Culture</vt:lpstr>
      <vt:lpstr>Digital Culture</vt:lpstr>
      <vt:lpstr>Digital Culture</vt:lpstr>
      <vt:lpstr>Digital Culture</vt:lpstr>
      <vt:lpstr>Digital Culture</vt:lpstr>
      <vt:lpstr>Group Discussion</vt:lpstr>
      <vt:lpstr>Learning Outcomes for the Lecture</vt:lpstr>
      <vt:lpstr>The Digital Society</vt:lpstr>
      <vt:lpstr>The Digital Society</vt:lpstr>
      <vt:lpstr>Let’s discuss…</vt:lpstr>
      <vt:lpstr>The Digital Society</vt:lpstr>
      <vt:lpstr>The Digital Society</vt:lpstr>
      <vt:lpstr>The Digital Society</vt:lpstr>
      <vt:lpstr>The Digital Society</vt:lpstr>
      <vt:lpstr>Multitasking Across Multiple Devices</vt:lpstr>
      <vt:lpstr>Group Discussion</vt:lpstr>
      <vt:lpstr>eMotional Impact and Support</vt:lpstr>
      <vt:lpstr>Let’s discuss…</vt:lpstr>
      <vt:lpstr>Summary</vt:lpstr>
      <vt:lpstr>Questions and Answer</vt:lpstr>
      <vt:lpstr>Next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Thinking and Innovation</dc:title>
  <dc:creator>Rozita Yati Masri</dc:creator>
  <cp:lastModifiedBy>Dr. Safaie Mangir</cp:lastModifiedBy>
  <cp:revision>66</cp:revision>
  <dcterms:created xsi:type="dcterms:W3CDTF">2020-03-08T14:38:30Z</dcterms:created>
  <dcterms:modified xsi:type="dcterms:W3CDTF">2025-08-15T07:59:02Z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0x010100241C6B378645544D9F10C30D9F2BCFB4</vt:lpwstr>
  </property>
</Properties>
</file>