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256" r:id="rId5"/>
    <p:sldId id="268" r:id="rId6"/>
    <p:sldId id="269" r:id="rId7"/>
    <p:sldId id="330" r:id="rId8"/>
    <p:sldId id="271" r:id="rId9"/>
    <p:sldId id="367" r:id="rId10"/>
    <p:sldId id="349" r:id="rId11"/>
    <p:sldId id="352" r:id="rId12"/>
    <p:sldId id="356" r:id="rId13"/>
    <p:sldId id="353" r:id="rId14"/>
    <p:sldId id="355" r:id="rId15"/>
    <p:sldId id="368" r:id="rId16"/>
    <p:sldId id="354" r:id="rId17"/>
    <p:sldId id="357" r:id="rId18"/>
    <p:sldId id="360" r:id="rId19"/>
    <p:sldId id="361" r:id="rId20"/>
    <p:sldId id="369" r:id="rId21"/>
    <p:sldId id="358" r:id="rId22"/>
    <p:sldId id="364" r:id="rId23"/>
    <p:sldId id="365" r:id="rId24"/>
    <p:sldId id="370" r:id="rId25"/>
    <p:sldId id="359" r:id="rId26"/>
    <p:sldId id="371" r:id="rId27"/>
    <p:sldId id="363" r:id="rId28"/>
    <p:sldId id="362" r:id="rId29"/>
    <p:sldId id="366" r:id="rId30"/>
    <p:sldId id="266" r:id="rId31"/>
    <p:sldId id="267" r:id="rId32"/>
    <p:sldId id="272" r:id="rId33"/>
    <p:sldId id="27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BD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F9563F-AAE6-4BCF-9EA8-19521938CD44}" v="3" dt="2020-10-11T09:05:02.9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varScale="1">
        <p:scale>
          <a:sx n="63" d="100"/>
          <a:sy n="63" d="100"/>
        </p:scale>
        <p:origin x="72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4C3A7-FEA7-47A9-AAB0-E88F6064C49A}" type="datetimeFigureOut">
              <a:rPr lang="en-US" smtClean="0"/>
              <a:t>12/19/2024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32514-A50A-451D-B1AC-BE553C2C2825}" type="slidenum">
              <a:rPr lang="en-US" smtClean="0"/>
              <a:t>‹#›</a:t>
            </a:fld>
            <a:endParaRPr lang="en-US"/>
          </a:p>
        </p:txBody>
      </p:sp>
    </p:spTree>
    <p:extLst>
      <p:ext uri="{BB962C8B-B14F-4D97-AF65-F5344CB8AC3E}">
        <p14:creationId xmlns:p14="http://schemas.microsoft.com/office/powerpoint/2010/main" val="2787203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19A55E57-38E4-41C7-8154-A8B991DEA4F6}"/>
              </a:ext>
            </a:extLst>
          </p:cNvPr>
          <p:cNvSpPr>
            <a:spLocks noChangeArrowheads="1"/>
          </p:cNvSpPr>
          <p:nvPr/>
        </p:nvSpPr>
        <p:spPr bwMode="auto">
          <a:xfrm>
            <a:off x="0" y="0"/>
            <a:ext cx="12192000" cy="3429000"/>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sz="1800"/>
          </a:p>
        </p:txBody>
      </p:sp>
      <p:pic>
        <p:nvPicPr>
          <p:cNvPr id="5" name="Picture 10" descr="APU Logo_Final_Vertical_V1_HR1 copy.png">
            <a:extLst>
              <a:ext uri="{FF2B5EF4-FFF2-40B4-BE49-F238E27FC236}">
                <a16:creationId xmlns:a16="http://schemas.microsoft.com/office/drawing/2014/main" id="{D82D9B23-9521-4397-A0C7-7D0BE0B0C4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517" y="2514600"/>
            <a:ext cx="3373968"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2" name="Rectangle 2"/>
          <p:cNvSpPr>
            <a:spLocks noGrp="1" noChangeArrowheads="1"/>
          </p:cNvSpPr>
          <p:nvPr>
            <p:ph type="ctrTitle"/>
          </p:nvPr>
        </p:nvSpPr>
        <p:spPr>
          <a:xfrm>
            <a:off x="3185584" y="1952626"/>
            <a:ext cx="9006416" cy="1470025"/>
          </a:xfrm>
        </p:spPr>
        <p:txBody>
          <a:bodyPr/>
          <a:lstStyle>
            <a:lvl1pPr>
              <a:defRPr/>
            </a:lvl1pPr>
          </a:lstStyle>
          <a:p>
            <a:r>
              <a:rPr lang="en-US"/>
              <a:t>Click to edit Master title style</a:t>
            </a:r>
            <a:endParaRPr lang="en-GB"/>
          </a:p>
        </p:txBody>
      </p:sp>
      <p:sp>
        <p:nvSpPr>
          <p:cNvPr id="87043" name="Rectangle 3"/>
          <p:cNvSpPr>
            <a:spLocks noGrp="1" noChangeArrowheads="1"/>
          </p:cNvSpPr>
          <p:nvPr>
            <p:ph type="subTitle" idx="1"/>
          </p:nvPr>
        </p:nvSpPr>
        <p:spPr>
          <a:xfrm>
            <a:off x="3166533" y="3886200"/>
            <a:ext cx="9025467" cy="1752600"/>
          </a:xfrm>
        </p:spPr>
        <p:txBody>
          <a:bodyPr/>
          <a:lstStyle>
            <a:lvl1pPr marL="0" indent="0" algn="ctr">
              <a:buFontTx/>
              <a:buNone/>
              <a:defRPr/>
            </a:lvl1pPr>
          </a:lstStyle>
          <a:p>
            <a:r>
              <a:rPr lang="en-US"/>
              <a:t>Click to edit Master subtitle style</a:t>
            </a:r>
            <a:endParaRPr lang="en-GB"/>
          </a:p>
        </p:txBody>
      </p:sp>
    </p:spTree>
    <p:extLst>
      <p:ext uri="{BB962C8B-B14F-4D97-AF65-F5344CB8AC3E}">
        <p14:creationId xmlns:p14="http://schemas.microsoft.com/office/powerpoint/2010/main" val="1328361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311925" cy="1367327"/>
          </a:xfrm>
          <a:solidFill>
            <a:srgbClr val="A2FFA3"/>
          </a:solidFill>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C94CCE7B-8C0C-42E3-87DC-DE817FB78B7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34723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a:extLst>
              <a:ext uri="{FF2B5EF4-FFF2-40B4-BE49-F238E27FC236}">
                <a16:creationId xmlns:a16="http://schemas.microsoft.com/office/drawing/2014/main" id="{B6392066-0EF0-4FF8-93AA-2093B8EDA09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47115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9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D7A2D113-A871-44A2-B949-2DB5FAFF9E6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372881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a:extLst>
              <a:ext uri="{FF2B5EF4-FFF2-40B4-BE49-F238E27FC236}">
                <a16:creationId xmlns:a16="http://schemas.microsoft.com/office/drawing/2014/main" id="{47D21544-1A19-450A-9A54-709EC423BCFE}"/>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26571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D77AD2FE-548C-4C8C-86B4-F659E1B7E94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85048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17C336-48FB-4D30-BD06-54EA5295C452}"/>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54995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3535719-93FB-4BCB-999D-ADC5B6C8FEA1}"/>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20895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E197F50-3179-4421-9233-93FB4F4AE80B}"/>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84522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790899FE-50CE-4592-8241-9731B40B4305}"/>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68065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9417" y="274638"/>
            <a:ext cx="2743200" cy="59483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7700" y="274638"/>
            <a:ext cx="8028517" cy="594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DFB6B087-45F3-4C06-AF9A-3C177988001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92950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74638"/>
            <a:ext cx="9389533" cy="1143000"/>
          </a:xfrm>
        </p:spPr>
        <p:txBody>
          <a:bodyPr/>
          <a:lstStyle/>
          <a:p>
            <a:r>
              <a:rPr lang="en-US"/>
              <a:t>Click to edit Master title style</a:t>
            </a:r>
          </a:p>
        </p:txBody>
      </p:sp>
      <p:sp>
        <p:nvSpPr>
          <p:cNvPr id="3" name="Text Placeholder 2"/>
          <p:cNvSpPr>
            <a:spLocks noGrp="1"/>
          </p:cNvSpPr>
          <p:nvPr>
            <p:ph type="body" sz="half" idx="1"/>
          </p:nvPr>
        </p:nvSpPr>
        <p:spPr>
          <a:xfrm>
            <a:off x="624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2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5A6DC315-7F58-4763-BC2C-AF70BD9B47C6}"/>
              </a:ext>
            </a:extLst>
          </p:cNvPr>
          <p:cNvSpPr>
            <a:spLocks noGrp="1" noChangeArrowheads="1"/>
          </p:cNvSpPr>
          <p:nvPr>
            <p:ph type="ftr" sz="quarter" idx="10"/>
          </p:nvPr>
        </p:nvSpPr>
        <p:spPr>
          <a:ln/>
        </p:spPr>
        <p:txBody>
          <a:bodyPr/>
          <a:lstStyle>
            <a:lvl1pPr>
              <a:defRPr/>
            </a:lvl1pPr>
          </a:lstStyle>
          <a:p>
            <a:pPr>
              <a:defRPr/>
            </a:pPr>
            <a:fld id="{17B7D8E3-266E-47CB-8CC4-A3D79B48A3B5}" type="slidenum">
              <a:rPr lang="en-US" altLang="en-US"/>
              <a:pPr>
                <a:defRPr/>
              </a:pPr>
              <a:t>‹#›</a:t>
            </a:fld>
            <a:endParaRPr lang="en-US" altLang="en-US"/>
          </a:p>
        </p:txBody>
      </p:sp>
    </p:spTree>
    <p:extLst>
      <p:ext uri="{BB962C8B-B14F-4D97-AF65-F5344CB8AC3E}">
        <p14:creationId xmlns:p14="http://schemas.microsoft.com/office/powerpoint/2010/main" val="174847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7" descr="ucti_globe1_transparent_small">
            <a:extLst>
              <a:ext uri="{FF2B5EF4-FFF2-40B4-BE49-F238E27FC236}">
                <a16:creationId xmlns:a16="http://schemas.microsoft.com/office/drawing/2014/main" id="{78D6A39E-0BA3-4626-8EF0-3422758B0867}"/>
              </a:ext>
            </a:extLst>
          </p:cNvPr>
          <p:cNvPicPr>
            <a:picLocks noChangeAspect="1" noChangeArrowheads="1"/>
          </p:cNvPicPr>
          <p:nvPr/>
        </p:nvPicPr>
        <p:blipFill>
          <a:blip r:embed="rId14">
            <a:lum bright="80000" contrast="-90000"/>
            <a:extLst>
              <a:ext uri="{28A0092B-C50C-407E-A947-70E740481C1C}">
                <a14:useLocalDpi xmlns:a14="http://schemas.microsoft.com/office/drawing/2010/main" val="0"/>
              </a:ext>
            </a:extLst>
          </a:blip>
          <a:srcRect/>
          <a:stretch>
            <a:fillRect/>
          </a:stretch>
        </p:blipFill>
        <p:spPr bwMode="auto">
          <a:xfrm>
            <a:off x="-1921934" y="2570164"/>
            <a:ext cx="9609667"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5D889B73-4BC7-4175-8777-89F6049860A0}"/>
              </a:ext>
            </a:extLst>
          </p:cNvPr>
          <p:cNvSpPr>
            <a:spLocks noChangeArrowheads="1"/>
          </p:cNvSpPr>
          <p:nvPr/>
        </p:nvSpPr>
        <p:spPr bwMode="auto">
          <a:xfrm>
            <a:off x="-55034" y="6564768"/>
            <a:ext cx="12192000" cy="236537"/>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GB" sz="1800" dirty="0"/>
          </a:p>
        </p:txBody>
      </p:sp>
      <p:sp>
        <p:nvSpPr>
          <p:cNvPr id="1028" name="Rectangle 4">
            <a:extLst>
              <a:ext uri="{FF2B5EF4-FFF2-40B4-BE49-F238E27FC236}">
                <a16:creationId xmlns:a16="http://schemas.microsoft.com/office/drawing/2014/main" id="{01326838-1107-4D82-B9EC-B2E5D9B1D4B4}"/>
              </a:ext>
            </a:extLst>
          </p:cNvPr>
          <p:cNvSpPr>
            <a:spLocks noGrp="1" noChangeArrowheads="1"/>
          </p:cNvSpPr>
          <p:nvPr>
            <p:ph type="body" idx="1"/>
          </p:nvPr>
        </p:nvSpPr>
        <p:spPr bwMode="auto">
          <a:xfrm>
            <a:off x="649817" y="16970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6">
            <a:extLst>
              <a:ext uri="{FF2B5EF4-FFF2-40B4-BE49-F238E27FC236}">
                <a16:creationId xmlns:a16="http://schemas.microsoft.com/office/drawing/2014/main" id="{3E5B5E28-740F-4CE1-8D47-D46EA3E4FCE8}"/>
              </a:ext>
            </a:extLst>
          </p:cNvPr>
          <p:cNvSpPr>
            <a:spLocks noGrp="1" noChangeArrowheads="1"/>
          </p:cNvSpPr>
          <p:nvPr>
            <p:ph type="title"/>
          </p:nvPr>
        </p:nvSpPr>
        <p:spPr bwMode="auto">
          <a:xfrm>
            <a:off x="647700" y="274638"/>
            <a:ext cx="93895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6024" name="Rectangle 8">
            <a:extLst>
              <a:ext uri="{FF2B5EF4-FFF2-40B4-BE49-F238E27FC236}">
                <a16:creationId xmlns:a16="http://schemas.microsoft.com/office/drawing/2014/main" id="{C50B826F-79B0-4D38-A8FA-4FBA74C95EB1}"/>
              </a:ext>
            </a:extLst>
          </p:cNvPr>
          <p:cNvSpPr>
            <a:spLocks noGrp="1" noChangeArrowheads="1"/>
          </p:cNvSpPr>
          <p:nvPr>
            <p:ph type="ftr" sz="quarter" idx="3"/>
          </p:nvPr>
        </p:nvSpPr>
        <p:spPr bwMode="auto">
          <a:xfrm>
            <a:off x="8331200" y="6623050"/>
            <a:ext cx="38608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800" smtClean="0">
                <a:latin typeface="Calibri" panose="020F0502020204030204" pitchFamily="34" charset="0"/>
                <a:cs typeface="Calibri" panose="020F0502020204030204" pitchFamily="34" charset="0"/>
              </a:defRPr>
            </a:lvl1pPr>
          </a:lstStyle>
          <a:p>
            <a:pPr>
              <a:defRPr/>
            </a:pPr>
            <a:fld id="{8716479A-60E4-42E1-B9D1-F4016DE67B5A}" type="slidenum">
              <a:rPr lang="en-US" altLang="en-US"/>
              <a:pPr>
                <a:defRPr/>
              </a:pPr>
              <a:t>‹#›</a:t>
            </a:fld>
            <a:endParaRPr lang="en-US" altLang="en-US"/>
          </a:p>
        </p:txBody>
      </p:sp>
      <p:sp>
        <p:nvSpPr>
          <p:cNvPr id="1032" name="Rectangle 9">
            <a:extLst>
              <a:ext uri="{FF2B5EF4-FFF2-40B4-BE49-F238E27FC236}">
                <a16:creationId xmlns:a16="http://schemas.microsoft.com/office/drawing/2014/main" id="{9E037968-5E94-4DFF-A255-3B9193204320}"/>
              </a:ext>
            </a:extLst>
          </p:cNvPr>
          <p:cNvSpPr>
            <a:spLocks noChangeArrowheads="1"/>
          </p:cNvSpPr>
          <p:nvPr/>
        </p:nvSpPr>
        <p:spPr bwMode="auto">
          <a:xfrm>
            <a:off x="4233333" y="6597650"/>
            <a:ext cx="3615267" cy="260350"/>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GB" sz="8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0" descr="APU Logo Final-medium.jpg">
            <a:extLst>
              <a:ext uri="{FF2B5EF4-FFF2-40B4-BE49-F238E27FC236}">
                <a16:creationId xmlns:a16="http://schemas.microsoft.com/office/drawing/2014/main" id="{3A5908B1-49F6-461B-A3D4-C9A0E65D1248}"/>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0172701" y="1"/>
            <a:ext cx="20193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
            <a:extLst>
              <a:ext uri="{FF2B5EF4-FFF2-40B4-BE49-F238E27FC236}">
                <a16:creationId xmlns:a16="http://schemas.microsoft.com/office/drawing/2014/main" id="{6D21D5BB-5243-4C0B-960D-776311B04F75}"/>
              </a:ext>
            </a:extLst>
          </p:cNvPr>
          <p:cNvSpPr>
            <a:spLocks noChangeArrowheads="1"/>
          </p:cNvSpPr>
          <p:nvPr userDrawn="1"/>
        </p:nvSpPr>
        <p:spPr bwMode="auto">
          <a:xfrm>
            <a:off x="0" y="6597650"/>
            <a:ext cx="2711450" cy="260350"/>
          </a:xfrm>
          <a:prstGeom prst="rect">
            <a:avLst/>
          </a:prstGeom>
          <a:noFill/>
          <a:ln w="9525">
            <a:noFill/>
            <a:miter lim="800000"/>
            <a:headEnd/>
            <a:tailEnd/>
          </a:ln>
          <a:effectLst/>
        </p:spPr>
        <p:txBody>
          <a:bodyPr/>
          <a:lstStyle/>
          <a:p>
            <a:pPr>
              <a:defRPr/>
            </a:pPr>
            <a:r>
              <a:rPr lang="en-GB" sz="1000" dirty="0">
                <a:latin typeface="Calibri" pitchFamily="34" charset="0"/>
                <a:cs typeface="Calibri" pitchFamily="34" charset="0"/>
              </a:rPr>
              <a:t>CT109-3-1 Digital Thinking and Innovation</a:t>
            </a:r>
          </a:p>
        </p:txBody>
      </p:sp>
      <p:sp>
        <p:nvSpPr>
          <p:cNvPr id="10" name="Rectangle 9">
            <a:extLst>
              <a:ext uri="{FF2B5EF4-FFF2-40B4-BE49-F238E27FC236}">
                <a16:creationId xmlns:a16="http://schemas.microsoft.com/office/drawing/2014/main" id="{9ADEB4B7-26F3-4D36-955C-0D95355FA1B4}"/>
              </a:ext>
            </a:extLst>
          </p:cNvPr>
          <p:cNvSpPr>
            <a:spLocks noChangeArrowheads="1"/>
          </p:cNvSpPr>
          <p:nvPr userDrawn="1"/>
        </p:nvSpPr>
        <p:spPr bwMode="auto">
          <a:xfrm>
            <a:off x="4624979" y="6597650"/>
            <a:ext cx="3134360" cy="270510"/>
          </a:xfrm>
          <a:prstGeom prst="rect">
            <a:avLst/>
          </a:prstGeom>
          <a:noFill/>
          <a:ln w="9525">
            <a:noFill/>
            <a:miter lim="800000"/>
            <a:headEnd/>
            <a:tailEnd/>
          </a:ln>
          <a:effectLst/>
        </p:spPr>
        <p:txBody>
          <a:bodyPr/>
          <a:lstStyle/>
          <a:p>
            <a:pPr algn="ctr">
              <a:defRPr/>
            </a:pPr>
            <a:r>
              <a:rPr lang="en-GB" sz="1000">
                <a:latin typeface="Calibri" pitchFamily="34" charset="0"/>
                <a:cs typeface="Calibri" pitchFamily="34" charset="0"/>
              </a:rPr>
              <a:t>Innovation through IoE</a:t>
            </a:r>
            <a:endParaRPr lang="en-GB" sz="1000" dirty="0">
              <a:latin typeface="Calibri" pitchFamily="34" charset="0"/>
              <a:cs typeface="Calibri" pitchFamily="34" charset="0"/>
            </a:endParaRPr>
          </a:p>
        </p:txBody>
      </p:sp>
      <p:sp>
        <p:nvSpPr>
          <p:cNvPr id="11" name="Rectangle 10">
            <a:extLst>
              <a:ext uri="{FF2B5EF4-FFF2-40B4-BE49-F238E27FC236}">
                <a16:creationId xmlns:a16="http://schemas.microsoft.com/office/drawing/2014/main" id="{D1BD36CA-BB2D-434D-B83B-AF2D40162D86}"/>
              </a:ext>
            </a:extLst>
          </p:cNvPr>
          <p:cNvSpPr>
            <a:spLocks noChangeArrowheads="1"/>
          </p:cNvSpPr>
          <p:nvPr userDrawn="1"/>
        </p:nvSpPr>
        <p:spPr bwMode="auto">
          <a:xfrm>
            <a:off x="9457835" y="6607810"/>
            <a:ext cx="2711450" cy="260350"/>
          </a:xfrm>
          <a:prstGeom prst="rect">
            <a:avLst/>
          </a:prstGeom>
          <a:noFill/>
          <a:ln w="9525">
            <a:noFill/>
            <a:miter lim="800000"/>
            <a:headEnd/>
            <a:tailEnd/>
          </a:ln>
          <a:effectLst/>
        </p:spPr>
        <p:txBody>
          <a:bodyPr/>
          <a:lstStyle/>
          <a:p>
            <a:pPr algn="r">
              <a:defRPr/>
            </a:pPr>
            <a:r>
              <a:rPr lang="en-GB" sz="1000" dirty="0">
                <a:latin typeface="Calibri" pitchFamily="34" charset="0"/>
                <a:cs typeface="Calibri" pitchFamily="34" charset="0"/>
              </a:rPr>
              <a:t>Slide </a:t>
            </a:r>
            <a:fld id="{DECA9CF0-005F-441B-BAB5-56B8212B3760}" type="slidenum">
              <a:rPr lang="en-GB" sz="1000" smtClean="0">
                <a:latin typeface="Calibri" pitchFamily="34" charset="0"/>
                <a:cs typeface="Calibri" pitchFamily="34" charset="0"/>
              </a:rPr>
              <a:pPr algn="r">
                <a:defRPr/>
              </a:pPr>
              <a:t>‹#›</a:t>
            </a:fld>
            <a:r>
              <a:rPr lang="en-GB" sz="1000" dirty="0">
                <a:latin typeface="Calibri" pitchFamily="34" charset="0"/>
                <a:cs typeface="Calibri" pitchFamily="34" charset="0"/>
              </a:rPr>
              <a:t> out of 25</a:t>
            </a:r>
          </a:p>
        </p:txBody>
      </p:sp>
    </p:spTree>
    <p:extLst>
      <p:ext uri="{BB962C8B-B14F-4D97-AF65-F5344CB8AC3E}">
        <p14:creationId xmlns:p14="http://schemas.microsoft.com/office/powerpoint/2010/main" val="717840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EKRVILAohck"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mz7c7mJESG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2033-E616-4689-8B30-032E753181F7}"/>
              </a:ext>
            </a:extLst>
          </p:cNvPr>
          <p:cNvSpPr>
            <a:spLocks noGrp="1"/>
          </p:cNvSpPr>
          <p:nvPr>
            <p:ph type="ctrTitle"/>
          </p:nvPr>
        </p:nvSpPr>
        <p:spPr/>
        <p:txBody>
          <a:bodyPr/>
          <a:lstStyle/>
          <a:p>
            <a:r>
              <a:rPr lang="en-US" dirty="0"/>
              <a:t>Digital Thinking and Innovation</a:t>
            </a:r>
          </a:p>
        </p:txBody>
      </p:sp>
      <p:sp>
        <p:nvSpPr>
          <p:cNvPr id="3" name="Subtitle 2">
            <a:extLst>
              <a:ext uri="{FF2B5EF4-FFF2-40B4-BE49-F238E27FC236}">
                <a16:creationId xmlns:a16="http://schemas.microsoft.com/office/drawing/2014/main" id="{EA5624DE-0F9F-4A4F-8533-D7F4AD4E9C42}"/>
              </a:ext>
            </a:extLst>
          </p:cNvPr>
          <p:cNvSpPr>
            <a:spLocks noGrp="1"/>
          </p:cNvSpPr>
          <p:nvPr>
            <p:ph type="subTitle" idx="1"/>
          </p:nvPr>
        </p:nvSpPr>
        <p:spPr/>
        <p:txBody>
          <a:bodyPr/>
          <a:lstStyle/>
          <a:p>
            <a:r>
              <a:rPr lang="en-US" dirty="0"/>
              <a:t>Innovation through IoE</a:t>
            </a:r>
          </a:p>
        </p:txBody>
      </p:sp>
    </p:spTree>
    <p:extLst>
      <p:ext uri="{BB962C8B-B14F-4D97-AF65-F5344CB8AC3E}">
        <p14:creationId xmlns:p14="http://schemas.microsoft.com/office/powerpoint/2010/main" val="1680535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7FD2-3BC9-4D69-A5CA-55E909379DE4}"/>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A81EA78-3F9D-4EBF-BBC6-460FCCBF5F84}"/>
              </a:ext>
            </a:extLst>
          </p:cNvPr>
          <p:cNvSpPr>
            <a:spLocks noGrp="1"/>
          </p:cNvSpPr>
          <p:nvPr>
            <p:ph idx="1"/>
          </p:nvPr>
        </p:nvSpPr>
        <p:spPr>
          <a:xfrm>
            <a:off x="649817" y="1697038"/>
            <a:ext cx="6467700" cy="4525962"/>
          </a:xfrm>
        </p:spPr>
        <p:txBody>
          <a:bodyPr/>
          <a:lstStyle/>
          <a:p>
            <a:pPr marL="0" indent="0">
              <a:buNone/>
            </a:pPr>
            <a:r>
              <a:rPr lang="en-US" dirty="0"/>
              <a:t>This topic discusses how the Internet of Thing is taking place in the daily activities, which leads to the concept of Internet of Everything, where everyone and everything is simply connected.</a:t>
            </a:r>
          </a:p>
        </p:txBody>
      </p:sp>
      <p:pic>
        <p:nvPicPr>
          <p:cNvPr id="1026" name="Picture 2" descr="The IoE is the next big tech innovation that brings everything ...">
            <a:extLst>
              <a:ext uri="{FF2B5EF4-FFF2-40B4-BE49-F238E27FC236}">
                <a16:creationId xmlns:a16="http://schemas.microsoft.com/office/drawing/2014/main" id="{36015CE5-C377-4DB7-A2B3-6ABD56D852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7517" y="1383506"/>
            <a:ext cx="4762500" cy="515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75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Define Internet of Things</a:t>
            </a:r>
          </a:p>
          <a:p>
            <a:pPr lvl="1"/>
            <a:r>
              <a:rPr lang="en-US" altLang="en-US" dirty="0"/>
              <a:t>Explain how the IoT improves daily activities</a:t>
            </a:r>
          </a:p>
          <a:p>
            <a:pPr lvl="1"/>
            <a:r>
              <a:rPr lang="en-US" altLang="en-US" dirty="0"/>
              <a:t>Explain the benefits of IoT</a:t>
            </a:r>
          </a:p>
          <a:p>
            <a:pPr lvl="1"/>
            <a:r>
              <a:rPr lang="en-US" altLang="en-US" dirty="0"/>
              <a:t>Explain the issues relating to IoT</a:t>
            </a:r>
          </a:p>
          <a:p>
            <a:pPr lvl="1"/>
            <a:r>
              <a:rPr lang="en-US" altLang="en-US" dirty="0"/>
              <a:t>Define Internet of Everything</a:t>
            </a:r>
          </a:p>
          <a:p>
            <a:pPr lvl="1"/>
            <a:endParaRPr lang="en-US" altLang="en-US" dirty="0"/>
          </a:p>
        </p:txBody>
      </p:sp>
    </p:spTree>
    <p:extLst>
      <p:ext uri="{BB962C8B-B14F-4D97-AF65-F5344CB8AC3E}">
        <p14:creationId xmlns:p14="http://schemas.microsoft.com/office/powerpoint/2010/main" val="2358772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3EA3-2049-4811-B9DA-3FCCAD17F011}"/>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015195F8-D25D-4E3C-83E1-C6B2753B19B1}"/>
              </a:ext>
            </a:extLst>
          </p:cNvPr>
          <p:cNvSpPr>
            <a:spLocks noGrp="1"/>
          </p:cNvSpPr>
          <p:nvPr>
            <p:ph idx="1"/>
          </p:nvPr>
        </p:nvSpPr>
        <p:spPr/>
        <p:txBody>
          <a:bodyPr/>
          <a:lstStyle/>
          <a:p>
            <a:r>
              <a:rPr lang="en-US" dirty="0"/>
              <a:t>Internet of Things</a:t>
            </a:r>
          </a:p>
          <a:p>
            <a:r>
              <a:rPr lang="en-US" dirty="0"/>
              <a:t>The Benefits of IoT</a:t>
            </a:r>
          </a:p>
          <a:p>
            <a:r>
              <a:rPr lang="en-US" dirty="0"/>
              <a:t>The Issues Evolving IoT</a:t>
            </a:r>
          </a:p>
          <a:p>
            <a:r>
              <a:rPr lang="en-US" dirty="0"/>
              <a:t>Internet of Everything</a:t>
            </a:r>
          </a:p>
          <a:p>
            <a:endParaRPr lang="en-US" dirty="0"/>
          </a:p>
        </p:txBody>
      </p:sp>
    </p:spTree>
    <p:extLst>
      <p:ext uri="{BB962C8B-B14F-4D97-AF65-F5344CB8AC3E}">
        <p14:creationId xmlns:p14="http://schemas.microsoft.com/office/powerpoint/2010/main" val="1527904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DE481BA-8336-4B81-A977-71281F263108}"/>
              </a:ext>
            </a:extLst>
          </p:cNvPr>
          <p:cNvSpPr>
            <a:spLocks noGrp="1"/>
          </p:cNvSpPr>
          <p:nvPr>
            <p:ph type="title"/>
          </p:nvPr>
        </p:nvSpPr>
        <p:spPr>
          <a:xfrm>
            <a:off x="0" y="1"/>
            <a:ext cx="10311926" cy="1367327"/>
          </a:xfrm>
        </p:spPr>
        <p:txBody>
          <a:bodyPr wrap="square" anchor="ctr">
            <a:normAutofit/>
          </a:bodyPr>
          <a:lstStyle/>
          <a:p>
            <a:r>
              <a:rPr lang="en-US" dirty="0"/>
              <a:t>Mind Map</a:t>
            </a:r>
          </a:p>
        </p:txBody>
      </p:sp>
      <p:pic>
        <p:nvPicPr>
          <p:cNvPr id="3" name="Picture 2" descr="A close up of a device&#10;&#10;Description automatically generated">
            <a:extLst>
              <a:ext uri="{FF2B5EF4-FFF2-40B4-BE49-F238E27FC236}">
                <a16:creationId xmlns:a16="http://schemas.microsoft.com/office/drawing/2014/main" id="{80CC9F2C-D1D5-4ADD-8276-BE04F5217449}"/>
              </a:ext>
            </a:extLst>
          </p:cNvPr>
          <p:cNvPicPr>
            <a:picLocks noChangeAspect="1"/>
          </p:cNvPicPr>
          <p:nvPr/>
        </p:nvPicPr>
        <p:blipFill>
          <a:blip r:embed="rId2"/>
          <a:stretch>
            <a:fillRect/>
          </a:stretch>
        </p:blipFill>
        <p:spPr>
          <a:xfrm>
            <a:off x="649817" y="1916335"/>
            <a:ext cx="10972800" cy="4087367"/>
          </a:xfrm>
          <a:prstGeom prst="rect">
            <a:avLst/>
          </a:prstGeom>
          <a:noFill/>
        </p:spPr>
      </p:pic>
    </p:spTree>
    <p:extLst>
      <p:ext uri="{BB962C8B-B14F-4D97-AF65-F5344CB8AC3E}">
        <p14:creationId xmlns:p14="http://schemas.microsoft.com/office/powerpoint/2010/main" val="400094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Define Internet of Things</a:t>
            </a:r>
          </a:p>
          <a:p>
            <a:pPr lvl="1"/>
            <a:r>
              <a:rPr lang="en-US" altLang="en-US" dirty="0">
                <a:solidFill>
                  <a:schemeClr val="tx1">
                    <a:lumMod val="50000"/>
                    <a:lumOff val="50000"/>
                  </a:schemeClr>
                </a:solidFill>
              </a:rPr>
              <a:t>Explain how the IoT improves daily activities</a:t>
            </a:r>
          </a:p>
          <a:p>
            <a:pPr lvl="1"/>
            <a:r>
              <a:rPr lang="en-US" altLang="en-US" dirty="0">
                <a:solidFill>
                  <a:schemeClr val="tx1">
                    <a:lumMod val="50000"/>
                    <a:lumOff val="50000"/>
                  </a:schemeClr>
                </a:solidFill>
              </a:rPr>
              <a:t>Explain the benefits of IoT</a:t>
            </a:r>
          </a:p>
          <a:p>
            <a:pPr lvl="1"/>
            <a:r>
              <a:rPr lang="en-US" altLang="en-US" dirty="0">
                <a:solidFill>
                  <a:schemeClr val="tx1">
                    <a:lumMod val="50000"/>
                    <a:lumOff val="50000"/>
                  </a:schemeClr>
                </a:solidFill>
              </a:rPr>
              <a:t>Explain the issues relating to IoT</a:t>
            </a:r>
          </a:p>
          <a:p>
            <a:pPr lvl="1"/>
            <a:r>
              <a:rPr lang="en-US" altLang="en-US" dirty="0">
                <a:solidFill>
                  <a:schemeClr val="tx1">
                    <a:lumMod val="50000"/>
                    <a:lumOff val="50000"/>
                  </a:schemeClr>
                </a:solidFill>
              </a:rPr>
              <a:t>Define Internet of Everything</a:t>
            </a:r>
          </a:p>
          <a:p>
            <a:pPr lvl="1"/>
            <a:endParaRPr lang="en-US" altLang="en-US" dirty="0"/>
          </a:p>
        </p:txBody>
      </p:sp>
    </p:spTree>
    <p:extLst>
      <p:ext uri="{BB962C8B-B14F-4D97-AF65-F5344CB8AC3E}">
        <p14:creationId xmlns:p14="http://schemas.microsoft.com/office/powerpoint/2010/main" val="2749717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101EE-B555-40FB-8A9C-5DE3A83CAFC3}"/>
              </a:ext>
            </a:extLst>
          </p:cNvPr>
          <p:cNvSpPr>
            <a:spLocks noGrp="1"/>
          </p:cNvSpPr>
          <p:nvPr>
            <p:ph type="title"/>
          </p:nvPr>
        </p:nvSpPr>
        <p:spPr/>
        <p:txBody>
          <a:bodyPr/>
          <a:lstStyle/>
          <a:p>
            <a:r>
              <a:rPr lang="en-US" dirty="0"/>
              <a:t>Internet of Things</a:t>
            </a:r>
          </a:p>
        </p:txBody>
      </p:sp>
      <p:sp>
        <p:nvSpPr>
          <p:cNvPr id="3" name="Content Placeholder 2">
            <a:extLst>
              <a:ext uri="{FF2B5EF4-FFF2-40B4-BE49-F238E27FC236}">
                <a16:creationId xmlns:a16="http://schemas.microsoft.com/office/drawing/2014/main" id="{F6DEE590-4A2B-49BF-BB32-503416D1A702}"/>
              </a:ext>
            </a:extLst>
          </p:cNvPr>
          <p:cNvSpPr>
            <a:spLocks noGrp="1"/>
          </p:cNvSpPr>
          <p:nvPr>
            <p:ph idx="1"/>
          </p:nvPr>
        </p:nvSpPr>
        <p:spPr/>
        <p:txBody>
          <a:bodyPr/>
          <a:lstStyle/>
          <a:p>
            <a:r>
              <a:rPr lang="en-US" dirty="0"/>
              <a:t>The dissolution of boundaries between the virtual and physical worlds </a:t>
            </a:r>
          </a:p>
          <a:p>
            <a:r>
              <a:rPr lang="en-US" dirty="0"/>
              <a:t>The Internet has already reached a tipping point</a:t>
            </a:r>
          </a:p>
          <a:p>
            <a:r>
              <a:rPr lang="en-US" dirty="0"/>
              <a:t>More objects are now digitally connected than people</a:t>
            </a:r>
          </a:p>
          <a:p>
            <a:r>
              <a:rPr lang="en-US" dirty="0"/>
              <a:t>Online artifacts include everything from kitchen appliances, door locks, home alarm systems, networked weather sensors, automobiles, energy system sensors, and industrial control systems (ICS)</a:t>
            </a:r>
          </a:p>
        </p:txBody>
      </p:sp>
    </p:spTree>
    <p:extLst>
      <p:ext uri="{BB962C8B-B14F-4D97-AF65-F5344CB8AC3E}">
        <p14:creationId xmlns:p14="http://schemas.microsoft.com/office/powerpoint/2010/main" val="2925578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A9B8C-8E9D-4317-BC93-212EAE94BB7B}"/>
              </a:ext>
            </a:extLst>
          </p:cNvPr>
          <p:cNvSpPr>
            <a:spLocks noGrp="1"/>
          </p:cNvSpPr>
          <p:nvPr>
            <p:ph type="title"/>
          </p:nvPr>
        </p:nvSpPr>
        <p:spPr/>
        <p:txBody>
          <a:bodyPr/>
          <a:lstStyle/>
          <a:p>
            <a:r>
              <a:rPr lang="en-US" dirty="0"/>
              <a:t>Internet of Things</a:t>
            </a:r>
          </a:p>
        </p:txBody>
      </p:sp>
      <p:pic>
        <p:nvPicPr>
          <p:cNvPr id="5" name="Picture 4">
            <a:extLst>
              <a:ext uri="{FF2B5EF4-FFF2-40B4-BE49-F238E27FC236}">
                <a16:creationId xmlns:a16="http://schemas.microsoft.com/office/drawing/2014/main" id="{C40C222A-E2DE-4495-8F3A-319CEA1ADCF5}"/>
              </a:ext>
            </a:extLst>
          </p:cNvPr>
          <p:cNvPicPr>
            <a:picLocks noChangeAspect="1"/>
          </p:cNvPicPr>
          <p:nvPr/>
        </p:nvPicPr>
        <p:blipFill>
          <a:blip r:embed="rId2"/>
          <a:stretch>
            <a:fillRect/>
          </a:stretch>
        </p:blipFill>
        <p:spPr>
          <a:xfrm>
            <a:off x="1973943" y="2046512"/>
            <a:ext cx="6357258" cy="4238171"/>
          </a:xfrm>
          <a:prstGeom prst="rect">
            <a:avLst/>
          </a:prstGeom>
        </p:spPr>
      </p:pic>
      <p:sp>
        <p:nvSpPr>
          <p:cNvPr id="6" name="TextBox 5">
            <a:extLst>
              <a:ext uri="{FF2B5EF4-FFF2-40B4-BE49-F238E27FC236}">
                <a16:creationId xmlns:a16="http://schemas.microsoft.com/office/drawing/2014/main" id="{E638CF64-05D7-424D-A255-73672EB9C8B0}"/>
              </a:ext>
            </a:extLst>
          </p:cNvPr>
          <p:cNvSpPr txBox="1"/>
          <p:nvPr/>
        </p:nvSpPr>
        <p:spPr>
          <a:xfrm>
            <a:off x="2886034" y="1497954"/>
            <a:ext cx="4479752" cy="461665"/>
          </a:xfrm>
          <a:prstGeom prst="rect">
            <a:avLst/>
          </a:prstGeom>
          <a:noFill/>
        </p:spPr>
        <p:txBody>
          <a:bodyPr wrap="none" rtlCol="0">
            <a:spAutoFit/>
          </a:bodyPr>
          <a:lstStyle/>
          <a:p>
            <a:r>
              <a:rPr lang="en-US" sz="2400" dirty="0"/>
              <a:t>“Internet Users” Are Not People</a:t>
            </a:r>
          </a:p>
        </p:txBody>
      </p:sp>
    </p:spTree>
    <p:extLst>
      <p:ext uri="{BB962C8B-B14F-4D97-AF65-F5344CB8AC3E}">
        <p14:creationId xmlns:p14="http://schemas.microsoft.com/office/powerpoint/2010/main" val="687294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20B60-CB3C-4E8B-B5C3-C49C8A418616}"/>
              </a:ext>
            </a:extLst>
          </p:cNvPr>
          <p:cNvSpPr>
            <a:spLocks noGrp="1"/>
          </p:cNvSpPr>
          <p:nvPr>
            <p:ph type="title"/>
          </p:nvPr>
        </p:nvSpPr>
        <p:spPr/>
        <p:txBody>
          <a:bodyPr/>
          <a:lstStyle/>
          <a:p>
            <a:r>
              <a:rPr lang="en-US" dirty="0"/>
              <a:t>Internet of Things</a:t>
            </a:r>
          </a:p>
        </p:txBody>
      </p:sp>
      <p:sp>
        <p:nvSpPr>
          <p:cNvPr id="3" name="Content Placeholder 2">
            <a:extLst>
              <a:ext uri="{FF2B5EF4-FFF2-40B4-BE49-F238E27FC236}">
                <a16:creationId xmlns:a16="http://schemas.microsoft.com/office/drawing/2014/main" id="{7461F66A-EAFA-4EE1-BA42-71F049C63CB8}"/>
              </a:ext>
            </a:extLst>
          </p:cNvPr>
          <p:cNvSpPr>
            <a:spLocks noGrp="1"/>
          </p:cNvSpPr>
          <p:nvPr>
            <p:ph idx="1"/>
          </p:nvPr>
        </p:nvSpPr>
        <p:spPr/>
        <p:txBody>
          <a:bodyPr/>
          <a:lstStyle/>
          <a:p>
            <a:r>
              <a:rPr lang="en-US" dirty="0"/>
              <a:t>Internet of Things refers to the real-world physical objects that are connected to the Internet and, therefore, to all other physical objects</a:t>
            </a:r>
          </a:p>
          <a:p>
            <a:r>
              <a:rPr lang="en-US" dirty="0"/>
              <a:t>Their primary purpose is </a:t>
            </a:r>
            <a:r>
              <a:rPr lang="en-US" b="1" dirty="0"/>
              <a:t>not</a:t>
            </a:r>
            <a:r>
              <a:rPr lang="en-US" dirty="0"/>
              <a:t> communication among people or access to information such as news, knowledge, business data, and entertainment</a:t>
            </a:r>
          </a:p>
          <a:p>
            <a:r>
              <a:rPr lang="en-US" dirty="0"/>
              <a:t>They are geared toward keeping systems functional by sensing and analyzing data and autonomously controlling devices.</a:t>
            </a:r>
          </a:p>
        </p:txBody>
      </p:sp>
    </p:spTree>
    <p:extLst>
      <p:ext uri="{BB962C8B-B14F-4D97-AF65-F5344CB8AC3E}">
        <p14:creationId xmlns:p14="http://schemas.microsoft.com/office/powerpoint/2010/main" val="3997086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A290-598F-48EC-BDEF-834D3E8D1CB1}"/>
              </a:ext>
            </a:extLst>
          </p:cNvPr>
          <p:cNvSpPr>
            <a:spLocks noGrp="1"/>
          </p:cNvSpPr>
          <p:nvPr>
            <p:ph type="title"/>
          </p:nvPr>
        </p:nvSpPr>
        <p:spPr/>
        <p:txBody>
          <a:bodyPr/>
          <a:lstStyle/>
          <a:p>
            <a:r>
              <a:rPr lang="en-US" dirty="0"/>
              <a:t>Internet of Things</a:t>
            </a:r>
          </a:p>
        </p:txBody>
      </p:sp>
      <p:sp>
        <p:nvSpPr>
          <p:cNvPr id="3" name="Content Placeholder 2">
            <a:extLst>
              <a:ext uri="{FF2B5EF4-FFF2-40B4-BE49-F238E27FC236}">
                <a16:creationId xmlns:a16="http://schemas.microsoft.com/office/drawing/2014/main" id="{0C81D65D-96B7-4BEB-AA11-04AF60863602}"/>
              </a:ext>
            </a:extLst>
          </p:cNvPr>
          <p:cNvSpPr>
            <a:spLocks noGrp="1"/>
          </p:cNvSpPr>
          <p:nvPr>
            <p:ph idx="1"/>
          </p:nvPr>
        </p:nvSpPr>
        <p:spPr/>
        <p:txBody>
          <a:bodyPr/>
          <a:lstStyle/>
          <a:p>
            <a:r>
              <a:rPr lang="en-US" dirty="0"/>
              <a:t>Already measured in billions, there will soon be on the order of 20 billion or more material objects online</a:t>
            </a:r>
          </a:p>
          <a:p>
            <a:r>
              <a:rPr lang="en-US" dirty="0"/>
              <a:t>Increases in object connectivity will result in new industries creating interconnected products embedded with chips, sensors, actuators, and radiofrequency identification (RFID) capability</a:t>
            </a:r>
          </a:p>
        </p:txBody>
      </p:sp>
    </p:spTree>
    <p:extLst>
      <p:ext uri="{BB962C8B-B14F-4D97-AF65-F5344CB8AC3E}">
        <p14:creationId xmlns:p14="http://schemas.microsoft.com/office/powerpoint/2010/main" val="3446340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18085-61BF-46A6-8DB3-0DAB015DE0F4}"/>
              </a:ext>
            </a:extLst>
          </p:cNvPr>
          <p:cNvSpPr>
            <a:spLocks noGrp="1"/>
          </p:cNvSpPr>
          <p:nvPr>
            <p:ph type="title"/>
          </p:nvPr>
        </p:nvSpPr>
        <p:spPr/>
        <p:txBody>
          <a:bodyPr/>
          <a:lstStyle/>
          <a:p>
            <a:r>
              <a:rPr lang="en-US" dirty="0"/>
              <a:t>Internet of Things</a:t>
            </a:r>
          </a:p>
        </p:txBody>
      </p:sp>
      <p:sp>
        <p:nvSpPr>
          <p:cNvPr id="3" name="Content Placeholder 2">
            <a:extLst>
              <a:ext uri="{FF2B5EF4-FFF2-40B4-BE49-F238E27FC236}">
                <a16:creationId xmlns:a16="http://schemas.microsoft.com/office/drawing/2014/main" id="{6D0E7171-CE01-4B88-B8AA-54C16F7F14A2}"/>
              </a:ext>
            </a:extLst>
          </p:cNvPr>
          <p:cNvSpPr>
            <a:spLocks noGrp="1"/>
          </p:cNvSpPr>
          <p:nvPr>
            <p:ph idx="1"/>
          </p:nvPr>
        </p:nvSpPr>
        <p:spPr/>
        <p:txBody>
          <a:bodyPr/>
          <a:lstStyle/>
          <a:p>
            <a:r>
              <a:rPr lang="en-US" dirty="0"/>
              <a:t>This phenomenon will have significant implications for:</a:t>
            </a:r>
          </a:p>
          <a:p>
            <a:pPr lvl="1"/>
            <a:r>
              <a:rPr lang="en-US" dirty="0"/>
              <a:t>Economic growth</a:t>
            </a:r>
          </a:p>
          <a:p>
            <a:pPr lvl="1"/>
            <a:r>
              <a:rPr lang="en-US" dirty="0"/>
              <a:t>Individual rights</a:t>
            </a:r>
          </a:p>
          <a:p>
            <a:pPr lvl="1"/>
            <a:r>
              <a:rPr lang="en-US" dirty="0"/>
              <a:t>Business models</a:t>
            </a:r>
          </a:p>
          <a:p>
            <a:pPr lvl="1"/>
            <a:r>
              <a:rPr lang="en-US" dirty="0"/>
              <a:t>Governance</a:t>
            </a:r>
          </a:p>
        </p:txBody>
      </p:sp>
    </p:spTree>
    <p:extLst>
      <p:ext uri="{BB962C8B-B14F-4D97-AF65-F5344CB8AC3E}">
        <p14:creationId xmlns:p14="http://schemas.microsoft.com/office/powerpoint/2010/main" val="567882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Define Internet of Things</a:t>
            </a:r>
          </a:p>
          <a:p>
            <a:pPr lvl="1"/>
            <a:r>
              <a:rPr lang="en-US" altLang="en-US" dirty="0"/>
              <a:t>Explain how the IoT improves daily activities</a:t>
            </a:r>
          </a:p>
          <a:p>
            <a:pPr lvl="1"/>
            <a:r>
              <a:rPr lang="en-US" altLang="en-US" dirty="0">
                <a:solidFill>
                  <a:schemeClr val="tx1">
                    <a:lumMod val="50000"/>
                    <a:lumOff val="50000"/>
                  </a:schemeClr>
                </a:solidFill>
              </a:rPr>
              <a:t>Explain the benefits of IoT</a:t>
            </a:r>
          </a:p>
          <a:p>
            <a:pPr lvl="1"/>
            <a:r>
              <a:rPr lang="en-US" altLang="en-US" dirty="0">
                <a:solidFill>
                  <a:schemeClr val="tx1">
                    <a:lumMod val="50000"/>
                    <a:lumOff val="50000"/>
                  </a:schemeClr>
                </a:solidFill>
              </a:rPr>
              <a:t>Explain the issues relating to IoT</a:t>
            </a:r>
          </a:p>
          <a:p>
            <a:pPr lvl="1"/>
            <a:r>
              <a:rPr lang="en-US" altLang="en-US" dirty="0">
                <a:solidFill>
                  <a:schemeClr val="tx1">
                    <a:lumMod val="50000"/>
                    <a:lumOff val="50000"/>
                  </a:schemeClr>
                </a:solidFill>
              </a:rPr>
              <a:t>Define Internet of Everything</a:t>
            </a:r>
          </a:p>
          <a:p>
            <a:pPr lvl="1"/>
            <a:endParaRPr lang="en-US" altLang="en-US" dirty="0"/>
          </a:p>
        </p:txBody>
      </p:sp>
    </p:spTree>
    <p:extLst>
      <p:ext uri="{BB962C8B-B14F-4D97-AF65-F5344CB8AC3E}">
        <p14:creationId xmlns:p14="http://schemas.microsoft.com/office/powerpoint/2010/main" val="225907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2"/>
              </a:rPr>
              <a:t>https://www.youtube.com/watch?v=EKRVILAohck</a:t>
            </a:r>
            <a:endParaRPr lang="en-US" dirty="0"/>
          </a:p>
          <a:p>
            <a:endParaRPr lang="en-US" dirty="0"/>
          </a:p>
        </p:txBody>
      </p:sp>
      <p:pic>
        <p:nvPicPr>
          <p:cNvPr id="5" name="Picture 4">
            <a:hlinkClick r:id="rId2"/>
            <a:extLst>
              <a:ext uri="{FF2B5EF4-FFF2-40B4-BE49-F238E27FC236}">
                <a16:creationId xmlns:a16="http://schemas.microsoft.com/office/drawing/2014/main" id="{6B3ACF31-4EFD-4930-B3C3-EC8EE0A76587}"/>
              </a:ext>
            </a:extLst>
          </p:cNvPr>
          <p:cNvPicPr>
            <a:picLocks noChangeAspect="1"/>
          </p:cNvPicPr>
          <p:nvPr/>
        </p:nvPicPr>
        <p:blipFill>
          <a:blip r:embed="rId3"/>
          <a:stretch>
            <a:fillRect/>
          </a:stretch>
        </p:blipFill>
        <p:spPr>
          <a:xfrm>
            <a:off x="3812937" y="3542848"/>
            <a:ext cx="2686050" cy="1695450"/>
          </a:xfrm>
          <a:prstGeom prst="rect">
            <a:avLst/>
          </a:prstGeom>
        </p:spPr>
      </p:pic>
    </p:spTree>
    <p:extLst>
      <p:ext uri="{BB962C8B-B14F-4D97-AF65-F5344CB8AC3E}">
        <p14:creationId xmlns:p14="http://schemas.microsoft.com/office/powerpoint/2010/main" val="3094916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80747-2FC4-4C43-BCF3-08EF81D47CBC}"/>
              </a:ext>
            </a:extLst>
          </p:cNvPr>
          <p:cNvSpPr>
            <a:spLocks noGrp="1"/>
          </p:cNvSpPr>
          <p:nvPr>
            <p:ph type="title"/>
          </p:nvPr>
        </p:nvSpPr>
        <p:spPr/>
        <p:txBody>
          <a:bodyPr/>
          <a:lstStyle/>
          <a:p>
            <a:r>
              <a:rPr lang="en-US" dirty="0"/>
              <a:t>The Digitization of Everyday Objects</a:t>
            </a:r>
          </a:p>
        </p:txBody>
      </p:sp>
      <p:sp>
        <p:nvSpPr>
          <p:cNvPr id="3" name="Content Placeholder 2">
            <a:extLst>
              <a:ext uri="{FF2B5EF4-FFF2-40B4-BE49-F238E27FC236}">
                <a16:creationId xmlns:a16="http://schemas.microsoft.com/office/drawing/2014/main" id="{9070E06E-C6A2-43FA-9602-BBAE14C64611}"/>
              </a:ext>
            </a:extLst>
          </p:cNvPr>
          <p:cNvSpPr>
            <a:spLocks noGrp="1"/>
          </p:cNvSpPr>
          <p:nvPr>
            <p:ph idx="1"/>
          </p:nvPr>
        </p:nvSpPr>
        <p:spPr/>
        <p:txBody>
          <a:bodyPr/>
          <a:lstStyle/>
          <a:p>
            <a:r>
              <a:rPr lang="en-US" sz="2800" dirty="0"/>
              <a:t>“Why would anyone want a computer embedded in all the objects?” – an outdated question</a:t>
            </a:r>
          </a:p>
          <a:p>
            <a:pPr lvl="1"/>
            <a:r>
              <a:rPr lang="en-US" dirty="0"/>
              <a:t>People wear connected fitness bracelets and rely on connected glucose monitors</a:t>
            </a:r>
          </a:p>
          <a:p>
            <a:pPr lvl="1"/>
            <a:r>
              <a:rPr lang="en-US" dirty="0"/>
              <a:t>Homes contain connected coffee makers and door locks</a:t>
            </a:r>
          </a:p>
          <a:p>
            <a:pPr lvl="1"/>
            <a:r>
              <a:rPr lang="en-US" dirty="0"/>
              <a:t>Stores house RFID-embedded retail items</a:t>
            </a:r>
          </a:p>
          <a:p>
            <a:pPr lvl="1"/>
            <a:r>
              <a:rPr lang="en-US" dirty="0"/>
              <a:t>vehicles contain networked sensors that detect collisions or monitor traffic conditions</a:t>
            </a:r>
          </a:p>
          <a:p>
            <a:pPr lvl="1"/>
            <a:r>
              <a:rPr lang="en-US" dirty="0"/>
              <a:t>work environments use networked energy systems, manufacturing robots, and security systems</a:t>
            </a:r>
          </a:p>
        </p:txBody>
      </p:sp>
    </p:spTree>
    <p:extLst>
      <p:ext uri="{BB962C8B-B14F-4D97-AF65-F5344CB8AC3E}">
        <p14:creationId xmlns:p14="http://schemas.microsoft.com/office/powerpoint/2010/main" val="329981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0ECF-468A-4739-8E1B-48D7C88F8A10}"/>
              </a:ext>
            </a:extLst>
          </p:cNvPr>
          <p:cNvSpPr>
            <a:spLocks noGrp="1"/>
          </p:cNvSpPr>
          <p:nvPr>
            <p:ph type="title"/>
          </p:nvPr>
        </p:nvSpPr>
        <p:spPr/>
        <p:txBody>
          <a:bodyPr/>
          <a:lstStyle/>
          <a:p>
            <a:r>
              <a:rPr lang="en-US" dirty="0"/>
              <a:t>Emergent Cyber-Physical Systems</a:t>
            </a:r>
          </a:p>
        </p:txBody>
      </p:sp>
      <p:sp>
        <p:nvSpPr>
          <p:cNvPr id="3" name="Content Placeholder 2">
            <a:extLst>
              <a:ext uri="{FF2B5EF4-FFF2-40B4-BE49-F238E27FC236}">
                <a16:creationId xmlns:a16="http://schemas.microsoft.com/office/drawing/2014/main" id="{6C2A5AA4-EBA2-40C3-9E81-133C73502911}"/>
              </a:ext>
            </a:extLst>
          </p:cNvPr>
          <p:cNvSpPr>
            <a:spLocks noGrp="1"/>
          </p:cNvSpPr>
          <p:nvPr>
            <p:ph idx="1"/>
          </p:nvPr>
        </p:nvSpPr>
        <p:spPr/>
        <p:txBody>
          <a:bodyPr/>
          <a:lstStyle/>
          <a:p>
            <a:r>
              <a:rPr lang="en-US" dirty="0"/>
              <a:t>Some emerging cyber-physical systems are not enhancements to existing material structures but entirely new innovations </a:t>
            </a:r>
          </a:p>
          <a:p>
            <a:pPr lvl="1"/>
            <a:r>
              <a:rPr lang="en-US" dirty="0"/>
              <a:t>3D printing</a:t>
            </a:r>
          </a:p>
          <a:p>
            <a:pPr lvl="1"/>
            <a:r>
              <a:rPr lang="en-US" dirty="0"/>
              <a:t>Augmented reality</a:t>
            </a:r>
          </a:p>
          <a:p>
            <a:pPr lvl="1"/>
            <a:r>
              <a:rPr lang="en-US" dirty="0"/>
              <a:t>Some types of advanced robotics</a:t>
            </a:r>
          </a:p>
          <a:p>
            <a:pPr marL="514350" indent="-457200"/>
            <a:r>
              <a:rPr lang="en-US" dirty="0"/>
              <a:t>Help to elucidate common technical features of cyber-material hybrids and emerging policy issues</a:t>
            </a:r>
          </a:p>
        </p:txBody>
      </p:sp>
    </p:spTree>
    <p:extLst>
      <p:ext uri="{BB962C8B-B14F-4D97-AF65-F5344CB8AC3E}">
        <p14:creationId xmlns:p14="http://schemas.microsoft.com/office/powerpoint/2010/main" val="310669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F559D-22B0-467B-BE94-4DC8F50894E4}"/>
              </a:ext>
            </a:extLst>
          </p:cNvPr>
          <p:cNvSpPr>
            <a:spLocks noGrp="1"/>
          </p:cNvSpPr>
          <p:nvPr>
            <p:ph type="title"/>
          </p:nvPr>
        </p:nvSpPr>
        <p:spPr/>
        <p:txBody>
          <a:bodyPr/>
          <a:lstStyle/>
          <a:p>
            <a:r>
              <a:rPr lang="en-US" dirty="0"/>
              <a:t>Autonomy and Machine Learning</a:t>
            </a:r>
          </a:p>
        </p:txBody>
      </p:sp>
      <p:sp>
        <p:nvSpPr>
          <p:cNvPr id="3" name="Content Placeholder 2">
            <a:extLst>
              <a:ext uri="{FF2B5EF4-FFF2-40B4-BE49-F238E27FC236}">
                <a16:creationId xmlns:a16="http://schemas.microsoft.com/office/drawing/2014/main" id="{CD8DF11D-7361-42A0-9337-86FE32E60DCA}"/>
              </a:ext>
            </a:extLst>
          </p:cNvPr>
          <p:cNvSpPr>
            <a:spLocks noGrp="1"/>
          </p:cNvSpPr>
          <p:nvPr>
            <p:ph idx="1"/>
          </p:nvPr>
        </p:nvSpPr>
        <p:spPr/>
        <p:txBody>
          <a:bodyPr/>
          <a:lstStyle/>
          <a:p>
            <a:r>
              <a:rPr lang="en-US" dirty="0"/>
              <a:t>Humans can sometimes be entirely excised from systems, once operational</a:t>
            </a:r>
          </a:p>
          <a:p>
            <a:r>
              <a:rPr lang="en-US" dirty="0"/>
              <a:t>This quality of autonomy is “to generate, exchange and consume data with minimal human intervention</a:t>
            </a:r>
          </a:p>
          <a:p>
            <a:r>
              <a:rPr lang="en-US" dirty="0"/>
              <a:t>Some technology are designed ex ante to require no human intervention, as such, they are sometimes described as machine-to-machine implementations</a:t>
            </a:r>
          </a:p>
        </p:txBody>
      </p:sp>
    </p:spTree>
    <p:extLst>
      <p:ext uri="{BB962C8B-B14F-4D97-AF65-F5344CB8AC3E}">
        <p14:creationId xmlns:p14="http://schemas.microsoft.com/office/powerpoint/2010/main" val="2969910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Define Internet of Things</a:t>
            </a:r>
          </a:p>
          <a:p>
            <a:pPr lvl="1"/>
            <a:r>
              <a:rPr lang="en-US" altLang="en-US" dirty="0">
                <a:solidFill>
                  <a:schemeClr val="tx1">
                    <a:lumMod val="50000"/>
                    <a:lumOff val="50000"/>
                  </a:schemeClr>
                </a:solidFill>
              </a:rPr>
              <a:t>Explain how the IoT improves daily activities</a:t>
            </a:r>
          </a:p>
          <a:p>
            <a:pPr lvl="1"/>
            <a:r>
              <a:rPr lang="en-US" altLang="en-US" dirty="0"/>
              <a:t>Explain the benefits of IoT</a:t>
            </a:r>
          </a:p>
          <a:p>
            <a:pPr lvl="1"/>
            <a:r>
              <a:rPr lang="en-US" altLang="en-US" dirty="0">
                <a:solidFill>
                  <a:schemeClr val="tx1">
                    <a:lumMod val="50000"/>
                    <a:lumOff val="50000"/>
                  </a:schemeClr>
                </a:solidFill>
              </a:rPr>
              <a:t>Explain the issues relating to IoT</a:t>
            </a:r>
          </a:p>
          <a:p>
            <a:pPr lvl="1"/>
            <a:r>
              <a:rPr lang="en-US" altLang="en-US" dirty="0">
                <a:solidFill>
                  <a:schemeClr val="tx1">
                    <a:lumMod val="50000"/>
                    <a:lumOff val="50000"/>
                  </a:schemeClr>
                </a:solidFill>
              </a:rPr>
              <a:t>Define Internet of Everything</a:t>
            </a:r>
          </a:p>
          <a:p>
            <a:pPr lvl="1"/>
            <a:endParaRPr lang="en-US" altLang="en-US" dirty="0"/>
          </a:p>
        </p:txBody>
      </p:sp>
    </p:spTree>
    <p:extLst>
      <p:ext uri="{BB962C8B-B14F-4D97-AF65-F5344CB8AC3E}">
        <p14:creationId xmlns:p14="http://schemas.microsoft.com/office/powerpoint/2010/main" val="1247377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2A62F-BA83-4F6B-A388-F8DA2AE4473F}"/>
              </a:ext>
            </a:extLst>
          </p:cNvPr>
          <p:cNvSpPr>
            <a:spLocks noGrp="1"/>
          </p:cNvSpPr>
          <p:nvPr>
            <p:ph type="title"/>
          </p:nvPr>
        </p:nvSpPr>
        <p:spPr/>
        <p:txBody>
          <a:bodyPr/>
          <a:lstStyle/>
          <a:p>
            <a:r>
              <a:rPr lang="en-US" dirty="0"/>
              <a:t>Benefits of IoT</a:t>
            </a:r>
          </a:p>
        </p:txBody>
      </p:sp>
      <p:sp>
        <p:nvSpPr>
          <p:cNvPr id="3" name="Content Placeholder 2">
            <a:extLst>
              <a:ext uri="{FF2B5EF4-FFF2-40B4-BE49-F238E27FC236}">
                <a16:creationId xmlns:a16="http://schemas.microsoft.com/office/drawing/2014/main" id="{09558DC0-1B1C-48E0-AB4F-31DF4CA9DDEA}"/>
              </a:ext>
            </a:extLst>
          </p:cNvPr>
          <p:cNvSpPr>
            <a:spLocks noGrp="1"/>
          </p:cNvSpPr>
          <p:nvPr>
            <p:ph idx="1"/>
          </p:nvPr>
        </p:nvSpPr>
        <p:spPr/>
        <p:txBody>
          <a:bodyPr/>
          <a:lstStyle/>
          <a:p>
            <a:r>
              <a:rPr lang="en-US" b="1" dirty="0"/>
              <a:t>Communication:</a:t>
            </a:r>
            <a:r>
              <a:rPr lang="en-US" dirty="0"/>
              <a:t> Encourages the communication between devices, also famously known as Machine-to-Machine (M2M) communication</a:t>
            </a:r>
          </a:p>
          <a:p>
            <a:r>
              <a:rPr lang="en-US" b="1" dirty="0"/>
              <a:t>Automation and Control:</a:t>
            </a:r>
            <a:r>
              <a:rPr lang="en-US" dirty="0"/>
              <a:t> Physical objects are connected and controlled digitally and centrally with wireless infrastructure. Without human intervention, the machines are able to communicate with each other leading to faster and timely output.</a:t>
            </a:r>
          </a:p>
        </p:txBody>
      </p:sp>
    </p:spTree>
    <p:extLst>
      <p:ext uri="{BB962C8B-B14F-4D97-AF65-F5344CB8AC3E}">
        <p14:creationId xmlns:p14="http://schemas.microsoft.com/office/powerpoint/2010/main" val="2508323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FCD7F-A45D-4910-BBCA-107F8EB8484B}"/>
              </a:ext>
            </a:extLst>
          </p:cNvPr>
          <p:cNvSpPr>
            <a:spLocks noGrp="1"/>
          </p:cNvSpPr>
          <p:nvPr>
            <p:ph type="title"/>
          </p:nvPr>
        </p:nvSpPr>
        <p:spPr/>
        <p:txBody>
          <a:bodyPr/>
          <a:lstStyle/>
          <a:p>
            <a:r>
              <a:rPr lang="en-US" dirty="0"/>
              <a:t>Benefits of IoT</a:t>
            </a:r>
          </a:p>
        </p:txBody>
      </p:sp>
      <p:sp>
        <p:nvSpPr>
          <p:cNvPr id="3" name="Content Placeholder 2">
            <a:extLst>
              <a:ext uri="{FF2B5EF4-FFF2-40B4-BE49-F238E27FC236}">
                <a16:creationId xmlns:a16="http://schemas.microsoft.com/office/drawing/2014/main" id="{53605AC7-E275-43DF-BC1F-990E8F5655B8}"/>
              </a:ext>
            </a:extLst>
          </p:cNvPr>
          <p:cNvSpPr>
            <a:spLocks noGrp="1"/>
          </p:cNvSpPr>
          <p:nvPr>
            <p:ph idx="1"/>
          </p:nvPr>
        </p:nvSpPr>
        <p:spPr/>
        <p:txBody>
          <a:bodyPr/>
          <a:lstStyle/>
          <a:p>
            <a:r>
              <a:rPr lang="en-US" b="1" dirty="0"/>
              <a:t>Information:</a:t>
            </a:r>
            <a:r>
              <a:rPr lang="en-US" dirty="0"/>
              <a:t> More information helps making better decisions </a:t>
            </a:r>
          </a:p>
          <a:p>
            <a:r>
              <a:rPr lang="en-US" b="1" dirty="0"/>
              <a:t>Monitor: </a:t>
            </a:r>
            <a:r>
              <a:rPr lang="en-US" dirty="0"/>
              <a:t>Being able to monitor can further provide more information that could not have previously been collected easily</a:t>
            </a:r>
          </a:p>
          <a:p>
            <a:r>
              <a:rPr lang="en-US" b="1" dirty="0"/>
              <a:t>Time: </a:t>
            </a:r>
            <a:r>
              <a:rPr lang="en-US" dirty="0"/>
              <a:t>The machine-to-machine interaction provides better efficiency, hence; accurate results can be obtained fast</a:t>
            </a:r>
          </a:p>
        </p:txBody>
      </p:sp>
    </p:spTree>
    <p:extLst>
      <p:ext uri="{BB962C8B-B14F-4D97-AF65-F5344CB8AC3E}">
        <p14:creationId xmlns:p14="http://schemas.microsoft.com/office/powerpoint/2010/main" val="1224107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1CAD-7621-4C56-BB53-49652BA6C650}"/>
              </a:ext>
            </a:extLst>
          </p:cNvPr>
          <p:cNvSpPr>
            <a:spLocks noGrp="1"/>
          </p:cNvSpPr>
          <p:nvPr>
            <p:ph type="title"/>
          </p:nvPr>
        </p:nvSpPr>
        <p:spPr/>
        <p:txBody>
          <a:bodyPr/>
          <a:lstStyle/>
          <a:p>
            <a:r>
              <a:rPr lang="en-US" dirty="0"/>
              <a:t>Benefits of IoT</a:t>
            </a:r>
          </a:p>
        </p:txBody>
      </p:sp>
      <p:sp>
        <p:nvSpPr>
          <p:cNvPr id="3" name="Content Placeholder 2">
            <a:extLst>
              <a:ext uri="{FF2B5EF4-FFF2-40B4-BE49-F238E27FC236}">
                <a16:creationId xmlns:a16="http://schemas.microsoft.com/office/drawing/2014/main" id="{0DC2E2E9-79AE-4B7E-93A5-F9210B034A55}"/>
              </a:ext>
            </a:extLst>
          </p:cNvPr>
          <p:cNvSpPr>
            <a:spLocks noGrp="1"/>
          </p:cNvSpPr>
          <p:nvPr>
            <p:ph idx="1"/>
          </p:nvPr>
        </p:nvSpPr>
        <p:spPr/>
        <p:txBody>
          <a:bodyPr/>
          <a:lstStyle/>
          <a:p>
            <a:r>
              <a:rPr lang="en-US" sz="2800" b="1" dirty="0"/>
              <a:t>Money:</a:t>
            </a:r>
            <a:r>
              <a:rPr lang="en-US" sz="2800" dirty="0"/>
              <a:t> Optimum utilization of energy and resources can be achieved by adopting this technology and keeping the devices under surveillance:</a:t>
            </a:r>
          </a:p>
          <a:p>
            <a:pPr lvl="1"/>
            <a:r>
              <a:rPr lang="en-US" sz="2400" b="0" i="0" dirty="0">
                <a:effectLst/>
                <a:latin typeface="Source Serif Pro"/>
              </a:rPr>
              <a:t>Bottlenecks</a:t>
            </a:r>
          </a:p>
          <a:p>
            <a:pPr lvl="1"/>
            <a:r>
              <a:rPr lang="en-US" sz="2400" b="0" i="0" dirty="0">
                <a:effectLst/>
                <a:latin typeface="Source Serif Pro"/>
              </a:rPr>
              <a:t>Breakdowns</a:t>
            </a:r>
          </a:p>
          <a:p>
            <a:pPr lvl="1"/>
            <a:r>
              <a:rPr lang="en-US" sz="2400" b="0" i="0" dirty="0">
                <a:effectLst/>
                <a:latin typeface="Source Serif Pro"/>
              </a:rPr>
              <a:t>Damages</a:t>
            </a:r>
          </a:p>
          <a:p>
            <a:r>
              <a:rPr lang="en-US" sz="2800" b="1" dirty="0"/>
              <a:t>Better Quality of Life: </a:t>
            </a:r>
            <a:r>
              <a:rPr lang="en-US" sz="2800" dirty="0"/>
              <a:t>All the applications of this technology culminate in increased comfort, convenience, and better management, thereby improving the quality of life.</a:t>
            </a:r>
          </a:p>
          <a:p>
            <a:endParaRPr lang="en-US" sz="2800" dirty="0"/>
          </a:p>
        </p:txBody>
      </p:sp>
    </p:spTree>
    <p:extLst>
      <p:ext uri="{BB962C8B-B14F-4D97-AF65-F5344CB8AC3E}">
        <p14:creationId xmlns:p14="http://schemas.microsoft.com/office/powerpoint/2010/main" val="928848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Define Internet of Things</a:t>
            </a:r>
          </a:p>
          <a:p>
            <a:pPr lvl="1"/>
            <a:r>
              <a:rPr lang="en-US" altLang="en-US" dirty="0">
                <a:solidFill>
                  <a:schemeClr val="tx1">
                    <a:lumMod val="50000"/>
                    <a:lumOff val="50000"/>
                  </a:schemeClr>
                </a:solidFill>
              </a:rPr>
              <a:t>Explain how the IoT improves daily activities</a:t>
            </a:r>
          </a:p>
          <a:p>
            <a:pPr lvl="1"/>
            <a:r>
              <a:rPr lang="en-US" altLang="en-US" dirty="0">
                <a:solidFill>
                  <a:schemeClr val="tx1">
                    <a:lumMod val="50000"/>
                    <a:lumOff val="50000"/>
                  </a:schemeClr>
                </a:solidFill>
              </a:rPr>
              <a:t>Explain the benefits of IoT</a:t>
            </a:r>
          </a:p>
          <a:p>
            <a:pPr lvl="1"/>
            <a:r>
              <a:rPr lang="en-US" altLang="en-US" dirty="0"/>
              <a:t>Explain the issues relating to IoT</a:t>
            </a:r>
          </a:p>
          <a:p>
            <a:pPr lvl="1"/>
            <a:r>
              <a:rPr lang="en-US" altLang="en-US" dirty="0">
                <a:solidFill>
                  <a:schemeClr val="tx1">
                    <a:lumMod val="50000"/>
                    <a:lumOff val="50000"/>
                  </a:schemeClr>
                </a:solidFill>
              </a:rPr>
              <a:t>Define Internet of Everything</a:t>
            </a:r>
          </a:p>
          <a:p>
            <a:pPr lvl="1"/>
            <a:endParaRPr lang="en-US" altLang="en-US" dirty="0"/>
          </a:p>
        </p:txBody>
      </p:sp>
    </p:spTree>
    <p:extLst>
      <p:ext uri="{BB962C8B-B14F-4D97-AF65-F5344CB8AC3E}">
        <p14:creationId xmlns:p14="http://schemas.microsoft.com/office/powerpoint/2010/main" val="4036578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A219D-4EAD-49D8-AD4F-EDC8F90D3EF5}"/>
              </a:ext>
            </a:extLst>
          </p:cNvPr>
          <p:cNvSpPr>
            <a:spLocks noGrp="1"/>
          </p:cNvSpPr>
          <p:nvPr>
            <p:ph type="title"/>
          </p:nvPr>
        </p:nvSpPr>
        <p:spPr/>
        <p:txBody>
          <a:bodyPr/>
          <a:lstStyle/>
          <a:p>
            <a:r>
              <a:rPr lang="en-US" dirty="0"/>
              <a:t>Issues Evolving IoT</a:t>
            </a:r>
          </a:p>
        </p:txBody>
      </p:sp>
      <p:sp>
        <p:nvSpPr>
          <p:cNvPr id="3" name="Content Placeholder 2">
            <a:extLst>
              <a:ext uri="{FF2B5EF4-FFF2-40B4-BE49-F238E27FC236}">
                <a16:creationId xmlns:a16="http://schemas.microsoft.com/office/drawing/2014/main" id="{1F51737D-4A45-4FFB-BE72-E2558E53BDC5}"/>
              </a:ext>
            </a:extLst>
          </p:cNvPr>
          <p:cNvSpPr>
            <a:spLocks noGrp="1"/>
          </p:cNvSpPr>
          <p:nvPr>
            <p:ph idx="1"/>
          </p:nvPr>
        </p:nvSpPr>
        <p:spPr/>
        <p:txBody>
          <a:bodyPr/>
          <a:lstStyle/>
          <a:p>
            <a:r>
              <a:rPr lang="en-US" dirty="0"/>
              <a:t>Compatibility</a:t>
            </a:r>
          </a:p>
          <a:p>
            <a:r>
              <a:rPr lang="en-US" dirty="0"/>
              <a:t>Complexity</a:t>
            </a:r>
          </a:p>
          <a:p>
            <a:r>
              <a:rPr lang="en-US" dirty="0"/>
              <a:t>Privacy</a:t>
            </a:r>
          </a:p>
          <a:p>
            <a:r>
              <a:rPr lang="en-US" dirty="0"/>
              <a:t>Security</a:t>
            </a:r>
          </a:p>
          <a:p>
            <a:r>
              <a:rPr lang="en-US" dirty="0"/>
              <a:t>Safety</a:t>
            </a:r>
          </a:p>
          <a:p>
            <a:endParaRPr lang="en-US" dirty="0"/>
          </a:p>
        </p:txBody>
      </p:sp>
    </p:spTree>
    <p:extLst>
      <p:ext uri="{BB962C8B-B14F-4D97-AF65-F5344CB8AC3E}">
        <p14:creationId xmlns:p14="http://schemas.microsoft.com/office/powerpoint/2010/main" val="2574150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Define Internet of Things</a:t>
            </a:r>
          </a:p>
          <a:p>
            <a:pPr lvl="1"/>
            <a:r>
              <a:rPr lang="en-US" altLang="en-US" dirty="0">
                <a:solidFill>
                  <a:schemeClr val="tx1">
                    <a:lumMod val="50000"/>
                    <a:lumOff val="50000"/>
                  </a:schemeClr>
                </a:solidFill>
              </a:rPr>
              <a:t>Explain how the IoT improves daily activities</a:t>
            </a:r>
          </a:p>
          <a:p>
            <a:pPr lvl="1"/>
            <a:r>
              <a:rPr lang="en-US" altLang="en-US" dirty="0">
                <a:solidFill>
                  <a:schemeClr val="tx1">
                    <a:lumMod val="50000"/>
                    <a:lumOff val="50000"/>
                  </a:schemeClr>
                </a:solidFill>
              </a:rPr>
              <a:t>Explain the benefits of IoT</a:t>
            </a:r>
          </a:p>
          <a:p>
            <a:pPr lvl="1"/>
            <a:r>
              <a:rPr lang="en-US" altLang="en-US" dirty="0">
                <a:solidFill>
                  <a:schemeClr val="tx1">
                    <a:lumMod val="50000"/>
                    <a:lumOff val="50000"/>
                  </a:schemeClr>
                </a:solidFill>
              </a:rPr>
              <a:t>Explain the issues relating to IoT</a:t>
            </a:r>
          </a:p>
          <a:p>
            <a:pPr lvl="1"/>
            <a:r>
              <a:rPr lang="en-US" altLang="en-US" dirty="0"/>
              <a:t>Define Internet of Everything</a:t>
            </a:r>
          </a:p>
          <a:p>
            <a:pPr lvl="1"/>
            <a:endParaRPr lang="en-US" altLang="en-US" dirty="0"/>
          </a:p>
        </p:txBody>
      </p:sp>
    </p:spTree>
    <p:extLst>
      <p:ext uri="{BB962C8B-B14F-4D97-AF65-F5344CB8AC3E}">
        <p14:creationId xmlns:p14="http://schemas.microsoft.com/office/powerpoint/2010/main" val="553429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B8E70-548B-4A49-BA51-B38A98E502FA}"/>
              </a:ext>
            </a:extLst>
          </p:cNvPr>
          <p:cNvSpPr>
            <a:spLocks noGrp="1"/>
          </p:cNvSpPr>
          <p:nvPr>
            <p:ph type="title"/>
          </p:nvPr>
        </p:nvSpPr>
        <p:spPr/>
        <p:txBody>
          <a:bodyPr/>
          <a:lstStyle/>
          <a:p>
            <a:r>
              <a:rPr lang="en-US" dirty="0"/>
              <a:t>Internet of Everything</a:t>
            </a:r>
          </a:p>
        </p:txBody>
      </p:sp>
      <p:sp>
        <p:nvSpPr>
          <p:cNvPr id="3" name="Content Placeholder 2">
            <a:extLst>
              <a:ext uri="{FF2B5EF4-FFF2-40B4-BE49-F238E27FC236}">
                <a16:creationId xmlns:a16="http://schemas.microsoft.com/office/drawing/2014/main" id="{6FBE4A5D-2A4A-4967-AC21-79339697260E}"/>
              </a:ext>
            </a:extLst>
          </p:cNvPr>
          <p:cNvSpPr>
            <a:spLocks noGrp="1"/>
          </p:cNvSpPr>
          <p:nvPr>
            <p:ph idx="1"/>
          </p:nvPr>
        </p:nvSpPr>
        <p:spPr>
          <a:xfrm>
            <a:off x="649817" y="1367328"/>
            <a:ext cx="10972800" cy="4855672"/>
          </a:xfrm>
        </p:spPr>
        <p:txBody>
          <a:bodyPr/>
          <a:lstStyle/>
          <a:p>
            <a:r>
              <a:rPr lang="en-US" dirty="0"/>
              <a:t>As more real-word physical objects the more reliance we become with the virtual/digitization</a:t>
            </a:r>
          </a:p>
          <a:p>
            <a:pPr lvl="1"/>
            <a:r>
              <a:rPr lang="en-US" dirty="0"/>
              <a:t>Data we obtained from the computerized everyday objects such as smartwatch, planner, etc.</a:t>
            </a:r>
          </a:p>
          <a:p>
            <a:r>
              <a:rPr lang="en-US" dirty="0"/>
              <a:t>Internet of Everything refers to </a:t>
            </a:r>
            <a:r>
              <a:rPr lang="en-US" b="1" dirty="0"/>
              <a:t>all the connections that would be made</a:t>
            </a:r>
            <a:r>
              <a:rPr lang="en-US" dirty="0"/>
              <a:t>; and it won’t work like today’s connectivity where speed and capacity will not be as limited</a:t>
            </a:r>
          </a:p>
          <a:p>
            <a:r>
              <a:rPr lang="en-US" dirty="0"/>
              <a:t>Data created would be so massive that only Artificial Intelligence system will be able to manage</a:t>
            </a:r>
          </a:p>
          <a:p>
            <a:endParaRPr lang="en-US" dirty="0"/>
          </a:p>
        </p:txBody>
      </p:sp>
    </p:spTree>
    <p:extLst>
      <p:ext uri="{BB962C8B-B14F-4D97-AF65-F5344CB8AC3E}">
        <p14:creationId xmlns:p14="http://schemas.microsoft.com/office/powerpoint/2010/main" val="2826268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CF61-8ACC-45A9-AFEF-26DD1943B034}"/>
              </a:ext>
            </a:extLst>
          </p:cNvPr>
          <p:cNvSpPr>
            <a:spLocks noGrp="1"/>
          </p:cNvSpPr>
          <p:nvPr>
            <p:ph type="title"/>
          </p:nvPr>
        </p:nvSpPr>
        <p:spPr/>
        <p:txBody>
          <a:bodyPr/>
          <a:lstStyle/>
          <a:p>
            <a:r>
              <a:rPr lang="en-US" dirty="0"/>
              <a:t>Internet of Everything</a:t>
            </a:r>
          </a:p>
        </p:txBody>
      </p:sp>
      <p:sp>
        <p:nvSpPr>
          <p:cNvPr id="3" name="Content Placeholder 2">
            <a:extLst>
              <a:ext uri="{FF2B5EF4-FFF2-40B4-BE49-F238E27FC236}">
                <a16:creationId xmlns:a16="http://schemas.microsoft.com/office/drawing/2014/main" id="{46F205B4-E1F0-46D0-AC94-2879DEE67359}"/>
              </a:ext>
            </a:extLst>
          </p:cNvPr>
          <p:cNvSpPr>
            <a:spLocks noGrp="1"/>
          </p:cNvSpPr>
          <p:nvPr>
            <p:ph idx="1"/>
          </p:nvPr>
        </p:nvSpPr>
        <p:spPr/>
        <p:txBody>
          <a:bodyPr/>
          <a:lstStyle/>
          <a:p>
            <a:r>
              <a:rPr lang="en-US" dirty="0"/>
              <a:t>Everything will be so connected that some would say there is a potential of a fully electronic ecosystem</a:t>
            </a:r>
          </a:p>
          <a:p>
            <a:pPr lvl="1"/>
            <a:r>
              <a:rPr lang="en-US" dirty="0"/>
              <a:t>People are connected</a:t>
            </a:r>
          </a:p>
          <a:p>
            <a:pPr lvl="1"/>
            <a:r>
              <a:rPr lang="en-US" dirty="0"/>
              <a:t>Objects are connected</a:t>
            </a:r>
          </a:p>
          <a:p>
            <a:pPr lvl="1"/>
            <a:r>
              <a:rPr lang="en-US" dirty="0"/>
              <a:t>Animals are connected</a:t>
            </a:r>
          </a:p>
          <a:p>
            <a:pPr lvl="1"/>
            <a:r>
              <a:rPr lang="en-US" dirty="0"/>
              <a:t>Everything is connected!</a:t>
            </a:r>
          </a:p>
          <a:p>
            <a:r>
              <a:rPr lang="en-US" dirty="0"/>
              <a:t>In short, we are making our planet and near space, smart and connected</a:t>
            </a:r>
          </a:p>
          <a:p>
            <a:endParaRPr lang="en-US" dirty="0"/>
          </a:p>
        </p:txBody>
      </p:sp>
    </p:spTree>
    <p:extLst>
      <p:ext uri="{BB962C8B-B14F-4D97-AF65-F5344CB8AC3E}">
        <p14:creationId xmlns:p14="http://schemas.microsoft.com/office/powerpoint/2010/main" val="4271079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A2E8-1C22-4E45-ACAE-2D0C9476CB90}"/>
              </a:ext>
            </a:extLst>
          </p:cNvPr>
          <p:cNvSpPr>
            <a:spLocks noGrp="1"/>
          </p:cNvSpPr>
          <p:nvPr>
            <p:ph type="title"/>
          </p:nvPr>
        </p:nvSpPr>
        <p:spPr/>
        <p:txBody>
          <a:bodyPr/>
          <a:lstStyle/>
          <a:p>
            <a:r>
              <a:rPr lang="en-US" dirty="0"/>
              <a:t>Privacy Concern</a:t>
            </a:r>
          </a:p>
        </p:txBody>
      </p:sp>
      <p:sp>
        <p:nvSpPr>
          <p:cNvPr id="3" name="Content Placeholder 2">
            <a:extLst>
              <a:ext uri="{FF2B5EF4-FFF2-40B4-BE49-F238E27FC236}">
                <a16:creationId xmlns:a16="http://schemas.microsoft.com/office/drawing/2014/main" id="{56808C6D-8F67-4218-ADBD-DD445C037B71}"/>
              </a:ext>
            </a:extLst>
          </p:cNvPr>
          <p:cNvSpPr>
            <a:spLocks noGrp="1"/>
          </p:cNvSpPr>
          <p:nvPr>
            <p:ph idx="1"/>
          </p:nvPr>
        </p:nvSpPr>
        <p:spPr/>
        <p:txBody>
          <a:bodyPr/>
          <a:lstStyle/>
          <a:p>
            <a:r>
              <a:rPr lang="en-US" dirty="0"/>
              <a:t>All of our “moves” will be recorded in exchange to obtain the most out of the object</a:t>
            </a:r>
          </a:p>
          <a:p>
            <a:r>
              <a:rPr lang="en-US" dirty="0"/>
              <a:t>Many young people are already compromising their privacy</a:t>
            </a:r>
          </a:p>
          <a:p>
            <a:r>
              <a:rPr lang="en-US" dirty="0"/>
              <a:t>It is expected that this will become a norm in the future generation</a:t>
            </a:r>
          </a:p>
          <a:p>
            <a:r>
              <a:rPr lang="en-US" dirty="0"/>
              <a:t>Thus deploying IoE is likely</a:t>
            </a:r>
          </a:p>
          <a:p>
            <a:endParaRPr lang="en-US" dirty="0"/>
          </a:p>
        </p:txBody>
      </p:sp>
    </p:spTree>
    <p:extLst>
      <p:ext uri="{BB962C8B-B14F-4D97-AF65-F5344CB8AC3E}">
        <p14:creationId xmlns:p14="http://schemas.microsoft.com/office/powerpoint/2010/main" val="744706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2"/>
              </a:rPr>
              <a:t>https://www.youtube.com/watch?v=mz7c7mJESGE</a:t>
            </a:r>
            <a:endParaRPr lang="en-US" dirty="0"/>
          </a:p>
        </p:txBody>
      </p:sp>
      <p:pic>
        <p:nvPicPr>
          <p:cNvPr id="5" name="Picture 4">
            <a:hlinkClick r:id="rId2"/>
            <a:extLst>
              <a:ext uri="{FF2B5EF4-FFF2-40B4-BE49-F238E27FC236}">
                <a16:creationId xmlns:a16="http://schemas.microsoft.com/office/drawing/2014/main" id="{6B3ACF31-4EFD-4930-B3C3-EC8EE0A76587}"/>
              </a:ext>
            </a:extLst>
          </p:cNvPr>
          <p:cNvPicPr>
            <a:picLocks noChangeAspect="1"/>
          </p:cNvPicPr>
          <p:nvPr/>
        </p:nvPicPr>
        <p:blipFill>
          <a:blip r:embed="rId3"/>
          <a:stretch>
            <a:fillRect/>
          </a:stretch>
        </p:blipFill>
        <p:spPr>
          <a:xfrm>
            <a:off x="3812937" y="3542848"/>
            <a:ext cx="2686050" cy="1695450"/>
          </a:xfrm>
          <a:prstGeom prst="rect">
            <a:avLst/>
          </a:prstGeom>
        </p:spPr>
      </p:pic>
    </p:spTree>
    <p:extLst>
      <p:ext uri="{BB962C8B-B14F-4D97-AF65-F5344CB8AC3E}">
        <p14:creationId xmlns:p14="http://schemas.microsoft.com/office/powerpoint/2010/main" val="789659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BF6D-E77E-4674-B949-961BB957152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1E55D8B-925E-4FE7-94B1-68866C8002A6}"/>
              </a:ext>
            </a:extLst>
          </p:cNvPr>
          <p:cNvSpPr>
            <a:spLocks noGrp="1"/>
          </p:cNvSpPr>
          <p:nvPr>
            <p:ph idx="1"/>
          </p:nvPr>
        </p:nvSpPr>
        <p:spPr/>
        <p:txBody>
          <a:bodyPr/>
          <a:lstStyle/>
          <a:p>
            <a:r>
              <a:rPr lang="en-US" dirty="0"/>
              <a:t>Internet of Things</a:t>
            </a:r>
          </a:p>
          <a:p>
            <a:r>
              <a:rPr lang="en-US" dirty="0"/>
              <a:t>The Benefits of IoT</a:t>
            </a:r>
          </a:p>
          <a:p>
            <a:r>
              <a:rPr lang="en-US" dirty="0"/>
              <a:t>The Issues Evolving IoT</a:t>
            </a:r>
          </a:p>
          <a:p>
            <a:r>
              <a:rPr lang="en-US" dirty="0"/>
              <a:t>Internet of Everything</a:t>
            </a:r>
          </a:p>
          <a:p>
            <a:endParaRPr lang="en-US" dirty="0"/>
          </a:p>
          <a:p>
            <a:endParaRPr lang="en-US" dirty="0"/>
          </a:p>
        </p:txBody>
      </p:sp>
    </p:spTree>
    <p:extLst>
      <p:ext uri="{BB962C8B-B14F-4D97-AF65-F5344CB8AC3E}">
        <p14:creationId xmlns:p14="http://schemas.microsoft.com/office/powerpoint/2010/main" val="446814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4A81-853A-43F0-A2F6-C57F1AE3AA8B}"/>
              </a:ext>
            </a:extLst>
          </p:cNvPr>
          <p:cNvSpPr>
            <a:spLocks noGrp="1"/>
          </p:cNvSpPr>
          <p:nvPr>
            <p:ph type="title"/>
          </p:nvPr>
        </p:nvSpPr>
        <p:spPr/>
        <p:txBody>
          <a:bodyPr/>
          <a:lstStyle/>
          <a:p>
            <a:r>
              <a:rPr lang="en-SG" altLang="en-US" kern="0" dirty="0"/>
              <a:t>Questions and Answer</a:t>
            </a:r>
            <a:endParaRPr lang="en-US" dirty="0"/>
          </a:p>
        </p:txBody>
      </p:sp>
      <p:sp>
        <p:nvSpPr>
          <p:cNvPr id="5" name="Text Box 2">
            <a:extLst>
              <a:ext uri="{FF2B5EF4-FFF2-40B4-BE49-F238E27FC236}">
                <a16:creationId xmlns:a16="http://schemas.microsoft.com/office/drawing/2014/main" id="{06655399-1AA0-499D-9F83-D25A33D10FB3}"/>
              </a:ext>
            </a:extLst>
          </p:cNvPr>
          <p:cNvSpPr txBox="1">
            <a:spLocks noChangeArrowheads="1"/>
          </p:cNvSpPr>
          <p:nvPr/>
        </p:nvSpPr>
        <p:spPr bwMode="auto">
          <a:xfrm>
            <a:off x="2590800" y="2286000"/>
            <a:ext cx="49688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dirty="0"/>
              <a:t>Q &amp; A</a:t>
            </a:r>
          </a:p>
        </p:txBody>
      </p:sp>
    </p:spTree>
    <p:extLst>
      <p:ext uri="{BB962C8B-B14F-4D97-AF65-F5344CB8AC3E}">
        <p14:creationId xmlns:p14="http://schemas.microsoft.com/office/powerpoint/2010/main" val="3399185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2DC4-A488-4E79-B51B-CA576DB11655}"/>
              </a:ext>
            </a:extLst>
          </p:cNvPr>
          <p:cNvSpPr>
            <a:spLocks noGrp="1"/>
          </p:cNvSpPr>
          <p:nvPr>
            <p:ph type="title"/>
          </p:nvPr>
        </p:nvSpPr>
        <p:spPr/>
        <p:txBody>
          <a:bodyPr/>
          <a:lstStyle/>
          <a:p>
            <a:r>
              <a:rPr lang="en-US" dirty="0"/>
              <a:t>Next Lecture</a:t>
            </a:r>
            <a:br>
              <a:rPr lang="en-US" dirty="0"/>
            </a:br>
            <a:endParaRPr lang="en-US" dirty="0"/>
          </a:p>
        </p:txBody>
      </p:sp>
      <p:sp>
        <p:nvSpPr>
          <p:cNvPr id="3" name="Content Placeholder 2">
            <a:extLst>
              <a:ext uri="{FF2B5EF4-FFF2-40B4-BE49-F238E27FC236}">
                <a16:creationId xmlns:a16="http://schemas.microsoft.com/office/drawing/2014/main" id="{FDD2AF34-FA72-4CCE-AF24-76B70A7AF362}"/>
              </a:ext>
            </a:extLst>
          </p:cNvPr>
          <p:cNvSpPr>
            <a:spLocks noGrp="1"/>
          </p:cNvSpPr>
          <p:nvPr>
            <p:ph idx="1"/>
          </p:nvPr>
        </p:nvSpPr>
        <p:spPr/>
        <p:txBody>
          <a:bodyPr/>
          <a:lstStyle/>
          <a:p>
            <a:r>
              <a:rPr lang="en-US" dirty="0"/>
              <a:t>Digital Currencies and Blockchain</a:t>
            </a:r>
          </a:p>
        </p:txBody>
      </p:sp>
      <p:pic>
        <p:nvPicPr>
          <p:cNvPr id="6" name="Picture 5">
            <a:extLst>
              <a:ext uri="{FF2B5EF4-FFF2-40B4-BE49-F238E27FC236}">
                <a16:creationId xmlns:a16="http://schemas.microsoft.com/office/drawing/2014/main" id="{920EB102-8A5D-43D3-BA80-34AE82EAD7ED}"/>
              </a:ext>
            </a:extLst>
          </p:cNvPr>
          <p:cNvPicPr>
            <a:picLocks noChangeAspect="1"/>
          </p:cNvPicPr>
          <p:nvPr/>
        </p:nvPicPr>
        <p:blipFill>
          <a:blip r:embed="rId2"/>
          <a:stretch>
            <a:fillRect/>
          </a:stretch>
        </p:blipFill>
        <p:spPr>
          <a:xfrm>
            <a:off x="2658560" y="2730161"/>
            <a:ext cx="6585374" cy="2246573"/>
          </a:xfrm>
          <a:prstGeom prst="rect">
            <a:avLst/>
          </a:prstGeom>
        </p:spPr>
      </p:pic>
    </p:spTree>
    <p:extLst>
      <p:ext uri="{BB962C8B-B14F-4D97-AF65-F5344CB8AC3E}">
        <p14:creationId xmlns:p14="http://schemas.microsoft.com/office/powerpoint/2010/main" val="77585051"/>
      </p:ext>
    </p:extLst>
  </p:cSld>
  <p:clrMapOvr>
    <a:masterClrMapping/>
  </p:clrMapOvr>
</p:sld>
</file>

<file path=ppt/theme/theme1.xml><?xml version="1.0" encoding="utf-8"?>
<a:theme xmlns:a="http://schemas.openxmlformats.org/drawingml/2006/main" name="UCTI-Template-foundation-level">
  <a:themeElements>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CTI-Template-foundation-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41C6B378645544D9F10C30D9F2BCFB4" ma:contentTypeVersion="9" ma:contentTypeDescription="Create a new document." ma:contentTypeScope="" ma:versionID="3dcaa56ea438123d557e24c465044b3c">
  <xsd:schema xmlns:xsd="http://www.w3.org/2001/XMLSchema" xmlns:xs="http://www.w3.org/2001/XMLSchema" xmlns:p="http://schemas.microsoft.com/office/2006/metadata/properties" xmlns:ns2="6d54a27f-32b3-46ed-801e-110df5e77a46" targetNamespace="http://schemas.microsoft.com/office/2006/metadata/properties" ma:root="true" ma:fieldsID="4208030726db9b86847690f0b0a379ad" ns2:_="">
    <xsd:import namespace="6d54a27f-32b3-46ed-801e-110df5e77a4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AutoKeyPoints" minOccurs="0"/>
                <xsd:element ref="ns2:MediaServiceKeyPoint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4a27f-32b3-46ed-801e-110df5e77a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1FDA315-7D43-477F-A327-512F320090B1}">
  <ds:schemaRefs>
    <ds:schemaRef ds:uri="http://schemas.microsoft.com/sharepoint/v3/contenttype/forms"/>
  </ds:schemaRefs>
</ds:datastoreItem>
</file>

<file path=customXml/itemProps2.xml><?xml version="1.0" encoding="utf-8"?>
<ds:datastoreItem xmlns:ds="http://schemas.openxmlformats.org/officeDocument/2006/customXml" ds:itemID="{FD517AF2-C247-44A8-9414-86EE88E31C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4a27f-32b3-46ed-801e-110df5e77a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B19EA3-5ED7-4B17-A604-69F43B2E14E8}">
  <ds:schemaRefs>
    <ds:schemaRef ds:uri="http://schemas.microsoft.com/office/2006/documentManagement/types"/>
    <ds:schemaRef ds:uri="6d54a27f-32b3-46ed-801e-110df5e77a46"/>
    <ds:schemaRef ds:uri="http://schemas.microsoft.com/office/2006/metadata/properties"/>
    <ds:schemaRef ds:uri="http://purl.org/dc/dcmitype/"/>
    <ds:schemaRef ds:uri="http://schemas.microsoft.com/office/infopath/2007/PartnerControls"/>
    <ds:schemaRef ds:uri="http://purl.org/dc/terms/"/>
    <ds:schemaRef ds:uri="http://purl.org/dc/elements/1.1/"/>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18</TotalTime>
  <Words>1107</Words>
  <Application>Microsoft Office PowerPoint</Application>
  <PresentationFormat>Widescreen</PresentationFormat>
  <Paragraphs>140</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Source Serif Pro</vt:lpstr>
      <vt:lpstr>UCTI-Template-foundation-level</vt:lpstr>
      <vt:lpstr>Digital Thinking and Innovation</vt:lpstr>
      <vt:lpstr>Introduction</vt:lpstr>
      <vt:lpstr>Learning Outcomes for the Lecture</vt:lpstr>
      <vt:lpstr>Content</vt:lpstr>
      <vt:lpstr>Mind Map</vt:lpstr>
      <vt:lpstr>Learning Outcomes for the Lecture</vt:lpstr>
      <vt:lpstr>Internet of Things</vt:lpstr>
      <vt:lpstr>Internet of Things</vt:lpstr>
      <vt:lpstr>Internet of Things</vt:lpstr>
      <vt:lpstr>Internet of Things</vt:lpstr>
      <vt:lpstr>Internet of Things</vt:lpstr>
      <vt:lpstr>Learning Outcomes for the Lecture</vt:lpstr>
      <vt:lpstr>Group Discussion</vt:lpstr>
      <vt:lpstr>The Digitization of Everyday Objects</vt:lpstr>
      <vt:lpstr>Emergent Cyber-Physical Systems</vt:lpstr>
      <vt:lpstr>Autonomy and Machine Learning</vt:lpstr>
      <vt:lpstr>Learning Outcomes for the Lecture</vt:lpstr>
      <vt:lpstr>Benefits of IoT</vt:lpstr>
      <vt:lpstr>Benefits of IoT</vt:lpstr>
      <vt:lpstr>Benefits of IoT</vt:lpstr>
      <vt:lpstr>Learning Outcomes for the Lecture</vt:lpstr>
      <vt:lpstr>Issues Evolving IoT</vt:lpstr>
      <vt:lpstr>Learning Outcomes for the Lecture</vt:lpstr>
      <vt:lpstr>Internet of Everything</vt:lpstr>
      <vt:lpstr>Internet of Everything</vt:lpstr>
      <vt:lpstr>Privacy Concern</vt:lpstr>
      <vt:lpstr>Group Discussion</vt:lpstr>
      <vt:lpstr>Summary</vt:lpstr>
      <vt:lpstr>Questions and Answer</vt:lpstr>
      <vt:lpstr>Next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Thinking and Innovation</dc:title>
  <dc:creator>Rozita Yati Masri</dc:creator>
  <cp:lastModifiedBy>Dr. Safaie Mangir</cp:lastModifiedBy>
  <cp:revision>5</cp:revision>
  <dcterms:created xsi:type="dcterms:W3CDTF">2020-09-07T09:55:46Z</dcterms:created>
  <dcterms:modified xsi:type="dcterms:W3CDTF">2024-12-18T16:01:19Z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0x010100241C6B378645544D9F10C30D9F2BCFB4</vt:lpwstr>
  </property>
</Properties>
</file>