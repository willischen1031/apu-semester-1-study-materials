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268" r:id="rId6"/>
    <p:sldId id="269" r:id="rId7"/>
    <p:sldId id="330" r:id="rId8"/>
    <p:sldId id="271" r:id="rId9"/>
    <p:sldId id="336" r:id="rId10"/>
    <p:sldId id="318" r:id="rId11"/>
    <p:sldId id="266" r:id="rId12"/>
    <p:sldId id="337" r:id="rId13"/>
    <p:sldId id="324" r:id="rId14"/>
    <p:sldId id="331" r:id="rId15"/>
    <p:sldId id="332" r:id="rId16"/>
    <p:sldId id="326" r:id="rId17"/>
    <p:sldId id="327" r:id="rId18"/>
    <p:sldId id="333" r:id="rId19"/>
    <p:sldId id="341" r:id="rId20"/>
    <p:sldId id="338" r:id="rId21"/>
    <p:sldId id="328" r:id="rId22"/>
    <p:sldId id="334" r:id="rId23"/>
    <p:sldId id="329" r:id="rId24"/>
    <p:sldId id="335" r:id="rId25"/>
    <p:sldId id="339" r:id="rId26"/>
    <p:sldId id="319" r:id="rId27"/>
    <p:sldId id="320" r:id="rId28"/>
    <p:sldId id="321" r:id="rId29"/>
    <p:sldId id="322" r:id="rId30"/>
    <p:sldId id="323" r:id="rId31"/>
    <p:sldId id="340" r:id="rId32"/>
    <p:sldId id="325" r:id="rId33"/>
    <p:sldId id="267" r:id="rId34"/>
    <p:sldId id="272" r:id="rId35"/>
    <p:sldId id="2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3CEDB-9B5B-4301-8CE9-0AA3E0C87217}" v="5" dt="2020-10-11T09:01:05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EC492-69B0-4465-A6FA-D36EBC8B947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9C043-AC2A-4573-97C4-ACAC207D9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6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19A55E57-38E4-41C7-8154-A8B991DE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3429000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sz="1800"/>
          </a:p>
        </p:txBody>
      </p:sp>
      <p:pic>
        <p:nvPicPr>
          <p:cNvPr id="5" name="Picture 10" descr="APU Logo_Final_Vertical_V1_HR1 copy.png">
            <a:extLst>
              <a:ext uri="{FF2B5EF4-FFF2-40B4-BE49-F238E27FC236}">
                <a16:creationId xmlns:a16="http://schemas.microsoft.com/office/drawing/2014/main" id="{D82D9B23-9521-4397-A0C7-7D0BE0B0C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517" y="2514600"/>
            <a:ext cx="337396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85584" y="1952626"/>
            <a:ext cx="9006416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66533" y="3886200"/>
            <a:ext cx="9025467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36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311925" cy="1367327"/>
          </a:xfrm>
          <a:solidFill>
            <a:srgbClr val="A2FFA3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CCE7B-8C0C-42E3-87DC-DE817FB78B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723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92066-0EF0-4FF8-93AA-2093B8EDA0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7115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113-A871-44A2-B949-2DB5FAFF9E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7288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D21544-1A19-450A-9A54-709EC423BC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571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AD2FE-548C-4C8C-86B4-F659E1B7E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048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17C336-48FB-4D30-BD06-54EA5295C4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4995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35719-93FB-4BCB-999D-ADC5B6C8F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895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97F50-3179-4421-9233-93FB4F4AE8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452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899FE-50CE-4592-8241-9731B40B43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06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79417" y="274638"/>
            <a:ext cx="27432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7700" y="274638"/>
            <a:ext cx="8028517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6B087-45F3-4C06-AF9A-3C1779880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950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74638"/>
            <a:ext cx="93895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4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417" y="164147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A6DC315-7F58-4763-BC2C-AF70BD9B47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7D8E3-266E-47CB-8CC4-A3D79B48A3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847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78D6A39E-0BA3-4626-8EF0-3422758B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1934" y="2570164"/>
            <a:ext cx="9609667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D889B73-4BC7-4175-8777-89F60498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034" y="6564768"/>
            <a:ext cx="12192000" cy="236537"/>
          </a:xfrm>
          <a:prstGeom prst="rect">
            <a:avLst/>
          </a:prstGeom>
          <a:solidFill>
            <a:srgbClr val="A2FFA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 sz="1800" dirty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326838-1107-4D82-B9EC-B2E5D9B1D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9817" y="16970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3E5B5E28-740F-4CE1-8D47-D46EA3E4F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274638"/>
            <a:ext cx="93895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6024" name="Rectangle 8">
            <a:extLst>
              <a:ext uri="{FF2B5EF4-FFF2-40B4-BE49-F238E27FC236}">
                <a16:creationId xmlns:a16="http://schemas.microsoft.com/office/drawing/2014/main" id="{C50B826F-79B0-4D38-A8FA-4FBA74C95E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6623050"/>
            <a:ext cx="38608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8716479A-60E4-42E1-B9D1-F4016DE67B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9E037968-5E94-4DFF-A255-3B9193204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333" y="6597650"/>
            <a:ext cx="3615267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A5908B1-49F6-461B-A3D4-C9A0E65D12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1" y="1"/>
            <a:ext cx="20193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429DECCA-7DD8-4649-B5F0-68AF206F0C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CT109-3-1 Digital Thinking and Innovation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F278BB-82F4-4B22-B50D-9EE74E7A53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24979" y="6597650"/>
            <a:ext cx="3134360" cy="270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Innovation through Artificial Intelligence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E638AF-4EDC-4522-9A39-B43EA52AE9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57835" y="660781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 dirty="0">
                <a:latin typeface="Calibri" pitchFamily="34" charset="0"/>
                <a:cs typeface="Calibri" pitchFamily="34" charset="0"/>
              </a:rPr>
              <a:t>Slide </a:t>
            </a:r>
            <a:fld id="{DECA9CF0-005F-441B-BAB5-56B8212B3760}" type="slidenum">
              <a:rPr lang="en-GB" sz="1000" smtClean="0">
                <a:latin typeface="Calibri" pitchFamily="34" charset="0"/>
                <a:cs typeface="Calibri" pitchFamily="34" charset="0"/>
              </a:rPr>
              <a:pPr algn="r">
                <a:defRPr/>
              </a:pPr>
              <a:t>‹#›</a:t>
            </a:fld>
            <a:r>
              <a:rPr lang="en-GB" sz="1000" dirty="0">
                <a:latin typeface="Calibri" pitchFamily="34" charset="0"/>
                <a:cs typeface="Calibri" pitchFamily="34" charset="0"/>
              </a:rPr>
              <a:t> out of 26</a:t>
            </a:r>
          </a:p>
        </p:txBody>
      </p:sp>
    </p:spTree>
    <p:extLst>
      <p:ext uri="{BB962C8B-B14F-4D97-AF65-F5344CB8AC3E}">
        <p14:creationId xmlns:p14="http://schemas.microsoft.com/office/powerpoint/2010/main" val="71784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ad79nYk2ke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2033-E616-4689-8B30-032E753181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Thinking and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624DE-0F9F-4A4F-8533-D7F4AD4E9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Innovation through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6805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7FD2-3BC9-4D69-A5CA-55E90937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EA78-3F9D-4EBF-BBC6-460FCCBF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topic discusses the concept of Artificial Intelligence and the AI technologies taking place in our everyday lives.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7F138-A7AA-4D1C-8FE1-9D69FDD3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75" y="2991333"/>
            <a:ext cx="5626903" cy="32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5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/>
              <a:t>Understand the term Artificial Intelligence</a:t>
            </a:r>
          </a:p>
          <a:p>
            <a:pPr lvl="1"/>
            <a:r>
              <a:rPr lang="en-US" altLang="en-US" dirty="0"/>
              <a:t>Explain the concept of expert systems</a:t>
            </a:r>
          </a:p>
          <a:p>
            <a:pPr lvl="1"/>
            <a:r>
              <a:rPr lang="en-US" altLang="en-US" dirty="0"/>
              <a:t>Understand the importance of machine learning</a:t>
            </a:r>
          </a:p>
          <a:p>
            <a:pPr lvl="1"/>
            <a:r>
              <a:rPr lang="en-US" altLang="en-US" dirty="0"/>
              <a:t>Explain the frontiers of Artificial Intelligence</a:t>
            </a:r>
          </a:p>
          <a:p>
            <a:pPr lvl="1"/>
            <a:r>
              <a:rPr lang="en-US" altLang="en-US" dirty="0"/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877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3EA3-2049-4811-B9DA-3FCCAD17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95F8-D25D-4E3C-83E1-C6B2753B1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70795"/>
            <a:ext cx="10146384" cy="4100446"/>
          </a:xfrm>
        </p:spPr>
        <p:txBody>
          <a:bodyPr/>
          <a:lstStyle/>
          <a:p>
            <a:r>
              <a:rPr lang="en-US" sz="2400" dirty="0"/>
              <a:t>Artificial Intelligence</a:t>
            </a:r>
          </a:p>
          <a:p>
            <a:pPr lvl="1"/>
            <a:r>
              <a:rPr lang="en-US" sz="2000" dirty="0"/>
              <a:t>Expert Systems</a:t>
            </a:r>
          </a:p>
          <a:p>
            <a:pPr lvl="1"/>
            <a:r>
              <a:rPr lang="en-US" sz="2000" dirty="0"/>
              <a:t>Machine Learning </a:t>
            </a:r>
          </a:p>
          <a:p>
            <a:pPr lvl="1"/>
            <a:r>
              <a:rPr lang="en-US" sz="2000" dirty="0"/>
              <a:t>Neural Network</a:t>
            </a:r>
          </a:p>
          <a:p>
            <a:r>
              <a:rPr lang="en-US" sz="2400" dirty="0"/>
              <a:t>AI Frontiers</a:t>
            </a:r>
          </a:p>
          <a:p>
            <a:pPr lvl="1"/>
            <a:r>
              <a:rPr lang="en-US" sz="2000" dirty="0"/>
              <a:t>Robotics</a:t>
            </a:r>
          </a:p>
          <a:p>
            <a:pPr lvl="1"/>
            <a:r>
              <a:rPr lang="en-US" sz="2000" dirty="0"/>
              <a:t>Computer Vision</a:t>
            </a:r>
          </a:p>
          <a:p>
            <a:pPr lvl="1"/>
            <a:r>
              <a:rPr lang="en-US" sz="2000" dirty="0"/>
              <a:t>Voice Recognition</a:t>
            </a:r>
          </a:p>
          <a:p>
            <a:pPr lvl="1"/>
            <a:r>
              <a:rPr lang="en-US" sz="2000" dirty="0"/>
              <a:t>Natural Language Processing</a:t>
            </a:r>
          </a:p>
          <a:p>
            <a:r>
              <a:rPr lang="en-US" sz="2400" dirty="0"/>
              <a:t>Impacts of AI on Human Labor</a:t>
            </a:r>
          </a:p>
        </p:txBody>
      </p:sp>
    </p:spTree>
    <p:extLst>
      <p:ext uri="{BB962C8B-B14F-4D97-AF65-F5344CB8AC3E}">
        <p14:creationId xmlns:p14="http://schemas.microsoft.com/office/powerpoint/2010/main" val="152790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E481BA-8336-4B81-A977-71281F26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311925" cy="1367327"/>
          </a:xfrm>
        </p:spPr>
        <p:txBody>
          <a:bodyPr/>
          <a:lstStyle/>
          <a:p>
            <a:r>
              <a:rPr lang="en-US" dirty="0"/>
              <a:t>Mind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0B4E3-453C-4853-9233-7EF3F062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7" y="2497282"/>
            <a:ext cx="11327145" cy="308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4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/>
              <a:t>Understand the term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concept of expert systems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importance of machine learning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frontiers of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011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00AD-91A5-40DD-8794-BD6164D4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185AB-484F-4CE9-BA44-8A25146D1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Artificial Intelligence (AI)</a:t>
            </a:r>
            <a:r>
              <a:rPr lang="en-US" dirty="0"/>
              <a:t>: The concept of creating computer programs or machines capable of behavior we would regard as intelligent if exhibited by humans</a:t>
            </a:r>
          </a:p>
          <a:p>
            <a:r>
              <a:rPr lang="en-US" dirty="0"/>
              <a:t>An important truth: this new technology will impact a great many things that we hold dear, from our livelihoods to our sense of 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1075" y="5051629"/>
            <a:ext cx="96554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What AI movie that you have watched?</a:t>
            </a:r>
          </a:p>
        </p:txBody>
      </p:sp>
    </p:spTree>
    <p:extLst>
      <p:ext uri="{BB962C8B-B14F-4D97-AF65-F5344CB8AC3E}">
        <p14:creationId xmlns:p14="http://schemas.microsoft.com/office/powerpoint/2010/main" val="68464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D047-F806-4D5F-89FA-E41CCAC5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2044-43E3-4947-BD82-12007E3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and discuss the content of the video:</a:t>
            </a:r>
          </a:p>
          <a:p>
            <a:pPr lvl="1"/>
            <a:r>
              <a:rPr lang="en-US" dirty="0">
                <a:hlinkClick r:id="rId2"/>
              </a:rPr>
              <a:t>https://www.youtube.com/watch?v=ad79nYk2keg</a:t>
            </a:r>
            <a:endParaRPr lang="en-US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B3ACF31-4EFD-4930-B3C3-EC8EE0A7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937" y="3542848"/>
            <a:ext cx="26860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term Artificial Intelligence</a:t>
            </a:r>
          </a:p>
          <a:p>
            <a:pPr lvl="1"/>
            <a:r>
              <a:rPr lang="en-US" altLang="en-US" dirty="0"/>
              <a:t>Explain the concept of expert systems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importance of machine learning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frontiers of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984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E42A-A5B3-4192-8833-1C46298DA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FF04B-7063-466B-B423-D5D5BCFB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SzPct val="70000"/>
              <a:buFontTx/>
              <a:buNone/>
            </a:pPr>
            <a:r>
              <a:rPr lang="en-US" altLang="en-US" dirty="0"/>
              <a:t>System that employs human knowledge captured in a computer to solve problems that ordinarily requires human expertise.</a:t>
            </a:r>
          </a:p>
          <a:p>
            <a:pPr eaLnBrk="1" hangingPunct="1">
              <a:buSzPct val="70000"/>
              <a:buFontTx/>
              <a:buNone/>
            </a:pPr>
            <a:r>
              <a:rPr lang="en-US" altLang="en-US" dirty="0"/>
              <a:t>ES </a:t>
            </a:r>
            <a:r>
              <a:rPr lang="en-US" altLang="en-US" i="1" dirty="0"/>
              <a:t>imitates</a:t>
            </a:r>
            <a:r>
              <a:rPr lang="en-US" altLang="en-US" dirty="0"/>
              <a:t> an Expert’s </a:t>
            </a:r>
            <a:r>
              <a:rPr lang="en-US" altLang="en-US" i="1" dirty="0"/>
              <a:t>reasoning processes </a:t>
            </a:r>
            <a:r>
              <a:rPr lang="en-US" altLang="en-US" dirty="0"/>
              <a:t>to solve specific problems.</a:t>
            </a:r>
          </a:p>
          <a:p>
            <a:pPr eaLnBrk="1" hangingPunct="1">
              <a:buSzPct val="70000"/>
              <a:buFontTx/>
              <a:buNone/>
            </a:pPr>
            <a:endParaRPr lang="en-US" altLang="en-US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i="1" dirty="0">
                <a:solidFill>
                  <a:srgbClr val="7030A0"/>
                </a:solidFill>
                <a:cs typeface="Times New Roman" panose="02020603050405020304" pitchFamily="18" charset="0"/>
              </a:rPr>
              <a:t>Key word – problem solving through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i="1" dirty="0">
                <a:solidFill>
                  <a:srgbClr val="7030A0"/>
                </a:solidFill>
                <a:cs typeface="Times New Roman" panose="02020603050405020304" pitchFamily="18" charset="0"/>
              </a:rPr>
              <a:t>Thinking + Perception + Action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7051F-E45E-4E15-BF0C-249C9B3D1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2" y="4117975"/>
            <a:ext cx="24669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349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Expert System</a:t>
            </a:r>
          </a:p>
        </p:txBody>
      </p:sp>
      <p:pic>
        <p:nvPicPr>
          <p:cNvPr id="1026" name="Picture 2" descr="CPSC547 Knowledge Based Syste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24" y="1502906"/>
            <a:ext cx="7975075" cy="484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11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Expert System</a:t>
            </a:r>
          </a:p>
        </p:txBody>
      </p:sp>
      <p:pic>
        <p:nvPicPr>
          <p:cNvPr id="2050" name="Picture 2" descr="Expert System in Artificial Intelligence: What is, Applications,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748" y="1802219"/>
            <a:ext cx="7623742" cy="451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61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4FA2-2D21-4395-87E8-9DDF4A1E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Expert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3C4F-A3E2-47BE-8A7F-E6379372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/>
              <a:t>To preserve knowledge</a:t>
            </a:r>
          </a:p>
          <a:p>
            <a:pPr marL="514350" indent="-51435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/>
              <a:t>Helps if expertise is scarce, expensive and unavailable</a:t>
            </a:r>
          </a:p>
          <a:p>
            <a:pPr marL="514350" indent="-514350" eaLnBrk="1" hangingPunct="1"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/>
              <a:t>Helps if under time and pressure constraints </a:t>
            </a:r>
          </a:p>
          <a:p>
            <a:pPr marL="914400" lvl="1" indent="-514350" eaLnBrk="1" hangingPunct="1">
              <a:spcBef>
                <a:spcPts val="0"/>
              </a:spcBef>
            </a:pPr>
            <a:r>
              <a:rPr lang="en-US" altLang="en-US" dirty="0" err="1"/>
              <a:t>eg</a:t>
            </a:r>
            <a:r>
              <a:rPr lang="en-US" altLang="en-US" dirty="0"/>
              <a:t> Medical emergencies</a:t>
            </a:r>
          </a:p>
          <a:p>
            <a:pPr marL="514350" indent="-51435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/>
              <a:t>To train new employees </a:t>
            </a:r>
          </a:p>
          <a:p>
            <a:pPr marL="914400" lvl="1" indent="-514350" eaLnBrk="1" hangingPunct="1">
              <a:spcBef>
                <a:spcPts val="0"/>
              </a:spcBef>
            </a:pPr>
            <a:r>
              <a:rPr lang="en-US" altLang="en-US" dirty="0" err="1"/>
              <a:t>eg</a:t>
            </a:r>
            <a:r>
              <a:rPr lang="en-US" altLang="en-US" dirty="0"/>
              <a:t> CBT (</a:t>
            </a:r>
            <a:r>
              <a:rPr lang="en-US" b="1" dirty="0"/>
              <a:t>Cognitive behavioral therapy</a:t>
            </a:r>
            <a:r>
              <a:rPr lang="en-US" dirty="0"/>
              <a:t> (</a:t>
            </a:r>
            <a:r>
              <a:rPr lang="en-US" b="1" dirty="0"/>
              <a:t>CBT</a:t>
            </a:r>
            <a:r>
              <a:rPr lang="en-US" dirty="0"/>
              <a:t>))</a:t>
            </a:r>
            <a:endParaRPr lang="en-US" altLang="en-US" dirty="0"/>
          </a:p>
          <a:p>
            <a:pPr marL="514350" indent="-51435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dirty="0"/>
              <a:t>To improve worker productivity </a:t>
            </a:r>
          </a:p>
          <a:p>
            <a:pPr marL="914400" lvl="1" indent="-514350" eaLnBrk="1" hangingPunct="1">
              <a:spcBef>
                <a:spcPts val="0"/>
              </a:spcBef>
            </a:pPr>
            <a:r>
              <a:rPr lang="en-US" altLang="en-US" dirty="0" err="1"/>
              <a:t>eg</a:t>
            </a:r>
            <a:r>
              <a:rPr lang="en-US" altLang="en-US" dirty="0"/>
              <a:t> Ask the Expert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43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CF84-89DC-425C-9538-E8493A9B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Expert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1BB8-3F67-4890-87C1-268ACE765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862" y="1697038"/>
            <a:ext cx="11412755" cy="4525962"/>
          </a:xfrm>
        </p:spPr>
        <p:txBody>
          <a:bodyPr/>
          <a:lstStyle/>
          <a:p>
            <a:pPr marL="514350" indent="-514350" eaLnBrk="1" hangingPunct="1">
              <a:buSzPct val="70000"/>
              <a:buFont typeface="+mj-lt"/>
              <a:buAutoNum type="arabicPeriod"/>
            </a:pPr>
            <a:r>
              <a:rPr lang="en-US" altLang="en-US" dirty="0"/>
              <a:t>Experts</a:t>
            </a:r>
          </a:p>
          <a:p>
            <a:pPr marL="514350" indent="-514350" eaLnBrk="1" hangingPunct="1">
              <a:buSzPct val="70000"/>
              <a:buFont typeface="+mj-lt"/>
              <a:buAutoNum type="arabicPeriod"/>
            </a:pPr>
            <a:r>
              <a:rPr lang="en-US" altLang="en-US" dirty="0"/>
              <a:t>Transferring Expertise</a:t>
            </a:r>
          </a:p>
          <a:p>
            <a:pPr marL="514350" indent="-514350" eaLnBrk="1" hangingPunct="1">
              <a:buSzPct val="70000"/>
              <a:buFont typeface="+mj-lt"/>
              <a:buAutoNum type="arabicPeriod"/>
            </a:pPr>
            <a:r>
              <a:rPr lang="en-US" altLang="en-US" dirty="0"/>
              <a:t>Rules and Inferencing</a:t>
            </a:r>
          </a:p>
          <a:p>
            <a:pPr marL="974725" lvl="1" indent="0" eaLnBrk="1" hangingPunct="1">
              <a:buSzPct val="70000"/>
              <a:buNone/>
            </a:pPr>
            <a:r>
              <a:rPr lang="en-US" altLang="en-US" sz="2400" dirty="0"/>
              <a:t>IF Face is pale AND Pulse is accelerated </a:t>
            </a:r>
          </a:p>
          <a:p>
            <a:pPr marL="1379538" lvl="2" indent="-579438" eaLnBrk="1" hangingPunct="1">
              <a:buSzPct val="70000"/>
              <a:buNone/>
            </a:pPr>
            <a:r>
              <a:rPr lang="en-US" altLang="en-US" dirty="0"/>
              <a:t>	THEN Patient is in shock</a:t>
            </a:r>
          </a:p>
          <a:p>
            <a:pPr marL="974725" indent="0" eaLnBrk="1" hangingPunct="1">
              <a:lnSpc>
                <a:spcPct val="90000"/>
              </a:lnSpc>
              <a:buSzPct val="70000"/>
              <a:buFontTx/>
              <a:buNone/>
              <a:defRPr/>
            </a:pPr>
            <a:r>
              <a:rPr lang="en-US" altLang="en-US" sz="2400" b="1" dirty="0"/>
              <a:t>THEREFORE</a:t>
            </a:r>
          </a:p>
          <a:p>
            <a:pPr marL="1768475" eaLnBrk="1" hangingPunct="1">
              <a:lnSpc>
                <a:spcPct val="90000"/>
              </a:lnSpc>
              <a:buSzPct val="70000"/>
              <a:defRPr/>
            </a:pPr>
            <a:r>
              <a:rPr lang="en-US" altLang="en-US" sz="2400" dirty="0"/>
              <a:t>Help patient to lie down</a:t>
            </a:r>
          </a:p>
          <a:p>
            <a:pPr marL="1768475" eaLnBrk="1" hangingPunct="1">
              <a:lnSpc>
                <a:spcPct val="90000"/>
              </a:lnSpc>
              <a:buSzPct val="70000"/>
              <a:defRPr/>
            </a:pPr>
            <a:r>
              <a:rPr lang="en-US" altLang="en-US" sz="2400" dirty="0"/>
              <a:t>Raise and Support Legs</a:t>
            </a:r>
          </a:p>
          <a:p>
            <a:pPr marL="1768475" eaLnBrk="1" hangingPunct="1">
              <a:lnSpc>
                <a:spcPct val="90000"/>
              </a:lnSpc>
              <a:buSzPct val="70000"/>
              <a:defRPr/>
            </a:pPr>
            <a:r>
              <a:rPr lang="en-US" altLang="en-US" sz="2400" dirty="0"/>
              <a:t>Loosen tight clothing</a:t>
            </a:r>
          </a:p>
          <a:p>
            <a:pPr marL="514350" indent="-514350" eaLnBrk="1" hangingPunct="1">
              <a:buSzPct val="70000"/>
              <a:buFont typeface="+mj-lt"/>
              <a:buAutoNum type="arabicPeriod" startAt="4"/>
            </a:pPr>
            <a:r>
              <a:rPr lang="en-US" altLang="en-US" dirty="0"/>
              <a:t>Explanation Capability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B24A3-3134-4745-AF2C-83442147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910" y="1545377"/>
            <a:ext cx="5687513" cy="40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5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examples…</a:t>
            </a:r>
          </a:p>
        </p:txBody>
      </p:sp>
      <p:pic>
        <p:nvPicPr>
          <p:cNvPr id="3074" name="Picture 2" descr="Creating an expert system knowledge base: step 4 – random content  generation – lawactually with darin thomps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737" y="1614215"/>
            <a:ext cx="6515463" cy="470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555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70145-9DCD-1CB0-808E-3BFCB1C8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581A-4034-2EFD-39EA-BA1DE787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Discussion…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95B48-8286-23E7-0D6C-B544EC1D04F9}"/>
              </a:ext>
            </a:extLst>
          </p:cNvPr>
          <p:cNvSpPr txBox="1"/>
          <p:nvPr/>
        </p:nvSpPr>
        <p:spPr>
          <a:xfrm>
            <a:off x="1606136" y="3259178"/>
            <a:ext cx="88085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dirty="0"/>
              <a:t>https://www.youtube.com/watch?v=R49U8pHnb4g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1643C-C970-90F0-71C1-1A8E31CA52E7}"/>
              </a:ext>
            </a:extLst>
          </p:cNvPr>
          <p:cNvSpPr txBox="1"/>
          <p:nvPr/>
        </p:nvSpPr>
        <p:spPr>
          <a:xfrm>
            <a:off x="893617" y="1943921"/>
            <a:ext cx="94183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Watch and discuss the content of the video</a:t>
            </a: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88134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term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concept of expert systems</a:t>
            </a:r>
          </a:p>
          <a:p>
            <a:pPr lvl="1"/>
            <a:r>
              <a:rPr lang="en-US" altLang="en-US" dirty="0"/>
              <a:t>Understand the importance of machine learning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frontiers of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887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A41E-21DC-4B89-B7AD-133763A5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3211-B2D0-4FF1-A35F-E3513540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367328"/>
            <a:ext cx="10972800" cy="4451581"/>
          </a:xfrm>
        </p:spPr>
        <p:txBody>
          <a:bodyPr/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Machine learning </a:t>
            </a:r>
            <a:r>
              <a:rPr lang="en-US" sz="2400" dirty="0"/>
              <a:t>is a method of data analysis that automates analytical model building. It is a branch of artificial intelligence based on the idea that systems can learn from data, identify patterns and make decisions with minimal human intervention.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Examples: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Virtual Personal Assistants.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Predictions while Commuting.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Videos Surveillance.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Social Media Services.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Email Spam and Malware Filtering.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Online Customer Support.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Search Engine Result Refining.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Source: https://www.sas.com/en_us/insights/analytics/machine-learning.html</a:t>
            </a:r>
          </a:p>
        </p:txBody>
      </p:sp>
    </p:spTree>
    <p:extLst>
      <p:ext uri="{BB962C8B-B14F-4D97-AF65-F5344CB8AC3E}">
        <p14:creationId xmlns:p14="http://schemas.microsoft.com/office/powerpoint/2010/main" val="1319380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A41E-21DC-4B89-B7AD-133763A5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3211-B2D0-4FF1-A35F-E3513540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367328"/>
            <a:ext cx="10972800" cy="4855672"/>
          </a:xfrm>
        </p:spPr>
        <p:txBody>
          <a:bodyPr/>
          <a:lstStyle/>
          <a:p>
            <a:r>
              <a:rPr lang="en-US" dirty="0"/>
              <a:t>The ability to learn is an important aspect of human intelligence </a:t>
            </a:r>
          </a:p>
          <a:p>
            <a:pPr lvl="1"/>
            <a:r>
              <a:rPr lang="en-US" dirty="0"/>
              <a:t>The question is how do people learn? </a:t>
            </a:r>
          </a:p>
          <a:p>
            <a:pPr lvl="1"/>
            <a:r>
              <a:rPr lang="en-US" dirty="0"/>
              <a:t>Can we program computers to learn the same way?</a:t>
            </a:r>
          </a:p>
          <a:p>
            <a:r>
              <a:rPr lang="en-US" dirty="0"/>
              <a:t>People have been collecting and analyzing data for a long time. The new data-centric approach to AI goes by several names</a:t>
            </a:r>
          </a:p>
          <a:p>
            <a:pPr lvl="1"/>
            <a:r>
              <a:rPr lang="en-US" dirty="0"/>
              <a:t>Machine learning </a:t>
            </a:r>
          </a:p>
          <a:p>
            <a:pPr lvl="1"/>
            <a:r>
              <a:rPr lang="en-US" dirty="0"/>
              <a:t>Big data</a:t>
            </a:r>
          </a:p>
          <a:p>
            <a:pPr lvl="1"/>
            <a:r>
              <a:rPr lang="en-US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6462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8C48-88D9-4E4B-87C5-3C82A7D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C037D-B70A-4E2E-898A-3B67CBC86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697038"/>
            <a:ext cx="7279980" cy="4525962"/>
          </a:xfrm>
        </p:spPr>
        <p:txBody>
          <a:bodyPr/>
          <a:lstStyle/>
          <a:p>
            <a:r>
              <a:rPr lang="en-US" dirty="0"/>
              <a:t>A computer program inspired by certain presumed organizational principles of a real neural network (such as your brain)</a:t>
            </a:r>
          </a:p>
          <a:p>
            <a:r>
              <a:rPr lang="en-US" dirty="0"/>
              <a:t>A series of algorithms that endeavors to recognize underlying relationships in a set of data through a process that mimics the way the human brain operates.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3EBD9-B8F4-4B6B-8E74-23046DF0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1767378"/>
            <a:ext cx="2857500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A704D8-2A9B-4997-BAD2-81AB58195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354" y="3977177"/>
            <a:ext cx="3825734" cy="22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47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8C48-88D9-4E4B-87C5-3C82A7D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Artificial Neural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086" y="1754857"/>
            <a:ext cx="808590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Modular Neural Networks.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Feedforward Neural Network – Artificial Neuron.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Radial basis function Neural Network.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Kohonen</a:t>
            </a: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 Self Organizing Neural Network.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Recurrent Neural Network(RNN)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Convolutional Neural Network.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Long / Short Term Memory.</a:t>
            </a:r>
            <a:endParaRPr lang="en-US" sz="240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Artificial neural networks in medical diagnosis - Science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355" y="3363548"/>
            <a:ext cx="5155276" cy="271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939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term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concept of expert systems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importance of machine learning</a:t>
            </a:r>
          </a:p>
          <a:p>
            <a:pPr lvl="1"/>
            <a:r>
              <a:rPr lang="en-US" altLang="en-US" dirty="0"/>
              <a:t>Explain the frontiers of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033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43DD-156B-441E-B2DD-F0FEFE80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Frontiers of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789E-0B9F-4A83-8607-1B436B663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Research Area and Development:</a:t>
            </a:r>
          </a:p>
          <a:p>
            <a:pPr lvl="1"/>
            <a:r>
              <a:rPr lang="en-US" dirty="0"/>
              <a:t>Robotics</a:t>
            </a:r>
          </a:p>
          <a:p>
            <a:pPr lvl="1"/>
            <a:r>
              <a:rPr lang="en-US" dirty="0"/>
              <a:t>Computer Vision</a:t>
            </a:r>
          </a:p>
          <a:p>
            <a:pPr lvl="1"/>
            <a:r>
              <a:rPr lang="en-US" dirty="0"/>
              <a:t>Speech Recognition</a:t>
            </a:r>
          </a:p>
          <a:p>
            <a:pPr lvl="1"/>
            <a:r>
              <a:rPr lang="en-US" dirty="0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3968117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0E6F-0532-4599-9819-D11891B2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2DE35-64CD-4253-AF31-0CF8FAA70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7" y="1367328"/>
            <a:ext cx="10989410" cy="4855672"/>
          </a:xfrm>
        </p:spPr>
        <p:txBody>
          <a:bodyPr/>
          <a:lstStyle/>
          <a:p>
            <a:r>
              <a:rPr lang="en-US" dirty="0"/>
              <a:t>Involves building machines that are capable of performing physical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6C4AF-0E56-45A4-AEC1-146022B0C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767" y="3120483"/>
            <a:ext cx="4140860" cy="237018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3CBFD9-560A-463E-955A-C04C80E8C8F6}"/>
              </a:ext>
            </a:extLst>
          </p:cNvPr>
          <p:cNvSpPr txBox="1">
            <a:spLocks/>
          </p:cNvSpPr>
          <p:nvPr/>
        </p:nvSpPr>
        <p:spPr bwMode="auto">
          <a:xfrm>
            <a:off x="649817" y="2566020"/>
            <a:ext cx="6848550" cy="344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b="1" kern="0" dirty="0" err="1"/>
              <a:t>ElliQ</a:t>
            </a:r>
            <a:r>
              <a:rPr lang="en-US" sz="2800" kern="0" dirty="0"/>
              <a:t>: Can be integrated with various messaging and social media platforms, enabling users to send and receive texts and pictures without fussing with a cellphone</a:t>
            </a:r>
          </a:p>
          <a:p>
            <a:pPr lvl="1"/>
            <a:r>
              <a:rPr lang="en-US" sz="2400" kern="0" dirty="0"/>
              <a:t>Can hold conversations with patients</a:t>
            </a:r>
          </a:p>
          <a:p>
            <a:pPr lvl="1"/>
            <a:r>
              <a:rPr lang="en-US" sz="2400" kern="0" dirty="0"/>
              <a:t>Remind patients to take their medications</a:t>
            </a:r>
          </a:p>
          <a:p>
            <a:pPr lvl="1"/>
            <a:r>
              <a:rPr lang="en-US" sz="2400" kern="0" dirty="0"/>
              <a:t>Lead patients in light physical activities to improve physical and mental health</a:t>
            </a:r>
          </a:p>
        </p:txBody>
      </p:sp>
    </p:spTree>
    <p:extLst>
      <p:ext uri="{BB962C8B-B14F-4D97-AF65-F5344CB8AC3E}">
        <p14:creationId xmlns:p14="http://schemas.microsoft.com/office/powerpoint/2010/main" val="1684670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1F5B-A39C-4ACD-B1C6-4B5165CB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38D66-AD54-4BDA-8B3D-540D007A3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Primarily focused on equipping computers with the ability to “see,” in the sense of interpreting visual images</a:t>
            </a:r>
          </a:p>
          <a:p>
            <a:r>
              <a:rPr lang="en-US" b="1" dirty="0" err="1"/>
              <a:t>AmazonGo</a:t>
            </a:r>
            <a:r>
              <a:rPr lang="en-US" b="1" dirty="0"/>
              <a:t> Stores</a:t>
            </a:r>
            <a:r>
              <a:rPr lang="en-US" dirty="0"/>
              <a:t>: cameras are used to let employees know when something was taken off the shelves. It can also identify returned items or removed items from a shopping cart</a:t>
            </a:r>
          </a:p>
          <a:p>
            <a:r>
              <a:rPr lang="en-US" b="1" dirty="0"/>
              <a:t>Facebook: </a:t>
            </a:r>
            <a:r>
              <a:rPr lang="en-US" dirty="0"/>
              <a:t>Uses facial recognition (“</a:t>
            </a:r>
            <a:r>
              <a:rPr lang="en-US" dirty="0" err="1"/>
              <a:t>DeepFace</a:t>
            </a:r>
            <a:r>
              <a:rPr lang="en-US" dirty="0"/>
              <a:t>”) when automatically tagging photos that are posted to your profile</a:t>
            </a:r>
          </a:p>
        </p:txBody>
      </p:sp>
    </p:spTree>
    <p:extLst>
      <p:ext uri="{BB962C8B-B14F-4D97-AF65-F5344CB8AC3E}">
        <p14:creationId xmlns:p14="http://schemas.microsoft.com/office/powerpoint/2010/main" val="2507191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61B2-AAAB-4B51-A0E8-C671ACDC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Speech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EE9B-603B-4E5F-9652-99F14C3F2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converting speech signal into digital data</a:t>
            </a:r>
          </a:p>
          <a:p>
            <a:r>
              <a:rPr lang="en-US" b="1" dirty="0"/>
              <a:t>Siri/Google Assistant/Galaxy</a:t>
            </a:r>
            <a:r>
              <a:rPr lang="en-US" dirty="0"/>
              <a:t>: You can commend for the system to do perform tasks or ask questions about movies, sports, and restaurants. Each displays a beautifully formatted response and speaks in a calm voice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BB09D-A539-4C07-AB8A-18CBC3E54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868" y="4622800"/>
            <a:ext cx="2857500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B32D1B-88F7-4235-AEC3-B31AE445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41" y="4622800"/>
            <a:ext cx="2857500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736956-4FB4-4AFA-9862-C1BA460CC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914" y="4651375"/>
            <a:ext cx="29718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03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2AC3-3721-4C1A-B025-13C49CBC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8479-981A-4436-8948-9345B48E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Deals with the interaction between computers and humans using the natural language</a:t>
            </a:r>
          </a:p>
          <a:p>
            <a:r>
              <a:rPr lang="en-US" b="1" dirty="0"/>
              <a:t>Predictive Text</a:t>
            </a:r>
            <a:r>
              <a:rPr lang="en-US" dirty="0"/>
              <a:t>: An input technology that facilitates typing on a mobile device by suggesting words the end user may wish to insert in a text field</a:t>
            </a:r>
          </a:p>
          <a:p>
            <a:r>
              <a:rPr lang="en-US" b="1" dirty="0"/>
              <a:t>Google Search (</a:t>
            </a:r>
            <a:r>
              <a:rPr lang="en-US" b="1" dirty="0" err="1"/>
              <a:t>RankBrain</a:t>
            </a:r>
            <a:r>
              <a:rPr lang="en-US" b="1" dirty="0"/>
              <a:t>)</a:t>
            </a:r>
            <a:r>
              <a:rPr lang="en-US" dirty="0"/>
              <a:t>: All of our Google search queries are being run through </a:t>
            </a:r>
            <a:r>
              <a:rPr lang="en-US" dirty="0" err="1"/>
              <a:t>RankBrain</a:t>
            </a:r>
            <a:r>
              <a:rPr lang="en-US" dirty="0"/>
              <a:t> </a:t>
            </a:r>
            <a:endParaRPr lang="en-US" sz="2800" dirty="0"/>
          </a:p>
          <a:p>
            <a:pPr lvl="1"/>
            <a:r>
              <a:rPr lang="en-US" sz="2400" dirty="0"/>
              <a:t>Learnt which search results we like </a:t>
            </a:r>
          </a:p>
          <a:p>
            <a:pPr lvl="1"/>
            <a:r>
              <a:rPr lang="en-US" sz="2400" dirty="0"/>
              <a:t>Find pages that might not have the exact words we searched for but that we would find interesting and relevant to what we are looking 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62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FC83-D2A5-4D05-8BF2-F929B5BC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for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340-36DA-4ED1-989B-9D2CBC44C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At the end of this lecture you will be able to: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term Artificial Intelligence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concept of expert systems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the importance of machine learning</a:t>
            </a:r>
          </a:p>
          <a:p>
            <a:pPr lvl="1"/>
            <a:r>
              <a:rPr lang="en-US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 the frontiers of Artificial Intelligence</a:t>
            </a:r>
          </a:p>
          <a:p>
            <a:pPr lvl="1"/>
            <a:r>
              <a:rPr lang="en-US" altLang="en-US" dirty="0"/>
              <a:t>Discuss the impacts of Artificial Intelligence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3341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EE93-EBA0-456B-97AD-2B27FABB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AI on Human Labor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96DF9-5AF8-4E6B-A00F-61315D156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robots going to take away our jobs?</a:t>
            </a:r>
          </a:p>
          <a:p>
            <a:r>
              <a:rPr lang="en-US" dirty="0"/>
              <a:t>What new tasks will AI systems automate?</a:t>
            </a:r>
          </a:p>
          <a:p>
            <a:r>
              <a:rPr lang="en-US" dirty="0"/>
              <a:t>Which jobs are most and least at risk?</a:t>
            </a:r>
          </a:p>
          <a:p>
            <a:r>
              <a:rPr lang="en-US" dirty="0"/>
              <a:t>How will AI affect blue-collar workers?</a:t>
            </a:r>
          </a:p>
          <a:p>
            <a:r>
              <a:rPr lang="en-US" dirty="0"/>
              <a:t>How will AI affect white-collar professions?</a:t>
            </a:r>
          </a:p>
        </p:txBody>
      </p:sp>
    </p:spTree>
    <p:extLst>
      <p:ext uri="{BB962C8B-B14F-4D97-AF65-F5344CB8AC3E}">
        <p14:creationId xmlns:p14="http://schemas.microsoft.com/office/powerpoint/2010/main" val="188237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BF6D-E77E-4674-B949-961BB957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5D8B-925E-4FE7-94B1-68866C80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  <a:p>
            <a:pPr lvl="1"/>
            <a:r>
              <a:rPr lang="en-US" dirty="0"/>
              <a:t>Expert Systems</a:t>
            </a:r>
          </a:p>
          <a:p>
            <a:pPr lvl="1"/>
            <a:r>
              <a:rPr lang="en-US" dirty="0"/>
              <a:t>Machine Learning and Neural Network</a:t>
            </a:r>
          </a:p>
          <a:p>
            <a:r>
              <a:rPr lang="en-US" dirty="0"/>
              <a:t>AI Frontiers</a:t>
            </a:r>
          </a:p>
          <a:p>
            <a:pPr lvl="1"/>
            <a:r>
              <a:rPr lang="en-US" dirty="0"/>
              <a:t>Robotics</a:t>
            </a:r>
          </a:p>
          <a:p>
            <a:pPr lvl="1"/>
            <a:r>
              <a:rPr lang="en-US" dirty="0"/>
              <a:t>Computer Vision</a:t>
            </a:r>
          </a:p>
          <a:p>
            <a:pPr lvl="1"/>
            <a:r>
              <a:rPr lang="en-US" dirty="0"/>
              <a:t>Voice Recognition</a:t>
            </a:r>
          </a:p>
          <a:p>
            <a:pPr lvl="1"/>
            <a:r>
              <a:rPr lang="en-US" dirty="0"/>
              <a:t>NLP</a:t>
            </a:r>
          </a:p>
          <a:p>
            <a:r>
              <a:rPr lang="en-US" dirty="0"/>
              <a:t>Impacts of AI on Human Labor</a:t>
            </a:r>
          </a:p>
        </p:txBody>
      </p:sp>
    </p:spTree>
    <p:extLst>
      <p:ext uri="{BB962C8B-B14F-4D97-AF65-F5344CB8AC3E}">
        <p14:creationId xmlns:p14="http://schemas.microsoft.com/office/powerpoint/2010/main" val="446814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4A81-853A-43F0-A2F6-C57F1AE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altLang="en-US" kern="0" dirty="0"/>
              <a:t>Questions and Answer</a:t>
            </a:r>
            <a:endParaRPr lang="en-US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6655399-1AA0-499D-9F83-D25A33D10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399185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2DC4-A488-4E79-B51B-CA576DB1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AF34-FA72-4CCE-AF24-76B70A7A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Innovation through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6053D-4386-47A7-86AE-94E01DACA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16" y="2634711"/>
            <a:ext cx="8482013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5051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C6B378645544D9F10C30D9F2BCFB4" ma:contentTypeVersion="9" ma:contentTypeDescription="Create a new document." ma:contentTypeScope="" ma:versionID="3dcaa56ea438123d557e24c465044b3c">
  <xsd:schema xmlns:xsd="http://www.w3.org/2001/XMLSchema" xmlns:xs="http://www.w3.org/2001/XMLSchema" xmlns:p="http://schemas.microsoft.com/office/2006/metadata/properties" xmlns:ns2="6d54a27f-32b3-46ed-801e-110df5e77a46" targetNamespace="http://schemas.microsoft.com/office/2006/metadata/properties" ma:root="true" ma:fieldsID="4208030726db9b86847690f0b0a379ad" ns2:_="">
    <xsd:import namespace="6d54a27f-32b3-46ed-801e-110df5e7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4a27f-32b3-46ed-801e-110df5e77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473F40-14FC-41B0-8514-F4AD11F286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19C4AF-FB25-470C-BA4E-AE8F6CD9BDD8}">
  <ds:schemaRefs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A1C44E4-3F09-480C-8132-B3002A939B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1206</Words>
  <Application>Microsoft Office PowerPoint</Application>
  <PresentationFormat>Widescreen</PresentationFormat>
  <Paragraphs>173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</vt:lpstr>
      <vt:lpstr>Calibri</vt:lpstr>
      <vt:lpstr>Times New Roman</vt:lpstr>
      <vt:lpstr>Wingdings</vt:lpstr>
      <vt:lpstr>UCTI-Template-foundation-level</vt:lpstr>
      <vt:lpstr>Digital Thinking and Innovation</vt:lpstr>
      <vt:lpstr>Introduction</vt:lpstr>
      <vt:lpstr>Learning Outcomes for the Lecture</vt:lpstr>
      <vt:lpstr>Content</vt:lpstr>
      <vt:lpstr>Mind Map</vt:lpstr>
      <vt:lpstr>Learning Outcomes for the Lecture</vt:lpstr>
      <vt:lpstr>Artificial Intelligence</vt:lpstr>
      <vt:lpstr>Group Discussion</vt:lpstr>
      <vt:lpstr>Learning Outcomes for the Lecture</vt:lpstr>
      <vt:lpstr>Expert System</vt:lpstr>
      <vt:lpstr>Medical Expert System</vt:lpstr>
      <vt:lpstr>Why Expert System</vt:lpstr>
      <vt:lpstr>Why Use Expert Systems</vt:lpstr>
      <vt:lpstr>Concept of Expert System</vt:lpstr>
      <vt:lpstr>Another examples…</vt:lpstr>
      <vt:lpstr>Group Discussion…</vt:lpstr>
      <vt:lpstr>Learning Outcomes for the Lecture</vt:lpstr>
      <vt:lpstr>Machine Learning</vt:lpstr>
      <vt:lpstr>Machine Learning</vt:lpstr>
      <vt:lpstr>Artificial Neural Networks</vt:lpstr>
      <vt:lpstr>Examples of Artificial Neural Networks</vt:lpstr>
      <vt:lpstr>Learning Outcomes for the Lecture</vt:lpstr>
      <vt:lpstr>Frontiers of Artificial Intelligence</vt:lpstr>
      <vt:lpstr>Robotics</vt:lpstr>
      <vt:lpstr>Computer Vision</vt:lpstr>
      <vt:lpstr>Speech Recognition</vt:lpstr>
      <vt:lpstr>Natural Language Processing (NLP)</vt:lpstr>
      <vt:lpstr>Learning Outcomes for the Lecture</vt:lpstr>
      <vt:lpstr>Impacts of AI on Human Labor</vt:lpstr>
      <vt:lpstr>Summary</vt:lpstr>
      <vt:lpstr>Questions and Answer</vt:lpstr>
      <vt:lpstr>Next Lecture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Thinking and Innovation</dc:title>
  <dc:creator>Rozita Yati Masri</dc:creator>
  <cp:lastModifiedBy>Dr. Safaie Mangir</cp:lastModifiedBy>
  <cp:revision>43</cp:revision>
  <dcterms:created xsi:type="dcterms:W3CDTF">2020-05-10T10:13:35Z</dcterms:created>
  <dcterms:modified xsi:type="dcterms:W3CDTF">2025-09-23T18:11:52Z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0x010100241C6B378645544D9F10C30D9F2BCFB4</vt:lpwstr>
  </property>
</Properties>
</file>