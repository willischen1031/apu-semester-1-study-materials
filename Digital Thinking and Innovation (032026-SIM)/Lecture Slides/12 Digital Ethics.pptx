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3"/>
  </p:sldMasterIdLst>
  <p:notesMasterIdLst>
    <p:notesMasterId r:id="rId30"/>
  </p:notesMasterIdLst>
  <p:handoutMasterIdLst>
    <p:handoutMasterId r:id="rId31"/>
  </p:handoutMasterIdLst>
  <p:sldIdLst>
    <p:sldId id="256" r:id="rId4"/>
    <p:sldId id="260" r:id="rId5"/>
    <p:sldId id="292" r:id="rId6"/>
    <p:sldId id="259" r:id="rId7"/>
    <p:sldId id="300" r:id="rId8"/>
    <p:sldId id="301" r:id="rId9"/>
    <p:sldId id="307" r:id="rId10"/>
    <p:sldId id="267" r:id="rId11"/>
    <p:sldId id="268" r:id="rId12"/>
    <p:sldId id="302" r:id="rId13"/>
    <p:sldId id="294" r:id="rId14"/>
    <p:sldId id="297" r:id="rId15"/>
    <p:sldId id="308" r:id="rId16"/>
    <p:sldId id="298" r:id="rId17"/>
    <p:sldId id="269" r:id="rId18"/>
    <p:sldId id="309" r:id="rId19"/>
    <p:sldId id="296" r:id="rId20"/>
    <p:sldId id="303" r:id="rId21"/>
    <p:sldId id="310" r:id="rId22"/>
    <p:sldId id="271" r:id="rId23"/>
    <p:sldId id="272" r:id="rId24"/>
    <p:sldId id="273" r:id="rId25"/>
    <p:sldId id="266" r:id="rId26"/>
    <p:sldId id="299" r:id="rId27"/>
    <p:sldId id="264" r:id="rId28"/>
    <p:sldId id="265" r:id="rId29"/>
  </p:sldIdLst>
  <p:sldSz cx="9144000" cy="6858000" type="screen4x3"/>
  <p:notesSz cx="6807200" cy="99393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15" autoAdjust="0"/>
    <p:restoredTop sz="92650" autoAdjust="0"/>
  </p:normalViewPr>
  <p:slideViewPr>
    <p:cSldViewPr>
      <p:cViewPr varScale="1">
        <p:scale>
          <a:sx n="57" d="100"/>
          <a:sy n="57" d="100"/>
        </p:scale>
        <p:origin x="181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584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0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2.xml"/><Relationship Id="rId2" Type="http://schemas.openxmlformats.org/officeDocument/2006/relationships/slide" Target="slides/slide21.xml"/><Relationship Id="rId1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CB766E-259A-4EB3-A977-28C0647E97A8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4E90FBCA-295E-4AF7-A89B-28C34DCD3DDA}">
      <dgm:prSet phldrT="[Text]"/>
      <dgm:spPr/>
      <dgm:t>
        <a:bodyPr/>
        <a:lstStyle/>
        <a:p>
          <a:r>
            <a:rPr lang="en-SG" dirty="0">
              <a:solidFill>
                <a:schemeClr val="tx1"/>
              </a:solidFill>
            </a:rPr>
            <a:t>Digital Ethics</a:t>
          </a:r>
          <a:endParaRPr lang="en-MY" dirty="0">
            <a:solidFill>
              <a:schemeClr val="tx1"/>
            </a:solidFill>
          </a:endParaRPr>
        </a:p>
      </dgm:t>
    </dgm:pt>
    <dgm:pt modelId="{DBA40122-6895-4E9A-AB0A-90CC821EF531}" type="parTrans" cxnId="{F6052039-CEDD-4658-8A61-82604F166D2D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063EDE7B-47F3-40CC-BDCD-9E60797F4123}" type="sibTrans" cxnId="{F6052039-CEDD-4658-8A61-82604F166D2D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D43617A9-2081-4D86-A876-B0E8163BC27D}">
      <dgm:prSet phldrT="[Text]"/>
      <dgm:spPr/>
      <dgm:t>
        <a:bodyPr/>
        <a:lstStyle/>
        <a:p>
          <a:r>
            <a:rPr lang="en-GB" altLang="en-US" dirty="0">
              <a:solidFill>
                <a:schemeClr val="tx1"/>
              </a:solidFill>
            </a:rPr>
            <a:t>Computer Ethics, Ethics, Morals, Law</a:t>
          </a:r>
          <a:endParaRPr lang="en-MY" dirty="0">
            <a:solidFill>
              <a:schemeClr val="tx1"/>
            </a:solidFill>
          </a:endParaRPr>
        </a:p>
      </dgm:t>
    </dgm:pt>
    <dgm:pt modelId="{E69D8634-0AD8-41FE-8F06-9FFC26CC78B5}" type="parTrans" cxnId="{79B347B1-B07D-46D2-A1A2-93A42733E8E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5C14DF48-5FAB-4638-B6E3-042B662D4FBF}" type="sibTrans" cxnId="{79B347B1-B07D-46D2-A1A2-93A42733E8E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4C88F8FA-4418-4690-8431-C78C191C5025}">
      <dgm:prSet phldrT="[Text]"/>
      <dgm:spPr/>
      <dgm:t>
        <a:bodyPr/>
        <a:lstStyle/>
        <a:p>
          <a:r>
            <a:rPr lang="en-US" altLang="en-US" dirty="0">
              <a:solidFill>
                <a:schemeClr val="tx1"/>
              </a:solidFill>
            </a:rPr>
            <a:t>Importance of CSR </a:t>
          </a:r>
          <a:endParaRPr lang="en-MY" dirty="0">
            <a:solidFill>
              <a:schemeClr val="tx1"/>
            </a:solidFill>
          </a:endParaRPr>
        </a:p>
      </dgm:t>
    </dgm:pt>
    <dgm:pt modelId="{25B9B311-5F75-4634-9D93-91C91C140AD4}" type="parTrans" cxnId="{75E8DB40-5FCE-4798-BCCF-2F67442F85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4D55B6D7-3B76-493F-9272-B105E0F58C17}" type="sibTrans" cxnId="{75E8DB40-5FCE-4798-BCCF-2F67442F85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5F43E5E1-7BAF-4CDE-B093-FFD0247E049F}">
      <dgm:prSet phldrT="[Text]"/>
      <dgm:spPr/>
      <dgm:t>
        <a:bodyPr/>
        <a:lstStyle/>
        <a:p>
          <a:r>
            <a:rPr lang="en-US" altLang="en-US" dirty="0">
              <a:solidFill>
                <a:schemeClr val="tx1"/>
              </a:solidFill>
            </a:rPr>
            <a:t>Bribes and Gifts</a:t>
          </a:r>
          <a:endParaRPr lang="en-MY" dirty="0">
            <a:solidFill>
              <a:schemeClr val="tx1"/>
            </a:solidFill>
          </a:endParaRPr>
        </a:p>
      </dgm:t>
    </dgm:pt>
    <dgm:pt modelId="{18AE9B21-6A84-433C-A37C-69C78EA16329}" type="parTrans" cxnId="{97F0C3C8-C86F-4683-BA3C-764F73C537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C86A455-E9F1-4D9A-B1FB-D8055D63F6AD}" type="sibTrans" cxnId="{97F0C3C8-C86F-4683-BA3C-764F73C537BE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BC2FEDFD-FA14-43B6-94B0-356B94B390BE}">
      <dgm:prSet/>
      <dgm:spPr/>
      <dgm:t>
        <a:bodyPr/>
        <a:lstStyle/>
        <a:p>
          <a:r>
            <a:rPr lang="en-GB" altLang="en-US" b="1" dirty="0">
              <a:solidFill>
                <a:schemeClr val="tx1"/>
              </a:solidFill>
            </a:rPr>
            <a:t>Code of Ethics and Professionalism</a:t>
          </a:r>
          <a:endParaRPr lang="en-US" altLang="en-US" b="1" dirty="0">
            <a:solidFill>
              <a:schemeClr val="tx1"/>
            </a:solidFill>
          </a:endParaRPr>
        </a:p>
      </dgm:t>
    </dgm:pt>
    <dgm:pt modelId="{54A58B62-4073-44DD-A117-C046AFFF4A15}" type="parTrans" cxnId="{B1826D89-AF82-49C8-AB1C-DD50F28AFA9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063FC524-28AD-4E74-9B50-59D6BB2E2C09}" type="sibTrans" cxnId="{B1826D89-AF82-49C8-AB1C-DD50F28AFA90}">
      <dgm:prSet/>
      <dgm:spPr/>
      <dgm:t>
        <a:bodyPr/>
        <a:lstStyle/>
        <a:p>
          <a:endParaRPr lang="en-MY">
            <a:solidFill>
              <a:schemeClr val="tx1"/>
            </a:solidFill>
          </a:endParaRPr>
        </a:p>
      </dgm:t>
    </dgm:pt>
    <dgm:pt modelId="{CA1A9FB5-59B9-4360-9A78-DA21A499FA53}" type="pres">
      <dgm:prSet presAssocID="{B1CB766E-259A-4EB3-A977-28C0647E97A8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5FC504C-C9CA-471E-81A6-BED7663672D9}" type="pres">
      <dgm:prSet presAssocID="{4E90FBCA-295E-4AF7-A89B-28C34DCD3DDA}" presName="singleCycle" presStyleCnt="0"/>
      <dgm:spPr/>
    </dgm:pt>
    <dgm:pt modelId="{59F22751-4BD6-4B4E-ACD2-C5F95C6E0BC7}" type="pres">
      <dgm:prSet presAssocID="{4E90FBCA-295E-4AF7-A89B-28C34DCD3DDA}" presName="singleCenter" presStyleLbl="node1" presStyleIdx="0" presStyleCnt="5" custScaleX="191863">
        <dgm:presLayoutVars>
          <dgm:chMax val="7"/>
          <dgm:chPref val="7"/>
        </dgm:presLayoutVars>
      </dgm:prSet>
      <dgm:spPr/>
    </dgm:pt>
    <dgm:pt modelId="{2E7F6B21-5DFB-4F7E-9D5D-E81E35DEEE7F}" type="pres">
      <dgm:prSet presAssocID="{E69D8634-0AD8-41FE-8F06-9FFC26CC78B5}" presName="Name56" presStyleLbl="parChTrans1D2" presStyleIdx="0" presStyleCnt="4"/>
      <dgm:spPr/>
    </dgm:pt>
    <dgm:pt modelId="{86A8F647-875F-4B73-AAFE-084385EC6135}" type="pres">
      <dgm:prSet presAssocID="{D43617A9-2081-4D86-A876-B0E8163BC27D}" presName="text0" presStyleLbl="node1" presStyleIdx="1" presStyleCnt="5" custScaleX="394671">
        <dgm:presLayoutVars>
          <dgm:bulletEnabled val="1"/>
        </dgm:presLayoutVars>
      </dgm:prSet>
      <dgm:spPr/>
    </dgm:pt>
    <dgm:pt modelId="{250C7E91-6600-4821-A97E-B6280D18ED1C}" type="pres">
      <dgm:prSet presAssocID="{54A58B62-4073-44DD-A117-C046AFFF4A15}" presName="Name56" presStyleLbl="parChTrans1D2" presStyleIdx="1" presStyleCnt="4"/>
      <dgm:spPr/>
    </dgm:pt>
    <dgm:pt modelId="{928C1CBC-17F6-4D49-983B-28CBFBCA997C}" type="pres">
      <dgm:prSet presAssocID="{BC2FEDFD-FA14-43B6-94B0-356B94B390BE}" presName="text0" presStyleLbl="node1" presStyleIdx="2" presStyleCnt="5" custScaleX="236980" custRadScaleRad="193597" custRadScaleInc="513">
        <dgm:presLayoutVars>
          <dgm:bulletEnabled val="1"/>
        </dgm:presLayoutVars>
      </dgm:prSet>
      <dgm:spPr/>
    </dgm:pt>
    <dgm:pt modelId="{056C2F29-DA5E-4CB5-B77C-06227FFA72F0}" type="pres">
      <dgm:prSet presAssocID="{25B9B311-5F75-4634-9D93-91C91C140AD4}" presName="Name56" presStyleLbl="parChTrans1D2" presStyleIdx="2" presStyleCnt="4"/>
      <dgm:spPr/>
    </dgm:pt>
    <dgm:pt modelId="{DE7507D5-DAC1-4121-B49A-167EF5A10EF5}" type="pres">
      <dgm:prSet presAssocID="{4C88F8FA-4418-4690-8431-C78C191C5025}" presName="text0" presStyleLbl="node1" presStyleIdx="3" presStyleCnt="5" custScaleX="376073">
        <dgm:presLayoutVars>
          <dgm:bulletEnabled val="1"/>
        </dgm:presLayoutVars>
      </dgm:prSet>
      <dgm:spPr/>
    </dgm:pt>
    <dgm:pt modelId="{B20FD146-996C-4C04-9BDB-8C41BA6E990D}" type="pres">
      <dgm:prSet presAssocID="{18AE9B21-6A84-433C-A37C-69C78EA16329}" presName="Name56" presStyleLbl="parChTrans1D2" presStyleIdx="3" presStyleCnt="4"/>
      <dgm:spPr/>
    </dgm:pt>
    <dgm:pt modelId="{2C09D61B-AFBE-4100-87D4-9AF76A6FC01E}" type="pres">
      <dgm:prSet presAssocID="{5F43E5E1-7BAF-4CDE-B093-FFD0247E049F}" presName="text0" presStyleLbl="node1" presStyleIdx="4" presStyleCnt="5" custScaleX="193021" custRadScaleRad="176479" custRadScaleInc="-2814">
        <dgm:presLayoutVars>
          <dgm:bulletEnabled val="1"/>
        </dgm:presLayoutVars>
      </dgm:prSet>
      <dgm:spPr/>
    </dgm:pt>
  </dgm:ptLst>
  <dgm:cxnLst>
    <dgm:cxn modelId="{F6052039-CEDD-4658-8A61-82604F166D2D}" srcId="{B1CB766E-259A-4EB3-A977-28C0647E97A8}" destId="{4E90FBCA-295E-4AF7-A89B-28C34DCD3DDA}" srcOrd="0" destOrd="0" parTransId="{DBA40122-6895-4E9A-AB0A-90CC821EF531}" sibTransId="{063EDE7B-47F3-40CC-BDCD-9E60797F4123}"/>
    <dgm:cxn modelId="{75E8DB40-5FCE-4798-BCCF-2F67442F85BE}" srcId="{4E90FBCA-295E-4AF7-A89B-28C34DCD3DDA}" destId="{4C88F8FA-4418-4690-8431-C78C191C5025}" srcOrd="2" destOrd="0" parTransId="{25B9B311-5F75-4634-9D93-91C91C140AD4}" sibTransId="{4D55B6D7-3B76-493F-9272-B105E0F58C17}"/>
    <dgm:cxn modelId="{F3860761-63DB-4613-81B1-90FCA3398D72}" type="presOf" srcId="{4E90FBCA-295E-4AF7-A89B-28C34DCD3DDA}" destId="{59F22751-4BD6-4B4E-ACD2-C5F95C6E0BC7}" srcOrd="0" destOrd="0" presId="urn:microsoft.com/office/officeart/2008/layout/RadialCluster"/>
    <dgm:cxn modelId="{1F1E5E6B-6433-4E2A-8977-8BEC38F1B500}" type="presOf" srcId="{4C88F8FA-4418-4690-8431-C78C191C5025}" destId="{DE7507D5-DAC1-4121-B49A-167EF5A10EF5}" srcOrd="0" destOrd="0" presId="urn:microsoft.com/office/officeart/2008/layout/RadialCluster"/>
    <dgm:cxn modelId="{A22DDF56-A809-44DB-98B9-2AC0C368793C}" type="presOf" srcId="{18AE9B21-6A84-433C-A37C-69C78EA16329}" destId="{B20FD146-996C-4C04-9BDB-8C41BA6E990D}" srcOrd="0" destOrd="0" presId="urn:microsoft.com/office/officeart/2008/layout/RadialCluster"/>
    <dgm:cxn modelId="{8437CD7D-9154-4F04-9629-9C7E62F5AEDE}" type="presOf" srcId="{D43617A9-2081-4D86-A876-B0E8163BC27D}" destId="{86A8F647-875F-4B73-AAFE-084385EC6135}" srcOrd="0" destOrd="0" presId="urn:microsoft.com/office/officeart/2008/layout/RadialCluster"/>
    <dgm:cxn modelId="{B1826D89-AF82-49C8-AB1C-DD50F28AFA90}" srcId="{4E90FBCA-295E-4AF7-A89B-28C34DCD3DDA}" destId="{BC2FEDFD-FA14-43B6-94B0-356B94B390BE}" srcOrd="1" destOrd="0" parTransId="{54A58B62-4073-44DD-A117-C046AFFF4A15}" sibTransId="{063FC524-28AD-4E74-9B50-59D6BB2E2C09}"/>
    <dgm:cxn modelId="{75C1A9A6-BCAD-466B-BCF0-3CA6F7DF5F3C}" type="presOf" srcId="{5F43E5E1-7BAF-4CDE-B093-FFD0247E049F}" destId="{2C09D61B-AFBE-4100-87D4-9AF76A6FC01E}" srcOrd="0" destOrd="0" presId="urn:microsoft.com/office/officeart/2008/layout/RadialCluster"/>
    <dgm:cxn modelId="{4776FCAD-EC7C-4A10-B090-2D9D78C2346C}" type="presOf" srcId="{BC2FEDFD-FA14-43B6-94B0-356B94B390BE}" destId="{928C1CBC-17F6-4D49-983B-28CBFBCA997C}" srcOrd="0" destOrd="0" presId="urn:microsoft.com/office/officeart/2008/layout/RadialCluster"/>
    <dgm:cxn modelId="{79B347B1-B07D-46D2-A1A2-93A42733E8E0}" srcId="{4E90FBCA-295E-4AF7-A89B-28C34DCD3DDA}" destId="{D43617A9-2081-4D86-A876-B0E8163BC27D}" srcOrd="0" destOrd="0" parTransId="{E69D8634-0AD8-41FE-8F06-9FFC26CC78B5}" sibTransId="{5C14DF48-5FAB-4638-B6E3-042B662D4FBF}"/>
    <dgm:cxn modelId="{DFDB8DB9-630C-468E-B646-4E7ABD83E240}" type="presOf" srcId="{E69D8634-0AD8-41FE-8F06-9FFC26CC78B5}" destId="{2E7F6B21-5DFB-4F7E-9D5D-E81E35DEEE7F}" srcOrd="0" destOrd="0" presId="urn:microsoft.com/office/officeart/2008/layout/RadialCluster"/>
    <dgm:cxn modelId="{C9386FBC-485F-47E3-9FC8-95F8AD971084}" type="presOf" srcId="{25B9B311-5F75-4634-9D93-91C91C140AD4}" destId="{056C2F29-DA5E-4CB5-B77C-06227FFA72F0}" srcOrd="0" destOrd="0" presId="urn:microsoft.com/office/officeart/2008/layout/RadialCluster"/>
    <dgm:cxn modelId="{A49E3AC5-DE82-48CB-B733-CDF53E8920F3}" type="presOf" srcId="{B1CB766E-259A-4EB3-A977-28C0647E97A8}" destId="{CA1A9FB5-59B9-4360-9A78-DA21A499FA53}" srcOrd="0" destOrd="0" presId="urn:microsoft.com/office/officeart/2008/layout/RadialCluster"/>
    <dgm:cxn modelId="{97F0C3C8-C86F-4683-BA3C-764F73C537BE}" srcId="{4E90FBCA-295E-4AF7-A89B-28C34DCD3DDA}" destId="{5F43E5E1-7BAF-4CDE-B093-FFD0247E049F}" srcOrd="3" destOrd="0" parTransId="{18AE9B21-6A84-433C-A37C-69C78EA16329}" sibTransId="{CC86A455-E9F1-4D9A-B1FB-D8055D63F6AD}"/>
    <dgm:cxn modelId="{AE605CD7-9AC9-4818-92D7-56B80CF50D29}" type="presOf" srcId="{54A58B62-4073-44DD-A117-C046AFFF4A15}" destId="{250C7E91-6600-4821-A97E-B6280D18ED1C}" srcOrd="0" destOrd="0" presId="urn:microsoft.com/office/officeart/2008/layout/RadialCluster"/>
    <dgm:cxn modelId="{8DE241A9-F1B3-410B-8121-CF1A8F5A24AA}" type="presParOf" srcId="{CA1A9FB5-59B9-4360-9A78-DA21A499FA53}" destId="{35FC504C-C9CA-471E-81A6-BED7663672D9}" srcOrd="0" destOrd="0" presId="urn:microsoft.com/office/officeart/2008/layout/RadialCluster"/>
    <dgm:cxn modelId="{B26EF222-014E-4A97-9FFC-9D32E1E1E9CA}" type="presParOf" srcId="{35FC504C-C9CA-471E-81A6-BED7663672D9}" destId="{59F22751-4BD6-4B4E-ACD2-C5F95C6E0BC7}" srcOrd="0" destOrd="0" presId="urn:microsoft.com/office/officeart/2008/layout/RadialCluster"/>
    <dgm:cxn modelId="{F1A4E3CD-E157-43E6-BC72-614E31E7D3ED}" type="presParOf" srcId="{35FC504C-C9CA-471E-81A6-BED7663672D9}" destId="{2E7F6B21-5DFB-4F7E-9D5D-E81E35DEEE7F}" srcOrd="1" destOrd="0" presId="urn:microsoft.com/office/officeart/2008/layout/RadialCluster"/>
    <dgm:cxn modelId="{F66BD139-B7B0-4E53-A5BF-249C392F530F}" type="presParOf" srcId="{35FC504C-C9CA-471E-81A6-BED7663672D9}" destId="{86A8F647-875F-4B73-AAFE-084385EC6135}" srcOrd="2" destOrd="0" presId="urn:microsoft.com/office/officeart/2008/layout/RadialCluster"/>
    <dgm:cxn modelId="{E65883BA-23FD-4958-B91E-CFC47147C59B}" type="presParOf" srcId="{35FC504C-C9CA-471E-81A6-BED7663672D9}" destId="{250C7E91-6600-4821-A97E-B6280D18ED1C}" srcOrd="3" destOrd="0" presId="urn:microsoft.com/office/officeart/2008/layout/RadialCluster"/>
    <dgm:cxn modelId="{FAE1C015-8126-4E59-B7EA-2B91B62E6C16}" type="presParOf" srcId="{35FC504C-C9CA-471E-81A6-BED7663672D9}" destId="{928C1CBC-17F6-4D49-983B-28CBFBCA997C}" srcOrd="4" destOrd="0" presId="urn:microsoft.com/office/officeart/2008/layout/RadialCluster"/>
    <dgm:cxn modelId="{E4431BD1-F8AA-41C1-8F59-28F125057A3B}" type="presParOf" srcId="{35FC504C-C9CA-471E-81A6-BED7663672D9}" destId="{056C2F29-DA5E-4CB5-B77C-06227FFA72F0}" srcOrd="5" destOrd="0" presId="urn:microsoft.com/office/officeart/2008/layout/RadialCluster"/>
    <dgm:cxn modelId="{BF3D9D49-B3C5-4A9F-BC69-DD99ABE6EFEA}" type="presParOf" srcId="{35FC504C-C9CA-471E-81A6-BED7663672D9}" destId="{DE7507D5-DAC1-4121-B49A-167EF5A10EF5}" srcOrd="6" destOrd="0" presId="urn:microsoft.com/office/officeart/2008/layout/RadialCluster"/>
    <dgm:cxn modelId="{352B6939-CDD1-42C5-BE6E-E4BDF696AEF8}" type="presParOf" srcId="{35FC504C-C9CA-471E-81A6-BED7663672D9}" destId="{B20FD146-996C-4C04-9BDB-8C41BA6E990D}" srcOrd="7" destOrd="0" presId="urn:microsoft.com/office/officeart/2008/layout/RadialCluster"/>
    <dgm:cxn modelId="{001269DC-2DDC-4D2D-8C37-34CD4437083C}" type="presParOf" srcId="{35FC504C-C9CA-471E-81A6-BED7663672D9}" destId="{2C09D61B-AFBE-4100-87D4-9AF76A6FC01E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22751-4BD6-4B4E-ACD2-C5F95C6E0BC7}">
      <dsp:nvSpPr>
        <dsp:cNvPr id="0" name=""/>
        <dsp:cNvSpPr/>
      </dsp:nvSpPr>
      <dsp:spPr>
        <a:xfrm>
          <a:off x="2990285" y="1657378"/>
          <a:ext cx="2725625" cy="1420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500" kern="1200" dirty="0">
              <a:solidFill>
                <a:schemeClr val="tx1"/>
              </a:solidFill>
            </a:rPr>
            <a:t>Digital Ethics</a:t>
          </a:r>
          <a:endParaRPr lang="en-MY" sz="3500" kern="1200" dirty="0">
            <a:solidFill>
              <a:schemeClr val="tx1"/>
            </a:solidFill>
          </a:endParaRPr>
        </a:p>
      </dsp:txBody>
      <dsp:txXfrm>
        <a:off x="3059633" y="1726726"/>
        <a:ext cx="2586929" cy="1281914"/>
      </dsp:txXfrm>
    </dsp:sp>
    <dsp:sp modelId="{2E7F6B21-5DFB-4F7E-9D5D-E81E35DEEE7F}">
      <dsp:nvSpPr>
        <dsp:cNvPr id="0" name=""/>
        <dsp:cNvSpPr/>
      </dsp:nvSpPr>
      <dsp:spPr>
        <a:xfrm rot="16200000">
          <a:off x="4000517" y="1304797"/>
          <a:ext cx="7051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0516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A8F647-875F-4B73-AAFE-084385EC6135}">
      <dsp:nvSpPr>
        <dsp:cNvPr id="0" name=""/>
        <dsp:cNvSpPr/>
      </dsp:nvSpPr>
      <dsp:spPr>
        <a:xfrm>
          <a:off x="2474841" y="406"/>
          <a:ext cx="3756513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2700" kern="1200" dirty="0">
              <a:solidFill>
                <a:schemeClr val="tx1"/>
              </a:solidFill>
            </a:rPr>
            <a:t>Computer Ethics, Ethics, Morals, Law</a:t>
          </a:r>
          <a:endParaRPr lang="en-MY" sz="2700" kern="1200" dirty="0">
            <a:solidFill>
              <a:schemeClr val="tx1"/>
            </a:solidFill>
          </a:endParaRPr>
        </a:p>
      </dsp:txBody>
      <dsp:txXfrm>
        <a:off x="2521304" y="46869"/>
        <a:ext cx="3663587" cy="858882"/>
      </dsp:txXfrm>
    </dsp:sp>
    <dsp:sp modelId="{250C7E91-6600-4821-A97E-B6280D18ED1C}">
      <dsp:nvSpPr>
        <dsp:cNvPr id="0" name=""/>
        <dsp:cNvSpPr/>
      </dsp:nvSpPr>
      <dsp:spPr>
        <a:xfrm rot="14767">
          <a:off x="5715907" y="2375565"/>
          <a:ext cx="94390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390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8C1CBC-17F6-4D49-983B-28CBFBCA997C}">
      <dsp:nvSpPr>
        <dsp:cNvPr id="0" name=""/>
        <dsp:cNvSpPr/>
      </dsp:nvSpPr>
      <dsp:spPr>
        <a:xfrm>
          <a:off x="6659803" y="1906532"/>
          <a:ext cx="2255596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altLang="en-US" sz="1900" b="1" kern="1200" dirty="0">
              <a:solidFill>
                <a:schemeClr val="tx1"/>
              </a:solidFill>
            </a:rPr>
            <a:t>Code of Ethics and Professionalism</a:t>
          </a:r>
          <a:endParaRPr lang="en-US" altLang="en-US" sz="1900" b="1" kern="1200" dirty="0">
            <a:solidFill>
              <a:schemeClr val="tx1"/>
            </a:solidFill>
          </a:endParaRPr>
        </a:p>
      </dsp:txBody>
      <dsp:txXfrm>
        <a:off x="6706266" y="1952995"/>
        <a:ext cx="2162670" cy="858882"/>
      </dsp:txXfrm>
    </dsp:sp>
    <dsp:sp modelId="{056C2F29-DA5E-4CB5-B77C-06227FFA72F0}">
      <dsp:nvSpPr>
        <dsp:cNvPr id="0" name=""/>
        <dsp:cNvSpPr/>
      </dsp:nvSpPr>
      <dsp:spPr>
        <a:xfrm rot="5400000">
          <a:off x="4000517" y="3430570"/>
          <a:ext cx="70516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0516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507D5-DAC1-4121-B49A-167EF5A10EF5}">
      <dsp:nvSpPr>
        <dsp:cNvPr id="0" name=""/>
        <dsp:cNvSpPr/>
      </dsp:nvSpPr>
      <dsp:spPr>
        <a:xfrm>
          <a:off x="2563350" y="3783152"/>
          <a:ext cx="3579496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>
              <a:solidFill>
                <a:schemeClr val="tx1"/>
              </a:solidFill>
            </a:rPr>
            <a:t>Importance of CSR </a:t>
          </a:r>
          <a:endParaRPr lang="en-MY" sz="3000" kern="1200" dirty="0">
            <a:solidFill>
              <a:schemeClr val="tx1"/>
            </a:solidFill>
          </a:endParaRPr>
        </a:p>
      </dsp:txBody>
      <dsp:txXfrm>
        <a:off x="2609813" y="3829615"/>
        <a:ext cx="3486570" cy="858882"/>
      </dsp:txXfrm>
    </dsp:sp>
    <dsp:sp modelId="{B20FD146-996C-4C04-9BDB-8C41BA6E990D}">
      <dsp:nvSpPr>
        <dsp:cNvPr id="0" name=""/>
        <dsp:cNvSpPr/>
      </dsp:nvSpPr>
      <dsp:spPr>
        <a:xfrm rot="10724022">
          <a:off x="1934505" y="2409476"/>
          <a:ext cx="10559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590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9D61B-AFBE-4100-87D4-9AF76A6FC01E}">
      <dsp:nvSpPr>
        <dsp:cNvPr id="0" name=""/>
        <dsp:cNvSpPr/>
      </dsp:nvSpPr>
      <dsp:spPr>
        <a:xfrm>
          <a:off x="97442" y="1965544"/>
          <a:ext cx="1837191" cy="9518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700" kern="1200" dirty="0">
              <a:solidFill>
                <a:schemeClr val="tx1"/>
              </a:solidFill>
            </a:rPr>
            <a:t>Bribes and Gifts</a:t>
          </a:r>
          <a:endParaRPr lang="en-MY" sz="2700" kern="1200" dirty="0">
            <a:solidFill>
              <a:schemeClr val="tx1"/>
            </a:solidFill>
          </a:endParaRPr>
        </a:p>
      </dsp:txBody>
      <dsp:txXfrm>
        <a:off x="143905" y="2012007"/>
        <a:ext cx="1744265" cy="858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F492A-F495-4524-A423-B2DAC1CD65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6888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79ECB-B8E0-456F-8F87-3E55E92F5C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51163" cy="496888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8ADF81E-7F0D-4173-951D-8E2507E6D2A2}" type="datetimeFigureOut">
              <a:rPr lang="en-MY"/>
              <a:pPr>
                <a:defRPr/>
              </a:pPr>
              <a:t>25/5/2025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20BC2-56C5-4F27-BCFD-D3639CAC23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51163" cy="49688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EFB03-B324-4FD1-9C13-E62E7273B8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51163" cy="496887"/>
          </a:xfrm>
          <a:prstGeom prst="rect">
            <a:avLst/>
          </a:prstGeom>
        </p:spPr>
        <p:txBody>
          <a:bodyPr vert="horz" wrap="square" lIns="91842" tIns="45921" rIns="91842" bIns="4592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0D43D7-A056-4740-A076-773898A5BC50}" type="slidenum">
              <a:rPr lang="en-MY" altLang="en-US"/>
              <a:pPr/>
              <a:t>‹#›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E52A73-D689-4E80-ABEF-C23EACC7CD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6888"/>
          </a:xfrm>
          <a:prstGeom prst="rect">
            <a:avLst/>
          </a:prstGeom>
        </p:spPr>
        <p:txBody>
          <a:bodyPr vert="horz" lIns="92798" tIns="46398" rIns="92798" bIns="46398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8AE2A-FCE8-4D34-BBC8-B381CA9AE2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51163" cy="496888"/>
          </a:xfrm>
          <a:prstGeom prst="rect">
            <a:avLst/>
          </a:prstGeom>
        </p:spPr>
        <p:txBody>
          <a:bodyPr vert="horz" lIns="92798" tIns="46398" rIns="92798" bIns="46398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94FA9CC-C965-443A-8ED1-C123644CA8A6}" type="datetimeFigureOut">
              <a:rPr lang="en-MY"/>
              <a:pPr>
                <a:defRPr/>
              </a:pPr>
              <a:t>25/5/2025</a:t>
            </a:fld>
            <a:endParaRPr lang="en-MY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655C48-698D-4131-9260-566970973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98" tIns="46398" rIns="92798" bIns="46398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B2B5701-4C0B-4D96-B96C-C61FCE6C4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1225"/>
            <a:ext cx="5441950" cy="4471988"/>
          </a:xfrm>
          <a:prstGeom prst="rect">
            <a:avLst/>
          </a:prstGeom>
        </p:spPr>
        <p:txBody>
          <a:bodyPr vert="horz" lIns="92798" tIns="46398" rIns="92798" bIns="46398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44312-F05E-412D-AAA7-06934DCC62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51163" cy="496887"/>
          </a:xfrm>
          <a:prstGeom prst="rect">
            <a:avLst/>
          </a:prstGeom>
        </p:spPr>
        <p:txBody>
          <a:bodyPr vert="horz" lIns="92798" tIns="46398" rIns="92798" bIns="46398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1404E-7EB4-4E74-8EF6-77A16653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51163" cy="496887"/>
          </a:xfrm>
          <a:prstGeom prst="rect">
            <a:avLst/>
          </a:prstGeom>
        </p:spPr>
        <p:txBody>
          <a:bodyPr vert="horz" wrap="square" lIns="92798" tIns="46398" rIns="92798" bIns="4639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0490936-A3B7-4689-B602-FA6DC59E0CE0}" type="slidenum">
              <a:rPr lang="en-MY" altLang="en-US"/>
              <a:pPr/>
              <a:t>‹#›</a:t>
            </a:fld>
            <a:endParaRPr lang="en-MY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8C738A80-9070-4304-ACB2-536432C86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/>
          </a:p>
        </p:txBody>
      </p:sp>
      <p:pic>
        <p:nvPicPr>
          <p:cNvPr id="5" name="Picture 10" descr="APU Logo_Final_Vertical_V1_HR1 copy.png">
            <a:extLst>
              <a:ext uri="{FF2B5EF4-FFF2-40B4-BE49-F238E27FC236}">
                <a16:creationId xmlns:a16="http://schemas.microsoft.com/office/drawing/2014/main" id="{47D600E6-4432-4BC2-BF2E-068DD6FDB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20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36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>
            <a:extLst>
              <a:ext uri="{FF2B5EF4-FFF2-40B4-BE49-F238E27FC236}">
                <a16:creationId xmlns:a16="http://schemas.microsoft.com/office/drawing/2014/main" id="{A859429D-8CCB-44D2-9766-E58CFE36F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D1C2C7A9-8B93-454B-88EC-A4013F8EA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GB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824F3FE-72C9-4ED2-8CFA-A3FEF25CF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0B4EA0C7-0808-441D-9ECB-5D9B1595C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7">
            <a:extLst>
              <a:ext uri="{FF2B5EF4-FFF2-40B4-BE49-F238E27FC236}">
                <a16:creationId xmlns:a16="http://schemas.microsoft.com/office/drawing/2014/main" id="{FEDEB370-9E21-4E47-929C-CC8739D4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5943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CT109-3-1				                                    </a:t>
            </a:r>
            <a:r>
              <a:rPr lang="en-US" altLang="en-US" sz="800" dirty="0"/>
              <a:t>Digital Ethics</a:t>
            </a:r>
            <a:endParaRPr lang="en-GB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1" name="Picture 10" descr="APU Logo Final-medium.jpg">
            <a:extLst>
              <a:ext uri="{FF2B5EF4-FFF2-40B4-BE49-F238E27FC236}">
                <a16:creationId xmlns:a16="http://schemas.microsoft.com/office/drawing/2014/main" id="{AFD2BDB7-3536-4C4A-B9E6-44A86C670C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Box 1">
            <a:extLst>
              <a:ext uri="{FF2B5EF4-FFF2-40B4-BE49-F238E27FC236}">
                <a16:creationId xmlns:a16="http://schemas.microsoft.com/office/drawing/2014/main" id="{B9426DED-0368-4C92-96AA-EB2EB99E5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0" y="6669088"/>
            <a:ext cx="2286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MY" altLang="en-US" sz="800"/>
              <a:t>                                             Slide </a:t>
            </a:r>
            <a:fld id="{A62C9C22-4565-4AE3-AC60-D1512301ED9E}" type="slidenum">
              <a:rPr lang="en-MY" altLang="en-US" sz="800"/>
              <a:pPr/>
              <a:t>‹#›</a:t>
            </a:fld>
            <a:r>
              <a:rPr lang="en-MY" altLang="en-US" sz="800"/>
              <a:t> of 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1" r:id="rId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DA9C64-BE6B-44F5-8753-4BC0C993AE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806575"/>
            <a:ext cx="8534400" cy="1470025"/>
          </a:xfrm>
        </p:spPr>
        <p:txBody>
          <a:bodyPr/>
          <a:lstStyle/>
          <a:p>
            <a:pPr algn="r" eaLnBrk="1" hangingPunct="1"/>
            <a:r>
              <a:rPr lang="en-US" altLang="en-US"/>
              <a:t>Digital Thinking and Innovation</a:t>
            </a:r>
            <a:br>
              <a:rPr lang="en-US" altLang="en-US"/>
            </a:br>
            <a:r>
              <a:rPr lang="en-US" altLang="en-US" sz="1600"/>
              <a:t>CT109-3-1</a:t>
            </a:r>
            <a:br>
              <a:rPr lang="en-US" altLang="en-US" sz="1600"/>
            </a:br>
            <a:r>
              <a:rPr lang="en-US" altLang="en-US" sz="1200"/>
              <a:t>VD1</a:t>
            </a:r>
            <a:endParaRPr lang="en-GB" altLang="en-US" sz="12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652B29D-C173-4125-8E47-DD86378017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616700" cy="685800"/>
          </a:xfrm>
        </p:spPr>
        <p:txBody>
          <a:bodyPr/>
          <a:lstStyle/>
          <a:p>
            <a:pPr algn="r" eaLnBrk="1" hangingPunct="1"/>
            <a:r>
              <a:rPr lang="en-US" altLang="en-US"/>
              <a:t>Digital Ethics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2026E74-2B6F-4CBF-9A1D-509A4C20339E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15F514-2188-4E0A-848E-99810A362B52}"/>
              </a:ext>
            </a:extLst>
          </p:cNvPr>
          <p:cNvSpPr txBox="1">
            <a:spLocks/>
          </p:cNvSpPr>
          <p:nvPr/>
        </p:nvSpPr>
        <p:spPr>
          <a:xfrm>
            <a:off x="304800" y="1752600"/>
            <a:ext cx="7924800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98463" indent="-285750">
              <a:defRPr/>
            </a:pPr>
            <a:r>
              <a:rPr lang="en-US" kern="0" dirty="0"/>
              <a:t>This topic introduces digital ethics and </a:t>
            </a:r>
            <a:r>
              <a:rPr lang="en-GB" altLang="en-US" dirty="0"/>
              <a:t>its importance to act according to a code of ethics</a:t>
            </a:r>
          </a:p>
          <a:p>
            <a:pPr marL="0" indent="0">
              <a:buFontTx/>
              <a:buNone/>
              <a:defRPr/>
            </a:pPr>
            <a:endParaRPr lang="en-US" kern="0" dirty="0"/>
          </a:p>
        </p:txBody>
      </p:sp>
      <p:pic>
        <p:nvPicPr>
          <p:cNvPr id="6148" name="Picture 1">
            <a:extLst>
              <a:ext uri="{FF2B5EF4-FFF2-40B4-BE49-F238E27FC236}">
                <a16:creationId xmlns:a16="http://schemas.microsoft.com/office/drawing/2014/main" id="{FF9D45C8-3566-4F38-A6F7-2C1679EEB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4495800" cy="299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4D4AE48C-57CB-4BFC-9679-81843CC9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3551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/>
              <a:t>At the end of this section you will be able to:</a:t>
            </a:r>
          </a:p>
          <a:p>
            <a:pPr marL="398463" indent="-285750">
              <a:defRPr/>
            </a:pPr>
            <a:r>
              <a:rPr lang="en-GB" altLang="en-US" sz="2400" dirty="0"/>
              <a:t>Understand ethics and why is it important to act </a:t>
            </a:r>
          </a:p>
          <a:p>
            <a:pPr marL="112713" indent="0">
              <a:buFontTx/>
              <a:buNone/>
              <a:defRPr/>
            </a:pPr>
            <a:r>
              <a:rPr lang="en-GB" altLang="en-US" sz="2400" dirty="0"/>
              <a:t>   according to a code of ethics</a:t>
            </a:r>
          </a:p>
          <a:p>
            <a:pPr marL="398463" indent="-285750">
              <a:defRPr/>
            </a:pPr>
            <a:r>
              <a:rPr lang="en-GB" altLang="en-US" sz="2400" dirty="0"/>
              <a:t>Know why business ethics is becoming increasingly important </a:t>
            </a:r>
          </a:p>
          <a:p>
            <a:pPr marL="398463" indent="-285750">
              <a:defRPr/>
            </a:pPr>
            <a:r>
              <a:rPr lang="en-GB" altLang="en-US" sz="2400" dirty="0"/>
              <a:t>Learn approaches that can be taken to ensure ethical decision making</a:t>
            </a:r>
          </a:p>
          <a:p>
            <a:pPr marL="398463" indent="-285750">
              <a:defRPr/>
            </a:pPr>
            <a:r>
              <a:rPr lang="en-GB" altLang="en-US" sz="2400" dirty="0"/>
              <a:t>Provide examples of ethical issues</a:t>
            </a:r>
          </a:p>
          <a:p>
            <a:pPr>
              <a:buFontTx/>
              <a:buNone/>
              <a:defRPr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9A4F0F-2882-46C5-993A-70EB13034141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1">
            <a:extLst>
              <a:ext uri="{FF2B5EF4-FFF2-40B4-BE49-F238E27FC236}">
                <a16:creationId xmlns:a16="http://schemas.microsoft.com/office/drawing/2014/main" id="{A9C4E70F-70AA-499C-AF8A-CB1561E8D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97362"/>
            <a:ext cx="3859213" cy="21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CC5268EE-BA5A-4EF2-BF0B-92CA796F0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E4ED872A-947C-47F6-8A62-735ADCD64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398463" indent="-285750">
              <a:defRPr/>
            </a:pPr>
            <a:r>
              <a:rPr lang="en-GB" altLang="en-US" sz="2800" dirty="0"/>
              <a:t>Computer Ethics, Ethics, Morals, Law</a:t>
            </a:r>
          </a:p>
          <a:p>
            <a:pPr marL="398463" indent="-285750">
              <a:defRPr/>
            </a:pPr>
            <a:r>
              <a:rPr lang="en-GB" altLang="en-US" sz="2800" dirty="0"/>
              <a:t>Code of Ethics and Professionalism</a:t>
            </a:r>
            <a:endParaRPr lang="en-US" altLang="en-US" sz="2800" dirty="0"/>
          </a:p>
          <a:p>
            <a:pPr marL="398463" indent="-285750">
              <a:defRPr/>
            </a:pPr>
            <a:r>
              <a:rPr lang="en-US" altLang="en-US" sz="2800" dirty="0"/>
              <a:t>Importance of CSR </a:t>
            </a:r>
          </a:p>
          <a:p>
            <a:pPr marL="398463" indent="-285750">
              <a:defRPr/>
            </a:pPr>
            <a:r>
              <a:rPr lang="en-US" altLang="en-US" sz="2800" dirty="0"/>
              <a:t>Bribes and Gifts</a:t>
            </a:r>
            <a:endParaRPr lang="en-GB" altLang="en-US" sz="2800" dirty="0"/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803C84-D965-43B9-BB53-C08F1D8483CF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Content</a:t>
            </a:r>
          </a:p>
        </p:txBody>
      </p:sp>
      <p:pic>
        <p:nvPicPr>
          <p:cNvPr id="8197" name="Picture 2">
            <a:extLst>
              <a:ext uri="{FF2B5EF4-FFF2-40B4-BE49-F238E27FC236}">
                <a16:creationId xmlns:a16="http://schemas.microsoft.com/office/drawing/2014/main" id="{8ED2D79C-2FA1-43EE-8BD5-2476F340E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071938"/>
            <a:ext cx="4495800" cy="253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BFD3676A-E7EA-4A64-BE5A-6F816F9A6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t" hangingPunct="1">
              <a:lnSpc>
                <a:spcPct val="150000"/>
              </a:lnSpc>
              <a:spcBef>
                <a:spcPct val="0"/>
              </a:spcBef>
            </a:pPr>
            <a:endParaRPr lang="en-US" altLang="en-US" sz="2000" b="1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404B80E2-45E4-429F-B55B-CCBCC31A6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355725"/>
            <a:ext cx="827405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98463" indent="-285750">
              <a:defRPr/>
            </a:pPr>
            <a:r>
              <a:rPr lang="en-GB" altLang="en-US" sz="2800" dirty="0"/>
              <a:t>Computer Ethics, Ethics, Morals, Law</a:t>
            </a:r>
          </a:p>
          <a:p>
            <a:pPr marL="398463" indent="-285750">
              <a:defRPr/>
            </a:pPr>
            <a:r>
              <a:rPr lang="en-GB" altLang="en-US" sz="2800" dirty="0"/>
              <a:t>Code of Ethics, Professionalism</a:t>
            </a:r>
          </a:p>
          <a:p>
            <a:pPr eaLnBrk="1" fontAlgn="t" hangingPunct="1">
              <a:lnSpc>
                <a:spcPct val="150000"/>
              </a:lnSpc>
              <a:spcBef>
                <a:spcPct val="0"/>
              </a:spcBef>
              <a:defRPr/>
            </a:pPr>
            <a:endParaRPr lang="en-US" alt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7FDE38-AF23-4A0D-9280-ACE5B80FC6CD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SG" sz="3600" b="1" kern="0" dirty="0"/>
              <a:t>Key Terms</a:t>
            </a:r>
            <a:endParaRPr lang="en-MY" sz="3600" b="1" kern="0" dirty="0"/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FCFC462B-48C6-4621-8F6F-F5EEFAC7D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25" y="3886200"/>
            <a:ext cx="4600575" cy="271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FE3CC45-6194-4290-AFC2-9E26F1AC6FFF}"/>
              </a:ext>
            </a:extLst>
          </p:cNvPr>
          <p:cNvGraphicFramePr/>
          <p:nvPr/>
        </p:nvGraphicFramePr>
        <p:xfrm>
          <a:off x="228600" y="1524000"/>
          <a:ext cx="8915400" cy="4735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466F0B4-ACF0-4E9F-A88A-CF851E54DA23}"/>
              </a:ext>
            </a:extLst>
          </p:cNvPr>
          <p:cNvSpPr txBox="1">
            <a:spLocks/>
          </p:cNvSpPr>
          <p:nvPr/>
        </p:nvSpPr>
        <p:spPr bwMode="auto">
          <a:xfrm>
            <a:off x="15875" y="0"/>
            <a:ext cx="77343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SG" sz="3600" b="1" kern="0" dirty="0"/>
              <a:t>Mind Map</a:t>
            </a:r>
            <a:endParaRPr lang="en-MY" sz="3600" b="1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4D4AE48C-57CB-4BFC-9679-81843CC9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3551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/>
              <a:t>At the end of this section you will be able to:</a:t>
            </a:r>
          </a:p>
          <a:p>
            <a:pPr marL="398463" indent="-285750">
              <a:defRPr/>
            </a:pPr>
            <a:r>
              <a:rPr lang="en-GB" altLang="en-US" sz="2400" dirty="0">
                <a:highlight>
                  <a:srgbClr val="FFFF00"/>
                </a:highlight>
              </a:rPr>
              <a:t>Understand ethics and why is it important to act </a:t>
            </a:r>
          </a:p>
          <a:p>
            <a:pPr marL="112713" indent="0">
              <a:buFontTx/>
              <a:buNone/>
              <a:defRPr/>
            </a:pPr>
            <a:r>
              <a:rPr lang="en-GB" altLang="en-US" sz="2400" dirty="0">
                <a:highlight>
                  <a:srgbClr val="FFFF00"/>
                </a:highlight>
              </a:rPr>
              <a:t>   according to a code of ethics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Know why business ethics is becoming increasingly important 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 approaches that can be taken to ensure ethical decision making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examples of ethical issues</a:t>
            </a:r>
          </a:p>
          <a:p>
            <a:pPr>
              <a:buFontTx/>
              <a:buNone/>
              <a:defRPr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9A4F0F-2882-46C5-993A-70EB13034141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1">
            <a:extLst>
              <a:ext uri="{FF2B5EF4-FFF2-40B4-BE49-F238E27FC236}">
                <a16:creationId xmlns:a16="http://schemas.microsoft.com/office/drawing/2014/main" id="{A9C4E70F-70AA-499C-AF8A-CB1561E8D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97362"/>
            <a:ext cx="3859213" cy="21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510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83058D62-F1A5-4BE7-99DC-40864290D9F7}"/>
              </a:ext>
            </a:extLst>
          </p:cNvPr>
          <p:cNvSpPr/>
          <p:nvPr/>
        </p:nvSpPr>
        <p:spPr>
          <a:xfrm>
            <a:off x="122238" y="1851025"/>
            <a:ext cx="8869362" cy="1031875"/>
          </a:xfrm>
          <a:custGeom>
            <a:avLst/>
            <a:gdLst>
              <a:gd name="connsiteX0" fmla="*/ 0 w 8572500"/>
              <a:gd name="connsiteY0" fmla="*/ 0 h 937125"/>
              <a:gd name="connsiteX1" fmla="*/ 8572500 w 8572500"/>
              <a:gd name="connsiteY1" fmla="*/ 0 h 937125"/>
              <a:gd name="connsiteX2" fmla="*/ 8572500 w 8572500"/>
              <a:gd name="connsiteY2" fmla="*/ 937125 h 937125"/>
              <a:gd name="connsiteX3" fmla="*/ 0 w 8572500"/>
              <a:gd name="connsiteY3" fmla="*/ 937125 h 937125"/>
              <a:gd name="connsiteX4" fmla="*/ 0 w 8572500"/>
              <a:gd name="connsiteY4" fmla="*/ 0 h 93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937125">
                <a:moveTo>
                  <a:pt x="0" y="0"/>
                </a:moveTo>
                <a:lnTo>
                  <a:pt x="8572500" y="0"/>
                </a:lnTo>
                <a:lnTo>
                  <a:pt x="8572500" y="937125"/>
                </a:lnTo>
                <a:lnTo>
                  <a:pt x="0" y="9371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665321" tIns="354076" rIns="665321" bIns="120904" spcCol="1270" anchor="ctr"/>
          <a:lstStyle/>
          <a:p>
            <a:pPr marL="0" lvl="1" defTabSz="755650">
              <a:lnSpc>
                <a:spcPct val="90000"/>
              </a:lnSpc>
              <a:spcAft>
                <a:spcPct val="15000"/>
              </a:spcAft>
              <a:defRPr/>
            </a:pPr>
            <a:r>
              <a:rPr lang="en-US" sz="2400" b="1" dirty="0"/>
              <a:t>Morality</a:t>
            </a:r>
            <a:r>
              <a:rPr lang="en-US" sz="2400" dirty="0"/>
              <a:t>: Shared </a:t>
            </a:r>
            <a:r>
              <a:rPr lang="en-US" sz="2400" b="1" dirty="0">
                <a:highlight>
                  <a:srgbClr val="FFFF00"/>
                </a:highlight>
              </a:rPr>
              <a:t>social conventions </a:t>
            </a:r>
            <a:r>
              <a:rPr lang="en-US" sz="2400" dirty="0"/>
              <a:t>about right and wrong that is the basis for an established consensus</a:t>
            </a:r>
          </a:p>
          <a:p>
            <a:pPr marL="0" lvl="1" defTabSz="755650">
              <a:lnSpc>
                <a:spcPct val="90000"/>
              </a:lnSpc>
              <a:spcAft>
                <a:spcPct val="15000"/>
              </a:spcAft>
              <a:defRPr/>
            </a:pPr>
            <a:endParaRPr lang="en-US" sz="24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1448E8-3982-4483-A41C-0FB04A1F25A7}"/>
              </a:ext>
            </a:extLst>
          </p:cNvPr>
          <p:cNvSpPr/>
          <p:nvPr/>
        </p:nvSpPr>
        <p:spPr>
          <a:xfrm>
            <a:off x="122238" y="855663"/>
            <a:ext cx="7634287" cy="881062"/>
          </a:xfrm>
          <a:custGeom>
            <a:avLst/>
            <a:gdLst>
              <a:gd name="connsiteX0" fmla="*/ 0 w 6000750"/>
              <a:gd name="connsiteY0" fmla="*/ 83642 h 501840"/>
              <a:gd name="connsiteX1" fmla="*/ 83642 w 6000750"/>
              <a:gd name="connsiteY1" fmla="*/ 0 h 501840"/>
              <a:gd name="connsiteX2" fmla="*/ 5917108 w 6000750"/>
              <a:gd name="connsiteY2" fmla="*/ 0 h 501840"/>
              <a:gd name="connsiteX3" fmla="*/ 6000750 w 6000750"/>
              <a:gd name="connsiteY3" fmla="*/ 83642 h 501840"/>
              <a:gd name="connsiteX4" fmla="*/ 6000750 w 6000750"/>
              <a:gd name="connsiteY4" fmla="*/ 418198 h 501840"/>
              <a:gd name="connsiteX5" fmla="*/ 5917108 w 6000750"/>
              <a:gd name="connsiteY5" fmla="*/ 501840 h 501840"/>
              <a:gd name="connsiteX6" fmla="*/ 83642 w 6000750"/>
              <a:gd name="connsiteY6" fmla="*/ 501840 h 501840"/>
              <a:gd name="connsiteX7" fmla="*/ 0 w 6000750"/>
              <a:gd name="connsiteY7" fmla="*/ 418198 h 501840"/>
              <a:gd name="connsiteX8" fmla="*/ 0 w 6000750"/>
              <a:gd name="connsiteY8" fmla="*/ 83642 h 50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00750" h="501840">
                <a:moveTo>
                  <a:pt x="0" y="83642"/>
                </a:moveTo>
                <a:cubicBezTo>
                  <a:pt x="0" y="37448"/>
                  <a:pt x="37448" y="0"/>
                  <a:pt x="83642" y="0"/>
                </a:cubicBezTo>
                <a:lnTo>
                  <a:pt x="5917108" y="0"/>
                </a:lnTo>
                <a:cubicBezTo>
                  <a:pt x="5963302" y="0"/>
                  <a:pt x="6000750" y="37448"/>
                  <a:pt x="6000750" y="83642"/>
                </a:cubicBezTo>
                <a:lnTo>
                  <a:pt x="6000750" y="418198"/>
                </a:lnTo>
                <a:cubicBezTo>
                  <a:pt x="6000750" y="464392"/>
                  <a:pt x="5963302" y="501840"/>
                  <a:pt x="5917108" y="501840"/>
                </a:cubicBezTo>
                <a:lnTo>
                  <a:pt x="83642" y="501840"/>
                </a:lnTo>
                <a:cubicBezTo>
                  <a:pt x="37448" y="501840"/>
                  <a:pt x="0" y="464392"/>
                  <a:pt x="0" y="418198"/>
                </a:cubicBezTo>
                <a:lnTo>
                  <a:pt x="0" y="8364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51312" tIns="24498" rIns="251312" bIns="24498" spcCol="1270" anchor="ctr"/>
          <a:lstStyle/>
          <a:p>
            <a:pPr defTabSz="7556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Set of beliefs </a:t>
            </a:r>
            <a:r>
              <a:rPr lang="en-US" sz="2400" dirty="0"/>
              <a:t>about right and wrong behavior within a society. Moral beliefs about right and wrong.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9AE7F66-4274-44ED-AE13-7E872735256B}"/>
              </a:ext>
            </a:extLst>
          </p:cNvPr>
          <p:cNvSpPr/>
          <p:nvPr/>
        </p:nvSpPr>
        <p:spPr>
          <a:xfrm>
            <a:off x="122238" y="3471863"/>
            <a:ext cx="8869362" cy="1154112"/>
          </a:xfrm>
          <a:custGeom>
            <a:avLst/>
            <a:gdLst>
              <a:gd name="connsiteX0" fmla="*/ 0 w 8572500"/>
              <a:gd name="connsiteY0" fmla="*/ 0 h 937125"/>
              <a:gd name="connsiteX1" fmla="*/ 8572500 w 8572500"/>
              <a:gd name="connsiteY1" fmla="*/ 0 h 937125"/>
              <a:gd name="connsiteX2" fmla="*/ 8572500 w 8572500"/>
              <a:gd name="connsiteY2" fmla="*/ 937125 h 937125"/>
              <a:gd name="connsiteX3" fmla="*/ 0 w 8572500"/>
              <a:gd name="connsiteY3" fmla="*/ 937125 h 937125"/>
              <a:gd name="connsiteX4" fmla="*/ 0 w 8572500"/>
              <a:gd name="connsiteY4" fmla="*/ 0 h 93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937125">
                <a:moveTo>
                  <a:pt x="0" y="0"/>
                </a:moveTo>
                <a:lnTo>
                  <a:pt x="8572500" y="0"/>
                </a:lnTo>
                <a:lnTo>
                  <a:pt x="8572500" y="937125"/>
                </a:lnTo>
                <a:lnTo>
                  <a:pt x="0" y="93712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665321" tIns="354076" rIns="665321" bIns="120904" spcCol="1270"/>
          <a:lstStyle/>
          <a:p>
            <a:pPr marL="171450" lvl="1" indent="-171450" defTabSz="7556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endParaRPr lang="en-US" sz="2400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799C154-4468-43EA-819D-D17136C09C3D}"/>
              </a:ext>
            </a:extLst>
          </p:cNvPr>
          <p:cNvSpPr/>
          <p:nvPr/>
        </p:nvSpPr>
        <p:spPr>
          <a:xfrm>
            <a:off x="122238" y="3471863"/>
            <a:ext cx="8243887" cy="898525"/>
          </a:xfrm>
          <a:custGeom>
            <a:avLst/>
            <a:gdLst>
              <a:gd name="connsiteX0" fmla="*/ 0 w 6000750"/>
              <a:gd name="connsiteY0" fmla="*/ 83642 h 501840"/>
              <a:gd name="connsiteX1" fmla="*/ 83642 w 6000750"/>
              <a:gd name="connsiteY1" fmla="*/ 0 h 501840"/>
              <a:gd name="connsiteX2" fmla="*/ 5917108 w 6000750"/>
              <a:gd name="connsiteY2" fmla="*/ 0 h 501840"/>
              <a:gd name="connsiteX3" fmla="*/ 6000750 w 6000750"/>
              <a:gd name="connsiteY3" fmla="*/ 83642 h 501840"/>
              <a:gd name="connsiteX4" fmla="*/ 6000750 w 6000750"/>
              <a:gd name="connsiteY4" fmla="*/ 418198 h 501840"/>
              <a:gd name="connsiteX5" fmla="*/ 5917108 w 6000750"/>
              <a:gd name="connsiteY5" fmla="*/ 501840 h 501840"/>
              <a:gd name="connsiteX6" fmla="*/ 83642 w 6000750"/>
              <a:gd name="connsiteY6" fmla="*/ 501840 h 501840"/>
              <a:gd name="connsiteX7" fmla="*/ 0 w 6000750"/>
              <a:gd name="connsiteY7" fmla="*/ 418198 h 501840"/>
              <a:gd name="connsiteX8" fmla="*/ 0 w 6000750"/>
              <a:gd name="connsiteY8" fmla="*/ 83642 h 50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00750" h="501840">
                <a:moveTo>
                  <a:pt x="0" y="83642"/>
                </a:moveTo>
                <a:cubicBezTo>
                  <a:pt x="0" y="37448"/>
                  <a:pt x="37448" y="0"/>
                  <a:pt x="83642" y="0"/>
                </a:cubicBezTo>
                <a:lnTo>
                  <a:pt x="5917108" y="0"/>
                </a:lnTo>
                <a:cubicBezTo>
                  <a:pt x="5963302" y="0"/>
                  <a:pt x="6000750" y="37448"/>
                  <a:pt x="6000750" y="83642"/>
                </a:cubicBezTo>
                <a:lnTo>
                  <a:pt x="6000750" y="418198"/>
                </a:lnTo>
                <a:cubicBezTo>
                  <a:pt x="6000750" y="464392"/>
                  <a:pt x="5963302" y="501840"/>
                  <a:pt x="5917108" y="501840"/>
                </a:cubicBezTo>
                <a:lnTo>
                  <a:pt x="83642" y="501840"/>
                </a:lnTo>
                <a:cubicBezTo>
                  <a:pt x="37448" y="501840"/>
                  <a:pt x="0" y="464392"/>
                  <a:pt x="0" y="418198"/>
                </a:cubicBezTo>
                <a:lnTo>
                  <a:pt x="0" y="8364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51312" tIns="24498" rIns="251312" bIns="24498" spcCol="1270" anchor="ctr"/>
          <a:lstStyle/>
          <a:p>
            <a:pPr marL="0" lvl="1" defTabSz="755650">
              <a:lnSpc>
                <a:spcPct val="90000"/>
              </a:lnSpc>
              <a:spcAft>
                <a:spcPct val="15000"/>
              </a:spcAft>
              <a:defRPr/>
            </a:pPr>
            <a:r>
              <a:rPr lang="en-US" sz="2400" b="1" dirty="0"/>
              <a:t>Computer Ethics: </a:t>
            </a:r>
            <a:r>
              <a:rPr lang="en-US" sz="2400" dirty="0"/>
              <a:t>Moral guidelines that govern the use of computer and Information Systems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9F73823-FB69-4D14-AE67-FD33C84521B2}"/>
              </a:ext>
            </a:extLst>
          </p:cNvPr>
          <p:cNvSpPr/>
          <p:nvPr/>
        </p:nvSpPr>
        <p:spPr>
          <a:xfrm>
            <a:off x="122238" y="5049838"/>
            <a:ext cx="8869362" cy="1490662"/>
          </a:xfrm>
          <a:custGeom>
            <a:avLst/>
            <a:gdLst>
              <a:gd name="connsiteX0" fmla="*/ 0 w 8572500"/>
              <a:gd name="connsiteY0" fmla="*/ 0 h 963900"/>
              <a:gd name="connsiteX1" fmla="*/ 8572500 w 8572500"/>
              <a:gd name="connsiteY1" fmla="*/ 0 h 963900"/>
              <a:gd name="connsiteX2" fmla="*/ 8572500 w 8572500"/>
              <a:gd name="connsiteY2" fmla="*/ 963900 h 963900"/>
              <a:gd name="connsiteX3" fmla="*/ 0 w 8572500"/>
              <a:gd name="connsiteY3" fmla="*/ 963900 h 963900"/>
              <a:gd name="connsiteX4" fmla="*/ 0 w 8572500"/>
              <a:gd name="connsiteY4" fmla="*/ 0 h 96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963900">
                <a:moveTo>
                  <a:pt x="0" y="0"/>
                </a:moveTo>
                <a:lnTo>
                  <a:pt x="8572500" y="0"/>
                </a:lnTo>
                <a:lnTo>
                  <a:pt x="8572500" y="963900"/>
                </a:lnTo>
                <a:lnTo>
                  <a:pt x="0" y="9639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665321" tIns="354076" rIns="665321" bIns="120904" spcCol="1270"/>
          <a:lstStyle/>
          <a:p>
            <a:pPr marL="342900" lvl="1" indent="-342900" defTabSz="755650">
              <a:lnSpc>
                <a:spcPct val="90000"/>
              </a:lnSpc>
              <a:spcAft>
                <a:spcPct val="150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Virtue</a:t>
            </a:r>
            <a:r>
              <a:rPr lang="en-US" sz="2400" dirty="0"/>
              <a:t>: Habit that inclines people to do what is acceptable</a:t>
            </a:r>
          </a:p>
          <a:p>
            <a:pPr marL="171450" lvl="1" indent="-171450" defTabSz="755650">
              <a:lnSpc>
                <a:spcPct val="90000"/>
              </a:lnSpc>
              <a:spcAft>
                <a:spcPct val="15000"/>
              </a:spcAft>
              <a:buFontTx/>
              <a:buChar char="••"/>
              <a:defRPr/>
            </a:pPr>
            <a:r>
              <a:rPr lang="en-US" sz="2400" b="1" dirty="0"/>
              <a:t> Vice</a:t>
            </a:r>
            <a:r>
              <a:rPr lang="en-US" sz="2400" dirty="0"/>
              <a:t>: Habit of unacceptable behavior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173E231-36D6-4E1E-B35C-665C0C63471D}"/>
              </a:ext>
            </a:extLst>
          </p:cNvPr>
          <p:cNvSpPr/>
          <p:nvPr/>
        </p:nvSpPr>
        <p:spPr>
          <a:xfrm>
            <a:off x="122238" y="4740275"/>
            <a:ext cx="8396287" cy="617538"/>
          </a:xfrm>
          <a:custGeom>
            <a:avLst/>
            <a:gdLst>
              <a:gd name="connsiteX0" fmla="*/ 0 w 6000750"/>
              <a:gd name="connsiteY0" fmla="*/ 83642 h 501840"/>
              <a:gd name="connsiteX1" fmla="*/ 83642 w 6000750"/>
              <a:gd name="connsiteY1" fmla="*/ 0 h 501840"/>
              <a:gd name="connsiteX2" fmla="*/ 5917108 w 6000750"/>
              <a:gd name="connsiteY2" fmla="*/ 0 h 501840"/>
              <a:gd name="connsiteX3" fmla="*/ 6000750 w 6000750"/>
              <a:gd name="connsiteY3" fmla="*/ 83642 h 501840"/>
              <a:gd name="connsiteX4" fmla="*/ 6000750 w 6000750"/>
              <a:gd name="connsiteY4" fmla="*/ 418198 h 501840"/>
              <a:gd name="connsiteX5" fmla="*/ 5917108 w 6000750"/>
              <a:gd name="connsiteY5" fmla="*/ 501840 h 501840"/>
              <a:gd name="connsiteX6" fmla="*/ 83642 w 6000750"/>
              <a:gd name="connsiteY6" fmla="*/ 501840 h 501840"/>
              <a:gd name="connsiteX7" fmla="*/ 0 w 6000750"/>
              <a:gd name="connsiteY7" fmla="*/ 418198 h 501840"/>
              <a:gd name="connsiteX8" fmla="*/ 0 w 6000750"/>
              <a:gd name="connsiteY8" fmla="*/ 83642 h 50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00750" h="501840">
                <a:moveTo>
                  <a:pt x="0" y="83642"/>
                </a:moveTo>
                <a:cubicBezTo>
                  <a:pt x="0" y="37448"/>
                  <a:pt x="37448" y="0"/>
                  <a:pt x="83642" y="0"/>
                </a:cubicBezTo>
                <a:lnTo>
                  <a:pt x="5917108" y="0"/>
                </a:lnTo>
                <a:cubicBezTo>
                  <a:pt x="5963302" y="0"/>
                  <a:pt x="6000750" y="37448"/>
                  <a:pt x="6000750" y="83642"/>
                </a:cubicBezTo>
                <a:lnTo>
                  <a:pt x="6000750" y="418198"/>
                </a:lnTo>
                <a:cubicBezTo>
                  <a:pt x="6000750" y="464392"/>
                  <a:pt x="5963302" y="501840"/>
                  <a:pt x="5917108" y="501840"/>
                </a:cubicBezTo>
                <a:lnTo>
                  <a:pt x="83642" y="501840"/>
                </a:lnTo>
                <a:cubicBezTo>
                  <a:pt x="37448" y="501840"/>
                  <a:pt x="0" y="464392"/>
                  <a:pt x="0" y="418198"/>
                </a:cubicBezTo>
                <a:lnTo>
                  <a:pt x="0" y="8364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51312" tIns="24498" rIns="251312" bIns="24498" spcCol="1270" anchor="ctr"/>
          <a:lstStyle/>
          <a:p>
            <a:pPr defTabSz="7556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400" dirty="0"/>
              <a:t>Virtues and vices define an individual’s moral values </a:t>
            </a:r>
          </a:p>
        </p:txBody>
      </p:sp>
      <p:sp>
        <p:nvSpPr>
          <p:cNvPr id="11272" name="Slide Number Placeholder 4">
            <a:extLst>
              <a:ext uri="{FF2B5EF4-FFF2-40B4-BE49-F238E27FC236}">
                <a16:creationId xmlns:a16="http://schemas.microsoft.com/office/drawing/2014/main" id="{624FEF4A-CE3D-4F48-9FD7-9CC1775C4F84}"/>
              </a:ext>
            </a:extLst>
          </p:cNvPr>
          <p:cNvSpPr txBox="1">
            <a:spLocks/>
          </p:cNvSpPr>
          <p:nvPr/>
        </p:nvSpPr>
        <p:spPr bwMode="auto">
          <a:xfrm>
            <a:off x="8686800" y="63119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fld id="{45FBEDBB-F1C9-481F-AF55-8B9E24E81C4C}" type="slidenum">
              <a:rPr lang="en-GB" altLang="en-US" sz="2000">
                <a:solidFill>
                  <a:srgbClr val="000000"/>
                </a:solidFill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8</a:t>
            </a:fld>
            <a:endParaRPr lang="en-GB" altLang="en-US" sz="2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847F126-2474-4920-AF52-64E723BE6C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855663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Ethics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8">
            <a:extLst>
              <a:ext uri="{FF2B5EF4-FFF2-40B4-BE49-F238E27FC236}">
                <a16:creationId xmlns:a16="http://schemas.microsoft.com/office/drawing/2014/main" id="{95E14B8C-B47E-4CFA-A7A3-151DA1DC3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153400" cy="4213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776C32E-23CD-4AE4-9921-A577C681429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855663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Moral, Ethics and Law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>
            <a:extLst>
              <a:ext uri="{FF2B5EF4-FFF2-40B4-BE49-F238E27FC236}">
                <a16:creationId xmlns:a16="http://schemas.microsoft.com/office/drawing/2014/main" id="{FB800F10-94CB-4A6F-905F-BAEDE9122232}"/>
              </a:ext>
            </a:extLst>
          </p:cNvPr>
          <p:cNvSpPr txBox="1">
            <a:spLocks/>
          </p:cNvSpPr>
          <p:nvPr/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504304-0249-48A2-88C5-731E01FF208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13315" name="Footer Placeholder 4">
            <a:extLst>
              <a:ext uri="{FF2B5EF4-FFF2-40B4-BE49-F238E27FC236}">
                <a16:creationId xmlns:a16="http://schemas.microsoft.com/office/drawing/2014/main" id="{84CD1B1A-43D7-4A13-8B03-C39BEE5ABE24}"/>
              </a:ext>
            </a:extLst>
          </p:cNvPr>
          <p:cNvSpPr txBox="1">
            <a:spLocks/>
          </p:cNvSpPr>
          <p:nvPr/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E6A2E07-E7A8-4280-A6B5-C9BC8E9D2A4D}" type="slidenum">
              <a:rPr lang="en-US" altLang="en-US" sz="1000">
                <a:cs typeface="Calibri" panose="020F050202020403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>
              <a:cs typeface="Calibri" panose="020F0502020204030204" pitchFamily="34" charset="0"/>
            </a:endParaRPr>
          </a:p>
        </p:txBody>
      </p:sp>
      <p:pic>
        <p:nvPicPr>
          <p:cNvPr id="13316" name="Picture 5">
            <a:extLst>
              <a:ext uri="{FF2B5EF4-FFF2-40B4-BE49-F238E27FC236}">
                <a16:creationId xmlns:a16="http://schemas.microsoft.com/office/drawing/2014/main" id="{AC66E225-DD61-40A7-ABDC-47088EE38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25" y="3230563"/>
            <a:ext cx="3825875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013720-9A68-4AD1-8E6A-FB9A0C08ED7A}"/>
              </a:ext>
            </a:extLst>
          </p:cNvPr>
          <p:cNvSpPr txBox="1">
            <a:spLocks/>
          </p:cNvSpPr>
          <p:nvPr/>
        </p:nvSpPr>
        <p:spPr bwMode="auto">
          <a:xfrm>
            <a:off x="0" y="901700"/>
            <a:ext cx="9144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None/>
              <a:defRPr/>
            </a:pPr>
            <a:r>
              <a:rPr lang="en-US" altLang="en-US" sz="2800" b="1" dirty="0"/>
              <a:t>Concerns about the Ethical use of IT</a:t>
            </a:r>
          </a:p>
          <a:p>
            <a:pPr>
              <a:buFontTx/>
              <a:buAutoNum type="arabicPeriod"/>
              <a:defRPr/>
            </a:pPr>
            <a:r>
              <a:rPr lang="en-US" altLang="en-US" sz="2800" dirty="0"/>
              <a:t> E-mail and Internet access monitoring at work</a:t>
            </a:r>
          </a:p>
          <a:p>
            <a:pPr marL="365125" indent="-365125">
              <a:buFontTx/>
              <a:buAutoNum type="arabicPeriod"/>
              <a:defRPr/>
            </a:pPr>
            <a:r>
              <a:rPr lang="en-US" altLang="en-US" sz="2800" dirty="0"/>
              <a:t>Software piracy, downloading in violation of copyright  laws</a:t>
            </a:r>
          </a:p>
          <a:p>
            <a:pPr>
              <a:buFontTx/>
              <a:buAutoNum type="arabicPeriod"/>
              <a:defRPr/>
            </a:pPr>
            <a:r>
              <a:rPr lang="en-US" altLang="en-US" sz="2800" dirty="0"/>
              <a:t> Unsolicited e-mail, spoofing, </a:t>
            </a:r>
          </a:p>
          <a:p>
            <a:pPr>
              <a:buFontTx/>
              <a:buNone/>
              <a:defRPr/>
            </a:pPr>
            <a:r>
              <a:rPr lang="en-US" altLang="en-US" sz="2800" dirty="0"/>
              <a:t>    spamming, phishing</a:t>
            </a:r>
          </a:p>
          <a:p>
            <a:pPr>
              <a:buFontTx/>
              <a:buAutoNum type="arabicPeriod" startAt="4"/>
              <a:defRPr/>
            </a:pPr>
            <a:r>
              <a:rPr lang="en-US" altLang="en-US" sz="2800" dirty="0"/>
              <a:t> Hacker and cracker theft</a:t>
            </a:r>
          </a:p>
          <a:p>
            <a:pPr>
              <a:buFontTx/>
              <a:buAutoNum type="arabicPeriod" startAt="4"/>
              <a:defRPr/>
            </a:pPr>
            <a:r>
              <a:rPr lang="en-US" altLang="en-US" sz="2800" dirty="0"/>
              <a:t> Plagiarism by students</a:t>
            </a:r>
          </a:p>
          <a:p>
            <a:pPr>
              <a:spcBef>
                <a:spcPts val="0"/>
              </a:spcBef>
              <a:buFontTx/>
              <a:buAutoNum type="arabicPeriod" startAt="4"/>
              <a:defRPr/>
            </a:pPr>
            <a:r>
              <a:rPr lang="en-US" altLang="en-US" sz="2800" dirty="0"/>
              <a:t> Malware, cookies and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en-US" sz="2800" dirty="0"/>
              <a:t>    spyware to illegally track 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en-US" sz="2800" dirty="0"/>
              <a:t>    a user</a:t>
            </a:r>
          </a:p>
          <a:p>
            <a:pPr>
              <a:buFontTx/>
              <a:buNone/>
              <a:defRPr/>
            </a:pPr>
            <a:endParaRPr lang="en-US" altLang="en-US" sz="28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770332D-0763-47CC-B835-597E229564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855663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MY" altLang="en-US" b="1" kern="0" dirty="0"/>
              <a:t>Computer Ethics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56BB8D4-A9C8-4EA9-91C5-0CBC12271352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600" b="1" dirty="0"/>
          </a:p>
          <a:p>
            <a:pPr algn="ctr" eaLnBrk="1" hangingPunct="1">
              <a:defRPr/>
            </a:pPr>
            <a:r>
              <a:rPr lang="en-US" altLang="en-US" sz="3600" b="1" dirty="0">
                <a:solidFill>
                  <a:schemeClr val="tx2"/>
                </a:solidFill>
              </a:rPr>
              <a:t>Code of Ethics</a:t>
            </a:r>
          </a:p>
          <a:p>
            <a:pPr algn="ctr">
              <a:defRPr/>
            </a:pPr>
            <a:endParaRPr lang="en-MY" sz="3600" b="1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68964E-7687-466D-9AB7-63EEFA49EBD8}"/>
              </a:ext>
            </a:extLst>
          </p:cNvPr>
          <p:cNvSpPr txBox="1">
            <a:spLocks/>
          </p:cNvSpPr>
          <p:nvPr/>
        </p:nvSpPr>
        <p:spPr>
          <a:xfrm>
            <a:off x="0" y="1295400"/>
            <a:ext cx="9144000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Organizations have Code of Ethics for its employees </a:t>
            </a:r>
          </a:p>
          <a:p>
            <a:pPr eaLnBrk="1" hangingPunct="1">
              <a:defRPr/>
            </a:pPr>
            <a:r>
              <a:rPr lang="en-US" altLang="en-US" sz="2800" kern="0" dirty="0"/>
              <a:t>Breaking the code of ethics can result in termination</a:t>
            </a:r>
          </a:p>
          <a:p>
            <a:pPr eaLnBrk="1" hangingPunct="1">
              <a:defRPr/>
            </a:pPr>
            <a:r>
              <a:rPr lang="en-US" altLang="en-US" sz="2800" kern="0" dirty="0"/>
              <a:t>It documents the 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kern="0" dirty="0"/>
              <a:t>mission and values of the organization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kern="0" dirty="0"/>
              <a:t>how professionals are supposed to approach problems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kern="0" dirty="0"/>
              <a:t>the ethical principles based on the organization's core values</a:t>
            </a:r>
          </a:p>
          <a:p>
            <a:pPr eaLnBrk="1" hangingPunct="1">
              <a:defRPr/>
            </a:pPr>
            <a:r>
              <a:rPr lang="en-US" altLang="en-US" sz="2800" kern="0" dirty="0"/>
              <a:t>A code of ethics is important because it clearly lays the "rules" for behavior and provides a preemptive warning </a:t>
            </a:r>
          </a:p>
          <a:p>
            <a:pPr marL="971550" lvl="1" indent="-514350" eaLnBrk="1" hangingPunct="1">
              <a:buFontTx/>
              <a:buNone/>
              <a:defRPr/>
            </a:pPr>
            <a:endParaRPr lang="en-US" altLang="en-US" kern="0" dirty="0"/>
          </a:p>
          <a:p>
            <a:pPr eaLnBrk="1" hangingPunct="1">
              <a:defRPr/>
            </a:pPr>
            <a:endParaRPr lang="en-US" altLang="en-US" sz="2800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657C5BE-9E71-449E-8E0F-1EEC929A08C2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3600" b="1" dirty="0"/>
          </a:p>
          <a:p>
            <a:pPr algn="ctr">
              <a:defRPr/>
            </a:pPr>
            <a:r>
              <a:rPr lang="en-US" altLang="en-US" sz="3600" b="1" dirty="0">
                <a:solidFill>
                  <a:schemeClr val="tx2"/>
                </a:solidFill>
              </a:rPr>
              <a:t>Code of Ethics</a:t>
            </a:r>
          </a:p>
          <a:p>
            <a:pPr algn="ctr">
              <a:defRPr/>
            </a:pPr>
            <a:endParaRPr lang="en-MY" sz="3600" b="1" kern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92CF3C6-FF86-491F-8949-64321E407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03338"/>
            <a:ext cx="91440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800" b="1" kern="0" dirty="0"/>
              <a:t>Association for Computing Machinery (ACM)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800" kern="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800" kern="0" dirty="0"/>
              <a:t>Some examples</a:t>
            </a:r>
          </a:p>
          <a:p>
            <a:pPr marL="971550" lvl="1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kern="0" dirty="0"/>
              <a:t>Avoid harm to others </a:t>
            </a:r>
          </a:p>
          <a:p>
            <a:pPr marL="971550" lvl="1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kern="0" dirty="0"/>
              <a:t>Be fair and take action not to discriminate.</a:t>
            </a:r>
          </a:p>
          <a:p>
            <a:pPr marL="971550" lvl="1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kern="0" dirty="0"/>
              <a:t>Honor property rights </a:t>
            </a:r>
          </a:p>
          <a:p>
            <a:pPr marL="971550" lvl="1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kern="0" dirty="0"/>
              <a:t>Give proper credit for intellectual property </a:t>
            </a:r>
          </a:p>
          <a:p>
            <a:pPr marL="971550" lvl="1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kern="0" dirty="0"/>
              <a:t>Respect the privacy of others </a:t>
            </a:r>
          </a:p>
          <a:p>
            <a:pPr marL="971550" lvl="1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kern="0" dirty="0"/>
              <a:t>Honor confidentiality  </a:t>
            </a:r>
          </a:p>
        </p:txBody>
      </p:sp>
      <p:pic>
        <p:nvPicPr>
          <p:cNvPr id="15364" name="Picture 2">
            <a:extLst>
              <a:ext uri="{FF2B5EF4-FFF2-40B4-BE49-F238E27FC236}">
                <a16:creationId xmlns:a16="http://schemas.microsoft.com/office/drawing/2014/main" id="{C10ED97E-D75E-4BB6-81AF-BE1925A24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72000"/>
            <a:ext cx="2883334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4D4AE48C-57CB-4BFC-9679-81843CC9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3551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/>
              <a:t>At the end of this section you will be able to: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ethics and why is it important to act </a:t>
            </a:r>
          </a:p>
          <a:p>
            <a:pPr marL="112713" indent="0">
              <a:buFontTx/>
              <a:buNone/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according to a code of ethics</a:t>
            </a:r>
          </a:p>
          <a:p>
            <a:pPr marL="398463" indent="-285750">
              <a:defRPr/>
            </a:pPr>
            <a:r>
              <a:rPr lang="en-GB" altLang="en-US" sz="2400" dirty="0">
                <a:highlight>
                  <a:srgbClr val="FFFF00"/>
                </a:highlight>
              </a:rPr>
              <a:t>Know why business ethics is becoming increasingly important 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 approaches that can be taken to ensure ethical decision making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examples of ethical issues</a:t>
            </a:r>
          </a:p>
          <a:p>
            <a:pPr>
              <a:buFontTx/>
              <a:buNone/>
              <a:defRPr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9A4F0F-2882-46C5-993A-70EB13034141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1">
            <a:extLst>
              <a:ext uri="{FF2B5EF4-FFF2-40B4-BE49-F238E27FC236}">
                <a16:creationId xmlns:a16="http://schemas.microsoft.com/office/drawing/2014/main" id="{A9C4E70F-70AA-499C-AF8A-CB1561E8D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97362"/>
            <a:ext cx="3859213" cy="21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636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D9006CA5-1B9D-4163-A2B2-F992FDE07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44575"/>
            <a:ext cx="9144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en-GB" altLang="en-US" sz="2800" b="1" dirty="0"/>
              <a:t>Profession</a:t>
            </a:r>
          </a:p>
          <a:p>
            <a:r>
              <a:rPr lang="en-GB" altLang="en-US" sz="2800" dirty="0"/>
              <a:t> Requires </a:t>
            </a:r>
            <a:r>
              <a:rPr lang="en-GB" altLang="en-US" sz="2800" dirty="0">
                <a:highlight>
                  <a:srgbClr val="FFFF00"/>
                </a:highlight>
              </a:rPr>
              <a:t>specialized</a:t>
            </a:r>
            <a:r>
              <a:rPr lang="en-GB" altLang="en-US" sz="2800" dirty="0"/>
              <a:t> knowledge and intensive academic preparation</a:t>
            </a:r>
          </a:p>
          <a:p>
            <a:pPr>
              <a:buFontTx/>
              <a:buNone/>
            </a:pPr>
            <a:r>
              <a:rPr lang="en-GB" altLang="en-US" sz="2800" b="1" dirty="0"/>
              <a:t>Professionals</a:t>
            </a:r>
          </a:p>
          <a:p>
            <a:r>
              <a:rPr lang="en-GB" altLang="en-US" sz="2800" dirty="0"/>
              <a:t> Possess </a:t>
            </a:r>
            <a:r>
              <a:rPr lang="en-GB" altLang="en-US" sz="2800" dirty="0">
                <a:highlight>
                  <a:srgbClr val="FFFF00"/>
                </a:highlight>
              </a:rPr>
              <a:t>advanced</a:t>
            </a:r>
            <a:r>
              <a:rPr lang="en-GB" altLang="en-US" sz="2800" dirty="0"/>
              <a:t> training and experience</a:t>
            </a:r>
          </a:p>
          <a:p>
            <a:r>
              <a:rPr lang="en-GB" altLang="en-US" sz="2800" dirty="0"/>
              <a:t> Exercise </a:t>
            </a:r>
            <a:r>
              <a:rPr lang="en-GB" altLang="en-US" sz="2800" dirty="0">
                <a:highlight>
                  <a:srgbClr val="FFFF00"/>
                </a:highlight>
              </a:rPr>
              <a:t>discretion and judgment </a:t>
            </a:r>
            <a:r>
              <a:rPr lang="en-GB" altLang="en-US" sz="2800" dirty="0"/>
              <a:t>in their work</a:t>
            </a:r>
          </a:p>
          <a:p>
            <a:r>
              <a:rPr lang="en-GB" altLang="en-US" sz="2800" dirty="0"/>
              <a:t> K</a:t>
            </a:r>
            <a:r>
              <a:rPr lang="en-US" altLang="en-US" sz="2800" dirty="0" err="1"/>
              <a:t>eep</a:t>
            </a:r>
            <a:r>
              <a:rPr lang="en-US" altLang="en-US" sz="2800" dirty="0"/>
              <a:t> abreast of </a:t>
            </a:r>
            <a:r>
              <a:rPr lang="en-US" altLang="en-US" sz="2800" dirty="0">
                <a:highlight>
                  <a:srgbClr val="FFFF00"/>
                </a:highlight>
              </a:rPr>
              <a:t>developments</a:t>
            </a:r>
            <a:r>
              <a:rPr lang="en-US" altLang="en-US" sz="2800" dirty="0"/>
              <a:t> in their field</a:t>
            </a:r>
            <a:endParaRPr lang="en-GB" altLang="en-US" sz="2800" dirty="0"/>
          </a:p>
          <a:p>
            <a:pPr eaLnBrk="1" hangingPunct="1">
              <a:buFontTx/>
              <a:buNone/>
            </a:pPr>
            <a:r>
              <a:rPr lang="en-GB" altLang="en-US" sz="2800" b="1" dirty="0"/>
              <a:t>Integrity</a:t>
            </a:r>
          </a:p>
          <a:p>
            <a:pPr eaLnBrk="1" hangingPunct="1"/>
            <a:r>
              <a:rPr lang="en-GB" altLang="en-US" sz="2800" dirty="0"/>
              <a:t> Acting in accordance with personal </a:t>
            </a:r>
            <a:r>
              <a:rPr lang="en-GB" altLang="en-US" sz="2800" dirty="0">
                <a:highlight>
                  <a:srgbClr val="FFFF00"/>
                </a:highlight>
              </a:rPr>
              <a:t>code of principles</a:t>
            </a:r>
          </a:p>
          <a:p>
            <a:r>
              <a:rPr lang="en-GB" altLang="en-US" sz="2800" dirty="0"/>
              <a:t> Extending </a:t>
            </a:r>
            <a:r>
              <a:rPr lang="en-GB" altLang="en-US" sz="2800" dirty="0">
                <a:highlight>
                  <a:srgbClr val="FFFF00"/>
                </a:highlight>
              </a:rPr>
              <a:t>respect, consideration, moral values </a:t>
            </a:r>
            <a:r>
              <a:rPr lang="en-GB" altLang="en-US" sz="2800" dirty="0"/>
              <a:t>to all </a:t>
            </a:r>
          </a:p>
          <a:p>
            <a:pPr>
              <a:buFontTx/>
              <a:buNone/>
            </a:pPr>
            <a:endParaRPr lang="en-GB" altLang="en-US" sz="2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37B8716-7845-42DB-BE6E-DFADA4E249C7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>
                <a:solidFill>
                  <a:schemeClr val="tx2"/>
                </a:solidFill>
              </a:rPr>
              <a:t>Professionalism</a:t>
            </a:r>
            <a:endParaRPr lang="en-MY" sz="3600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14D264D-1284-411B-9796-739D296F266D}"/>
              </a:ext>
            </a:extLst>
          </p:cNvPr>
          <p:cNvSpPr txBox="1">
            <a:spLocks/>
          </p:cNvSpPr>
          <p:nvPr/>
        </p:nvSpPr>
        <p:spPr>
          <a:xfrm>
            <a:off x="0" y="1066800"/>
            <a:ext cx="9144000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b="1" kern="0" dirty="0"/>
              <a:t>Likelihood of Unethical Behavior</a:t>
            </a:r>
          </a:p>
          <a:p>
            <a:pPr lvl="1" eaLnBrk="1" hangingPunct="1">
              <a:defRPr/>
            </a:pPr>
            <a:r>
              <a:rPr lang="en-US" altLang="en-US" kern="0" dirty="0">
                <a:highlight>
                  <a:srgbClr val="FFFF00"/>
                </a:highlight>
              </a:rPr>
              <a:t>Complex</a:t>
            </a:r>
            <a:r>
              <a:rPr lang="en-US" altLang="en-US" kern="0" dirty="0"/>
              <a:t> work environments make it difficult to apply principles and codes of ethics consistently</a:t>
            </a:r>
          </a:p>
          <a:p>
            <a:pPr lvl="1" eaLnBrk="1" hangingPunct="1">
              <a:defRPr/>
            </a:pPr>
            <a:r>
              <a:rPr lang="en-US" altLang="en-US" kern="0" dirty="0">
                <a:highlight>
                  <a:srgbClr val="FFFF00"/>
                </a:highlight>
              </a:rPr>
              <a:t>Pressure </a:t>
            </a:r>
            <a:r>
              <a:rPr lang="en-US" altLang="en-US" kern="0" dirty="0"/>
              <a:t>to maintain revenue and profits </a:t>
            </a:r>
          </a:p>
          <a:p>
            <a:pPr eaLnBrk="1" hangingPunct="1">
              <a:defRPr/>
            </a:pPr>
            <a:r>
              <a:rPr lang="en-US" altLang="en-US" sz="2800" b="1" kern="0" dirty="0"/>
              <a:t>Risk</a:t>
            </a:r>
            <a:r>
              <a:rPr lang="en-US" altLang="en-US" sz="2800" kern="0" dirty="0"/>
              <a:t> of financial loss, criminal or civil lawsuits more prevalent for businesses that act </a:t>
            </a:r>
            <a:r>
              <a:rPr lang="en-US" altLang="en-US" sz="2800" kern="0" dirty="0">
                <a:highlight>
                  <a:srgbClr val="FFFF00"/>
                </a:highlight>
              </a:rPr>
              <a:t>unethically</a:t>
            </a:r>
            <a:r>
              <a:rPr lang="en-US" altLang="en-US" sz="2800" kern="0" dirty="0"/>
              <a:t>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800" b="1" kern="0" dirty="0"/>
              <a:t>Solution</a:t>
            </a:r>
            <a:r>
              <a:rPr lang="en-US" altLang="en-US" sz="2800" kern="0" dirty="0"/>
              <a:t> </a:t>
            </a:r>
            <a:r>
              <a:rPr lang="en-US" altLang="en-US" sz="2800" b="1" kern="0" dirty="0"/>
              <a:t>through Corporate Social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800" b="1" kern="0" dirty="0"/>
              <a:t>Responsibility (CSR)</a:t>
            </a:r>
          </a:p>
          <a:p>
            <a:pPr eaLnBrk="1" hangingPunct="1">
              <a:defRPr/>
            </a:pPr>
            <a:r>
              <a:rPr lang="en-US" altLang="en-US" sz="2800" kern="0" dirty="0"/>
              <a:t>Organization takes responsibility for the </a:t>
            </a:r>
          </a:p>
          <a:p>
            <a:pPr marL="365125" indent="0" eaLnBrk="1" hangingPunct="1">
              <a:buFontTx/>
              <a:buNone/>
              <a:defRPr/>
            </a:pPr>
            <a:r>
              <a:rPr lang="en-US" altLang="en-US" sz="2800" kern="0" dirty="0">
                <a:highlight>
                  <a:srgbClr val="FFFF00"/>
                </a:highlight>
              </a:rPr>
              <a:t>impact </a:t>
            </a:r>
            <a:r>
              <a:rPr lang="en-US" altLang="en-US" sz="2800" kern="0" dirty="0"/>
              <a:t>of its actions on the environment, </a:t>
            </a:r>
          </a:p>
          <a:p>
            <a:pPr marL="365125" indent="0" eaLnBrk="1" hangingPunct="1">
              <a:buFontTx/>
              <a:buNone/>
              <a:defRPr/>
            </a:pPr>
            <a:r>
              <a:rPr lang="en-US" altLang="en-US" sz="2800" kern="0" dirty="0"/>
              <a:t>community  and employee welfare </a:t>
            </a:r>
          </a:p>
          <a:p>
            <a:pPr marL="457200" lvl="1" indent="0" eaLnBrk="1" hangingPunct="1">
              <a:buFontTx/>
              <a:buNone/>
              <a:defRPr/>
            </a:pPr>
            <a:endParaRPr lang="en-US" altLang="en-US" kern="0" dirty="0"/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38DDDFFB-8ECE-4728-9387-61D23537A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3959225"/>
            <a:ext cx="2392362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F91A2BFF-78E0-4104-9212-94EEB1B5A4DA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Ethics in the Business World</a:t>
            </a:r>
            <a:endParaRPr lang="en-MY" sz="3600" b="1" kern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4D4AE48C-57CB-4BFC-9679-81843CC9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3551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/>
              <a:t>At the end of this section you will be able to: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ethics and why is it important to act </a:t>
            </a:r>
          </a:p>
          <a:p>
            <a:pPr marL="112713" indent="0">
              <a:buFontTx/>
              <a:buNone/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according to a code of ethics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Know why business ethics is becoming increasingly important </a:t>
            </a:r>
          </a:p>
          <a:p>
            <a:pPr marL="398463" indent="-285750">
              <a:defRPr/>
            </a:pPr>
            <a:r>
              <a:rPr lang="en-GB" altLang="en-US" sz="2400" dirty="0">
                <a:highlight>
                  <a:srgbClr val="FFFF00"/>
                </a:highlight>
              </a:rPr>
              <a:t>Learn approaches that can be taken to ensure ethical decision making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Provide examples of ethical issues</a:t>
            </a:r>
          </a:p>
          <a:p>
            <a:pPr>
              <a:buFontTx/>
              <a:buNone/>
              <a:defRPr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9A4F0F-2882-46C5-993A-70EB13034141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1">
            <a:extLst>
              <a:ext uri="{FF2B5EF4-FFF2-40B4-BE49-F238E27FC236}">
                <a16:creationId xmlns:a16="http://schemas.microsoft.com/office/drawing/2014/main" id="{A9C4E70F-70AA-499C-AF8A-CB1561E8D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97362"/>
            <a:ext cx="3859213" cy="21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197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B71557-421A-444A-ABC4-54F24CB454B4}"/>
              </a:ext>
            </a:extLst>
          </p:cNvPr>
          <p:cNvSpPr txBox="1">
            <a:spLocks/>
          </p:cNvSpPr>
          <p:nvPr/>
        </p:nvSpPr>
        <p:spPr>
          <a:xfrm>
            <a:off x="-30163" y="1106488"/>
            <a:ext cx="9144001" cy="44561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>
                <a:highlight>
                  <a:srgbClr val="FFFF00"/>
                </a:highlight>
              </a:rPr>
              <a:t>Educate</a:t>
            </a:r>
            <a:r>
              <a:rPr lang="en-US" altLang="en-US" sz="2800" kern="0" dirty="0"/>
              <a:t> employees how to apply code of 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800" kern="0" dirty="0"/>
              <a:t>    ethics in real life to encourage ethical behavior</a:t>
            </a:r>
          </a:p>
          <a:p>
            <a:pPr eaLnBrk="1" hangingPunct="1">
              <a:defRPr/>
            </a:pPr>
            <a:r>
              <a:rPr lang="en-US" altLang="en-US" sz="2800" kern="0" dirty="0"/>
              <a:t>Goal 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b="1" kern="0" dirty="0"/>
              <a:t>Encourage</a:t>
            </a:r>
            <a:r>
              <a:rPr lang="en-US" altLang="en-US" kern="0" dirty="0"/>
              <a:t> employees to report any misconducts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b="1" kern="0" dirty="0"/>
              <a:t>Show</a:t>
            </a:r>
            <a:r>
              <a:rPr lang="en-US" altLang="en-US" kern="0" dirty="0"/>
              <a:t> employees effective ways of reporting incidents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b="1" kern="0" dirty="0"/>
              <a:t>Reassure</a:t>
            </a:r>
            <a:r>
              <a:rPr lang="en-US" altLang="en-US" kern="0" dirty="0"/>
              <a:t> employees that such feedback will be acted on and that they will not be subjected to retaliation</a:t>
            </a:r>
          </a:p>
          <a:p>
            <a:pPr marL="971550" lvl="1" indent="-514350" eaLnBrk="1" hangingPunct="1">
              <a:defRPr/>
            </a:pPr>
            <a:endParaRPr lang="en-US" altLang="en-US" kern="0" dirty="0"/>
          </a:p>
        </p:txBody>
      </p:sp>
      <p:sp>
        <p:nvSpPr>
          <p:cNvPr id="18435" name="Footer Placeholder 3">
            <a:extLst>
              <a:ext uri="{FF2B5EF4-FFF2-40B4-BE49-F238E27FC236}">
                <a16:creationId xmlns:a16="http://schemas.microsoft.com/office/drawing/2014/main" id="{4344DB3C-F1A7-45E2-A9A1-234EB9BA1189}"/>
              </a:ext>
            </a:extLst>
          </p:cNvPr>
          <p:cNvSpPr txBox="1">
            <a:spLocks/>
          </p:cNvSpPr>
          <p:nvPr/>
        </p:nvSpPr>
        <p:spPr bwMode="auto">
          <a:xfrm>
            <a:off x="6218238" y="6646863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D97B96-EA8A-441C-AEF7-363E946AB0B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E063FE1-6E0A-4C30-B65F-D25A68049F90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Ethics Training</a:t>
            </a:r>
            <a:endParaRPr lang="en-MY" sz="3600" b="1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2A044E20-34BD-4576-8F3F-57E1B19889B4}"/>
              </a:ext>
            </a:extLst>
          </p:cNvPr>
          <p:cNvSpPr txBox="1">
            <a:spLocks/>
          </p:cNvSpPr>
          <p:nvPr/>
        </p:nvSpPr>
        <p:spPr bwMode="auto">
          <a:xfrm>
            <a:off x="6218238" y="6646863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5C21CE-7312-4A54-85FF-44F27B5701C0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AC0B0A4-1128-4C0B-AFAC-D28AAB860B3A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Ethical Decisions</a:t>
            </a:r>
            <a:endParaRPr lang="en-MY" sz="3600" b="1" kern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D8B8DA-4E39-4812-B2DB-BF7C5A497AD8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285875"/>
            <a:ext cx="8382000" cy="48164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en-US" altLang="en-US" sz="2400" b="1" kern="0" dirty="0"/>
              <a:t>To deal with computer crime, a firm should</a:t>
            </a:r>
          </a:p>
          <a:p>
            <a:pPr marL="0" indent="0" eaLnBrk="1" hangingPunct="1">
              <a:buFontTx/>
              <a:buAutoNum type="arabicPeriod"/>
              <a:defRPr/>
            </a:pPr>
            <a:r>
              <a:rPr lang="en-US" altLang="en-US" sz="2400" kern="0" dirty="0"/>
              <a:t> Pursue prosecution of criminals at all costs</a:t>
            </a:r>
          </a:p>
          <a:p>
            <a:pPr marL="0" indent="0" eaLnBrk="1" hangingPunct="1">
              <a:buFontTx/>
              <a:buAutoNum type="arabicPeriod"/>
              <a:defRPr/>
            </a:pPr>
            <a:r>
              <a:rPr lang="en-US" altLang="en-US" sz="2400" kern="0" dirty="0"/>
              <a:t> Maintain low profile to avoid negative publicity</a:t>
            </a:r>
          </a:p>
          <a:p>
            <a:pPr marL="0" indent="0" eaLnBrk="1" hangingPunct="1">
              <a:buFontTx/>
              <a:buAutoNum type="arabicPeriod"/>
              <a:defRPr/>
            </a:pPr>
            <a:r>
              <a:rPr lang="en-US" altLang="en-US" sz="2400" kern="0" dirty="0"/>
              <a:t> Inform affected customers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400" b="1" kern="0" dirty="0"/>
              <a:t>Decisions to be taken by a firm</a:t>
            </a:r>
          </a:p>
          <a:p>
            <a:pPr marL="0" indent="0" eaLnBrk="1" hangingPunct="1">
              <a:buFontTx/>
              <a:buAutoNum type="arabicPeriod"/>
              <a:defRPr/>
            </a:pPr>
            <a:r>
              <a:rPr lang="en-CA" altLang="en-US" sz="2400" kern="0" dirty="0"/>
              <a:t>How much resources needed to safeguard against computer </a:t>
            </a:r>
            <a:r>
              <a:rPr lang="en-US" altLang="en-US" sz="2400" kern="0" dirty="0"/>
              <a:t>crime</a:t>
            </a:r>
          </a:p>
          <a:p>
            <a:pPr marL="0" indent="0" eaLnBrk="1" hangingPunct="1">
              <a:buFontTx/>
              <a:buAutoNum type="arabicPeriod"/>
              <a:defRPr/>
            </a:pPr>
            <a:r>
              <a:rPr lang="en-US" altLang="en-US" sz="2400" kern="0" dirty="0"/>
              <a:t>What actions should be taken when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US" altLang="en-US" sz="2400" kern="0" dirty="0"/>
              <a:t>a software is found susceptible to hacking</a:t>
            </a:r>
          </a:p>
          <a:p>
            <a:pPr marL="971550" lvl="1" indent="-514350" eaLnBrk="1" hangingPunct="1">
              <a:buFontTx/>
              <a:buAutoNum type="arabicPeriod"/>
              <a:defRPr/>
            </a:pPr>
            <a:r>
              <a:rPr lang="en-CA" altLang="en-US" sz="2400" kern="0" dirty="0"/>
              <a:t>recommended computer security safeguards increase operating costs</a:t>
            </a:r>
            <a:endParaRPr lang="en-US" altLang="en-US" sz="2400" kern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>
            <a:extLst>
              <a:ext uri="{FF2B5EF4-FFF2-40B4-BE49-F238E27FC236}">
                <a16:creationId xmlns:a16="http://schemas.microsoft.com/office/drawing/2014/main" id="{4D4AE48C-57CB-4BFC-9679-81843CC9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39863"/>
            <a:ext cx="8963025" cy="3551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31445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2875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800" b="1" dirty="0"/>
              <a:t>At the end of this section you will be able to: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 ethics and why is it important to act </a:t>
            </a:r>
          </a:p>
          <a:p>
            <a:pPr marL="112713" indent="0">
              <a:buFontTx/>
              <a:buNone/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according to a code of ethics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Know why business ethics is becoming increasingly important </a:t>
            </a:r>
          </a:p>
          <a:p>
            <a:pPr marL="398463" indent="-285750">
              <a:defRPr/>
            </a:pPr>
            <a:r>
              <a:rPr lang="en-GB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 approaches that can be taken to ensure ethical decision making</a:t>
            </a:r>
          </a:p>
          <a:p>
            <a:pPr marL="398463" indent="-285750">
              <a:defRPr/>
            </a:pPr>
            <a:r>
              <a:rPr lang="en-GB" altLang="en-US" sz="2400" dirty="0">
                <a:highlight>
                  <a:srgbClr val="FFFF00"/>
                </a:highlight>
              </a:rPr>
              <a:t>Provide examples of ethical issues</a:t>
            </a:r>
          </a:p>
          <a:p>
            <a:pPr>
              <a:buFontTx/>
              <a:buNone/>
              <a:defRPr/>
            </a:pPr>
            <a:endParaRPr lang="en-US" alt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9A4F0F-2882-46C5-993A-70EB13034141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734300" cy="1143001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MY" sz="3600" b="1" kern="0" dirty="0"/>
              <a:t>Learning Outcomes of the Lecture</a:t>
            </a:r>
          </a:p>
        </p:txBody>
      </p:sp>
      <p:pic>
        <p:nvPicPr>
          <p:cNvPr id="7172" name="Picture 1">
            <a:extLst>
              <a:ext uri="{FF2B5EF4-FFF2-40B4-BE49-F238E27FC236}">
                <a16:creationId xmlns:a16="http://schemas.microsoft.com/office/drawing/2014/main" id="{A9C4E70F-70AA-499C-AF8A-CB1561E8D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97362"/>
            <a:ext cx="3859213" cy="21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14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15961F5A-944E-4915-828A-C546A22D84BE}"/>
              </a:ext>
            </a:extLst>
          </p:cNvPr>
          <p:cNvSpPr txBox="1">
            <a:spLocks/>
          </p:cNvSpPr>
          <p:nvPr/>
        </p:nvSpPr>
        <p:spPr bwMode="auto">
          <a:xfrm>
            <a:off x="6248400" y="6370638"/>
            <a:ext cx="289560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26BD58-DCDF-48B6-93EE-4364669E1B16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9528F6A-62B4-4DBF-902D-A0127F77C3C3}"/>
              </a:ext>
            </a:extLst>
          </p:cNvPr>
          <p:cNvSpPr/>
          <p:nvPr/>
        </p:nvSpPr>
        <p:spPr>
          <a:xfrm>
            <a:off x="0" y="981075"/>
            <a:ext cx="8572500" cy="631825"/>
          </a:xfrm>
          <a:custGeom>
            <a:avLst/>
            <a:gdLst>
              <a:gd name="connsiteX0" fmla="*/ 0 w 8572500"/>
              <a:gd name="connsiteY0" fmla="*/ 105302 h 631800"/>
              <a:gd name="connsiteX1" fmla="*/ 105302 w 8572500"/>
              <a:gd name="connsiteY1" fmla="*/ 0 h 631800"/>
              <a:gd name="connsiteX2" fmla="*/ 8467198 w 8572500"/>
              <a:gd name="connsiteY2" fmla="*/ 0 h 631800"/>
              <a:gd name="connsiteX3" fmla="*/ 8572500 w 8572500"/>
              <a:gd name="connsiteY3" fmla="*/ 105302 h 631800"/>
              <a:gd name="connsiteX4" fmla="*/ 8572500 w 8572500"/>
              <a:gd name="connsiteY4" fmla="*/ 526498 h 631800"/>
              <a:gd name="connsiteX5" fmla="*/ 8467198 w 8572500"/>
              <a:gd name="connsiteY5" fmla="*/ 631800 h 631800"/>
              <a:gd name="connsiteX6" fmla="*/ 105302 w 8572500"/>
              <a:gd name="connsiteY6" fmla="*/ 631800 h 631800"/>
              <a:gd name="connsiteX7" fmla="*/ 0 w 8572500"/>
              <a:gd name="connsiteY7" fmla="*/ 526498 h 631800"/>
              <a:gd name="connsiteX8" fmla="*/ 0 w 8572500"/>
              <a:gd name="connsiteY8" fmla="*/ 105302 h 63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631800">
                <a:moveTo>
                  <a:pt x="0" y="105302"/>
                </a:moveTo>
                <a:cubicBezTo>
                  <a:pt x="0" y="47145"/>
                  <a:pt x="47145" y="0"/>
                  <a:pt x="105302" y="0"/>
                </a:cubicBezTo>
                <a:lnTo>
                  <a:pt x="8467198" y="0"/>
                </a:lnTo>
                <a:cubicBezTo>
                  <a:pt x="8525355" y="0"/>
                  <a:pt x="8572500" y="47145"/>
                  <a:pt x="8572500" y="105302"/>
                </a:cubicBezTo>
                <a:lnTo>
                  <a:pt x="8572500" y="526498"/>
                </a:lnTo>
                <a:cubicBezTo>
                  <a:pt x="8572500" y="584655"/>
                  <a:pt x="8525355" y="631800"/>
                  <a:pt x="8467198" y="631800"/>
                </a:cubicBezTo>
                <a:lnTo>
                  <a:pt x="105302" y="631800"/>
                </a:lnTo>
                <a:cubicBezTo>
                  <a:pt x="47145" y="631800"/>
                  <a:pt x="0" y="584655"/>
                  <a:pt x="0" y="526498"/>
                </a:cubicBezTo>
                <a:lnTo>
                  <a:pt x="0" y="1053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33712" tIns="133712" rIns="133712" bIns="133712" spcCol="1270" anchor="ctr"/>
          <a:lstStyle/>
          <a:p>
            <a:pPr defTabSz="12001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700" b="1" dirty="0"/>
              <a:t>Software piracy</a:t>
            </a:r>
            <a:endParaRPr lang="en-CA" sz="2700" b="1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7D80C3D-1E10-4A98-80F5-769C8EFA592C}"/>
              </a:ext>
            </a:extLst>
          </p:cNvPr>
          <p:cNvSpPr/>
          <p:nvPr/>
        </p:nvSpPr>
        <p:spPr>
          <a:xfrm>
            <a:off x="38100" y="1655763"/>
            <a:ext cx="8839200" cy="1230312"/>
          </a:xfrm>
          <a:custGeom>
            <a:avLst/>
            <a:gdLst>
              <a:gd name="connsiteX0" fmla="*/ 0 w 8572500"/>
              <a:gd name="connsiteY0" fmla="*/ 0 h 1229579"/>
              <a:gd name="connsiteX1" fmla="*/ 8572500 w 8572500"/>
              <a:gd name="connsiteY1" fmla="*/ 0 h 1229579"/>
              <a:gd name="connsiteX2" fmla="*/ 8572500 w 8572500"/>
              <a:gd name="connsiteY2" fmla="*/ 1229579 h 1229579"/>
              <a:gd name="connsiteX3" fmla="*/ 0 w 8572500"/>
              <a:gd name="connsiteY3" fmla="*/ 1229579 h 1229579"/>
              <a:gd name="connsiteX4" fmla="*/ 0 w 8572500"/>
              <a:gd name="connsiteY4" fmla="*/ 0 h 1229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1229579">
                <a:moveTo>
                  <a:pt x="0" y="0"/>
                </a:moveTo>
                <a:lnTo>
                  <a:pt x="8572500" y="0"/>
                </a:lnTo>
                <a:lnTo>
                  <a:pt x="8572500" y="1229579"/>
                </a:lnTo>
                <a:lnTo>
                  <a:pt x="0" y="122957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34290" rIns="192024" bIns="34290" spcCol="1270"/>
          <a:lstStyle/>
          <a:p>
            <a:pPr marL="228600" lvl="1" indent="-228600" defTabSz="93345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Business Software Alliance (BSA) - trade group that represents world’s largest software and hardware manufacturers</a:t>
            </a:r>
            <a:endParaRPr lang="en-CA" sz="2400" b="1" dirty="0"/>
          </a:p>
          <a:p>
            <a:pPr marL="0" lvl="1" indent="-228600" defTabSz="93345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Aims to stop the unauthorized copying of software</a:t>
            </a:r>
            <a:endParaRPr lang="en-CA" sz="2400" b="1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23E34E4-3C4B-486D-8C46-41C170D301ED}"/>
              </a:ext>
            </a:extLst>
          </p:cNvPr>
          <p:cNvSpPr/>
          <p:nvPr/>
        </p:nvSpPr>
        <p:spPr>
          <a:xfrm>
            <a:off x="0" y="3136900"/>
            <a:ext cx="8572500" cy="825500"/>
          </a:xfrm>
          <a:custGeom>
            <a:avLst/>
            <a:gdLst>
              <a:gd name="connsiteX0" fmla="*/ 0 w 8572500"/>
              <a:gd name="connsiteY0" fmla="*/ 105302 h 631800"/>
              <a:gd name="connsiteX1" fmla="*/ 105302 w 8572500"/>
              <a:gd name="connsiteY1" fmla="*/ 0 h 631800"/>
              <a:gd name="connsiteX2" fmla="*/ 8467198 w 8572500"/>
              <a:gd name="connsiteY2" fmla="*/ 0 h 631800"/>
              <a:gd name="connsiteX3" fmla="*/ 8572500 w 8572500"/>
              <a:gd name="connsiteY3" fmla="*/ 105302 h 631800"/>
              <a:gd name="connsiteX4" fmla="*/ 8572500 w 8572500"/>
              <a:gd name="connsiteY4" fmla="*/ 526498 h 631800"/>
              <a:gd name="connsiteX5" fmla="*/ 8467198 w 8572500"/>
              <a:gd name="connsiteY5" fmla="*/ 631800 h 631800"/>
              <a:gd name="connsiteX6" fmla="*/ 105302 w 8572500"/>
              <a:gd name="connsiteY6" fmla="*/ 631800 h 631800"/>
              <a:gd name="connsiteX7" fmla="*/ 0 w 8572500"/>
              <a:gd name="connsiteY7" fmla="*/ 526498 h 631800"/>
              <a:gd name="connsiteX8" fmla="*/ 0 w 8572500"/>
              <a:gd name="connsiteY8" fmla="*/ 105302 h 63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631800">
                <a:moveTo>
                  <a:pt x="0" y="105302"/>
                </a:moveTo>
                <a:cubicBezTo>
                  <a:pt x="0" y="47145"/>
                  <a:pt x="47145" y="0"/>
                  <a:pt x="105302" y="0"/>
                </a:cubicBezTo>
                <a:lnTo>
                  <a:pt x="8467198" y="0"/>
                </a:lnTo>
                <a:cubicBezTo>
                  <a:pt x="8525355" y="0"/>
                  <a:pt x="8572500" y="47145"/>
                  <a:pt x="8572500" y="105302"/>
                </a:cubicBezTo>
                <a:lnTo>
                  <a:pt x="8572500" y="526498"/>
                </a:lnTo>
                <a:cubicBezTo>
                  <a:pt x="8572500" y="584655"/>
                  <a:pt x="8525355" y="631800"/>
                  <a:pt x="8467198" y="631800"/>
                </a:cubicBezTo>
                <a:lnTo>
                  <a:pt x="105302" y="631800"/>
                </a:lnTo>
                <a:cubicBezTo>
                  <a:pt x="47145" y="631800"/>
                  <a:pt x="0" y="584655"/>
                  <a:pt x="0" y="526498"/>
                </a:cubicBezTo>
                <a:lnTo>
                  <a:pt x="0" y="1053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33712" tIns="133712" rIns="133712" bIns="133712" spcCol="1270" anchor="ctr"/>
          <a:lstStyle/>
          <a:p>
            <a:pPr defTabSz="12001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700" b="1" dirty="0"/>
              <a:t>Trade secret</a:t>
            </a:r>
            <a:endParaRPr lang="en-CA" sz="2700" b="1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84BBCB3-4FB9-4F1F-B5B7-F488F7D595DF}"/>
              </a:ext>
            </a:extLst>
          </p:cNvPr>
          <p:cNvSpPr/>
          <p:nvPr/>
        </p:nvSpPr>
        <p:spPr>
          <a:xfrm>
            <a:off x="38100" y="3978275"/>
            <a:ext cx="9105900" cy="614363"/>
          </a:xfrm>
          <a:custGeom>
            <a:avLst/>
            <a:gdLst>
              <a:gd name="connsiteX0" fmla="*/ 0 w 8572500"/>
              <a:gd name="connsiteY0" fmla="*/ 0 h 614789"/>
              <a:gd name="connsiteX1" fmla="*/ 8572500 w 8572500"/>
              <a:gd name="connsiteY1" fmla="*/ 0 h 614789"/>
              <a:gd name="connsiteX2" fmla="*/ 8572500 w 8572500"/>
              <a:gd name="connsiteY2" fmla="*/ 614789 h 614789"/>
              <a:gd name="connsiteX3" fmla="*/ 0 w 8572500"/>
              <a:gd name="connsiteY3" fmla="*/ 614789 h 614789"/>
              <a:gd name="connsiteX4" fmla="*/ 0 w 8572500"/>
              <a:gd name="connsiteY4" fmla="*/ 0 h 61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614789">
                <a:moveTo>
                  <a:pt x="0" y="0"/>
                </a:moveTo>
                <a:lnTo>
                  <a:pt x="8572500" y="0"/>
                </a:lnTo>
                <a:lnTo>
                  <a:pt x="8572500" y="614789"/>
                </a:lnTo>
                <a:lnTo>
                  <a:pt x="0" y="61478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34290" rIns="192024" bIns="34290" spcCol="1270"/>
          <a:lstStyle/>
          <a:p>
            <a:pPr marL="228600" lvl="1" indent="-228600" defTabSz="93345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Information that is of economic value and has effort or cost to develop with some degree of uniqueness or novelty</a:t>
            </a:r>
            <a:endParaRPr lang="en-CA" sz="2400" b="1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70B38A8-96C9-45B6-A437-B7F22E1E5739}"/>
              </a:ext>
            </a:extLst>
          </p:cNvPr>
          <p:cNvSpPr/>
          <p:nvPr/>
        </p:nvSpPr>
        <p:spPr>
          <a:xfrm>
            <a:off x="0" y="4710113"/>
            <a:ext cx="8572500" cy="631825"/>
          </a:xfrm>
          <a:custGeom>
            <a:avLst/>
            <a:gdLst>
              <a:gd name="connsiteX0" fmla="*/ 0 w 8572500"/>
              <a:gd name="connsiteY0" fmla="*/ 105302 h 631800"/>
              <a:gd name="connsiteX1" fmla="*/ 105302 w 8572500"/>
              <a:gd name="connsiteY1" fmla="*/ 0 h 631800"/>
              <a:gd name="connsiteX2" fmla="*/ 8467198 w 8572500"/>
              <a:gd name="connsiteY2" fmla="*/ 0 h 631800"/>
              <a:gd name="connsiteX3" fmla="*/ 8572500 w 8572500"/>
              <a:gd name="connsiteY3" fmla="*/ 105302 h 631800"/>
              <a:gd name="connsiteX4" fmla="*/ 8572500 w 8572500"/>
              <a:gd name="connsiteY4" fmla="*/ 526498 h 631800"/>
              <a:gd name="connsiteX5" fmla="*/ 8467198 w 8572500"/>
              <a:gd name="connsiteY5" fmla="*/ 631800 h 631800"/>
              <a:gd name="connsiteX6" fmla="*/ 105302 w 8572500"/>
              <a:gd name="connsiteY6" fmla="*/ 631800 h 631800"/>
              <a:gd name="connsiteX7" fmla="*/ 0 w 8572500"/>
              <a:gd name="connsiteY7" fmla="*/ 526498 h 631800"/>
              <a:gd name="connsiteX8" fmla="*/ 0 w 8572500"/>
              <a:gd name="connsiteY8" fmla="*/ 105302 h 63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631800">
                <a:moveTo>
                  <a:pt x="0" y="105302"/>
                </a:moveTo>
                <a:cubicBezTo>
                  <a:pt x="0" y="47145"/>
                  <a:pt x="47145" y="0"/>
                  <a:pt x="105302" y="0"/>
                </a:cubicBezTo>
                <a:lnTo>
                  <a:pt x="8467198" y="0"/>
                </a:lnTo>
                <a:cubicBezTo>
                  <a:pt x="8525355" y="0"/>
                  <a:pt x="8572500" y="47145"/>
                  <a:pt x="8572500" y="105302"/>
                </a:cubicBezTo>
                <a:lnTo>
                  <a:pt x="8572500" y="526498"/>
                </a:lnTo>
                <a:cubicBezTo>
                  <a:pt x="8572500" y="584655"/>
                  <a:pt x="8525355" y="631800"/>
                  <a:pt x="8467198" y="631800"/>
                </a:cubicBezTo>
                <a:lnTo>
                  <a:pt x="105302" y="631800"/>
                </a:lnTo>
                <a:cubicBezTo>
                  <a:pt x="47145" y="631800"/>
                  <a:pt x="0" y="584655"/>
                  <a:pt x="0" y="526498"/>
                </a:cubicBezTo>
                <a:lnTo>
                  <a:pt x="0" y="1053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33712" tIns="133712" rIns="133712" bIns="133712" spcCol="1270" anchor="ctr"/>
          <a:lstStyle/>
          <a:p>
            <a:pPr defTabSz="12001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700" b="1" dirty="0"/>
              <a:t>Whistle-blowing</a:t>
            </a:r>
            <a:endParaRPr lang="en-CA" sz="2700" b="1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B22B53D-2BE6-4937-89BF-8AE6145834A4}"/>
              </a:ext>
            </a:extLst>
          </p:cNvPr>
          <p:cNvSpPr/>
          <p:nvPr/>
        </p:nvSpPr>
        <p:spPr>
          <a:xfrm>
            <a:off x="0" y="5413375"/>
            <a:ext cx="9029700" cy="895350"/>
          </a:xfrm>
          <a:custGeom>
            <a:avLst/>
            <a:gdLst>
              <a:gd name="connsiteX0" fmla="*/ 0 w 8572500"/>
              <a:gd name="connsiteY0" fmla="*/ 0 h 894240"/>
              <a:gd name="connsiteX1" fmla="*/ 8572500 w 8572500"/>
              <a:gd name="connsiteY1" fmla="*/ 0 h 894240"/>
              <a:gd name="connsiteX2" fmla="*/ 8572500 w 8572500"/>
              <a:gd name="connsiteY2" fmla="*/ 894240 h 894240"/>
              <a:gd name="connsiteX3" fmla="*/ 0 w 8572500"/>
              <a:gd name="connsiteY3" fmla="*/ 894240 h 894240"/>
              <a:gd name="connsiteX4" fmla="*/ 0 w 8572500"/>
              <a:gd name="connsiteY4" fmla="*/ 0 h 894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894240">
                <a:moveTo>
                  <a:pt x="0" y="0"/>
                </a:moveTo>
                <a:lnTo>
                  <a:pt x="8572500" y="0"/>
                </a:lnTo>
                <a:lnTo>
                  <a:pt x="8572500" y="894240"/>
                </a:lnTo>
                <a:lnTo>
                  <a:pt x="0" y="8942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34290" rIns="192024" bIns="34290" spcCol="1270"/>
          <a:lstStyle/>
          <a:p>
            <a:pPr marL="228600" lvl="1" indent="-228600" defTabSz="93345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Effort by an employee to attract attention to a negligent, illegal, unethical, or abusive act by a company that threatens the public interest</a:t>
            </a:r>
            <a:endParaRPr lang="en-CA" sz="2400" b="1" dirty="0"/>
          </a:p>
        </p:txBody>
      </p:sp>
      <p:sp>
        <p:nvSpPr>
          <p:cNvPr id="20489" name="Slide Number Placeholder 4">
            <a:extLst>
              <a:ext uri="{FF2B5EF4-FFF2-40B4-BE49-F238E27FC236}">
                <a16:creationId xmlns:a16="http://schemas.microsoft.com/office/drawing/2014/main" id="{6D257A1F-EC78-465A-A589-313109D89911}"/>
              </a:ext>
            </a:extLst>
          </p:cNvPr>
          <p:cNvSpPr txBox="1">
            <a:spLocks/>
          </p:cNvSpPr>
          <p:nvPr/>
        </p:nvSpPr>
        <p:spPr bwMode="auto">
          <a:xfrm>
            <a:off x="8610600" y="6224588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fld id="{0343DCA2-9418-4F23-9E17-914D671EE9E3}" type="slidenum">
              <a:rPr lang="en-GB" altLang="en-US" sz="800">
                <a:solidFill>
                  <a:srgbClr val="000000"/>
                </a:solidFill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20</a:t>
            </a:fld>
            <a:endParaRPr lang="en-GB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B66FB63-F4AD-4677-90EC-8D35B8097F04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1011238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Ethical Issues</a:t>
            </a:r>
            <a:endParaRPr lang="en-MY" sz="3600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E941176-A233-4BF7-9975-EC610984C25A}"/>
              </a:ext>
            </a:extLst>
          </p:cNvPr>
          <p:cNvSpPr txBox="1">
            <a:spLocks/>
          </p:cNvSpPr>
          <p:nvPr/>
        </p:nvSpPr>
        <p:spPr bwMode="auto">
          <a:xfrm>
            <a:off x="0" y="-30163"/>
            <a:ext cx="7848600" cy="944563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Ethical Issues</a:t>
            </a:r>
            <a:endParaRPr lang="en-MY" sz="3600" b="1" kern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03247FE-193D-489B-8699-620256E2B0E2}"/>
              </a:ext>
            </a:extLst>
          </p:cNvPr>
          <p:cNvSpPr/>
          <p:nvPr/>
        </p:nvSpPr>
        <p:spPr>
          <a:xfrm>
            <a:off x="17463" y="1038225"/>
            <a:ext cx="7666037" cy="671513"/>
          </a:xfrm>
          <a:custGeom>
            <a:avLst/>
            <a:gdLst>
              <a:gd name="connsiteX0" fmla="*/ 0 w 8572500"/>
              <a:gd name="connsiteY0" fmla="*/ 89702 h 538200"/>
              <a:gd name="connsiteX1" fmla="*/ 89702 w 8572500"/>
              <a:gd name="connsiteY1" fmla="*/ 0 h 538200"/>
              <a:gd name="connsiteX2" fmla="*/ 8482798 w 8572500"/>
              <a:gd name="connsiteY2" fmla="*/ 0 h 538200"/>
              <a:gd name="connsiteX3" fmla="*/ 8572500 w 8572500"/>
              <a:gd name="connsiteY3" fmla="*/ 89702 h 538200"/>
              <a:gd name="connsiteX4" fmla="*/ 8572500 w 8572500"/>
              <a:gd name="connsiteY4" fmla="*/ 448498 h 538200"/>
              <a:gd name="connsiteX5" fmla="*/ 8482798 w 8572500"/>
              <a:gd name="connsiteY5" fmla="*/ 538200 h 538200"/>
              <a:gd name="connsiteX6" fmla="*/ 89702 w 8572500"/>
              <a:gd name="connsiteY6" fmla="*/ 538200 h 538200"/>
              <a:gd name="connsiteX7" fmla="*/ 0 w 8572500"/>
              <a:gd name="connsiteY7" fmla="*/ 448498 h 538200"/>
              <a:gd name="connsiteX8" fmla="*/ 0 w 8572500"/>
              <a:gd name="connsiteY8" fmla="*/ 89702 h 5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538200">
                <a:moveTo>
                  <a:pt x="0" y="89702"/>
                </a:moveTo>
                <a:cubicBezTo>
                  <a:pt x="0" y="40161"/>
                  <a:pt x="40161" y="0"/>
                  <a:pt x="89702" y="0"/>
                </a:cubicBezTo>
                <a:lnTo>
                  <a:pt x="8482798" y="0"/>
                </a:lnTo>
                <a:cubicBezTo>
                  <a:pt x="8532339" y="0"/>
                  <a:pt x="8572500" y="40161"/>
                  <a:pt x="8572500" y="89702"/>
                </a:cubicBezTo>
                <a:lnTo>
                  <a:pt x="8572500" y="448498"/>
                </a:lnTo>
                <a:cubicBezTo>
                  <a:pt x="8572500" y="498039"/>
                  <a:pt x="8532339" y="538200"/>
                  <a:pt x="8482798" y="538200"/>
                </a:cubicBezTo>
                <a:lnTo>
                  <a:pt x="89702" y="538200"/>
                </a:lnTo>
                <a:cubicBezTo>
                  <a:pt x="40161" y="538200"/>
                  <a:pt x="0" y="498039"/>
                  <a:pt x="0" y="448498"/>
                </a:cubicBezTo>
                <a:lnTo>
                  <a:pt x="0" y="897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3903" tIns="113903" rIns="113903" bIns="113903" spcCol="1270" anchor="ctr"/>
          <a:lstStyle/>
          <a:p>
            <a:pPr defTabSz="10223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/>
              <a:t>Conflict of interest</a:t>
            </a:r>
            <a:endParaRPr lang="en-CA" sz="280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6DE4960-2039-4030-B01E-A4D1719D88C3}"/>
              </a:ext>
            </a:extLst>
          </p:cNvPr>
          <p:cNvSpPr/>
          <p:nvPr/>
        </p:nvSpPr>
        <p:spPr>
          <a:xfrm>
            <a:off x="-155575" y="1725613"/>
            <a:ext cx="8572500" cy="381000"/>
          </a:xfrm>
          <a:custGeom>
            <a:avLst/>
            <a:gdLst>
              <a:gd name="connsiteX0" fmla="*/ 0 w 8572500"/>
              <a:gd name="connsiteY0" fmla="*/ 0 h 380880"/>
              <a:gd name="connsiteX1" fmla="*/ 8572500 w 8572500"/>
              <a:gd name="connsiteY1" fmla="*/ 0 h 380880"/>
              <a:gd name="connsiteX2" fmla="*/ 8572500 w 8572500"/>
              <a:gd name="connsiteY2" fmla="*/ 380880 h 380880"/>
              <a:gd name="connsiteX3" fmla="*/ 0 w 8572500"/>
              <a:gd name="connsiteY3" fmla="*/ 380880 h 380880"/>
              <a:gd name="connsiteX4" fmla="*/ 0 w 8572500"/>
              <a:gd name="connsiteY4" fmla="*/ 0 h 38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380880">
                <a:moveTo>
                  <a:pt x="0" y="0"/>
                </a:moveTo>
                <a:lnTo>
                  <a:pt x="8572500" y="0"/>
                </a:lnTo>
                <a:lnTo>
                  <a:pt x="85725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29210" rIns="163576" bIns="29210" spcCol="1270"/>
          <a:lstStyle/>
          <a:p>
            <a:pPr marL="171450" lvl="1" indent="-171450" defTabSz="80010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Conflict between employee’s self-interest and the interests of the client</a:t>
            </a:r>
            <a:endParaRPr lang="en-CA" sz="2400" b="1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CD2BFC4-083E-4A81-9328-9C89DB05C5E6}"/>
              </a:ext>
            </a:extLst>
          </p:cNvPr>
          <p:cNvSpPr/>
          <p:nvPr/>
        </p:nvSpPr>
        <p:spPr>
          <a:xfrm>
            <a:off x="-34925" y="2438400"/>
            <a:ext cx="7658100" cy="538163"/>
          </a:xfrm>
          <a:custGeom>
            <a:avLst/>
            <a:gdLst>
              <a:gd name="connsiteX0" fmla="*/ 0 w 8572500"/>
              <a:gd name="connsiteY0" fmla="*/ 89702 h 538200"/>
              <a:gd name="connsiteX1" fmla="*/ 89702 w 8572500"/>
              <a:gd name="connsiteY1" fmla="*/ 0 h 538200"/>
              <a:gd name="connsiteX2" fmla="*/ 8482798 w 8572500"/>
              <a:gd name="connsiteY2" fmla="*/ 0 h 538200"/>
              <a:gd name="connsiteX3" fmla="*/ 8572500 w 8572500"/>
              <a:gd name="connsiteY3" fmla="*/ 89702 h 538200"/>
              <a:gd name="connsiteX4" fmla="*/ 8572500 w 8572500"/>
              <a:gd name="connsiteY4" fmla="*/ 448498 h 538200"/>
              <a:gd name="connsiteX5" fmla="*/ 8482798 w 8572500"/>
              <a:gd name="connsiteY5" fmla="*/ 538200 h 538200"/>
              <a:gd name="connsiteX6" fmla="*/ 89702 w 8572500"/>
              <a:gd name="connsiteY6" fmla="*/ 538200 h 538200"/>
              <a:gd name="connsiteX7" fmla="*/ 0 w 8572500"/>
              <a:gd name="connsiteY7" fmla="*/ 448498 h 538200"/>
              <a:gd name="connsiteX8" fmla="*/ 0 w 8572500"/>
              <a:gd name="connsiteY8" fmla="*/ 89702 h 5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538200">
                <a:moveTo>
                  <a:pt x="0" y="89702"/>
                </a:moveTo>
                <a:cubicBezTo>
                  <a:pt x="0" y="40161"/>
                  <a:pt x="40161" y="0"/>
                  <a:pt x="89702" y="0"/>
                </a:cubicBezTo>
                <a:lnTo>
                  <a:pt x="8482798" y="0"/>
                </a:lnTo>
                <a:cubicBezTo>
                  <a:pt x="8532339" y="0"/>
                  <a:pt x="8572500" y="40161"/>
                  <a:pt x="8572500" y="89702"/>
                </a:cubicBezTo>
                <a:lnTo>
                  <a:pt x="8572500" y="448498"/>
                </a:lnTo>
                <a:cubicBezTo>
                  <a:pt x="8572500" y="498039"/>
                  <a:pt x="8532339" y="538200"/>
                  <a:pt x="8482798" y="538200"/>
                </a:cubicBezTo>
                <a:lnTo>
                  <a:pt x="89702" y="538200"/>
                </a:lnTo>
                <a:cubicBezTo>
                  <a:pt x="40161" y="538200"/>
                  <a:pt x="0" y="498039"/>
                  <a:pt x="0" y="448498"/>
                </a:cubicBezTo>
                <a:lnTo>
                  <a:pt x="0" y="897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3903" tIns="113903" rIns="113903" bIns="113903" spcCol="1270" anchor="ctr"/>
          <a:lstStyle/>
          <a:p>
            <a:pPr defTabSz="10223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 dirty="0"/>
              <a:t>Fraud</a:t>
            </a:r>
            <a:endParaRPr lang="en-CA" sz="280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DC5B8C1-BD9E-4522-A75B-32BFCEDF3CF3}"/>
              </a:ext>
            </a:extLst>
          </p:cNvPr>
          <p:cNvSpPr/>
          <p:nvPr/>
        </p:nvSpPr>
        <p:spPr>
          <a:xfrm>
            <a:off x="-155575" y="2990850"/>
            <a:ext cx="8572500" cy="381000"/>
          </a:xfrm>
          <a:custGeom>
            <a:avLst/>
            <a:gdLst>
              <a:gd name="connsiteX0" fmla="*/ 0 w 8572500"/>
              <a:gd name="connsiteY0" fmla="*/ 0 h 380880"/>
              <a:gd name="connsiteX1" fmla="*/ 8572500 w 8572500"/>
              <a:gd name="connsiteY1" fmla="*/ 0 h 380880"/>
              <a:gd name="connsiteX2" fmla="*/ 8572500 w 8572500"/>
              <a:gd name="connsiteY2" fmla="*/ 380880 h 380880"/>
              <a:gd name="connsiteX3" fmla="*/ 0 w 8572500"/>
              <a:gd name="connsiteY3" fmla="*/ 380880 h 380880"/>
              <a:gd name="connsiteX4" fmla="*/ 0 w 8572500"/>
              <a:gd name="connsiteY4" fmla="*/ 0 h 38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380880">
                <a:moveTo>
                  <a:pt x="0" y="0"/>
                </a:moveTo>
                <a:lnTo>
                  <a:pt x="8572500" y="0"/>
                </a:lnTo>
                <a:lnTo>
                  <a:pt x="85725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29210" rIns="163576" bIns="29210" spcCol="1270"/>
          <a:lstStyle/>
          <a:p>
            <a:pPr marL="171450" lvl="1" indent="-171450" defTabSz="80010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Obtaining goods, services, or property through deception or trickery</a:t>
            </a:r>
            <a:endParaRPr lang="en-CA" sz="2400" b="1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AC77408-C19D-470C-814A-A3D0B2700D97}"/>
              </a:ext>
            </a:extLst>
          </p:cNvPr>
          <p:cNvSpPr/>
          <p:nvPr/>
        </p:nvSpPr>
        <p:spPr>
          <a:xfrm>
            <a:off x="-38100" y="3740150"/>
            <a:ext cx="7704138" cy="538163"/>
          </a:xfrm>
          <a:custGeom>
            <a:avLst/>
            <a:gdLst>
              <a:gd name="connsiteX0" fmla="*/ 0 w 8572500"/>
              <a:gd name="connsiteY0" fmla="*/ 89702 h 538200"/>
              <a:gd name="connsiteX1" fmla="*/ 89702 w 8572500"/>
              <a:gd name="connsiteY1" fmla="*/ 0 h 538200"/>
              <a:gd name="connsiteX2" fmla="*/ 8482798 w 8572500"/>
              <a:gd name="connsiteY2" fmla="*/ 0 h 538200"/>
              <a:gd name="connsiteX3" fmla="*/ 8572500 w 8572500"/>
              <a:gd name="connsiteY3" fmla="*/ 89702 h 538200"/>
              <a:gd name="connsiteX4" fmla="*/ 8572500 w 8572500"/>
              <a:gd name="connsiteY4" fmla="*/ 448498 h 538200"/>
              <a:gd name="connsiteX5" fmla="*/ 8482798 w 8572500"/>
              <a:gd name="connsiteY5" fmla="*/ 538200 h 538200"/>
              <a:gd name="connsiteX6" fmla="*/ 89702 w 8572500"/>
              <a:gd name="connsiteY6" fmla="*/ 538200 h 538200"/>
              <a:gd name="connsiteX7" fmla="*/ 0 w 8572500"/>
              <a:gd name="connsiteY7" fmla="*/ 448498 h 538200"/>
              <a:gd name="connsiteX8" fmla="*/ 0 w 8572500"/>
              <a:gd name="connsiteY8" fmla="*/ 89702 h 5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538200">
                <a:moveTo>
                  <a:pt x="0" y="89702"/>
                </a:moveTo>
                <a:cubicBezTo>
                  <a:pt x="0" y="40161"/>
                  <a:pt x="40161" y="0"/>
                  <a:pt x="89702" y="0"/>
                </a:cubicBezTo>
                <a:lnTo>
                  <a:pt x="8482798" y="0"/>
                </a:lnTo>
                <a:cubicBezTo>
                  <a:pt x="8532339" y="0"/>
                  <a:pt x="8572500" y="40161"/>
                  <a:pt x="8572500" y="89702"/>
                </a:cubicBezTo>
                <a:lnTo>
                  <a:pt x="8572500" y="448498"/>
                </a:lnTo>
                <a:cubicBezTo>
                  <a:pt x="8572500" y="498039"/>
                  <a:pt x="8532339" y="538200"/>
                  <a:pt x="8482798" y="538200"/>
                </a:cubicBezTo>
                <a:lnTo>
                  <a:pt x="89702" y="538200"/>
                </a:lnTo>
                <a:cubicBezTo>
                  <a:pt x="40161" y="538200"/>
                  <a:pt x="0" y="498039"/>
                  <a:pt x="0" y="448498"/>
                </a:cubicBezTo>
                <a:lnTo>
                  <a:pt x="0" y="897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3903" tIns="113903" rIns="113903" bIns="113903" spcCol="1270" anchor="ctr"/>
          <a:lstStyle/>
          <a:p>
            <a:pPr defTabSz="10223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 dirty="0"/>
              <a:t>Misrepresentation</a:t>
            </a:r>
            <a:endParaRPr lang="en-CA" sz="2800" b="1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86CD85B-F3F1-4D4B-A6FE-187837C72641}"/>
              </a:ext>
            </a:extLst>
          </p:cNvPr>
          <p:cNvSpPr/>
          <p:nvPr/>
        </p:nvSpPr>
        <p:spPr>
          <a:xfrm>
            <a:off x="-282575" y="4364038"/>
            <a:ext cx="9059863" cy="381000"/>
          </a:xfrm>
          <a:custGeom>
            <a:avLst/>
            <a:gdLst>
              <a:gd name="connsiteX0" fmla="*/ 0 w 8572500"/>
              <a:gd name="connsiteY0" fmla="*/ 0 h 380880"/>
              <a:gd name="connsiteX1" fmla="*/ 8572500 w 8572500"/>
              <a:gd name="connsiteY1" fmla="*/ 0 h 380880"/>
              <a:gd name="connsiteX2" fmla="*/ 8572500 w 8572500"/>
              <a:gd name="connsiteY2" fmla="*/ 380880 h 380880"/>
              <a:gd name="connsiteX3" fmla="*/ 0 w 8572500"/>
              <a:gd name="connsiteY3" fmla="*/ 380880 h 380880"/>
              <a:gd name="connsiteX4" fmla="*/ 0 w 8572500"/>
              <a:gd name="connsiteY4" fmla="*/ 0 h 38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380880">
                <a:moveTo>
                  <a:pt x="0" y="0"/>
                </a:moveTo>
                <a:lnTo>
                  <a:pt x="8572500" y="0"/>
                </a:lnTo>
                <a:lnTo>
                  <a:pt x="85725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29210" rIns="163576" bIns="29210" spcCol="1270"/>
          <a:lstStyle/>
          <a:p>
            <a:pPr marL="171450" lvl="1" indent="-171450" defTabSz="80010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Misstatement or incomplete statement of a material fact</a:t>
            </a:r>
            <a:endParaRPr lang="en-CA" sz="2400" b="1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1787407-3FEA-4C47-BF35-C6C48E0CB2AF}"/>
              </a:ext>
            </a:extLst>
          </p:cNvPr>
          <p:cNvSpPr/>
          <p:nvPr/>
        </p:nvSpPr>
        <p:spPr>
          <a:xfrm>
            <a:off x="0" y="4989513"/>
            <a:ext cx="7753350" cy="536575"/>
          </a:xfrm>
          <a:custGeom>
            <a:avLst/>
            <a:gdLst>
              <a:gd name="connsiteX0" fmla="*/ 0 w 8572500"/>
              <a:gd name="connsiteY0" fmla="*/ 89702 h 538200"/>
              <a:gd name="connsiteX1" fmla="*/ 89702 w 8572500"/>
              <a:gd name="connsiteY1" fmla="*/ 0 h 538200"/>
              <a:gd name="connsiteX2" fmla="*/ 8482798 w 8572500"/>
              <a:gd name="connsiteY2" fmla="*/ 0 h 538200"/>
              <a:gd name="connsiteX3" fmla="*/ 8572500 w 8572500"/>
              <a:gd name="connsiteY3" fmla="*/ 89702 h 538200"/>
              <a:gd name="connsiteX4" fmla="*/ 8572500 w 8572500"/>
              <a:gd name="connsiteY4" fmla="*/ 448498 h 538200"/>
              <a:gd name="connsiteX5" fmla="*/ 8482798 w 8572500"/>
              <a:gd name="connsiteY5" fmla="*/ 538200 h 538200"/>
              <a:gd name="connsiteX6" fmla="*/ 89702 w 8572500"/>
              <a:gd name="connsiteY6" fmla="*/ 538200 h 538200"/>
              <a:gd name="connsiteX7" fmla="*/ 0 w 8572500"/>
              <a:gd name="connsiteY7" fmla="*/ 448498 h 538200"/>
              <a:gd name="connsiteX8" fmla="*/ 0 w 8572500"/>
              <a:gd name="connsiteY8" fmla="*/ 89702 h 5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72500" h="538200">
                <a:moveTo>
                  <a:pt x="0" y="89702"/>
                </a:moveTo>
                <a:cubicBezTo>
                  <a:pt x="0" y="40161"/>
                  <a:pt x="40161" y="0"/>
                  <a:pt x="89702" y="0"/>
                </a:cubicBezTo>
                <a:lnTo>
                  <a:pt x="8482798" y="0"/>
                </a:lnTo>
                <a:cubicBezTo>
                  <a:pt x="8532339" y="0"/>
                  <a:pt x="8572500" y="40161"/>
                  <a:pt x="8572500" y="89702"/>
                </a:cubicBezTo>
                <a:lnTo>
                  <a:pt x="8572500" y="448498"/>
                </a:lnTo>
                <a:cubicBezTo>
                  <a:pt x="8572500" y="498039"/>
                  <a:pt x="8532339" y="538200"/>
                  <a:pt x="8482798" y="538200"/>
                </a:cubicBezTo>
                <a:lnTo>
                  <a:pt x="89702" y="538200"/>
                </a:lnTo>
                <a:cubicBezTo>
                  <a:pt x="40161" y="538200"/>
                  <a:pt x="0" y="498039"/>
                  <a:pt x="0" y="448498"/>
                </a:cubicBezTo>
                <a:lnTo>
                  <a:pt x="0" y="8970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3903" tIns="113903" rIns="113903" bIns="113903" spcCol="1270" anchor="ctr"/>
          <a:lstStyle/>
          <a:p>
            <a:pPr defTabSz="10223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800" b="1" dirty="0"/>
              <a:t>Breach of contract</a:t>
            </a:r>
            <a:endParaRPr lang="en-CA" sz="280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60E56E5-1800-4B86-B235-D0A8CB3204FD}"/>
              </a:ext>
            </a:extLst>
          </p:cNvPr>
          <p:cNvSpPr/>
          <p:nvPr/>
        </p:nvSpPr>
        <p:spPr>
          <a:xfrm>
            <a:off x="-69850" y="5638800"/>
            <a:ext cx="9059863" cy="381000"/>
          </a:xfrm>
          <a:custGeom>
            <a:avLst/>
            <a:gdLst>
              <a:gd name="connsiteX0" fmla="*/ 0 w 8572500"/>
              <a:gd name="connsiteY0" fmla="*/ 0 h 380880"/>
              <a:gd name="connsiteX1" fmla="*/ 8572500 w 8572500"/>
              <a:gd name="connsiteY1" fmla="*/ 0 h 380880"/>
              <a:gd name="connsiteX2" fmla="*/ 8572500 w 8572500"/>
              <a:gd name="connsiteY2" fmla="*/ 380880 h 380880"/>
              <a:gd name="connsiteX3" fmla="*/ 0 w 8572500"/>
              <a:gd name="connsiteY3" fmla="*/ 380880 h 380880"/>
              <a:gd name="connsiteX4" fmla="*/ 0 w 8572500"/>
              <a:gd name="connsiteY4" fmla="*/ 0 h 38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00" h="380880">
                <a:moveTo>
                  <a:pt x="0" y="0"/>
                </a:moveTo>
                <a:lnTo>
                  <a:pt x="8572500" y="0"/>
                </a:lnTo>
                <a:lnTo>
                  <a:pt x="85725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72177" tIns="29210" rIns="163576" bIns="29210" spcCol="1270"/>
          <a:lstStyle/>
          <a:p>
            <a:pPr marL="171450" lvl="1" indent="-171450" defTabSz="800100">
              <a:lnSpc>
                <a:spcPct val="90000"/>
              </a:lnSpc>
              <a:spcAft>
                <a:spcPct val="20000"/>
              </a:spcAft>
              <a:buFontTx/>
              <a:buChar char="••"/>
              <a:defRPr/>
            </a:pPr>
            <a:r>
              <a:rPr lang="en-US" sz="2400" b="1" dirty="0"/>
              <a:t>When one party fails to meet the terms of a contract</a:t>
            </a:r>
            <a:endParaRPr lang="en-CA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7" name="Rectangle 9">
            <a:extLst>
              <a:ext uri="{FF2B5EF4-FFF2-40B4-BE49-F238E27FC236}">
                <a16:creationId xmlns:a16="http://schemas.microsoft.com/office/drawing/2014/main" id="{FD2D2916-4DC9-41F5-B164-56B57AF76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1214438"/>
            <a:ext cx="8686800" cy="111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27125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98625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193925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689225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1464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6036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0608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518025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800">
              <a:latin typeface="Arial Unicode MS" pitchFamily="34" charset="-128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4AF5105-F3BB-427D-BCF6-3B6773C4BDC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734300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b="1" dirty="0"/>
              <a:t>Bribes and Gifts</a:t>
            </a:r>
            <a:endParaRPr lang="en-MY" altLang="en-US" b="1" kern="0" dirty="0"/>
          </a:p>
        </p:txBody>
      </p:sp>
      <p:pic>
        <p:nvPicPr>
          <p:cNvPr id="22532" name="Picture 3">
            <a:extLst>
              <a:ext uri="{FF2B5EF4-FFF2-40B4-BE49-F238E27FC236}">
                <a16:creationId xmlns:a16="http://schemas.microsoft.com/office/drawing/2014/main" id="{50937FDA-F15D-4EA5-B9C6-FE55BDB78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5050"/>
            <a:ext cx="9086850" cy="353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3" name="Picture 7">
            <a:extLst>
              <a:ext uri="{FF2B5EF4-FFF2-40B4-BE49-F238E27FC236}">
                <a16:creationId xmlns:a16="http://schemas.microsoft.com/office/drawing/2014/main" id="{2543A851-559C-413D-83F9-BD524A834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4" y="4572000"/>
            <a:ext cx="428442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 build="p" bldLvl="5" autoUpdateAnimBg="0" advAuto="100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CDBBB14A-74B3-4071-BA9E-060F1FF4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3" y="1295400"/>
            <a:ext cx="8897937" cy="439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98463" indent="-285750">
              <a:defRPr/>
            </a:pPr>
            <a:r>
              <a:rPr lang="en-GB" altLang="en-US" sz="2800" dirty="0"/>
              <a:t>Understand ethics and why is it important to act </a:t>
            </a:r>
          </a:p>
          <a:p>
            <a:pPr marL="112713" indent="0">
              <a:buFontTx/>
              <a:buNone/>
              <a:defRPr/>
            </a:pPr>
            <a:r>
              <a:rPr lang="en-GB" altLang="en-US" sz="2800" dirty="0"/>
              <a:t>   according to a code of ethics</a:t>
            </a:r>
          </a:p>
          <a:p>
            <a:pPr marL="398463" indent="-285750">
              <a:defRPr/>
            </a:pPr>
            <a:r>
              <a:rPr lang="en-GB" altLang="en-US" sz="2800" dirty="0"/>
              <a:t>Why business ethics is becoming increasingly important </a:t>
            </a:r>
          </a:p>
          <a:p>
            <a:pPr marL="398463" indent="-285750">
              <a:defRPr/>
            </a:pPr>
            <a:r>
              <a:rPr lang="en-GB" altLang="en-US" sz="2800" dirty="0"/>
              <a:t>Approaches that can be taken to ensure ethical decision making</a:t>
            </a:r>
          </a:p>
          <a:p>
            <a:pPr marL="247650" indent="0">
              <a:buFontTx/>
              <a:buNone/>
              <a:defRPr/>
            </a:pPr>
            <a:endParaRPr lang="en-GB" altLang="en-US" sz="2800" dirty="0"/>
          </a:p>
          <a:p>
            <a:pPr>
              <a:defRPr/>
            </a:pPr>
            <a:endParaRPr lang="en-US" altLang="en-US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CB06D9-717D-4698-BD3F-7A3F26451694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Summary</a:t>
            </a:r>
            <a:endParaRPr lang="en-MY" altLang="en-US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bldLvl="2" autoUpdateAnimBg="0" advAuto="600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17A243EE-FAC7-47EB-8B22-7F560FDB8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153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8463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09600" indent="-4953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589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526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09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667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242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581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2800" dirty="0"/>
              <a:t>Explain </a:t>
            </a:r>
            <a:r>
              <a:rPr lang="en-GB" altLang="en-US" sz="2800" dirty="0">
                <a:highlight>
                  <a:srgbClr val="FFFF00"/>
                </a:highlight>
              </a:rPr>
              <a:t>Ethics</a:t>
            </a:r>
          </a:p>
          <a:p>
            <a:r>
              <a:rPr lang="en-GB" altLang="en-US" sz="2800" dirty="0"/>
              <a:t>Why is it </a:t>
            </a:r>
            <a:r>
              <a:rPr lang="en-GB" altLang="en-US" sz="2800" dirty="0">
                <a:highlight>
                  <a:srgbClr val="FFFF00"/>
                </a:highlight>
              </a:rPr>
              <a:t>important </a:t>
            </a:r>
            <a:r>
              <a:rPr lang="en-GB" altLang="en-US" sz="2800" dirty="0"/>
              <a:t>to act according to a code of ethics</a:t>
            </a:r>
          </a:p>
          <a:p>
            <a:r>
              <a:rPr lang="en-GB" altLang="en-US" sz="2800" dirty="0"/>
              <a:t>How do you </a:t>
            </a:r>
            <a:r>
              <a:rPr lang="en-GB" altLang="en-US" sz="2800" dirty="0">
                <a:highlight>
                  <a:srgbClr val="FFFF00"/>
                </a:highlight>
              </a:rPr>
              <a:t>differentiate</a:t>
            </a:r>
            <a:r>
              <a:rPr lang="en-GB" altLang="en-US" sz="2800" dirty="0"/>
              <a:t> a Bribe from a Gift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076FEF-9A79-46F0-9A7C-56CCCADAA5FD}"/>
              </a:ext>
            </a:extLst>
          </p:cNvPr>
          <p:cNvSpPr txBox="1">
            <a:spLocks/>
          </p:cNvSpPr>
          <p:nvPr/>
        </p:nvSpPr>
        <p:spPr>
          <a:xfrm>
            <a:off x="-17463" y="0"/>
            <a:ext cx="7721601" cy="1143000"/>
          </a:xfrm>
          <a:prstGeom prst="rect">
            <a:avLst/>
          </a:prstGeom>
          <a:solidFill>
            <a:srgbClr val="A2FFA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SG" altLang="en-US" b="1" kern="0" dirty="0"/>
              <a:t>Review Questions</a:t>
            </a:r>
            <a:endParaRPr lang="en-MY" altLang="en-US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bldLvl="2" autoUpdateAnimBg="0" advAuto="600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6B8589CC-FDEE-49AC-BAD6-05C99D779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286000"/>
            <a:ext cx="49688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F60B7C-07F7-40D0-B014-46059739B3B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8486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SG" sz="3600" b="1" kern="0" dirty="0"/>
              <a:t>Questions and Answer</a:t>
            </a:r>
            <a:endParaRPr lang="en-MY" sz="3600" b="1" kern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>
            <a:extLst>
              <a:ext uri="{FF2B5EF4-FFF2-40B4-BE49-F238E27FC236}">
                <a16:creationId xmlns:a16="http://schemas.microsoft.com/office/drawing/2014/main" id="{11F6E273-BEEE-486E-84D1-05C14757B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2667000"/>
            <a:ext cx="7200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rgbClr val="333399"/>
                </a:solidFill>
              </a:rPr>
              <a:t>		</a:t>
            </a:r>
          </a:p>
        </p:txBody>
      </p:sp>
      <p:sp>
        <p:nvSpPr>
          <p:cNvPr id="26627" name="Text Box 5">
            <a:extLst>
              <a:ext uri="{FF2B5EF4-FFF2-40B4-BE49-F238E27FC236}">
                <a16:creationId xmlns:a16="http://schemas.microsoft.com/office/drawing/2014/main" id="{07B1D385-9F28-4B34-943B-3DAF6145B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7" y="3532188"/>
            <a:ext cx="17240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/>
              <a:t>Summary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0FBCCA-A7F3-4CBC-BA09-B5EFF5B0B33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848600" cy="1143000"/>
          </a:xfrm>
          <a:prstGeom prst="rect">
            <a:avLst/>
          </a:prstGeom>
          <a:solidFill>
            <a:srgbClr val="A2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en-US" sz="3600" b="1" dirty="0"/>
              <a:t>Next Lecture</a:t>
            </a:r>
            <a:endParaRPr lang="en-US" altLang="en-US" sz="3600" dirty="0"/>
          </a:p>
          <a:p>
            <a:pPr>
              <a:defRPr/>
            </a:pPr>
            <a:endParaRPr lang="en-MY" sz="3600" b="1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C6B378645544D9F10C30D9F2BCFB4" ma:contentTypeVersion="9" ma:contentTypeDescription="Create a new document." ma:contentTypeScope="" ma:versionID="3dcaa56ea438123d557e24c465044b3c">
  <xsd:schema xmlns:xsd="http://www.w3.org/2001/XMLSchema" xmlns:xs="http://www.w3.org/2001/XMLSchema" xmlns:p="http://schemas.microsoft.com/office/2006/metadata/properties" xmlns:ns2="6d54a27f-32b3-46ed-801e-110df5e77a46" targetNamespace="http://schemas.microsoft.com/office/2006/metadata/properties" ma:root="true" ma:fieldsID="4208030726db9b86847690f0b0a379ad" ns2:_="">
    <xsd:import namespace="6d54a27f-32b3-46ed-801e-110df5e77a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4a27f-32b3-46ed-801e-110df5e77a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B66F20-D27C-41B3-B04B-71E73CD8C9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70FCE7-1F7C-4BCA-86A2-F5A324C440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54a27f-32b3-46ed-801e-110df5e77a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</TotalTime>
  <Words>1066</Words>
  <Application>Microsoft Office PowerPoint</Application>
  <PresentationFormat>On-screen Show (4:3)</PresentationFormat>
  <Paragraphs>168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Arial Unicode MS</vt:lpstr>
      <vt:lpstr>Calibri</vt:lpstr>
      <vt:lpstr>UCTI-Template-foundation-level</vt:lpstr>
      <vt:lpstr>Digital Thinking and Innovation CT109-3-1 VD1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APIIT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</dc:creator>
  <cp:lastModifiedBy>Dr. Safaie Mangir</cp:lastModifiedBy>
  <cp:revision>125</cp:revision>
  <cp:lastPrinted>2019-06-20T07:02:54Z</cp:lastPrinted>
  <dcterms:created xsi:type="dcterms:W3CDTF">2005-07-29T03:53:40Z</dcterms:created>
  <dcterms:modified xsi:type="dcterms:W3CDTF">2025-05-25T01:01:37Z</dcterms:modified>
</cp:coreProperties>
</file>