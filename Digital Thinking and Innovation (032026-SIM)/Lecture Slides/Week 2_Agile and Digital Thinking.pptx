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6" r:id="rId5"/>
    <p:sldId id="268" r:id="rId6"/>
    <p:sldId id="269" r:id="rId7"/>
    <p:sldId id="270" r:id="rId8"/>
    <p:sldId id="271" r:id="rId9"/>
    <p:sldId id="289" r:id="rId10"/>
    <p:sldId id="276" r:id="rId11"/>
    <p:sldId id="274" r:id="rId12"/>
    <p:sldId id="286" r:id="rId13"/>
    <p:sldId id="290" r:id="rId14"/>
    <p:sldId id="275" r:id="rId15"/>
    <p:sldId id="287" r:id="rId16"/>
    <p:sldId id="291" r:id="rId17"/>
    <p:sldId id="278" r:id="rId18"/>
    <p:sldId id="288" r:id="rId19"/>
    <p:sldId id="292" r:id="rId20"/>
    <p:sldId id="284" r:id="rId21"/>
    <p:sldId id="279" r:id="rId22"/>
    <p:sldId id="280" r:id="rId23"/>
    <p:sldId id="281" r:id="rId24"/>
    <p:sldId id="282" r:id="rId25"/>
    <p:sldId id="283" r:id="rId26"/>
    <p:sldId id="285" r:id="rId27"/>
    <p:sldId id="266" r:id="rId28"/>
    <p:sldId id="267" r:id="rId29"/>
    <p:sldId id="272" r:id="rId30"/>
    <p:sldId id="27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1F695-E6DC-4568-B1FB-B2F60D07DC58}" v="3" dt="2020-10-11T08:51:08.5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0" autoAdjust="0"/>
    <p:restoredTop sz="94660"/>
  </p:normalViewPr>
  <p:slideViewPr>
    <p:cSldViewPr snapToGrid="0">
      <p:cViewPr varScale="1">
        <p:scale>
          <a:sx n="59" d="100"/>
          <a:sy n="59" d="100"/>
        </p:scale>
        <p:origin x="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ita Yati Masri" userId="fb57b885-c824-4da2-946a-d71ef420875c" providerId="ADAL" clId="{CDB1F695-E6DC-4568-B1FB-B2F60D07DC58}"/>
    <pc:docChg chg="custSel modMainMaster">
      <pc:chgData name="Rozita Yati Masri" userId="fb57b885-c824-4da2-946a-d71ef420875c" providerId="ADAL" clId="{CDB1F695-E6DC-4568-B1FB-B2F60D07DC58}" dt="2020-10-11T08:51:08.539" v="15"/>
      <pc:docMkLst>
        <pc:docMk/>
      </pc:docMkLst>
      <pc:sldMasterChg chg="addSp delSp modSp modSldLayout">
        <pc:chgData name="Rozita Yati Masri" userId="fb57b885-c824-4da2-946a-d71ef420875c" providerId="ADAL" clId="{CDB1F695-E6DC-4568-B1FB-B2F60D07DC58}" dt="2020-10-11T08:51:08.539" v="15"/>
        <pc:sldMasterMkLst>
          <pc:docMk/>
          <pc:sldMasterMk cId="717840518" sldId="2147483660"/>
        </pc:sldMasterMkLst>
        <pc:spChg chg="add">
          <ac:chgData name="Rozita Yati Masri" userId="fb57b885-c824-4da2-946a-d71ef420875c" providerId="ADAL" clId="{CDB1F695-E6DC-4568-B1FB-B2F60D07DC58}" dt="2020-10-11T08:50:35.479" v="12"/>
          <ac:spMkLst>
            <pc:docMk/>
            <pc:sldMasterMk cId="717840518" sldId="2147483660"/>
            <ac:spMk id="9" creationId="{A29F0EA6-BEC4-4FDE-A6D8-DFB748BE1F4F}"/>
          </ac:spMkLst>
        </pc:spChg>
        <pc:spChg chg="add mod">
          <ac:chgData name="Rozita Yati Masri" userId="fb57b885-c824-4da2-946a-d71ef420875c" providerId="ADAL" clId="{CDB1F695-E6DC-4568-B1FB-B2F60D07DC58}" dt="2020-10-11T08:51:08.539" v="15"/>
          <ac:spMkLst>
            <pc:docMk/>
            <pc:sldMasterMk cId="717840518" sldId="2147483660"/>
            <ac:spMk id="10" creationId="{404F77F2-33A7-4332-B35D-2E326EC451BC}"/>
          </ac:spMkLst>
        </pc:spChg>
        <pc:spChg chg="add mod">
          <ac:chgData name="Rozita Yati Masri" userId="fb57b885-c824-4da2-946a-d71ef420875c" providerId="ADAL" clId="{CDB1F695-E6DC-4568-B1FB-B2F60D07DC58}" dt="2020-10-11T08:51:02.627" v="14" actId="20577"/>
          <ac:spMkLst>
            <pc:docMk/>
            <pc:sldMasterMk cId="717840518" sldId="2147483660"/>
            <ac:spMk id="11" creationId="{534750E9-6CA5-4CC9-B3CF-1CD776E032E2}"/>
          </ac:spMkLst>
        </pc:spChg>
        <pc:spChg chg="del">
          <ac:chgData name="Rozita Yati Masri" userId="fb57b885-c824-4da2-946a-d71ef420875c" providerId="ADAL" clId="{CDB1F695-E6DC-4568-B1FB-B2F60D07DC58}" dt="2020-10-11T08:49:29.344" v="0" actId="478"/>
          <ac:spMkLst>
            <pc:docMk/>
            <pc:sldMasterMk cId="717840518" sldId="2147483660"/>
            <ac:spMk id="86024" creationId="{C50B826F-79B0-4D38-A8FA-4FBA74C95EB1}"/>
          </ac:spMkLst>
        </pc:spChg>
        <pc:sldLayoutChg chg="delSp">
          <pc:chgData name="Rozita Yati Masri" userId="fb57b885-c824-4da2-946a-d71ef420875c" providerId="ADAL" clId="{CDB1F695-E6DC-4568-B1FB-B2F60D07DC58}" dt="2020-10-11T08:49:33.799" v="1" actId="478"/>
          <pc:sldLayoutMkLst>
            <pc:docMk/>
            <pc:sldMasterMk cId="717840518" sldId="2147483660"/>
            <pc:sldLayoutMk cId="1347238553" sldId="2147483662"/>
          </pc:sldLayoutMkLst>
          <pc:spChg chg="del">
            <ac:chgData name="Rozita Yati Masri" userId="fb57b885-c824-4da2-946a-d71ef420875c" providerId="ADAL" clId="{CDB1F695-E6DC-4568-B1FB-B2F60D07DC58}" dt="2020-10-11T08:49:33.799" v="1" actId="478"/>
            <ac:spMkLst>
              <pc:docMk/>
              <pc:sldMasterMk cId="717840518" sldId="2147483660"/>
              <pc:sldLayoutMk cId="1347238553" sldId="2147483662"/>
              <ac:spMk id="4" creationId="{C94CCE7B-8C0C-42E3-87DC-DE817FB78B76}"/>
            </ac:spMkLst>
          </pc:spChg>
        </pc:sldLayoutChg>
        <pc:sldLayoutChg chg="delSp">
          <pc:chgData name="Rozita Yati Masri" userId="fb57b885-c824-4da2-946a-d71ef420875c" providerId="ADAL" clId="{CDB1F695-E6DC-4568-B1FB-B2F60D07DC58}" dt="2020-10-11T08:49:40.866" v="2" actId="478"/>
          <pc:sldLayoutMkLst>
            <pc:docMk/>
            <pc:sldMasterMk cId="717840518" sldId="2147483660"/>
            <pc:sldLayoutMk cId="3471153526" sldId="2147483663"/>
          </pc:sldLayoutMkLst>
          <pc:spChg chg="del">
            <ac:chgData name="Rozita Yati Masri" userId="fb57b885-c824-4da2-946a-d71ef420875c" providerId="ADAL" clId="{CDB1F695-E6DC-4568-B1FB-B2F60D07DC58}" dt="2020-10-11T08:49:40.866" v="2" actId="478"/>
            <ac:spMkLst>
              <pc:docMk/>
              <pc:sldMasterMk cId="717840518" sldId="2147483660"/>
              <pc:sldLayoutMk cId="3471153526" sldId="2147483663"/>
              <ac:spMk id="4" creationId="{B6392066-0EF0-4FF8-93AA-2093B8EDA099}"/>
            </ac:spMkLst>
          </pc:spChg>
        </pc:sldLayoutChg>
        <pc:sldLayoutChg chg="delSp">
          <pc:chgData name="Rozita Yati Masri" userId="fb57b885-c824-4da2-946a-d71ef420875c" providerId="ADAL" clId="{CDB1F695-E6DC-4568-B1FB-B2F60D07DC58}" dt="2020-10-11T08:49:45.624" v="3" actId="478"/>
          <pc:sldLayoutMkLst>
            <pc:docMk/>
            <pc:sldMasterMk cId="717840518" sldId="2147483660"/>
            <pc:sldLayoutMk cId="2372881982" sldId="2147483664"/>
          </pc:sldLayoutMkLst>
          <pc:spChg chg="del">
            <ac:chgData name="Rozita Yati Masri" userId="fb57b885-c824-4da2-946a-d71ef420875c" providerId="ADAL" clId="{CDB1F695-E6DC-4568-B1FB-B2F60D07DC58}" dt="2020-10-11T08:49:45.624" v="3" actId="478"/>
            <ac:spMkLst>
              <pc:docMk/>
              <pc:sldMasterMk cId="717840518" sldId="2147483660"/>
              <pc:sldLayoutMk cId="2372881982" sldId="2147483664"/>
              <ac:spMk id="5" creationId="{D7A2D113-A871-44A2-B949-2DB5FAFF9E66}"/>
            </ac:spMkLst>
          </pc:spChg>
        </pc:sldLayoutChg>
        <pc:sldLayoutChg chg="delSp">
          <pc:chgData name="Rozita Yati Masri" userId="fb57b885-c824-4da2-946a-d71ef420875c" providerId="ADAL" clId="{CDB1F695-E6DC-4568-B1FB-B2F60D07DC58}" dt="2020-10-11T08:49:48.113" v="4" actId="478"/>
          <pc:sldLayoutMkLst>
            <pc:docMk/>
            <pc:sldMasterMk cId="717840518" sldId="2147483660"/>
            <pc:sldLayoutMk cId="1265718146" sldId="2147483665"/>
          </pc:sldLayoutMkLst>
          <pc:spChg chg="del">
            <ac:chgData name="Rozita Yati Masri" userId="fb57b885-c824-4da2-946a-d71ef420875c" providerId="ADAL" clId="{CDB1F695-E6DC-4568-B1FB-B2F60D07DC58}" dt="2020-10-11T08:49:48.113" v="4" actId="478"/>
            <ac:spMkLst>
              <pc:docMk/>
              <pc:sldMasterMk cId="717840518" sldId="2147483660"/>
              <pc:sldLayoutMk cId="1265718146" sldId="2147483665"/>
              <ac:spMk id="7" creationId="{47D21544-1A19-450A-9A54-709EC423BCFE}"/>
            </ac:spMkLst>
          </pc:spChg>
        </pc:sldLayoutChg>
        <pc:sldLayoutChg chg="delSp">
          <pc:chgData name="Rozita Yati Masri" userId="fb57b885-c824-4da2-946a-d71ef420875c" providerId="ADAL" clId="{CDB1F695-E6DC-4568-B1FB-B2F60D07DC58}" dt="2020-10-11T08:49:51.151" v="5" actId="478"/>
          <pc:sldLayoutMkLst>
            <pc:docMk/>
            <pc:sldMasterMk cId="717840518" sldId="2147483660"/>
            <pc:sldLayoutMk cId="1850485038" sldId="2147483666"/>
          </pc:sldLayoutMkLst>
          <pc:spChg chg="del">
            <ac:chgData name="Rozita Yati Masri" userId="fb57b885-c824-4da2-946a-d71ef420875c" providerId="ADAL" clId="{CDB1F695-E6DC-4568-B1FB-B2F60D07DC58}" dt="2020-10-11T08:49:51.151" v="5" actId="478"/>
            <ac:spMkLst>
              <pc:docMk/>
              <pc:sldMasterMk cId="717840518" sldId="2147483660"/>
              <pc:sldLayoutMk cId="1850485038" sldId="2147483666"/>
              <ac:spMk id="3" creationId="{D77AD2FE-548C-4C8C-86B4-F659E1B7E949}"/>
            </ac:spMkLst>
          </pc:spChg>
        </pc:sldLayoutChg>
        <pc:sldLayoutChg chg="delSp">
          <pc:chgData name="Rozita Yati Masri" userId="fb57b885-c824-4da2-946a-d71ef420875c" providerId="ADAL" clId="{CDB1F695-E6DC-4568-B1FB-B2F60D07DC58}" dt="2020-10-11T08:49:53.995" v="6" actId="478"/>
          <pc:sldLayoutMkLst>
            <pc:docMk/>
            <pc:sldMasterMk cId="717840518" sldId="2147483660"/>
            <pc:sldLayoutMk cId="3549959257" sldId="2147483667"/>
          </pc:sldLayoutMkLst>
          <pc:spChg chg="del">
            <ac:chgData name="Rozita Yati Masri" userId="fb57b885-c824-4da2-946a-d71ef420875c" providerId="ADAL" clId="{CDB1F695-E6DC-4568-B1FB-B2F60D07DC58}" dt="2020-10-11T08:49:53.995" v="6" actId="478"/>
            <ac:spMkLst>
              <pc:docMk/>
              <pc:sldMasterMk cId="717840518" sldId="2147483660"/>
              <pc:sldLayoutMk cId="3549959257" sldId="2147483667"/>
              <ac:spMk id="2" creationId="{2917C336-48FB-4D30-BD06-54EA5295C452}"/>
            </ac:spMkLst>
          </pc:spChg>
        </pc:sldLayoutChg>
        <pc:sldLayoutChg chg="delSp">
          <pc:chgData name="Rozita Yati Masri" userId="fb57b885-c824-4da2-946a-d71ef420875c" providerId="ADAL" clId="{CDB1F695-E6DC-4568-B1FB-B2F60D07DC58}" dt="2020-10-11T08:50:29.141" v="11" actId="478"/>
          <pc:sldLayoutMkLst>
            <pc:docMk/>
            <pc:sldMasterMk cId="717840518" sldId="2147483660"/>
            <pc:sldLayoutMk cId="2208955643" sldId="2147483668"/>
          </pc:sldLayoutMkLst>
          <pc:spChg chg="del">
            <ac:chgData name="Rozita Yati Masri" userId="fb57b885-c824-4da2-946a-d71ef420875c" providerId="ADAL" clId="{CDB1F695-E6DC-4568-B1FB-B2F60D07DC58}" dt="2020-10-11T08:50:29.141" v="11" actId="478"/>
            <ac:spMkLst>
              <pc:docMk/>
              <pc:sldMasterMk cId="717840518" sldId="2147483660"/>
              <pc:sldLayoutMk cId="2208955643" sldId="2147483668"/>
              <ac:spMk id="5" creationId="{43535719-93FB-4BCB-999D-ADC5B6C8FEA1}"/>
            </ac:spMkLst>
          </pc:spChg>
        </pc:sldLayoutChg>
        <pc:sldLayoutChg chg="delSp">
          <pc:chgData name="Rozita Yati Masri" userId="fb57b885-c824-4da2-946a-d71ef420875c" providerId="ADAL" clId="{CDB1F695-E6DC-4568-B1FB-B2F60D07DC58}" dt="2020-10-11T08:50:25.835" v="10" actId="478"/>
          <pc:sldLayoutMkLst>
            <pc:docMk/>
            <pc:sldMasterMk cId="717840518" sldId="2147483660"/>
            <pc:sldLayoutMk cId="845223596" sldId="2147483669"/>
          </pc:sldLayoutMkLst>
          <pc:spChg chg="del">
            <ac:chgData name="Rozita Yati Masri" userId="fb57b885-c824-4da2-946a-d71ef420875c" providerId="ADAL" clId="{CDB1F695-E6DC-4568-B1FB-B2F60D07DC58}" dt="2020-10-11T08:50:25.835" v="10" actId="478"/>
            <ac:spMkLst>
              <pc:docMk/>
              <pc:sldMasterMk cId="717840518" sldId="2147483660"/>
              <pc:sldLayoutMk cId="845223596" sldId="2147483669"/>
              <ac:spMk id="5" creationId="{4E197F50-3179-4421-9233-93FB4F4AE80B}"/>
            </ac:spMkLst>
          </pc:spChg>
        </pc:sldLayoutChg>
        <pc:sldLayoutChg chg="delSp">
          <pc:chgData name="Rozita Yati Masri" userId="fb57b885-c824-4da2-946a-d71ef420875c" providerId="ADAL" clId="{CDB1F695-E6DC-4568-B1FB-B2F60D07DC58}" dt="2020-10-11T08:50:23.045" v="9" actId="478"/>
          <pc:sldLayoutMkLst>
            <pc:docMk/>
            <pc:sldMasterMk cId="717840518" sldId="2147483660"/>
            <pc:sldLayoutMk cId="680653357" sldId="2147483670"/>
          </pc:sldLayoutMkLst>
          <pc:spChg chg="del">
            <ac:chgData name="Rozita Yati Masri" userId="fb57b885-c824-4da2-946a-d71ef420875c" providerId="ADAL" clId="{CDB1F695-E6DC-4568-B1FB-B2F60D07DC58}" dt="2020-10-11T08:50:23.045" v="9" actId="478"/>
            <ac:spMkLst>
              <pc:docMk/>
              <pc:sldMasterMk cId="717840518" sldId="2147483660"/>
              <pc:sldLayoutMk cId="680653357" sldId="2147483670"/>
              <ac:spMk id="4" creationId="{790899FE-50CE-4592-8241-9731B40B4305}"/>
            </ac:spMkLst>
          </pc:spChg>
        </pc:sldLayoutChg>
        <pc:sldLayoutChg chg="delSp">
          <pc:chgData name="Rozita Yati Masri" userId="fb57b885-c824-4da2-946a-d71ef420875c" providerId="ADAL" clId="{CDB1F695-E6DC-4568-B1FB-B2F60D07DC58}" dt="2020-10-11T08:50:18.623" v="8" actId="478"/>
          <pc:sldLayoutMkLst>
            <pc:docMk/>
            <pc:sldMasterMk cId="717840518" sldId="2147483660"/>
            <pc:sldLayoutMk cId="1929502230" sldId="2147483671"/>
          </pc:sldLayoutMkLst>
          <pc:spChg chg="del">
            <ac:chgData name="Rozita Yati Masri" userId="fb57b885-c824-4da2-946a-d71ef420875c" providerId="ADAL" clId="{CDB1F695-E6DC-4568-B1FB-B2F60D07DC58}" dt="2020-10-11T08:50:18.623" v="8" actId="478"/>
            <ac:spMkLst>
              <pc:docMk/>
              <pc:sldMasterMk cId="717840518" sldId="2147483660"/>
              <pc:sldLayoutMk cId="1929502230" sldId="2147483671"/>
              <ac:spMk id="4" creationId="{DFB6B087-45F3-4C06-AF9A-3C1779880019}"/>
            </ac:spMkLst>
          </pc:spChg>
        </pc:sldLayoutChg>
        <pc:sldLayoutChg chg="delSp">
          <pc:chgData name="Rozita Yati Masri" userId="fb57b885-c824-4da2-946a-d71ef420875c" providerId="ADAL" clId="{CDB1F695-E6DC-4568-B1FB-B2F60D07DC58}" dt="2020-10-11T08:50:16.765" v="7" actId="478"/>
          <pc:sldLayoutMkLst>
            <pc:docMk/>
            <pc:sldMasterMk cId="717840518" sldId="2147483660"/>
            <pc:sldLayoutMk cId="1748479698" sldId="2147483672"/>
          </pc:sldLayoutMkLst>
          <pc:spChg chg="del">
            <ac:chgData name="Rozita Yati Masri" userId="fb57b885-c824-4da2-946a-d71ef420875c" providerId="ADAL" clId="{CDB1F695-E6DC-4568-B1FB-B2F60D07DC58}" dt="2020-10-11T08:50:16.765" v="7" actId="478"/>
            <ac:spMkLst>
              <pc:docMk/>
              <pc:sldMasterMk cId="717840518" sldId="2147483660"/>
              <pc:sldLayoutMk cId="1748479698" sldId="2147483672"/>
              <ac:spMk id="5" creationId="{5A6DC315-7F58-4763-BC2C-AF70BD9B47C6}"/>
            </ac:spMkLst>
          </pc:spChg>
        </pc:sldLayoutChg>
      </pc:sldMasterChg>
    </pc:docChg>
  </pc:docChgLst>
  <pc:docChgLst>
    <pc:chgData name="Palvinderjit Kaur Harnek Singh" userId="S::palvin@staffemail.apu.edu.my::1dea098f-8328-47c1-9713-f5a5bb94ac0a" providerId="AD" clId="Web-{302C243F-85CC-4730-0736-F688C3BF72E7}"/>
    <pc:docChg chg="addSld">
      <pc:chgData name="Palvinderjit Kaur Harnek Singh" userId="S::palvin@staffemail.apu.edu.my::1dea098f-8328-47c1-9713-f5a5bb94ac0a" providerId="AD" clId="Web-{302C243F-85CC-4730-0736-F688C3BF72E7}" dt="2020-09-10T07:12:40.950" v="0"/>
      <pc:docMkLst>
        <pc:docMk/>
      </pc:docMkLst>
      <pc:sldChg chg="new">
        <pc:chgData name="Palvinderjit Kaur Harnek Singh" userId="S::palvin@staffemail.apu.edu.my::1dea098f-8328-47c1-9713-f5a5bb94ac0a" providerId="AD" clId="Web-{302C243F-85CC-4730-0736-F688C3BF72E7}" dt="2020-09-10T07:12:40.950" v="0"/>
        <pc:sldMkLst>
          <pc:docMk/>
          <pc:sldMk cId="1306722021" sldId="287"/>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7A5670-F6AA-4113-BA79-71CA4EA02F4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3B03E7A-5A7D-476D-94F2-42C9ACA23386}">
      <dgm:prSet/>
      <dgm:spPr/>
      <dgm:t>
        <a:bodyPr/>
        <a:lstStyle/>
        <a:p>
          <a:r>
            <a:rPr lang="en-US"/>
            <a:t>A refinement of the term </a:t>
          </a:r>
          <a:r>
            <a:rPr lang="en-US" b="1"/>
            <a:t>digital</a:t>
          </a:r>
          <a:r>
            <a:rPr lang="en-US"/>
            <a:t> </a:t>
          </a:r>
          <a:r>
            <a:rPr lang="en-US" b="1"/>
            <a:t>literacy</a:t>
          </a:r>
          <a:r>
            <a:rPr lang="en-US"/>
            <a:t>, describing the variety of </a:t>
          </a:r>
          <a:r>
            <a:rPr lang="en-US" b="1"/>
            <a:t>thinking skills</a:t>
          </a:r>
          <a:r>
            <a:rPr lang="en-US"/>
            <a:t> that comprise digital literacy</a:t>
          </a:r>
        </a:p>
      </dgm:t>
    </dgm:pt>
    <dgm:pt modelId="{407397B0-29AF-424C-9EF4-7F4B1AB9F4CB}" type="parTrans" cxnId="{2BD2F2A3-FFBA-4438-8B44-648856E531B4}">
      <dgm:prSet/>
      <dgm:spPr/>
      <dgm:t>
        <a:bodyPr/>
        <a:lstStyle/>
        <a:p>
          <a:endParaRPr lang="en-US"/>
        </a:p>
      </dgm:t>
    </dgm:pt>
    <dgm:pt modelId="{4A0D3237-2024-41CF-83E7-2A39AB350D22}" type="sibTrans" cxnId="{2BD2F2A3-FFBA-4438-8B44-648856E531B4}">
      <dgm:prSet/>
      <dgm:spPr/>
      <dgm:t>
        <a:bodyPr/>
        <a:lstStyle/>
        <a:p>
          <a:endParaRPr lang="en-US"/>
        </a:p>
      </dgm:t>
    </dgm:pt>
    <dgm:pt modelId="{F94AA5B5-83F8-4FB6-BFED-931488FD331F}">
      <dgm:prSet/>
      <dgm:spPr/>
      <dgm:t>
        <a:bodyPr/>
        <a:lstStyle/>
        <a:p>
          <a:r>
            <a:rPr lang="en-US"/>
            <a:t>Digital literacy refers to an individual's ability to find, evaluate, and compose clear information through writing and other media on various digital platforms</a:t>
          </a:r>
        </a:p>
      </dgm:t>
    </dgm:pt>
    <dgm:pt modelId="{FBC55A98-CDCE-481C-BCDA-36520D4D3A40}" type="parTrans" cxnId="{3D9FB111-A931-4DD8-9EAB-05E415D2AE1D}">
      <dgm:prSet/>
      <dgm:spPr/>
      <dgm:t>
        <a:bodyPr/>
        <a:lstStyle/>
        <a:p>
          <a:endParaRPr lang="en-US"/>
        </a:p>
      </dgm:t>
    </dgm:pt>
    <dgm:pt modelId="{3146308A-AC7E-4F88-B206-89B78CD367A5}" type="sibTrans" cxnId="{3D9FB111-A931-4DD8-9EAB-05E415D2AE1D}">
      <dgm:prSet/>
      <dgm:spPr/>
      <dgm:t>
        <a:bodyPr/>
        <a:lstStyle/>
        <a:p>
          <a:endParaRPr lang="en-US"/>
        </a:p>
      </dgm:t>
    </dgm:pt>
    <dgm:pt modelId="{2981C3D8-FB95-4A36-857A-29FF3F00AAC7}" type="pres">
      <dgm:prSet presAssocID="{3A7A5670-F6AA-4113-BA79-71CA4EA02F4C}" presName="root" presStyleCnt="0">
        <dgm:presLayoutVars>
          <dgm:dir/>
          <dgm:resizeHandles val="exact"/>
        </dgm:presLayoutVars>
      </dgm:prSet>
      <dgm:spPr/>
    </dgm:pt>
    <dgm:pt modelId="{33A62E6B-F25A-4475-8397-D985EFDA8569}" type="pres">
      <dgm:prSet presAssocID="{33B03E7A-5A7D-476D-94F2-42C9ACA23386}" presName="compNode" presStyleCnt="0"/>
      <dgm:spPr/>
    </dgm:pt>
    <dgm:pt modelId="{48B56404-D55E-4FDF-A06E-9DE1ED7E6559}" type="pres">
      <dgm:prSet presAssocID="{33B03E7A-5A7D-476D-94F2-42C9ACA23386}" presName="bgRect" presStyleLbl="bgShp" presStyleIdx="0" presStyleCnt="2"/>
      <dgm:spPr/>
    </dgm:pt>
    <dgm:pt modelId="{A9FC515F-5CD4-48D2-AA55-EE9E12A27EB1}" type="pres">
      <dgm:prSet presAssocID="{33B03E7A-5A7D-476D-94F2-42C9ACA23386}" presName="iconRect" presStyleLbl="node1" presStyleIdx="0" presStyleCnt="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7C2DFC3-DFE0-45FF-B2ED-847D792FDBBF}" type="pres">
      <dgm:prSet presAssocID="{33B03E7A-5A7D-476D-94F2-42C9ACA23386}" presName="spaceRect" presStyleCnt="0"/>
      <dgm:spPr/>
    </dgm:pt>
    <dgm:pt modelId="{66DF5E3E-7DF1-4872-B93E-943AB68596CE}" type="pres">
      <dgm:prSet presAssocID="{33B03E7A-5A7D-476D-94F2-42C9ACA23386}" presName="parTx" presStyleLbl="revTx" presStyleIdx="0" presStyleCnt="2">
        <dgm:presLayoutVars>
          <dgm:chMax val="0"/>
          <dgm:chPref val="0"/>
        </dgm:presLayoutVars>
      </dgm:prSet>
      <dgm:spPr/>
    </dgm:pt>
    <dgm:pt modelId="{B7736B60-F01E-49A7-A05D-47A4A8CB776E}" type="pres">
      <dgm:prSet presAssocID="{4A0D3237-2024-41CF-83E7-2A39AB350D22}" presName="sibTrans" presStyleCnt="0"/>
      <dgm:spPr/>
    </dgm:pt>
    <dgm:pt modelId="{353C917D-56F3-4807-93A1-BFF5849AFCB0}" type="pres">
      <dgm:prSet presAssocID="{F94AA5B5-83F8-4FB6-BFED-931488FD331F}" presName="compNode" presStyleCnt="0"/>
      <dgm:spPr/>
    </dgm:pt>
    <dgm:pt modelId="{B53A5446-C697-4F98-AE77-9443DD872167}" type="pres">
      <dgm:prSet presAssocID="{F94AA5B5-83F8-4FB6-BFED-931488FD331F}" presName="bgRect" presStyleLbl="bgShp" presStyleIdx="1" presStyleCnt="2"/>
      <dgm:spPr/>
    </dgm:pt>
    <dgm:pt modelId="{802B4EC1-E671-478E-803C-843BFC2D8146}" type="pres">
      <dgm:prSet presAssocID="{F94AA5B5-83F8-4FB6-BFED-931488FD331F}" presName="iconRect" presStyleLbl="node1" presStyleIdx="1" presStyleCnt="2"/>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C977C627-270D-4C35-A474-36A423495136}" type="pres">
      <dgm:prSet presAssocID="{F94AA5B5-83F8-4FB6-BFED-931488FD331F}" presName="spaceRect" presStyleCnt="0"/>
      <dgm:spPr/>
    </dgm:pt>
    <dgm:pt modelId="{6FB57A72-A560-46F7-A3DD-FD8989DC331E}" type="pres">
      <dgm:prSet presAssocID="{F94AA5B5-83F8-4FB6-BFED-931488FD331F}" presName="parTx" presStyleLbl="revTx" presStyleIdx="1" presStyleCnt="2">
        <dgm:presLayoutVars>
          <dgm:chMax val="0"/>
          <dgm:chPref val="0"/>
        </dgm:presLayoutVars>
      </dgm:prSet>
      <dgm:spPr/>
    </dgm:pt>
  </dgm:ptLst>
  <dgm:cxnLst>
    <dgm:cxn modelId="{3D9FB111-A931-4DD8-9EAB-05E415D2AE1D}" srcId="{3A7A5670-F6AA-4113-BA79-71CA4EA02F4C}" destId="{F94AA5B5-83F8-4FB6-BFED-931488FD331F}" srcOrd="1" destOrd="0" parTransId="{FBC55A98-CDCE-481C-BCDA-36520D4D3A40}" sibTransId="{3146308A-AC7E-4F88-B206-89B78CD367A5}"/>
    <dgm:cxn modelId="{B8AE2A8A-6F43-494E-AD49-755E95902C18}" type="presOf" srcId="{33B03E7A-5A7D-476D-94F2-42C9ACA23386}" destId="{66DF5E3E-7DF1-4872-B93E-943AB68596CE}" srcOrd="0" destOrd="0" presId="urn:microsoft.com/office/officeart/2018/2/layout/IconVerticalSolidList"/>
    <dgm:cxn modelId="{2BD2F2A3-FFBA-4438-8B44-648856E531B4}" srcId="{3A7A5670-F6AA-4113-BA79-71CA4EA02F4C}" destId="{33B03E7A-5A7D-476D-94F2-42C9ACA23386}" srcOrd="0" destOrd="0" parTransId="{407397B0-29AF-424C-9EF4-7F4B1AB9F4CB}" sibTransId="{4A0D3237-2024-41CF-83E7-2A39AB350D22}"/>
    <dgm:cxn modelId="{0EAAD9A7-488A-4D22-A808-2ADC60A55CFA}" type="presOf" srcId="{F94AA5B5-83F8-4FB6-BFED-931488FD331F}" destId="{6FB57A72-A560-46F7-A3DD-FD8989DC331E}" srcOrd="0" destOrd="0" presId="urn:microsoft.com/office/officeart/2018/2/layout/IconVerticalSolidList"/>
    <dgm:cxn modelId="{087D9EBE-2D64-4199-85CE-D989AF9318FA}" type="presOf" srcId="{3A7A5670-F6AA-4113-BA79-71CA4EA02F4C}" destId="{2981C3D8-FB95-4A36-857A-29FF3F00AAC7}" srcOrd="0" destOrd="0" presId="urn:microsoft.com/office/officeart/2018/2/layout/IconVerticalSolidList"/>
    <dgm:cxn modelId="{3D9C8607-AA6F-407B-9809-973F5C7F1D82}" type="presParOf" srcId="{2981C3D8-FB95-4A36-857A-29FF3F00AAC7}" destId="{33A62E6B-F25A-4475-8397-D985EFDA8569}" srcOrd="0" destOrd="0" presId="urn:microsoft.com/office/officeart/2018/2/layout/IconVerticalSolidList"/>
    <dgm:cxn modelId="{98AF0637-F60A-444F-9EDB-D4281597FFBC}" type="presParOf" srcId="{33A62E6B-F25A-4475-8397-D985EFDA8569}" destId="{48B56404-D55E-4FDF-A06E-9DE1ED7E6559}" srcOrd="0" destOrd="0" presId="urn:microsoft.com/office/officeart/2018/2/layout/IconVerticalSolidList"/>
    <dgm:cxn modelId="{4FC08300-325C-4287-AAA4-EF992AE59757}" type="presParOf" srcId="{33A62E6B-F25A-4475-8397-D985EFDA8569}" destId="{A9FC515F-5CD4-48D2-AA55-EE9E12A27EB1}" srcOrd="1" destOrd="0" presId="urn:microsoft.com/office/officeart/2018/2/layout/IconVerticalSolidList"/>
    <dgm:cxn modelId="{67A424D8-40E3-4D5F-ACD8-9A64CFA53305}" type="presParOf" srcId="{33A62E6B-F25A-4475-8397-D985EFDA8569}" destId="{C7C2DFC3-DFE0-45FF-B2ED-847D792FDBBF}" srcOrd="2" destOrd="0" presId="urn:microsoft.com/office/officeart/2018/2/layout/IconVerticalSolidList"/>
    <dgm:cxn modelId="{CE523FA3-D606-4C61-AE35-B7FFDBD0DB79}" type="presParOf" srcId="{33A62E6B-F25A-4475-8397-D985EFDA8569}" destId="{66DF5E3E-7DF1-4872-B93E-943AB68596CE}" srcOrd="3" destOrd="0" presId="urn:microsoft.com/office/officeart/2018/2/layout/IconVerticalSolidList"/>
    <dgm:cxn modelId="{951F712D-1D28-4870-9F4C-81D097532D32}" type="presParOf" srcId="{2981C3D8-FB95-4A36-857A-29FF3F00AAC7}" destId="{B7736B60-F01E-49A7-A05D-47A4A8CB776E}" srcOrd="1" destOrd="0" presId="urn:microsoft.com/office/officeart/2018/2/layout/IconVerticalSolidList"/>
    <dgm:cxn modelId="{61F2198A-8BC8-4D17-8D98-998CFD11AF9E}" type="presParOf" srcId="{2981C3D8-FB95-4A36-857A-29FF3F00AAC7}" destId="{353C917D-56F3-4807-93A1-BFF5849AFCB0}" srcOrd="2" destOrd="0" presId="urn:microsoft.com/office/officeart/2018/2/layout/IconVerticalSolidList"/>
    <dgm:cxn modelId="{A12C34F5-6E50-4569-AA9C-EDD59CDED9BF}" type="presParOf" srcId="{353C917D-56F3-4807-93A1-BFF5849AFCB0}" destId="{B53A5446-C697-4F98-AE77-9443DD872167}" srcOrd="0" destOrd="0" presId="urn:microsoft.com/office/officeart/2018/2/layout/IconVerticalSolidList"/>
    <dgm:cxn modelId="{4B367EEB-F851-48B1-8D33-184D93075EF6}" type="presParOf" srcId="{353C917D-56F3-4807-93A1-BFF5849AFCB0}" destId="{802B4EC1-E671-478E-803C-843BFC2D8146}" srcOrd="1" destOrd="0" presId="urn:microsoft.com/office/officeart/2018/2/layout/IconVerticalSolidList"/>
    <dgm:cxn modelId="{4784B494-6F18-4182-9A80-67731391DBB6}" type="presParOf" srcId="{353C917D-56F3-4807-93A1-BFF5849AFCB0}" destId="{C977C627-270D-4C35-A474-36A423495136}" srcOrd="2" destOrd="0" presId="urn:microsoft.com/office/officeart/2018/2/layout/IconVerticalSolidList"/>
    <dgm:cxn modelId="{69224AC4-50C3-42F0-9061-23C9666188C1}" type="presParOf" srcId="{353C917D-56F3-4807-93A1-BFF5849AFCB0}" destId="{6FB57A72-A560-46F7-A3DD-FD8989DC331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B56404-D55E-4FDF-A06E-9DE1ED7E6559}">
      <dsp:nvSpPr>
        <dsp:cNvPr id="0" name=""/>
        <dsp:cNvSpPr/>
      </dsp:nvSpPr>
      <dsp:spPr>
        <a:xfrm>
          <a:off x="0" y="735468"/>
          <a:ext cx="109728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FC515F-5CD4-48D2-AA55-EE9E12A27EB1}">
      <dsp:nvSpPr>
        <dsp:cNvPr id="0" name=""/>
        <dsp:cNvSpPr/>
      </dsp:nvSpPr>
      <dsp:spPr>
        <a:xfrm>
          <a:off x="410731" y="1040971"/>
          <a:ext cx="746783" cy="74678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DF5E3E-7DF1-4872-B93E-943AB68596CE}">
      <dsp:nvSpPr>
        <dsp:cNvPr id="0" name=""/>
        <dsp:cNvSpPr/>
      </dsp:nvSpPr>
      <dsp:spPr>
        <a:xfrm>
          <a:off x="1568245" y="735468"/>
          <a:ext cx="94045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en-US" sz="2500" kern="1200"/>
            <a:t>A refinement of the term </a:t>
          </a:r>
          <a:r>
            <a:rPr lang="en-US" sz="2500" b="1" kern="1200"/>
            <a:t>digital</a:t>
          </a:r>
          <a:r>
            <a:rPr lang="en-US" sz="2500" kern="1200"/>
            <a:t> </a:t>
          </a:r>
          <a:r>
            <a:rPr lang="en-US" sz="2500" b="1" kern="1200"/>
            <a:t>literacy</a:t>
          </a:r>
          <a:r>
            <a:rPr lang="en-US" sz="2500" kern="1200"/>
            <a:t>, describing the variety of </a:t>
          </a:r>
          <a:r>
            <a:rPr lang="en-US" sz="2500" b="1" kern="1200"/>
            <a:t>thinking skills</a:t>
          </a:r>
          <a:r>
            <a:rPr lang="en-US" sz="2500" kern="1200"/>
            <a:t> that comprise digital literacy</a:t>
          </a:r>
        </a:p>
      </dsp:txBody>
      <dsp:txXfrm>
        <a:off x="1568245" y="735468"/>
        <a:ext cx="9404554" cy="1357788"/>
      </dsp:txXfrm>
    </dsp:sp>
    <dsp:sp modelId="{B53A5446-C697-4F98-AE77-9443DD872167}">
      <dsp:nvSpPr>
        <dsp:cNvPr id="0" name=""/>
        <dsp:cNvSpPr/>
      </dsp:nvSpPr>
      <dsp:spPr>
        <a:xfrm>
          <a:off x="0" y="2432704"/>
          <a:ext cx="109728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2B4EC1-E671-478E-803C-843BFC2D8146}">
      <dsp:nvSpPr>
        <dsp:cNvPr id="0" name=""/>
        <dsp:cNvSpPr/>
      </dsp:nvSpPr>
      <dsp:spPr>
        <a:xfrm>
          <a:off x="410731" y="2738207"/>
          <a:ext cx="746783" cy="74678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B57A72-A560-46F7-A3DD-FD8989DC331E}">
      <dsp:nvSpPr>
        <dsp:cNvPr id="0" name=""/>
        <dsp:cNvSpPr/>
      </dsp:nvSpPr>
      <dsp:spPr>
        <a:xfrm>
          <a:off x="1568245" y="2432704"/>
          <a:ext cx="94045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en-US" sz="2500" kern="1200"/>
            <a:t>Digital literacy refers to an individual's ability to find, evaluate, and compose clear information through writing and other media on various digital platforms</a:t>
          </a:r>
        </a:p>
      </dsp:txBody>
      <dsp:txXfrm>
        <a:off x="1568245" y="2432704"/>
        <a:ext cx="9404554" cy="13577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3D06F3-7595-4843-AA53-550B6E9F3CCA}" type="datetimeFigureOut">
              <a:rPr lang="en-US" smtClean="0"/>
              <a:t>9/19/2021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8636EF-3717-48D6-BF67-340DE3F7A02D}" type="slidenum">
              <a:rPr lang="en-US" smtClean="0"/>
              <a:t>‹#›</a:t>
            </a:fld>
            <a:endParaRPr lang="en-US"/>
          </a:p>
        </p:txBody>
      </p:sp>
    </p:spTree>
    <p:extLst>
      <p:ext uri="{BB962C8B-B14F-4D97-AF65-F5344CB8AC3E}">
        <p14:creationId xmlns:p14="http://schemas.microsoft.com/office/powerpoint/2010/main" val="3699928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a:extLst>
              <a:ext uri="{FF2B5EF4-FFF2-40B4-BE49-F238E27FC236}">
                <a16:creationId xmlns:a16="http://schemas.microsoft.com/office/drawing/2014/main" id="{A29F0EA6-BEC4-4FDE-A6D8-DFB748BE1F4F}"/>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0" name="Rectangle 9">
            <a:extLst>
              <a:ext uri="{FF2B5EF4-FFF2-40B4-BE49-F238E27FC236}">
                <a16:creationId xmlns:a16="http://schemas.microsoft.com/office/drawing/2014/main" id="{404F77F2-33A7-4332-B35D-2E326EC451BC}"/>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dirty="0">
                <a:latin typeface="Calibri" pitchFamily="34" charset="0"/>
                <a:cs typeface="Calibri" pitchFamily="34" charset="0"/>
              </a:rPr>
              <a:t>Agile and Digital Thinking</a:t>
            </a:r>
          </a:p>
        </p:txBody>
      </p:sp>
      <p:sp>
        <p:nvSpPr>
          <p:cNvPr id="11" name="Rectangle 10">
            <a:extLst>
              <a:ext uri="{FF2B5EF4-FFF2-40B4-BE49-F238E27FC236}">
                <a16:creationId xmlns:a16="http://schemas.microsoft.com/office/drawing/2014/main" id="{534750E9-6CA5-4CC9-B3CF-1CD776E032E2}"/>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23</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rowthmanifesto.com/airbnb-growth-strategy" TargetMode="External"/><Relationship Id="rId2" Type="http://schemas.openxmlformats.org/officeDocument/2006/relationships/hyperlink" Target="https://www.youtube.com/watch?v=1Tc9YScMtN8"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youtube.com/watch?v=NrmMk1Myrxc&amp;feature=youtu.b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Agile and Digital Thinking</a:t>
            </a:r>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p:txBody>
          <a:bodyPr/>
          <a:lstStyle/>
          <a:p>
            <a:pPr marL="0" indent="0">
              <a:buNone/>
            </a:pPr>
            <a:r>
              <a:rPr lang="en-US" dirty="0"/>
              <a:t>This topic discusses how agile and digital thinking is used influences the business today</a:t>
            </a:r>
          </a:p>
        </p:txBody>
      </p:sp>
      <p:pic>
        <p:nvPicPr>
          <p:cNvPr id="6" name="Picture 5">
            <a:extLst>
              <a:ext uri="{FF2B5EF4-FFF2-40B4-BE49-F238E27FC236}">
                <a16:creationId xmlns:a16="http://schemas.microsoft.com/office/drawing/2014/main" id="{8D5C5A7C-E849-4690-8848-92D0D52FC850}"/>
              </a:ext>
            </a:extLst>
          </p:cNvPr>
          <p:cNvPicPr>
            <a:picLocks noChangeAspect="1"/>
          </p:cNvPicPr>
          <p:nvPr/>
        </p:nvPicPr>
        <p:blipFill>
          <a:blip r:embed="rId2"/>
          <a:stretch>
            <a:fillRect/>
          </a:stretch>
        </p:blipFill>
        <p:spPr>
          <a:xfrm>
            <a:off x="5667397" y="3123028"/>
            <a:ext cx="6057655" cy="3318715"/>
          </a:xfrm>
          <a:prstGeom prst="rect">
            <a:avLst/>
          </a:prstGeom>
        </p:spPr>
      </p:pic>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dirty="0"/>
              <a:t>Define agile thinking</a:t>
            </a:r>
          </a:p>
          <a:p>
            <a:pPr lvl="1"/>
            <a:r>
              <a:rPr lang="en-US" dirty="0"/>
              <a:t>Identify the characteristics of agile mindset</a:t>
            </a:r>
          </a:p>
          <a:p>
            <a:pPr lvl="1"/>
            <a:r>
              <a:rPr lang="en-US" dirty="0"/>
              <a:t>Explain what is meant by digital thinking</a:t>
            </a:r>
          </a:p>
          <a:p>
            <a:pPr lvl="1"/>
            <a:r>
              <a:rPr lang="en-US" dirty="0"/>
              <a:t>Understand how agile thinking and digital thinking are used in the digital era</a:t>
            </a:r>
          </a:p>
        </p:txBody>
      </p:sp>
    </p:spTree>
    <p:extLst>
      <p:ext uri="{BB962C8B-B14F-4D97-AF65-F5344CB8AC3E}">
        <p14:creationId xmlns:p14="http://schemas.microsoft.com/office/powerpoint/2010/main" val="235877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062-B23F-44E2-9B0F-C4D4FC40830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6DE95035-1134-4319-BC7F-D0D92E8E7607}"/>
              </a:ext>
            </a:extLst>
          </p:cNvPr>
          <p:cNvSpPr>
            <a:spLocks noGrp="1"/>
          </p:cNvSpPr>
          <p:nvPr>
            <p:ph idx="1"/>
          </p:nvPr>
        </p:nvSpPr>
        <p:spPr/>
        <p:txBody>
          <a:bodyPr/>
          <a:lstStyle/>
          <a:p>
            <a:r>
              <a:rPr lang="en-US" dirty="0"/>
              <a:t>Agile Thinking</a:t>
            </a:r>
          </a:p>
          <a:p>
            <a:r>
              <a:rPr lang="en-US" dirty="0"/>
              <a:t>Agile Mindset</a:t>
            </a:r>
          </a:p>
          <a:p>
            <a:r>
              <a:rPr lang="en-US" dirty="0"/>
              <a:t>Digital Thinking</a:t>
            </a:r>
          </a:p>
          <a:p>
            <a:r>
              <a:rPr lang="en-US" dirty="0"/>
              <a:t>Case Study</a:t>
            </a:r>
          </a:p>
        </p:txBody>
      </p:sp>
    </p:spTree>
    <p:extLst>
      <p:ext uri="{BB962C8B-B14F-4D97-AF65-F5344CB8AC3E}">
        <p14:creationId xmlns:p14="http://schemas.microsoft.com/office/powerpoint/2010/main" val="115330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4E54-127C-4514-BE49-BB900B9E62EE}"/>
              </a:ext>
            </a:extLst>
          </p:cNvPr>
          <p:cNvSpPr>
            <a:spLocks noGrp="1"/>
          </p:cNvSpPr>
          <p:nvPr>
            <p:ph type="title"/>
          </p:nvPr>
        </p:nvSpPr>
        <p:spPr/>
        <p:txBody>
          <a:bodyPr/>
          <a:lstStyle/>
          <a:p>
            <a:r>
              <a:rPr lang="en-US" dirty="0"/>
              <a:t>Mind Map</a:t>
            </a:r>
          </a:p>
        </p:txBody>
      </p:sp>
      <p:pic>
        <p:nvPicPr>
          <p:cNvPr id="5" name="Picture 4">
            <a:extLst>
              <a:ext uri="{FF2B5EF4-FFF2-40B4-BE49-F238E27FC236}">
                <a16:creationId xmlns:a16="http://schemas.microsoft.com/office/drawing/2014/main" id="{443CDD80-AD35-44A8-B0B1-6A42497BA8BE}"/>
              </a:ext>
            </a:extLst>
          </p:cNvPr>
          <p:cNvPicPr>
            <a:picLocks noChangeAspect="1"/>
          </p:cNvPicPr>
          <p:nvPr/>
        </p:nvPicPr>
        <p:blipFill>
          <a:blip r:embed="rId2"/>
          <a:stretch>
            <a:fillRect/>
          </a:stretch>
        </p:blipFill>
        <p:spPr>
          <a:xfrm>
            <a:off x="518762" y="1664456"/>
            <a:ext cx="11113233" cy="4463388"/>
          </a:xfrm>
          <a:prstGeom prst="rect">
            <a:avLst/>
          </a:prstGeom>
        </p:spPr>
      </p:pic>
    </p:spTree>
    <p:extLst>
      <p:ext uri="{BB962C8B-B14F-4D97-AF65-F5344CB8AC3E}">
        <p14:creationId xmlns:p14="http://schemas.microsoft.com/office/powerpoint/2010/main" val="400094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dirty="0"/>
              <a:t>Define agile thinking</a:t>
            </a:r>
          </a:p>
          <a:p>
            <a:pPr lvl="1"/>
            <a:r>
              <a:rPr lang="en-US" dirty="0">
                <a:solidFill>
                  <a:schemeClr val="tx1">
                    <a:lumMod val="50000"/>
                    <a:lumOff val="50000"/>
                  </a:schemeClr>
                </a:solidFill>
              </a:rPr>
              <a:t>Identify the characteristics of agile mindset</a:t>
            </a:r>
          </a:p>
          <a:p>
            <a:pPr lvl="1"/>
            <a:r>
              <a:rPr lang="en-US" dirty="0">
                <a:solidFill>
                  <a:schemeClr val="tx1">
                    <a:lumMod val="50000"/>
                    <a:lumOff val="50000"/>
                  </a:schemeClr>
                </a:solidFill>
              </a:rPr>
              <a:t>Explain what is meant by digital thinking</a:t>
            </a:r>
          </a:p>
          <a:p>
            <a:pPr lvl="1"/>
            <a:r>
              <a:rPr lang="en-US" dirty="0">
                <a:solidFill>
                  <a:schemeClr val="tx1">
                    <a:lumMod val="50000"/>
                    <a:lumOff val="50000"/>
                  </a:schemeClr>
                </a:solidFill>
              </a:rPr>
              <a:t>Understand how agile thinking and digital thinking are used in the digital era</a:t>
            </a:r>
          </a:p>
        </p:txBody>
      </p:sp>
    </p:spTree>
    <p:extLst>
      <p:ext uri="{BB962C8B-B14F-4D97-AF65-F5344CB8AC3E}">
        <p14:creationId xmlns:p14="http://schemas.microsoft.com/office/powerpoint/2010/main" val="4252907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7343B-6726-431F-AC10-D4DB4F60DEBF}"/>
              </a:ext>
            </a:extLst>
          </p:cNvPr>
          <p:cNvSpPr>
            <a:spLocks noGrp="1"/>
          </p:cNvSpPr>
          <p:nvPr>
            <p:ph type="title"/>
          </p:nvPr>
        </p:nvSpPr>
        <p:spPr/>
        <p:txBody>
          <a:bodyPr/>
          <a:lstStyle/>
          <a:p>
            <a:r>
              <a:rPr lang="en-US" dirty="0"/>
              <a:t>Design Thinking and Agile in Practice</a:t>
            </a:r>
          </a:p>
        </p:txBody>
      </p:sp>
      <p:sp>
        <p:nvSpPr>
          <p:cNvPr id="3" name="Content Placeholder 2">
            <a:extLst>
              <a:ext uri="{FF2B5EF4-FFF2-40B4-BE49-F238E27FC236}">
                <a16:creationId xmlns:a16="http://schemas.microsoft.com/office/drawing/2014/main" id="{AC1EC251-2CFF-47D1-9FA5-454E4EC726F4}"/>
              </a:ext>
            </a:extLst>
          </p:cNvPr>
          <p:cNvSpPr>
            <a:spLocks noGrp="1"/>
          </p:cNvSpPr>
          <p:nvPr>
            <p:ph idx="1"/>
          </p:nvPr>
        </p:nvSpPr>
        <p:spPr/>
        <p:txBody>
          <a:bodyPr/>
          <a:lstStyle/>
          <a:p>
            <a:r>
              <a:rPr lang="en-US" i="1" dirty="0"/>
              <a:t>“Innovation is no longer just about new technology per se. It is about new models of </a:t>
            </a:r>
            <a:r>
              <a:rPr lang="en-US" i="1" dirty="0" err="1"/>
              <a:t>organisation</a:t>
            </a:r>
            <a:r>
              <a:rPr lang="en-US" i="1" dirty="0"/>
              <a:t>. Design is no longer just about form anymore but is a method of thinking that can let you to see around corners. And the high tech breakthroughs that do count today are not about speed and performance but about collaboration, conversation and co-creation.”</a:t>
            </a:r>
          </a:p>
          <a:p>
            <a:pPr marL="0" indent="0" algn="r">
              <a:buNone/>
            </a:pPr>
            <a:r>
              <a:rPr lang="en-US" i="1" dirty="0"/>
              <a:t> – </a:t>
            </a:r>
            <a:r>
              <a:rPr lang="en-US" b="1" dirty="0"/>
              <a:t>Bruce Nussbaum</a:t>
            </a:r>
            <a:endParaRPr lang="en-US" i="1" dirty="0"/>
          </a:p>
          <a:p>
            <a:endParaRPr lang="en-US" dirty="0"/>
          </a:p>
        </p:txBody>
      </p:sp>
    </p:spTree>
    <p:extLst>
      <p:ext uri="{BB962C8B-B14F-4D97-AF65-F5344CB8AC3E}">
        <p14:creationId xmlns:p14="http://schemas.microsoft.com/office/powerpoint/2010/main" val="2072798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88128-07F4-4934-A879-5AEBAF61EF59}"/>
              </a:ext>
            </a:extLst>
          </p:cNvPr>
          <p:cNvSpPr>
            <a:spLocks noGrp="1"/>
          </p:cNvSpPr>
          <p:nvPr>
            <p:ph type="title"/>
          </p:nvPr>
        </p:nvSpPr>
        <p:spPr/>
        <p:txBody>
          <a:bodyPr/>
          <a:lstStyle/>
          <a:p>
            <a:r>
              <a:rPr lang="en-US" dirty="0"/>
              <a:t>Agile Thinking</a:t>
            </a:r>
          </a:p>
        </p:txBody>
      </p:sp>
      <p:sp>
        <p:nvSpPr>
          <p:cNvPr id="3" name="Content Placeholder 2">
            <a:extLst>
              <a:ext uri="{FF2B5EF4-FFF2-40B4-BE49-F238E27FC236}">
                <a16:creationId xmlns:a16="http://schemas.microsoft.com/office/drawing/2014/main" id="{C2F66227-551C-4001-BE05-32334825CE12}"/>
              </a:ext>
            </a:extLst>
          </p:cNvPr>
          <p:cNvSpPr>
            <a:spLocks noGrp="1"/>
          </p:cNvSpPr>
          <p:nvPr>
            <p:ph idx="1"/>
          </p:nvPr>
        </p:nvSpPr>
        <p:spPr/>
        <p:txBody>
          <a:bodyPr/>
          <a:lstStyle/>
          <a:p>
            <a:r>
              <a:rPr lang="en-US" b="1" dirty="0"/>
              <a:t>Agile Thinking</a:t>
            </a:r>
            <a:r>
              <a:rPr lang="en-US" dirty="0"/>
              <a:t> is the way of thinking which enables the ability to respond to change or solve problems quickly and easily</a:t>
            </a:r>
          </a:p>
          <a:p>
            <a:pPr lvl="1"/>
            <a:r>
              <a:rPr lang="en-US" dirty="0"/>
              <a:t>Take everything as lessons  </a:t>
            </a:r>
          </a:p>
          <a:p>
            <a:pPr lvl="1"/>
            <a:r>
              <a:rPr lang="en-US" dirty="0"/>
              <a:t>Adjust actions according to the feedback</a:t>
            </a:r>
          </a:p>
          <a:p>
            <a:pPr lvl="1"/>
            <a:r>
              <a:rPr lang="en-US" dirty="0"/>
              <a:t>Proceed toward desired outcomes, resulting in continuous improvement</a:t>
            </a:r>
          </a:p>
        </p:txBody>
      </p:sp>
    </p:spTree>
    <p:extLst>
      <p:ext uri="{BB962C8B-B14F-4D97-AF65-F5344CB8AC3E}">
        <p14:creationId xmlns:p14="http://schemas.microsoft.com/office/powerpoint/2010/main" val="809263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90C1-E746-4393-88A3-99DA41BEBA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E30EB9-9EA2-4EFF-AA8F-283B3EF50EE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D1DFE63-5706-40B6-B5FB-6E09C9D20CBA}"/>
              </a:ext>
            </a:extLst>
          </p:cNvPr>
          <p:cNvPicPr>
            <a:picLocks noChangeAspect="1"/>
          </p:cNvPicPr>
          <p:nvPr/>
        </p:nvPicPr>
        <p:blipFill>
          <a:blip r:embed="rId2"/>
          <a:stretch>
            <a:fillRect/>
          </a:stretch>
        </p:blipFill>
        <p:spPr>
          <a:xfrm>
            <a:off x="663466" y="54591"/>
            <a:ext cx="9012798" cy="6733296"/>
          </a:xfrm>
          <a:prstGeom prst="rect">
            <a:avLst/>
          </a:prstGeom>
        </p:spPr>
      </p:pic>
    </p:spTree>
    <p:extLst>
      <p:ext uri="{BB962C8B-B14F-4D97-AF65-F5344CB8AC3E}">
        <p14:creationId xmlns:p14="http://schemas.microsoft.com/office/powerpoint/2010/main" val="4191018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dirty="0">
                <a:solidFill>
                  <a:schemeClr val="tx1">
                    <a:lumMod val="50000"/>
                    <a:lumOff val="50000"/>
                  </a:schemeClr>
                </a:solidFill>
              </a:rPr>
              <a:t>Define agile thinking</a:t>
            </a:r>
          </a:p>
          <a:p>
            <a:pPr lvl="1"/>
            <a:r>
              <a:rPr lang="en-US" dirty="0"/>
              <a:t>Identify the characteristics of agile mindset</a:t>
            </a:r>
          </a:p>
          <a:p>
            <a:pPr lvl="1"/>
            <a:r>
              <a:rPr lang="en-US" dirty="0">
                <a:solidFill>
                  <a:schemeClr val="tx1">
                    <a:lumMod val="50000"/>
                    <a:lumOff val="50000"/>
                  </a:schemeClr>
                </a:solidFill>
              </a:rPr>
              <a:t>Explain what is meant by digital thinking</a:t>
            </a:r>
          </a:p>
          <a:p>
            <a:pPr lvl="1"/>
            <a:r>
              <a:rPr lang="en-US" dirty="0">
                <a:solidFill>
                  <a:schemeClr val="tx1">
                    <a:lumMod val="50000"/>
                    <a:lumOff val="50000"/>
                  </a:schemeClr>
                </a:solidFill>
              </a:rPr>
              <a:t>Understand how agile thinking and digital thinking are used in the digital era</a:t>
            </a:r>
          </a:p>
        </p:txBody>
      </p:sp>
    </p:spTree>
    <p:extLst>
      <p:ext uri="{BB962C8B-B14F-4D97-AF65-F5344CB8AC3E}">
        <p14:creationId xmlns:p14="http://schemas.microsoft.com/office/powerpoint/2010/main" val="811238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BCF9-21AC-4860-9D46-DADE77608E5C}"/>
              </a:ext>
            </a:extLst>
          </p:cNvPr>
          <p:cNvSpPr>
            <a:spLocks noGrp="1"/>
          </p:cNvSpPr>
          <p:nvPr>
            <p:ph type="title"/>
          </p:nvPr>
        </p:nvSpPr>
        <p:spPr/>
        <p:txBody>
          <a:bodyPr/>
          <a:lstStyle/>
          <a:p>
            <a:r>
              <a:rPr lang="en-US" dirty="0"/>
              <a:t>Agile Mindset</a:t>
            </a:r>
          </a:p>
        </p:txBody>
      </p:sp>
      <p:sp>
        <p:nvSpPr>
          <p:cNvPr id="3" name="Content Placeholder 2">
            <a:extLst>
              <a:ext uri="{FF2B5EF4-FFF2-40B4-BE49-F238E27FC236}">
                <a16:creationId xmlns:a16="http://schemas.microsoft.com/office/drawing/2014/main" id="{2A1E2365-8836-471D-B93D-532DD58AE729}"/>
              </a:ext>
            </a:extLst>
          </p:cNvPr>
          <p:cNvSpPr>
            <a:spLocks noGrp="1"/>
          </p:cNvSpPr>
          <p:nvPr>
            <p:ph idx="1"/>
          </p:nvPr>
        </p:nvSpPr>
        <p:spPr/>
        <p:txBody>
          <a:bodyPr/>
          <a:lstStyle/>
          <a:p>
            <a:r>
              <a:rPr lang="en-US" dirty="0"/>
              <a:t>Several characteristics to make up the agile mindset:</a:t>
            </a:r>
          </a:p>
          <a:p>
            <a:pPr lvl="1"/>
            <a:r>
              <a:rPr lang="en-US" dirty="0"/>
              <a:t>Positive attitude</a:t>
            </a:r>
          </a:p>
          <a:p>
            <a:pPr lvl="1"/>
            <a:r>
              <a:rPr lang="en-US" dirty="0"/>
              <a:t>Thirst for knowledge</a:t>
            </a:r>
          </a:p>
          <a:p>
            <a:pPr lvl="1"/>
            <a:r>
              <a:rPr lang="en-US" dirty="0"/>
              <a:t>Goal of team success</a:t>
            </a:r>
          </a:p>
          <a:p>
            <a:pPr lvl="1"/>
            <a:r>
              <a:rPr lang="en-US" dirty="0"/>
              <a:t>Pragmatism</a:t>
            </a:r>
          </a:p>
          <a:p>
            <a:pPr lvl="1"/>
            <a:r>
              <a:rPr lang="en-US" dirty="0"/>
              <a:t>Willingness to fail</a:t>
            </a:r>
          </a:p>
          <a:p>
            <a:endParaRPr lang="en-US" dirty="0"/>
          </a:p>
        </p:txBody>
      </p:sp>
      <p:pic>
        <p:nvPicPr>
          <p:cNvPr id="5" name="Picture 4">
            <a:extLst>
              <a:ext uri="{FF2B5EF4-FFF2-40B4-BE49-F238E27FC236}">
                <a16:creationId xmlns:a16="http://schemas.microsoft.com/office/drawing/2014/main" id="{CA2F8832-BCCB-44F5-8A81-807EF5AE8751}"/>
              </a:ext>
            </a:extLst>
          </p:cNvPr>
          <p:cNvPicPr>
            <a:picLocks noChangeAspect="1"/>
          </p:cNvPicPr>
          <p:nvPr/>
        </p:nvPicPr>
        <p:blipFill>
          <a:blip r:embed="rId2"/>
          <a:stretch>
            <a:fillRect/>
          </a:stretch>
        </p:blipFill>
        <p:spPr>
          <a:xfrm>
            <a:off x="6096000" y="2329838"/>
            <a:ext cx="4364537" cy="3260361"/>
          </a:xfrm>
          <a:prstGeom prst="rect">
            <a:avLst/>
          </a:prstGeom>
        </p:spPr>
      </p:pic>
    </p:spTree>
    <p:extLst>
      <p:ext uri="{BB962C8B-B14F-4D97-AF65-F5344CB8AC3E}">
        <p14:creationId xmlns:p14="http://schemas.microsoft.com/office/powerpoint/2010/main" val="956554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74439-1161-472E-9121-D4B0963CDD4A}"/>
              </a:ext>
            </a:extLst>
          </p:cNvPr>
          <p:cNvSpPr>
            <a:spLocks noGrp="1"/>
          </p:cNvSpPr>
          <p:nvPr>
            <p:ph type="title"/>
          </p:nvPr>
        </p:nvSpPr>
        <p:spPr/>
        <p:txBody>
          <a:bodyPr/>
          <a:lstStyle/>
          <a:p>
            <a:r>
              <a:rPr lang="en-US" dirty="0"/>
              <a:t>The Agile Mindsets</a:t>
            </a:r>
          </a:p>
        </p:txBody>
      </p:sp>
      <p:pic>
        <p:nvPicPr>
          <p:cNvPr id="1028" name="Picture 4" descr="Defining the Agile Minds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2259" y="1732208"/>
            <a:ext cx="6028316" cy="45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721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dirty="0">
                <a:solidFill>
                  <a:schemeClr val="tx1">
                    <a:lumMod val="50000"/>
                    <a:lumOff val="50000"/>
                  </a:schemeClr>
                </a:solidFill>
              </a:rPr>
              <a:t>Define agile thinking</a:t>
            </a:r>
          </a:p>
          <a:p>
            <a:pPr lvl="1"/>
            <a:r>
              <a:rPr lang="en-US" dirty="0">
                <a:solidFill>
                  <a:schemeClr val="tx1">
                    <a:lumMod val="50000"/>
                    <a:lumOff val="50000"/>
                  </a:schemeClr>
                </a:solidFill>
              </a:rPr>
              <a:t>Identify the characteristics of agile mindset</a:t>
            </a:r>
          </a:p>
          <a:p>
            <a:pPr lvl="1"/>
            <a:r>
              <a:rPr lang="en-US" dirty="0"/>
              <a:t>Explain what is meant by digital thinking</a:t>
            </a:r>
          </a:p>
          <a:p>
            <a:pPr lvl="1"/>
            <a:r>
              <a:rPr lang="en-US" dirty="0">
                <a:solidFill>
                  <a:schemeClr val="tx1">
                    <a:lumMod val="50000"/>
                    <a:lumOff val="50000"/>
                  </a:schemeClr>
                </a:solidFill>
              </a:rPr>
              <a:t>Understand how agile thinking and digital thinking are used in the digital era</a:t>
            </a:r>
          </a:p>
        </p:txBody>
      </p:sp>
    </p:spTree>
    <p:extLst>
      <p:ext uri="{BB962C8B-B14F-4D97-AF65-F5344CB8AC3E}">
        <p14:creationId xmlns:p14="http://schemas.microsoft.com/office/powerpoint/2010/main" val="1941935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8B57-988F-463E-8A6E-DF5EED26F692}"/>
              </a:ext>
            </a:extLst>
          </p:cNvPr>
          <p:cNvSpPr>
            <a:spLocks noGrp="1"/>
          </p:cNvSpPr>
          <p:nvPr>
            <p:ph type="title"/>
          </p:nvPr>
        </p:nvSpPr>
        <p:spPr/>
        <p:txBody>
          <a:bodyPr/>
          <a:lstStyle/>
          <a:p>
            <a:r>
              <a:rPr lang="en-US" dirty="0"/>
              <a:t>Digital Thinking</a:t>
            </a:r>
          </a:p>
        </p:txBody>
      </p:sp>
      <p:graphicFrame>
        <p:nvGraphicFramePr>
          <p:cNvPr id="5" name="Content Placeholder 2">
            <a:extLst>
              <a:ext uri="{FF2B5EF4-FFF2-40B4-BE49-F238E27FC236}">
                <a16:creationId xmlns:a16="http://schemas.microsoft.com/office/drawing/2014/main" id="{12C73BF4-2E48-453D-922D-E0C58B711BFF}"/>
              </a:ext>
            </a:extLst>
          </p:cNvPr>
          <p:cNvGraphicFramePr>
            <a:graphicFrameLocks noGrp="1"/>
          </p:cNvGraphicFramePr>
          <p:nvPr>
            <p:ph idx="1"/>
            <p:extLst>
              <p:ext uri="{D42A27DB-BD31-4B8C-83A1-F6EECF244321}">
                <p14:modId xmlns:p14="http://schemas.microsoft.com/office/powerpoint/2010/main" val="3550407051"/>
              </p:ext>
            </p:extLst>
          </p:nvPr>
        </p:nvGraphicFramePr>
        <p:xfrm>
          <a:off x="649288" y="16970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0768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a:t>
            </a:r>
            <a:r>
              <a:rPr lang="en-US"/>
              <a:t>Design Thinking </a:t>
            </a:r>
          </a:p>
        </p:txBody>
      </p:sp>
      <p:pic>
        <p:nvPicPr>
          <p:cNvPr id="2050" name="Picture 2" descr="Traditional Design Thinking vs. Digital Design Thinking | by Helge Tennø |  Everything New Is Dangerous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12611" y="1697038"/>
            <a:ext cx="8046154" cy="45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663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dirty="0">
                <a:solidFill>
                  <a:schemeClr val="tx1">
                    <a:lumMod val="50000"/>
                    <a:lumOff val="50000"/>
                  </a:schemeClr>
                </a:solidFill>
              </a:rPr>
              <a:t>Define agile thinking</a:t>
            </a:r>
          </a:p>
          <a:p>
            <a:pPr lvl="1"/>
            <a:r>
              <a:rPr lang="en-US" dirty="0">
                <a:solidFill>
                  <a:schemeClr val="tx1">
                    <a:lumMod val="50000"/>
                    <a:lumOff val="50000"/>
                  </a:schemeClr>
                </a:solidFill>
              </a:rPr>
              <a:t>Identify the characteristics of agile mindset</a:t>
            </a:r>
          </a:p>
          <a:p>
            <a:pPr lvl="1"/>
            <a:r>
              <a:rPr lang="en-US" dirty="0">
                <a:solidFill>
                  <a:schemeClr val="tx1">
                    <a:lumMod val="50000"/>
                    <a:lumOff val="50000"/>
                  </a:schemeClr>
                </a:solidFill>
              </a:rPr>
              <a:t>Explain what is meant by digital thinking</a:t>
            </a:r>
          </a:p>
          <a:p>
            <a:pPr lvl="1"/>
            <a:r>
              <a:rPr lang="en-US" dirty="0"/>
              <a:t>Understand how agile thinking and digital thinking are used in the digital era</a:t>
            </a:r>
          </a:p>
        </p:txBody>
      </p:sp>
    </p:spTree>
    <p:extLst>
      <p:ext uri="{BB962C8B-B14F-4D97-AF65-F5344CB8AC3E}">
        <p14:creationId xmlns:p14="http://schemas.microsoft.com/office/powerpoint/2010/main" val="1747869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402B-C5AB-4456-BE96-C4426EB3B5C8}"/>
              </a:ext>
            </a:extLst>
          </p:cNvPr>
          <p:cNvSpPr>
            <a:spLocks noGrp="1"/>
          </p:cNvSpPr>
          <p:nvPr>
            <p:ph type="title"/>
          </p:nvPr>
        </p:nvSpPr>
        <p:spPr/>
        <p:txBody>
          <a:bodyPr/>
          <a:lstStyle/>
          <a:p>
            <a:r>
              <a:rPr lang="en-US" dirty="0"/>
              <a:t>Airbnb Case Study</a:t>
            </a:r>
          </a:p>
        </p:txBody>
      </p:sp>
      <p:sp>
        <p:nvSpPr>
          <p:cNvPr id="3" name="Content Placeholder 2">
            <a:extLst>
              <a:ext uri="{FF2B5EF4-FFF2-40B4-BE49-F238E27FC236}">
                <a16:creationId xmlns:a16="http://schemas.microsoft.com/office/drawing/2014/main" id="{036465DA-5081-4245-AAC4-3A8B514781F6}"/>
              </a:ext>
            </a:extLst>
          </p:cNvPr>
          <p:cNvSpPr>
            <a:spLocks noGrp="1"/>
          </p:cNvSpPr>
          <p:nvPr>
            <p:ph idx="1"/>
          </p:nvPr>
        </p:nvSpPr>
        <p:spPr/>
        <p:txBody>
          <a:bodyPr/>
          <a:lstStyle/>
          <a:p>
            <a:pPr lvl="1"/>
            <a:r>
              <a:rPr lang="en-US" dirty="0"/>
              <a:t>Watch this video: </a:t>
            </a:r>
            <a:r>
              <a:rPr lang="en-US" dirty="0">
                <a:hlinkClick r:id="rId2"/>
              </a:rPr>
              <a:t>https://www.youtube.com/watch?v=1Tc9YScMtN8</a:t>
            </a:r>
            <a:endParaRPr lang="en-US" dirty="0"/>
          </a:p>
          <a:p>
            <a:pPr lvl="1"/>
            <a:endParaRPr lang="en-US" dirty="0"/>
          </a:p>
          <a:p>
            <a:pPr lvl="1"/>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US" dirty="0"/>
              <a:t>Article: </a:t>
            </a:r>
            <a:r>
              <a:rPr lang="en-US" dirty="0">
                <a:hlinkClick r:id="rId3"/>
              </a:rPr>
              <a:t>https://www.growthmanifesto.com/airbnb-growth-strategy</a:t>
            </a:r>
            <a:endParaRPr lang="en-US" dirty="0"/>
          </a:p>
          <a:p>
            <a:pPr lvl="1"/>
            <a:endParaRPr lang="en-US" dirty="0"/>
          </a:p>
        </p:txBody>
      </p:sp>
      <p:pic>
        <p:nvPicPr>
          <p:cNvPr id="5" name="Picture 4">
            <a:hlinkClick r:id="rId2"/>
            <a:extLst>
              <a:ext uri="{FF2B5EF4-FFF2-40B4-BE49-F238E27FC236}">
                <a16:creationId xmlns:a16="http://schemas.microsoft.com/office/drawing/2014/main" id="{74B91B0D-08B4-4124-914F-5128893F5D35}"/>
              </a:ext>
            </a:extLst>
          </p:cNvPr>
          <p:cNvPicPr>
            <a:picLocks noChangeAspect="1"/>
          </p:cNvPicPr>
          <p:nvPr/>
        </p:nvPicPr>
        <p:blipFill>
          <a:blip r:embed="rId4"/>
          <a:stretch>
            <a:fillRect/>
          </a:stretch>
        </p:blipFill>
        <p:spPr>
          <a:xfrm>
            <a:off x="4791932" y="3112601"/>
            <a:ext cx="2688569" cy="1694835"/>
          </a:xfrm>
          <a:prstGeom prst="rect">
            <a:avLst/>
          </a:prstGeom>
        </p:spPr>
      </p:pic>
    </p:spTree>
    <p:extLst>
      <p:ext uri="{BB962C8B-B14F-4D97-AF65-F5344CB8AC3E}">
        <p14:creationId xmlns:p14="http://schemas.microsoft.com/office/powerpoint/2010/main" val="1271825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78E8-AB86-4CF7-91B0-669C8660608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61F26F8-C367-4F47-A01C-7958AC3A871B}"/>
              </a:ext>
            </a:extLst>
          </p:cNvPr>
          <p:cNvPicPr>
            <a:picLocks noGrp="1" noChangeAspect="1"/>
          </p:cNvPicPr>
          <p:nvPr>
            <p:ph idx="1"/>
          </p:nvPr>
        </p:nvPicPr>
        <p:blipFill>
          <a:blip r:embed="rId2"/>
          <a:stretch>
            <a:fillRect/>
          </a:stretch>
        </p:blipFill>
        <p:spPr>
          <a:xfrm>
            <a:off x="1076633" y="18171"/>
            <a:ext cx="8778388" cy="6839828"/>
          </a:xfrm>
          <a:prstGeom prst="rect">
            <a:avLst/>
          </a:prstGeom>
        </p:spPr>
      </p:pic>
    </p:spTree>
    <p:extLst>
      <p:ext uri="{BB962C8B-B14F-4D97-AF65-F5344CB8AC3E}">
        <p14:creationId xmlns:p14="http://schemas.microsoft.com/office/powerpoint/2010/main" val="126517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A83C-0E85-4C1A-A400-D8815930452C}"/>
              </a:ext>
            </a:extLst>
          </p:cNvPr>
          <p:cNvSpPr>
            <a:spLocks noGrp="1"/>
          </p:cNvSpPr>
          <p:nvPr>
            <p:ph type="title"/>
          </p:nvPr>
        </p:nvSpPr>
        <p:spPr/>
        <p:txBody>
          <a:bodyPr/>
          <a:lstStyle/>
          <a:p>
            <a:r>
              <a:rPr lang="en-US" dirty="0"/>
              <a:t>Airbnb: The Product</a:t>
            </a:r>
          </a:p>
        </p:txBody>
      </p:sp>
      <p:sp>
        <p:nvSpPr>
          <p:cNvPr id="3" name="Content Placeholder 2">
            <a:extLst>
              <a:ext uri="{FF2B5EF4-FFF2-40B4-BE49-F238E27FC236}">
                <a16:creationId xmlns:a16="http://schemas.microsoft.com/office/drawing/2014/main" id="{9D010FFB-0596-4BAB-B831-346D7F5211D6}"/>
              </a:ext>
            </a:extLst>
          </p:cNvPr>
          <p:cNvSpPr>
            <a:spLocks noGrp="1"/>
          </p:cNvSpPr>
          <p:nvPr>
            <p:ph idx="1"/>
          </p:nvPr>
        </p:nvSpPr>
        <p:spPr>
          <a:xfrm>
            <a:off x="649817" y="1697038"/>
            <a:ext cx="5960845" cy="4525962"/>
          </a:xfrm>
        </p:spPr>
        <p:txBody>
          <a:bodyPr/>
          <a:lstStyle/>
          <a:p>
            <a:r>
              <a:rPr lang="en-US" dirty="0"/>
              <a:t>How does Airbnb position itself differently to stand out from other accommodation booking engines?</a:t>
            </a:r>
          </a:p>
          <a:p>
            <a:r>
              <a:rPr lang="en-US" dirty="0"/>
              <a:t>How has Airbnb diversified the product range to ensure they keep growing?</a:t>
            </a:r>
          </a:p>
        </p:txBody>
      </p:sp>
      <p:pic>
        <p:nvPicPr>
          <p:cNvPr id="6" name="Picture 5">
            <a:extLst>
              <a:ext uri="{FF2B5EF4-FFF2-40B4-BE49-F238E27FC236}">
                <a16:creationId xmlns:a16="http://schemas.microsoft.com/office/drawing/2014/main" id="{EB439DDC-C2E2-42F9-9DDA-A857C2A657FA}"/>
              </a:ext>
            </a:extLst>
          </p:cNvPr>
          <p:cNvPicPr>
            <a:picLocks noChangeAspect="1"/>
          </p:cNvPicPr>
          <p:nvPr/>
        </p:nvPicPr>
        <p:blipFill>
          <a:blip r:embed="rId2"/>
          <a:stretch>
            <a:fillRect/>
          </a:stretch>
        </p:blipFill>
        <p:spPr>
          <a:xfrm>
            <a:off x="6610662" y="1963712"/>
            <a:ext cx="5115600" cy="3197250"/>
          </a:xfrm>
          <a:prstGeom prst="rect">
            <a:avLst/>
          </a:prstGeom>
        </p:spPr>
      </p:pic>
    </p:spTree>
    <p:extLst>
      <p:ext uri="{BB962C8B-B14F-4D97-AF65-F5344CB8AC3E}">
        <p14:creationId xmlns:p14="http://schemas.microsoft.com/office/powerpoint/2010/main" val="1827597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115E-B39C-42EA-9A38-5916D442B9C3}"/>
              </a:ext>
            </a:extLst>
          </p:cNvPr>
          <p:cNvSpPr>
            <a:spLocks noGrp="1"/>
          </p:cNvSpPr>
          <p:nvPr>
            <p:ph type="title"/>
          </p:nvPr>
        </p:nvSpPr>
        <p:spPr/>
        <p:txBody>
          <a:bodyPr/>
          <a:lstStyle/>
          <a:p>
            <a:r>
              <a:rPr lang="en-US" dirty="0"/>
              <a:t>Airbnb: The Website/App</a:t>
            </a:r>
          </a:p>
        </p:txBody>
      </p:sp>
      <p:sp>
        <p:nvSpPr>
          <p:cNvPr id="3" name="Content Placeholder 2">
            <a:extLst>
              <a:ext uri="{FF2B5EF4-FFF2-40B4-BE49-F238E27FC236}">
                <a16:creationId xmlns:a16="http://schemas.microsoft.com/office/drawing/2014/main" id="{F40BA961-FF75-449F-AD55-A18655AFA0FA}"/>
              </a:ext>
            </a:extLst>
          </p:cNvPr>
          <p:cNvSpPr>
            <a:spLocks noGrp="1"/>
          </p:cNvSpPr>
          <p:nvPr>
            <p:ph idx="1"/>
          </p:nvPr>
        </p:nvSpPr>
        <p:spPr>
          <a:xfrm>
            <a:off x="649817" y="1697038"/>
            <a:ext cx="5900885" cy="4525962"/>
          </a:xfrm>
        </p:spPr>
        <p:txBody>
          <a:bodyPr/>
          <a:lstStyle/>
          <a:p>
            <a:r>
              <a:rPr lang="en-US" dirty="0"/>
              <a:t>How does Airbnb use personalization to produce more relevant pages for users?</a:t>
            </a:r>
          </a:p>
          <a:p>
            <a:r>
              <a:rPr lang="en-US" dirty="0"/>
              <a:t>How does it gear the product pages towards making a sale?</a:t>
            </a:r>
          </a:p>
        </p:txBody>
      </p:sp>
      <p:pic>
        <p:nvPicPr>
          <p:cNvPr id="5" name="Picture 4">
            <a:extLst>
              <a:ext uri="{FF2B5EF4-FFF2-40B4-BE49-F238E27FC236}">
                <a16:creationId xmlns:a16="http://schemas.microsoft.com/office/drawing/2014/main" id="{750C9FC6-735D-4DA9-BA3F-7AED309D1E0F}"/>
              </a:ext>
            </a:extLst>
          </p:cNvPr>
          <p:cNvPicPr>
            <a:picLocks noChangeAspect="1"/>
          </p:cNvPicPr>
          <p:nvPr/>
        </p:nvPicPr>
        <p:blipFill>
          <a:blip r:embed="rId2"/>
          <a:stretch>
            <a:fillRect/>
          </a:stretch>
        </p:blipFill>
        <p:spPr>
          <a:xfrm>
            <a:off x="6304580" y="1580156"/>
            <a:ext cx="5676900" cy="3943350"/>
          </a:xfrm>
          <a:prstGeom prst="rect">
            <a:avLst/>
          </a:prstGeom>
        </p:spPr>
      </p:pic>
    </p:spTree>
    <p:extLst>
      <p:ext uri="{BB962C8B-B14F-4D97-AF65-F5344CB8AC3E}">
        <p14:creationId xmlns:p14="http://schemas.microsoft.com/office/powerpoint/2010/main" val="3189106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488E5-BCA0-418E-89B9-42589F900DD6}"/>
              </a:ext>
            </a:extLst>
          </p:cNvPr>
          <p:cNvSpPr>
            <a:spLocks noGrp="1"/>
          </p:cNvSpPr>
          <p:nvPr>
            <p:ph type="title"/>
          </p:nvPr>
        </p:nvSpPr>
        <p:spPr/>
        <p:txBody>
          <a:bodyPr/>
          <a:lstStyle/>
          <a:p>
            <a:r>
              <a:rPr lang="en-US" dirty="0"/>
              <a:t>Airbnb: Marketing and Social Media</a:t>
            </a:r>
          </a:p>
        </p:txBody>
      </p:sp>
      <p:sp>
        <p:nvSpPr>
          <p:cNvPr id="3" name="Content Placeholder 2">
            <a:extLst>
              <a:ext uri="{FF2B5EF4-FFF2-40B4-BE49-F238E27FC236}">
                <a16:creationId xmlns:a16="http://schemas.microsoft.com/office/drawing/2014/main" id="{A0CA029A-5E83-4F5E-9E5A-63907D7E050D}"/>
              </a:ext>
            </a:extLst>
          </p:cNvPr>
          <p:cNvSpPr>
            <a:spLocks noGrp="1"/>
          </p:cNvSpPr>
          <p:nvPr>
            <p:ph idx="1"/>
          </p:nvPr>
        </p:nvSpPr>
        <p:spPr>
          <a:xfrm>
            <a:off x="649817" y="1697038"/>
            <a:ext cx="7819626" cy="4525962"/>
          </a:xfrm>
        </p:spPr>
        <p:txBody>
          <a:bodyPr/>
          <a:lstStyle/>
          <a:p>
            <a:r>
              <a:rPr lang="en-US" dirty="0"/>
              <a:t>How does Airbnb use articles and videos to keep the guests and hosts engaged with the platform?</a:t>
            </a:r>
          </a:p>
          <a:p>
            <a:r>
              <a:rPr lang="en-US" dirty="0"/>
              <a:t>How does Airbnb use Facebook, Instagram, and Twitter to build and convert an audience of guests and hosts?</a:t>
            </a:r>
          </a:p>
          <a:p>
            <a:endParaRPr lang="en-US" dirty="0"/>
          </a:p>
        </p:txBody>
      </p:sp>
      <p:pic>
        <p:nvPicPr>
          <p:cNvPr id="5" name="Picture 4">
            <a:extLst>
              <a:ext uri="{FF2B5EF4-FFF2-40B4-BE49-F238E27FC236}">
                <a16:creationId xmlns:a16="http://schemas.microsoft.com/office/drawing/2014/main" id="{2DDF6D11-C183-4315-93BA-959C1A07AF09}"/>
              </a:ext>
            </a:extLst>
          </p:cNvPr>
          <p:cNvPicPr>
            <a:picLocks noChangeAspect="1"/>
          </p:cNvPicPr>
          <p:nvPr/>
        </p:nvPicPr>
        <p:blipFill>
          <a:blip r:embed="rId2"/>
          <a:stretch>
            <a:fillRect/>
          </a:stretch>
        </p:blipFill>
        <p:spPr>
          <a:xfrm>
            <a:off x="8469443" y="1697037"/>
            <a:ext cx="3106873" cy="4668799"/>
          </a:xfrm>
          <a:prstGeom prst="rect">
            <a:avLst/>
          </a:prstGeom>
        </p:spPr>
      </p:pic>
    </p:spTree>
    <p:extLst>
      <p:ext uri="{BB962C8B-B14F-4D97-AF65-F5344CB8AC3E}">
        <p14:creationId xmlns:p14="http://schemas.microsoft.com/office/powerpoint/2010/main" val="2184969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61AB-6BE3-4871-B3E3-7DBF2B2C8331}"/>
              </a:ext>
            </a:extLst>
          </p:cNvPr>
          <p:cNvSpPr>
            <a:spLocks noGrp="1"/>
          </p:cNvSpPr>
          <p:nvPr>
            <p:ph type="title"/>
          </p:nvPr>
        </p:nvSpPr>
        <p:spPr/>
        <p:txBody>
          <a:bodyPr/>
          <a:lstStyle/>
          <a:p>
            <a:r>
              <a:rPr lang="en-US" dirty="0"/>
              <a:t>Airbnb: Community</a:t>
            </a:r>
          </a:p>
        </p:txBody>
      </p:sp>
      <p:sp>
        <p:nvSpPr>
          <p:cNvPr id="3" name="Content Placeholder 2">
            <a:extLst>
              <a:ext uri="{FF2B5EF4-FFF2-40B4-BE49-F238E27FC236}">
                <a16:creationId xmlns:a16="http://schemas.microsoft.com/office/drawing/2014/main" id="{8529FF2F-81C6-4DFF-AE8B-141A1AF1ADEC}"/>
              </a:ext>
            </a:extLst>
          </p:cNvPr>
          <p:cNvSpPr>
            <a:spLocks noGrp="1"/>
          </p:cNvSpPr>
          <p:nvPr>
            <p:ph idx="1"/>
          </p:nvPr>
        </p:nvSpPr>
        <p:spPr/>
        <p:txBody>
          <a:bodyPr/>
          <a:lstStyle/>
          <a:p>
            <a:r>
              <a:rPr lang="en-US" dirty="0"/>
              <a:t>How does Airbnb maintain and grow its online community?</a:t>
            </a:r>
          </a:p>
          <a:p>
            <a:r>
              <a:rPr lang="en-US" dirty="0"/>
              <a:t>What part does community play in their business growth?</a:t>
            </a:r>
          </a:p>
        </p:txBody>
      </p:sp>
      <p:pic>
        <p:nvPicPr>
          <p:cNvPr id="5" name="Picture 4">
            <a:extLst>
              <a:ext uri="{FF2B5EF4-FFF2-40B4-BE49-F238E27FC236}">
                <a16:creationId xmlns:a16="http://schemas.microsoft.com/office/drawing/2014/main" id="{BDD6B4F4-39D9-4792-8F9D-1ACB7864D13A}"/>
              </a:ext>
            </a:extLst>
          </p:cNvPr>
          <p:cNvPicPr>
            <a:picLocks noChangeAspect="1"/>
          </p:cNvPicPr>
          <p:nvPr/>
        </p:nvPicPr>
        <p:blipFill>
          <a:blip r:embed="rId2"/>
          <a:stretch>
            <a:fillRect/>
          </a:stretch>
        </p:blipFill>
        <p:spPr>
          <a:xfrm>
            <a:off x="2064036" y="3352834"/>
            <a:ext cx="7466377" cy="3199876"/>
          </a:xfrm>
          <a:prstGeom prst="rect">
            <a:avLst/>
          </a:prstGeom>
        </p:spPr>
      </p:pic>
    </p:spTree>
    <p:extLst>
      <p:ext uri="{BB962C8B-B14F-4D97-AF65-F5344CB8AC3E}">
        <p14:creationId xmlns:p14="http://schemas.microsoft.com/office/powerpoint/2010/main" val="3289471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EE66-F208-41B6-AD1D-C047E6D3C932}"/>
              </a:ext>
            </a:extLst>
          </p:cNvPr>
          <p:cNvSpPr>
            <a:spLocks noGrp="1"/>
          </p:cNvSpPr>
          <p:nvPr>
            <p:ph type="title"/>
          </p:nvPr>
        </p:nvSpPr>
        <p:spPr/>
        <p:txBody>
          <a:bodyPr/>
          <a:lstStyle/>
          <a:p>
            <a:r>
              <a:rPr lang="en-US" dirty="0"/>
              <a:t>Case Study</a:t>
            </a:r>
          </a:p>
        </p:txBody>
      </p:sp>
      <p:sp>
        <p:nvSpPr>
          <p:cNvPr id="3" name="Content Placeholder 2">
            <a:extLst>
              <a:ext uri="{FF2B5EF4-FFF2-40B4-BE49-F238E27FC236}">
                <a16:creationId xmlns:a16="http://schemas.microsoft.com/office/drawing/2014/main" id="{25E82D3A-80BE-4D29-9EEB-A1776B9B9C12}"/>
              </a:ext>
            </a:extLst>
          </p:cNvPr>
          <p:cNvSpPr>
            <a:spLocks noGrp="1"/>
          </p:cNvSpPr>
          <p:nvPr>
            <p:ph idx="1"/>
          </p:nvPr>
        </p:nvSpPr>
        <p:spPr/>
        <p:txBody>
          <a:bodyPr/>
          <a:lstStyle/>
          <a:p>
            <a:r>
              <a:rPr lang="en-US" dirty="0"/>
              <a:t>Other examples include:</a:t>
            </a:r>
          </a:p>
          <a:p>
            <a:pPr lvl="1"/>
            <a:r>
              <a:rPr lang="en-US" dirty="0"/>
              <a:t>Uber</a:t>
            </a:r>
          </a:p>
          <a:p>
            <a:pPr lvl="1"/>
            <a:r>
              <a:rPr lang="en-US" dirty="0"/>
              <a:t>Food Panda</a:t>
            </a:r>
          </a:p>
          <a:p>
            <a:pPr lvl="1"/>
            <a:r>
              <a:rPr lang="en-US" dirty="0"/>
              <a:t>Amazon Go</a:t>
            </a:r>
          </a:p>
        </p:txBody>
      </p:sp>
      <p:pic>
        <p:nvPicPr>
          <p:cNvPr id="5" name="Picture 4">
            <a:extLst>
              <a:ext uri="{FF2B5EF4-FFF2-40B4-BE49-F238E27FC236}">
                <a16:creationId xmlns:a16="http://schemas.microsoft.com/office/drawing/2014/main" id="{ED34827D-273A-4CCD-9326-365DC0D18943}"/>
              </a:ext>
            </a:extLst>
          </p:cNvPr>
          <p:cNvPicPr>
            <a:picLocks noChangeAspect="1"/>
          </p:cNvPicPr>
          <p:nvPr/>
        </p:nvPicPr>
        <p:blipFill>
          <a:blip r:embed="rId2"/>
          <a:stretch>
            <a:fillRect/>
          </a:stretch>
        </p:blipFill>
        <p:spPr>
          <a:xfrm>
            <a:off x="1173682" y="4101449"/>
            <a:ext cx="2619375" cy="1743075"/>
          </a:xfrm>
          <a:prstGeom prst="rect">
            <a:avLst/>
          </a:prstGeom>
        </p:spPr>
      </p:pic>
      <p:pic>
        <p:nvPicPr>
          <p:cNvPr id="7" name="Picture 6">
            <a:extLst>
              <a:ext uri="{FF2B5EF4-FFF2-40B4-BE49-F238E27FC236}">
                <a16:creationId xmlns:a16="http://schemas.microsoft.com/office/drawing/2014/main" id="{AA17F994-9709-46E8-B38D-420649363C87}"/>
              </a:ext>
            </a:extLst>
          </p:cNvPr>
          <p:cNvPicPr>
            <a:picLocks noChangeAspect="1"/>
          </p:cNvPicPr>
          <p:nvPr/>
        </p:nvPicPr>
        <p:blipFill>
          <a:blip r:embed="rId3"/>
          <a:stretch>
            <a:fillRect/>
          </a:stretch>
        </p:blipFill>
        <p:spPr>
          <a:xfrm>
            <a:off x="8398943" y="4244324"/>
            <a:ext cx="2857500" cy="1600200"/>
          </a:xfrm>
          <a:prstGeom prst="rect">
            <a:avLst/>
          </a:prstGeom>
        </p:spPr>
      </p:pic>
      <p:pic>
        <p:nvPicPr>
          <p:cNvPr id="8" name="Picture 7">
            <a:extLst>
              <a:ext uri="{FF2B5EF4-FFF2-40B4-BE49-F238E27FC236}">
                <a16:creationId xmlns:a16="http://schemas.microsoft.com/office/drawing/2014/main" id="{2E8DB575-3F40-4DB5-9ABB-B9A74602A999}"/>
              </a:ext>
            </a:extLst>
          </p:cNvPr>
          <p:cNvPicPr>
            <a:picLocks noChangeAspect="1"/>
          </p:cNvPicPr>
          <p:nvPr/>
        </p:nvPicPr>
        <p:blipFill>
          <a:blip r:embed="rId4"/>
          <a:stretch>
            <a:fillRect/>
          </a:stretch>
        </p:blipFill>
        <p:spPr>
          <a:xfrm>
            <a:off x="4826529" y="4157662"/>
            <a:ext cx="2619375" cy="1743075"/>
          </a:xfrm>
          <a:prstGeom prst="rect">
            <a:avLst/>
          </a:prstGeom>
        </p:spPr>
      </p:pic>
    </p:spTree>
    <p:extLst>
      <p:ext uri="{BB962C8B-B14F-4D97-AF65-F5344CB8AC3E}">
        <p14:creationId xmlns:p14="http://schemas.microsoft.com/office/powerpoint/2010/main" val="254138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https://www.youtube.com/watch?v=NrmMk1Myrxc&amp;feature=youtu.be</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2122436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dirty="0"/>
              <a:t>Agile Thinking and Mindset</a:t>
            </a:r>
          </a:p>
          <a:p>
            <a:r>
              <a:rPr lang="en-US" dirty="0"/>
              <a:t>Digital Thinking</a:t>
            </a:r>
          </a:p>
          <a:p>
            <a:r>
              <a:rPr lang="en-US" dirty="0"/>
              <a:t>Technologies</a:t>
            </a:r>
          </a:p>
        </p:txBody>
      </p:sp>
    </p:spTree>
    <p:extLst>
      <p:ext uri="{BB962C8B-B14F-4D97-AF65-F5344CB8AC3E}">
        <p14:creationId xmlns:p14="http://schemas.microsoft.com/office/powerpoint/2010/main" val="446814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br>
              <a:rPr lang="en-US" dirty="0"/>
            </a:br>
            <a:endParaRPr lang="en-US" dirty="0"/>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dirty="0"/>
              <a:t>Digital Culture and Society</a:t>
            </a:r>
          </a:p>
        </p:txBody>
      </p:sp>
      <p:pic>
        <p:nvPicPr>
          <p:cNvPr id="6" name="Picture 5">
            <a:extLst>
              <a:ext uri="{FF2B5EF4-FFF2-40B4-BE49-F238E27FC236}">
                <a16:creationId xmlns:a16="http://schemas.microsoft.com/office/drawing/2014/main" id="{75F972F9-43CB-495D-B828-483AD07E73D1}"/>
              </a:ext>
            </a:extLst>
          </p:cNvPr>
          <p:cNvPicPr>
            <a:picLocks noChangeAspect="1"/>
          </p:cNvPicPr>
          <p:nvPr/>
        </p:nvPicPr>
        <p:blipFill>
          <a:blip r:embed="rId2"/>
          <a:stretch>
            <a:fillRect/>
          </a:stretch>
        </p:blipFill>
        <p:spPr>
          <a:xfrm>
            <a:off x="5155962" y="2381872"/>
            <a:ext cx="6813969" cy="3582829"/>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0BB8C3-EB20-4948-B43E-013DF87D4EE1}">
  <ds:schemaRefs>
    <ds:schemaRef ds:uri="http://purl.org/dc/dcmitype/"/>
    <ds:schemaRef ds:uri="http://purl.org/dc/terms/"/>
    <ds:schemaRef ds:uri="http://purl.org/dc/elements/1.1/"/>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95290CB-5592-4037-AFF3-889F45D766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3F000A-D5FA-4A14-84CF-CC5DA98ED8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1564</TotalTime>
  <Words>681</Words>
  <Application>Microsoft Office PowerPoint</Application>
  <PresentationFormat>Widescreen</PresentationFormat>
  <Paragraphs>97</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UCTI-Template-foundation-level</vt:lpstr>
      <vt:lpstr>Digital Thinking and Innovation</vt:lpstr>
      <vt:lpstr>Introduction</vt:lpstr>
      <vt:lpstr>Learning Outcomes for the Lecture</vt:lpstr>
      <vt:lpstr>Content</vt:lpstr>
      <vt:lpstr>Mind Map</vt:lpstr>
      <vt:lpstr>Learning Outcomes for the Lecture</vt:lpstr>
      <vt:lpstr>Design Thinking and Agile in Practice</vt:lpstr>
      <vt:lpstr>Agile Thinking</vt:lpstr>
      <vt:lpstr>PowerPoint Presentation</vt:lpstr>
      <vt:lpstr>Learning Outcomes for the Lecture</vt:lpstr>
      <vt:lpstr>Agile Mindset</vt:lpstr>
      <vt:lpstr>The Agile Mindsets</vt:lpstr>
      <vt:lpstr>Learning Outcomes for the Lecture</vt:lpstr>
      <vt:lpstr>Digital Thinking</vt:lpstr>
      <vt:lpstr>Digital Design Thinking </vt:lpstr>
      <vt:lpstr>Learning Outcomes for the Lecture</vt:lpstr>
      <vt:lpstr>Airbnb Case Study</vt:lpstr>
      <vt:lpstr>PowerPoint Presentation</vt:lpstr>
      <vt:lpstr>Airbnb: The Product</vt:lpstr>
      <vt:lpstr>Airbnb: The Website/App</vt:lpstr>
      <vt:lpstr>Airbnb: Marketing and Social Media</vt:lpstr>
      <vt:lpstr>Airbnb: Community</vt:lpstr>
      <vt:lpstr>Case Study</vt:lpstr>
      <vt:lpstr>Group Discussion</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Rozita Yati Masri</cp:lastModifiedBy>
  <cp:revision>19</cp:revision>
  <dcterms:created xsi:type="dcterms:W3CDTF">2020-03-08T14:38:30Z</dcterms:created>
  <dcterms:modified xsi:type="dcterms:W3CDTF">2021-09-18T17:22:01Z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