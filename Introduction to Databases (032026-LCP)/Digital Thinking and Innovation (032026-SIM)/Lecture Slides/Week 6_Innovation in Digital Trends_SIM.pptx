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2"/>
  </p:notesMasterIdLst>
  <p:sldIdLst>
    <p:sldId id="256" r:id="rId5"/>
    <p:sldId id="268" r:id="rId6"/>
    <p:sldId id="269" r:id="rId7"/>
    <p:sldId id="317" r:id="rId8"/>
    <p:sldId id="271" r:id="rId9"/>
    <p:sldId id="320" r:id="rId10"/>
    <p:sldId id="290" r:id="rId11"/>
    <p:sldId id="333" r:id="rId12"/>
    <p:sldId id="291" r:id="rId13"/>
    <p:sldId id="292" r:id="rId14"/>
    <p:sldId id="293" r:id="rId15"/>
    <p:sldId id="319" r:id="rId16"/>
    <p:sldId id="294" r:id="rId17"/>
    <p:sldId id="323" r:id="rId18"/>
    <p:sldId id="318" r:id="rId19"/>
    <p:sldId id="288" r:id="rId20"/>
    <p:sldId id="289" r:id="rId21"/>
    <p:sldId id="266" r:id="rId22"/>
    <p:sldId id="324" r:id="rId23"/>
    <p:sldId id="296" r:id="rId24"/>
    <p:sldId id="305" r:id="rId25"/>
    <p:sldId id="308" r:id="rId26"/>
    <p:sldId id="325" r:id="rId27"/>
    <p:sldId id="309" r:id="rId28"/>
    <p:sldId id="334" r:id="rId29"/>
    <p:sldId id="326" r:id="rId30"/>
    <p:sldId id="335" r:id="rId31"/>
    <p:sldId id="300" r:id="rId32"/>
    <p:sldId id="297" r:id="rId33"/>
    <p:sldId id="298" r:id="rId34"/>
    <p:sldId id="327" r:id="rId35"/>
    <p:sldId id="299" r:id="rId36"/>
    <p:sldId id="310" r:id="rId37"/>
    <p:sldId id="328" r:id="rId38"/>
    <p:sldId id="311" r:id="rId39"/>
    <p:sldId id="336" r:id="rId40"/>
    <p:sldId id="314" r:id="rId41"/>
    <p:sldId id="332" r:id="rId42"/>
    <p:sldId id="329" r:id="rId43"/>
    <p:sldId id="312" r:id="rId44"/>
    <p:sldId id="330" r:id="rId45"/>
    <p:sldId id="313" r:id="rId46"/>
    <p:sldId id="316" r:id="rId47"/>
    <p:sldId id="322" r:id="rId48"/>
    <p:sldId id="267" r:id="rId49"/>
    <p:sldId id="272" r:id="rId50"/>
    <p:sldId id="273"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FBD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2AA58F-A8B8-448A-B2FE-F9BB7DE3005E}" v="5" dt="2020-10-11T08:59:09.8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720" autoAdjust="0"/>
    <p:restoredTop sz="94660"/>
  </p:normalViewPr>
  <p:slideViewPr>
    <p:cSldViewPr snapToGrid="0">
      <p:cViewPr>
        <p:scale>
          <a:sx n="60" d="100"/>
          <a:sy n="60" d="100"/>
        </p:scale>
        <p:origin x="752" y="268"/>
      </p:cViewPr>
      <p:guideLst/>
    </p:cSldViewPr>
  </p:slideViewPr>
  <p:notesTextViewPr>
    <p:cViewPr>
      <p:scale>
        <a:sx n="1" d="1"/>
        <a:sy n="1" d="1"/>
      </p:scale>
      <p:origin x="0" y="0"/>
    </p:cViewPr>
  </p:notesTextViewPr>
  <p:sorterViewPr>
    <p:cViewPr>
      <p:scale>
        <a:sx n="100" d="100"/>
        <a:sy n="100" d="100"/>
      </p:scale>
      <p:origin x="0" y="-1436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49AAFD-DF19-43B9-B49F-872348D41E0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B83E7F0-A983-431A-BA94-AC5DB1F05871}">
      <dgm:prSet/>
      <dgm:spPr/>
      <dgm:t>
        <a:bodyPr/>
        <a:lstStyle/>
        <a:p>
          <a:r>
            <a:rPr lang="en-US" b="0" dirty="0"/>
            <a:t>Big data, cloud computing, mobile internet - focuses on changes in infrastructure</a:t>
          </a:r>
        </a:p>
      </dgm:t>
    </dgm:pt>
    <dgm:pt modelId="{F10C3F76-51C4-48C9-BBD2-E74BB7F02BE3}" type="parTrans" cxnId="{DCD56E8D-AFFF-4F18-B4A2-5E351033BEC4}">
      <dgm:prSet/>
      <dgm:spPr/>
      <dgm:t>
        <a:bodyPr/>
        <a:lstStyle/>
        <a:p>
          <a:endParaRPr lang="en-US"/>
        </a:p>
      </dgm:t>
    </dgm:pt>
    <dgm:pt modelId="{6A9DD716-4DF5-4A3E-812E-CAB31435B248}" type="sibTrans" cxnId="{DCD56E8D-AFFF-4F18-B4A2-5E351033BEC4}">
      <dgm:prSet/>
      <dgm:spPr/>
      <dgm:t>
        <a:bodyPr/>
        <a:lstStyle/>
        <a:p>
          <a:endParaRPr lang="en-US"/>
        </a:p>
      </dgm:t>
    </dgm:pt>
    <dgm:pt modelId="{370A2FCE-5B01-41FD-8633-013A3AB237C9}">
      <dgm:prSet/>
      <dgm:spPr/>
      <dgm:t>
        <a:bodyPr/>
        <a:lstStyle/>
        <a:p>
          <a:r>
            <a:rPr lang="en-US" dirty="0"/>
            <a:t>Software-defined anything - focuses on changes in productivity</a:t>
          </a:r>
        </a:p>
      </dgm:t>
    </dgm:pt>
    <dgm:pt modelId="{21E8DD69-F0CA-41B1-B467-C05D675FCF77}" type="parTrans" cxnId="{8CE07F83-FF3A-4EA6-BF23-3063E5FC7F19}">
      <dgm:prSet/>
      <dgm:spPr/>
      <dgm:t>
        <a:bodyPr/>
        <a:lstStyle/>
        <a:p>
          <a:endParaRPr lang="en-US"/>
        </a:p>
      </dgm:t>
    </dgm:pt>
    <dgm:pt modelId="{E126CF6A-135C-416E-9F12-7F8DBEB01AAB}" type="sibTrans" cxnId="{8CE07F83-FF3A-4EA6-BF23-3063E5FC7F19}">
      <dgm:prSet/>
      <dgm:spPr/>
      <dgm:t>
        <a:bodyPr/>
        <a:lstStyle/>
        <a:p>
          <a:endParaRPr lang="en-US"/>
        </a:p>
      </dgm:t>
    </dgm:pt>
    <dgm:pt modelId="{3829A012-DFAA-4DD1-ABEC-385CD5F5F6AE}">
      <dgm:prSet/>
      <dgm:spPr/>
      <dgm:t>
        <a:bodyPr/>
        <a:lstStyle/>
        <a:p>
          <a:r>
            <a:rPr lang="en-US" dirty="0"/>
            <a:t>Outsourcing and crowdsourcing - focuses on changes in production organization</a:t>
          </a:r>
        </a:p>
      </dgm:t>
    </dgm:pt>
    <dgm:pt modelId="{1B99EFC1-36CB-4ECF-95BF-51F2810776B3}" type="parTrans" cxnId="{256AC09C-4F78-413A-94DD-BC7DACA6FB0F}">
      <dgm:prSet/>
      <dgm:spPr/>
      <dgm:t>
        <a:bodyPr/>
        <a:lstStyle/>
        <a:p>
          <a:endParaRPr lang="en-US"/>
        </a:p>
      </dgm:t>
    </dgm:pt>
    <dgm:pt modelId="{58F5F247-FEA2-48B5-B241-86DE1B92ED34}" type="sibTrans" cxnId="{256AC09C-4F78-413A-94DD-BC7DACA6FB0F}">
      <dgm:prSet/>
      <dgm:spPr/>
      <dgm:t>
        <a:bodyPr/>
        <a:lstStyle/>
        <a:p>
          <a:endParaRPr lang="en-US"/>
        </a:p>
      </dgm:t>
    </dgm:pt>
    <dgm:pt modelId="{42499CD6-1A4E-472F-87C3-E8EAE6217D74}">
      <dgm:prSet/>
      <dgm:spPr/>
      <dgm:t>
        <a:bodyPr/>
        <a:lstStyle/>
        <a:p>
          <a:r>
            <a:rPr lang="en-US" dirty="0"/>
            <a:t>Prosumer economy - focuses on changes in forces of economic growth</a:t>
          </a:r>
        </a:p>
      </dgm:t>
    </dgm:pt>
    <dgm:pt modelId="{0BFFD001-8985-4E57-90F7-DB90F407D39D}" type="parTrans" cxnId="{7F15195A-DF93-4A8C-A629-3F8D09511D51}">
      <dgm:prSet/>
      <dgm:spPr/>
      <dgm:t>
        <a:bodyPr/>
        <a:lstStyle/>
        <a:p>
          <a:endParaRPr lang="en-US"/>
        </a:p>
      </dgm:t>
    </dgm:pt>
    <dgm:pt modelId="{F631928C-F671-4DE0-B9B5-ED3170884259}" type="sibTrans" cxnId="{7F15195A-DF93-4A8C-A629-3F8D09511D51}">
      <dgm:prSet/>
      <dgm:spPr/>
      <dgm:t>
        <a:bodyPr/>
        <a:lstStyle/>
        <a:p>
          <a:endParaRPr lang="en-US"/>
        </a:p>
      </dgm:t>
    </dgm:pt>
    <dgm:pt modelId="{CF46A56D-FD75-4BDB-B0BB-E8A7A38430FD}" type="pres">
      <dgm:prSet presAssocID="{C049AAFD-DF19-43B9-B49F-872348D41E01}" presName="root" presStyleCnt="0">
        <dgm:presLayoutVars>
          <dgm:dir/>
          <dgm:resizeHandles val="exact"/>
        </dgm:presLayoutVars>
      </dgm:prSet>
      <dgm:spPr/>
    </dgm:pt>
    <dgm:pt modelId="{FF4E9800-CA24-4C4E-BAF7-FB5EBDC55BB7}" type="pres">
      <dgm:prSet presAssocID="{9B83E7F0-A983-431A-BA94-AC5DB1F05871}" presName="compNode" presStyleCnt="0"/>
      <dgm:spPr/>
    </dgm:pt>
    <dgm:pt modelId="{6F11BC8B-CCAF-4F62-A2D4-5C8A830882C1}" type="pres">
      <dgm:prSet presAssocID="{9B83E7F0-A983-431A-BA94-AC5DB1F05871}" presName="bgRect" presStyleLbl="bgShp" presStyleIdx="0" presStyleCnt="4"/>
      <dgm:spPr/>
    </dgm:pt>
    <dgm:pt modelId="{FF27715A-E7EA-4EF0-BE7D-8AC311DC44BD}" type="pres">
      <dgm:prSet presAssocID="{9B83E7F0-A983-431A-BA94-AC5DB1F05871}"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DAE05F15-DDED-4063-A841-7F8BD11942B1}" type="pres">
      <dgm:prSet presAssocID="{9B83E7F0-A983-431A-BA94-AC5DB1F05871}" presName="spaceRect" presStyleCnt="0"/>
      <dgm:spPr/>
    </dgm:pt>
    <dgm:pt modelId="{9F24B41B-CC66-4669-B1E4-E316D5902263}" type="pres">
      <dgm:prSet presAssocID="{9B83E7F0-A983-431A-BA94-AC5DB1F05871}" presName="parTx" presStyleLbl="revTx" presStyleIdx="0" presStyleCnt="4">
        <dgm:presLayoutVars>
          <dgm:chMax val="0"/>
          <dgm:chPref val="0"/>
        </dgm:presLayoutVars>
      </dgm:prSet>
      <dgm:spPr/>
    </dgm:pt>
    <dgm:pt modelId="{38A2653B-A07D-4BEA-86EA-0CE27B4996DD}" type="pres">
      <dgm:prSet presAssocID="{6A9DD716-4DF5-4A3E-812E-CAB31435B248}" presName="sibTrans" presStyleCnt="0"/>
      <dgm:spPr/>
    </dgm:pt>
    <dgm:pt modelId="{59D3E072-4070-4960-8CAF-5FE4ECBEF330}" type="pres">
      <dgm:prSet presAssocID="{370A2FCE-5B01-41FD-8633-013A3AB237C9}" presName="compNode" presStyleCnt="0"/>
      <dgm:spPr/>
    </dgm:pt>
    <dgm:pt modelId="{B87BAF6A-59FD-49FC-80BE-0EE2CED32500}" type="pres">
      <dgm:prSet presAssocID="{370A2FCE-5B01-41FD-8633-013A3AB237C9}" presName="bgRect" presStyleLbl="bgShp" presStyleIdx="1" presStyleCnt="4"/>
      <dgm:spPr/>
    </dgm:pt>
    <dgm:pt modelId="{1608E098-3CF5-48CE-A0C5-3C48865D6EDC}" type="pres">
      <dgm:prSet presAssocID="{370A2FCE-5B01-41FD-8633-013A3AB237C9}" presName="iconRect" presStyleLbl="node1" presStyleIdx="1" presStyleCnt="4"/>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FE233C89-B7B3-4242-B1FD-52FA9F83B820}" type="pres">
      <dgm:prSet presAssocID="{370A2FCE-5B01-41FD-8633-013A3AB237C9}" presName="spaceRect" presStyleCnt="0"/>
      <dgm:spPr/>
    </dgm:pt>
    <dgm:pt modelId="{636DB206-EC82-4F22-8499-FA7932C07A6B}" type="pres">
      <dgm:prSet presAssocID="{370A2FCE-5B01-41FD-8633-013A3AB237C9}" presName="parTx" presStyleLbl="revTx" presStyleIdx="1" presStyleCnt="4">
        <dgm:presLayoutVars>
          <dgm:chMax val="0"/>
          <dgm:chPref val="0"/>
        </dgm:presLayoutVars>
      </dgm:prSet>
      <dgm:spPr/>
    </dgm:pt>
    <dgm:pt modelId="{294E0834-1D76-4160-A296-9A393B4E6DE2}" type="pres">
      <dgm:prSet presAssocID="{E126CF6A-135C-416E-9F12-7F8DBEB01AAB}" presName="sibTrans" presStyleCnt="0"/>
      <dgm:spPr/>
    </dgm:pt>
    <dgm:pt modelId="{C1F71D73-C2AB-4B1C-A7E2-BF3345512F85}" type="pres">
      <dgm:prSet presAssocID="{3829A012-DFAA-4DD1-ABEC-385CD5F5F6AE}" presName="compNode" presStyleCnt="0"/>
      <dgm:spPr/>
    </dgm:pt>
    <dgm:pt modelId="{30E1A627-7C3B-443E-A994-031CF490863F}" type="pres">
      <dgm:prSet presAssocID="{3829A012-DFAA-4DD1-ABEC-385CD5F5F6AE}" presName="bgRect" presStyleLbl="bgShp" presStyleIdx="2" presStyleCnt="4"/>
      <dgm:spPr/>
    </dgm:pt>
    <dgm:pt modelId="{9AE768EB-E8E4-4522-A655-634D3C291E1D}" type="pres">
      <dgm:prSet presAssocID="{3829A012-DFAA-4DD1-ABEC-385CD5F5F6AE}" presName="iconRect" presStyleLbl="node1" presStyleIdx="2" presStyleCnt="4"/>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re With Person"/>
        </a:ext>
      </dgm:extLst>
    </dgm:pt>
    <dgm:pt modelId="{FBFCE878-DB42-4DD5-A330-7B4E892AA403}" type="pres">
      <dgm:prSet presAssocID="{3829A012-DFAA-4DD1-ABEC-385CD5F5F6AE}" presName="spaceRect" presStyleCnt="0"/>
      <dgm:spPr/>
    </dgm:pt>
    <dgm:pt modelId="{B95DCA3B-4AD0-42C9-9F19-9E2CD7B9D016}" type="pres">
      <dgm:prSet presAssocID="{3829A012-DFAA-4DD1-ABEC-385CD5F5F6AE}" presName="parTx" presStyleLbl="revTx" presStyleIdx="2" presStyleCnt="4">
        <dgm:presLayoutVars>
          <dgm:chMax val="0"/>
          <dgm:chPref val="0"/>
        </dgm:presLayoutVars>
      </dgm:prSet>
      <dgm:spPr/>
    </dgm:pt>
    <dgm:pt modelId="{B1351D96-D71D-40E6-9843-D39CC10B8A02}" type="pres">
      <dgm:prSet presAssocID="{58F5F247-FEA2-48B5-B241-86DE1B92ED34}" presName="sibTrans" presStyleCnt="0"/>
      <dgm:spPr/>
    </dgm:pt>
    <dgm:pt modelId="{F9569A91-BC79-49BB-BEA7-728FD12B1BD8}" type="pres">
      <dgm:prSet presAssocID="{42499CD6-1A4E-472F-87C3-E8EAE6217D74}" presName="compNode" presStyleCnt="0"/>
      <dgm:spPr/>
    </dgm:pt>
    <dgm:pt modelId="{5B134C76-AF49-4A7B-B541-AAE36B3255F6}" type="pres">
      <dgm:prSet presAssocID="{42499CD6-1A4E-472F-87C3-E8EAE6217D74}" presName="bgRect" presStyleLbl="bgShp" presStyleIdx="3" presStyleCnt="4"/>
      <dgm:spPr/>
    </dgm:pt>
    <dgm:pt modelId="{60F5DB89-BF0A-489B-B8D3-2FBEE24A10FC}" type="pres">
      <dgm:prSet presAssocID="{42499CD6-1A4E-472F-87C3-E8EAE6217D74}" presName="iconRect" presStyleLbl="node1" presStyleIdx="3" presStyleCnt="4"/>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ins"/>
        </a:ext>
      </dgm:extLst>
    </dgm:pt>
    <dgm:pt modelId="{412E8215-0608-46DC-9401-58168A3FB676}" type="pres">
      <dgm:prSet presAssocID="{42499CD6-1A4E-472F-87C3-E8EAE6217D74}" presName="spaceRect" presStyleCnt="0"/>
      <dgm:spPr/>
    </dgm:pt>
    <dgm:pt modelId="{210D0141-BA21-49AF-9A55-A7248AF0A4CE}" type="pres">
      <dgm:prSet presAssocID="{42499CD6-1A4E-472F-87C3-E8EAE6217D74}" presName="parTx" presStyleLbl="revTx" presStyleIdx="3" presStyleCnt="4">
        <dgm:presLayoutVars>
          <dgm:chMax val="0"/>
          <dgm:chPref val="0"/>
        </dgm:presLayoutVars>
      </dgm:prSet>
      <dgm:spPr/>
    </dgm:pt>
  </dgm:ptLst>
  <dgm:cxnLst>
    <dgm:cxn modelId="{32B6DE00-EB3B-463E-88E1-A80C2DBE6E76}" type="presOf" srcId="{370A2FCE-5B01-41FD-8633-013A3AB237C9}" destId="{636DB206-EC82-4F22-8499-FA7932C07A6B}" srcOrd="0" destOrd="0" presId="urn:microsoft.com/office/officeart/2018/2/layout/IconVerticalSolidList"/>
    <dgm:cxn modelId="{1138D01C-C1D4-4849-8DAE-BA1BBC3AC508}" type="presOf" srcId="{42499CD6-1A4E-472F-87C3-E8EAE6217D74}" destId="{210D0141-BA21-49AF-9A55-A7248AF0A4CE}" srcOrd="0" destOrd="0" presId="urn:microsoft.com/office/officeart/2018/2/layout/IconVerticalSolidList"/>
    <dgm:cxn modelId="{E0ABEA77-3089-41C8-B05A-9F5ABFB8FEBD}" type="presOf" srcId="{C049AAFD-DF19-43B9-B49F-872348D41E01}" destId="{CF46A56D-FD75-4BDB-B0BB-E8A7A38430FD}" srcOrd="0" destOrd="0" presId="urn:microsoft.com/office/officeart/2018/2/layout/IconVerticalSolidList"/>
    <dgm:cxn modelId="{7F15195A-DF93-4A8C-A629-3F8D09511D51}" srcId="{C049AAFD-DF19-43B9-B49F-872348D41E01}" destId="{42499CD6-1A4E-472F-87C3-E8EAE6217D74}" srcOrd="3" destOrd="0" parTransId="{0BFFD001-8985-4E57-90F7-DB90F407D39D}" sibTransId="{F631928C-F671-4DE0-B9B5-ED3170884259}"/>
    <dgm:cxn modelId="{8CE07F83-FF3A-4EA6-BF23-3063E5FC7F19}" srcId="{C049AAFD-DF19-43B9-B49F-872348D41E01}" destId="{370A2FCE-5B01-41FD-8633-013A3AB237C9}" srcOrd="1" destOrd="0" parTransId="{21E8DD69-F0CA-41B1-B467-C05D675FCF77}" sibTransId="{E126CF6A-135C-416E-9F12-7F8DBEB01AAB}"/>
    <dgm:cxn modelId="{DCD56E8D-AFFF-4F18-B4A2-5E351033BEC4}" srcId="{C049AAFD-DF19-43B9-B49F-872348D41E01}" destId="{9B83E7F0-A983-431A-BA94-AC5DB1F05871}" srcOrd="0" destOrd="0" parTransId="{F10C3F76-51C4-48C9-BBD2-E74BB7F02BE3}" sibTransId="{6A9DD716-4DF5-4A3E-812E-CAB31435B248}"/>
    <dgm:cxn modelId="{256AC09C-4F78-413A-94DD-BC7DACA6FB0F}" srcId="{C049AAFD-DF19-43B9-B49F-872348D41E01}" destId="{3829A012-DFAA-4DD1-ABEC-385CD5F5F6AE}" srcOrd="2" destOrd="0" parTransId="{1B99EFC1-36CB-4ECF-95BF-51F2810776B3}" sibTransId="{58F5F247-FEA2-48B5-B241-86DE1B92ED34}"/>
    <dgm:cxn modelId="{A746EF9F-5D01-45B8-BD38-796C1935E031}" type="presOf" srcId="{9B83E7F0-A983-431A-BA94-AC5DB1F05871}" destId="{9F24B41B-CC66-4669-B1E4-E316D5902263}" srcOrd="0" destOrd="0" presId="urn:microsoft.com/office/officeart/2018/2/layout/IconVerticalSolidList"/>
    <dgm:cxn modelId="{9BA13DC3-739E-42E7-B1F4-AA5F7B3E0B59}" type="presOf" srcId="{3829A012-DFAA-4DD1-ABEC-385CD5F5F6AE}" destId="{B95DCA3B-4AD0-42C9-9F19-9E2CD7B9D016}" srcOrd="0" destOrd="0" presId="urn:microsoft.com/office/officeart/2018/2/layout/IconVerticalSolidList"/>
    <dgm:cxn modelId="{BC170BBF-2F90-439B-92F0-A534F6344D18}" type="presParOf" srcId="{CF46A56D-FD75-4BDB-B0BB-E8A7A38430FD}" destId="{FF4E9800-CA24-4C4E-BAF7-FB5EBDC55BB7}" srcOrd="0" destOrd="0" presId="urn:microsoft.com/office/officeart/2018/2/layout/IconVerticalSolidList"/>
    <dgm:cxn modelId="{7DBBD557-DBAE-42DF-9075-1DA23F736A8A}" type="presParOf" srcId="{FF4E9800-CA24-4C4E-BAF7-FB5EBDC55BB7}" destId="{6F11BC8B-CCAF-4F62-A2D4-5C8A830882C1}" srcOrd="0" destOrd="0" presId="urn:microsoft.com/office/officeart/2018/2/layout/IconVerticalSolidList"/>
    <dgm:cxn modelId="{15057232-11C3-4C94-BA80-37FD845940F1}" type="presParOf" srcId="{FF4E9800-CA24-4C4E-BAF7-FB5EBDC55BB7}" destId="{FF27715A-E7EA-4EF0-BE7D-8AC311DC44BD}" srcOrd="1" destOrd="0" presId="urn:microsoft.com/office/officeart/2018/2/layout/IconVerticalSolidList"/>
    <dgm:cxn modelId="{D3D74345-ACDF-4008-ABB6-B724CD2C6837}" type="presParOf" srcId="{FF4E9800-CA24-4C4E-BAF7-FB5EBDC55BB7}" destId="{DAE05F15-DDED-4063-A841-7F8BD11942B1}" srcOrd="2" destOrd="0" presId="urn:microsoft.com/office/officeart/2018/2/layout/IconVerticalSolidList"/>
    <dgm:cxn modelId="{7C3A99C3-514E-41EC-AB35-BE677B44B02A}" type="presParOf" srcId="{FF4E9800-CA24-4C4E-BAF7-FB5EBDC55BB7}" destId="{9F24B41B-CC66-4669-B1E4-E316D5902263}" srcOrd="3" destOrd="0" presId="urn:microsoft.com/office/officeart/2018/2/layout/IconVerticalSolidList"/>
    <dgm:cxn modelId="{E63B1CCD-9120-4D75-8F40-FA7280438F8C}" type="presParOf" srcId="{CF46A56D-FD75-4BDB-B0BB-E8A7A38430FD}" destId="{38A2653B-A07D-4BEA-86EA-0CE27B4996DD}" srcOrd="1" destOrd="0" presId="urn:microsoft.com/office/officeart/2018/2/layout/IconVerticalSolidList"/>
    <dgm:cxn modelId="{4BE4959B-9721-4581-84FB-45391BBC9C8F}" type="presParOf" srcId="{CF46A56D-FD75-4BDB-B0BB-E8A7A38430FD}" destId="{59D3E072-4070-4960-8CAF-5FE4ECBEF330}" srcOrd="2" destOrd="0" presId="urn:microsoft.com/office/officeart/2018/2/layout/IconVerticalSolidList"/>
    <dgm:cxn modelId="{70B1A73E-E3A0-466D-8278-57893DB3FD5C}" type="presParOf" srcId="{59D3E072-4070-4960-8CAF-5FE4ECBEF330}" destId="{B87BAF6A-59FD-49FC-80BE-0EE2CED32500}" srcOrd="0" destOrd="0" presId="urn:microsoft.com/office/officeart/2018/2/layout/IconVerticalSolidList"/>
    <dgm:cxn modelId="{9B80594B-B887-42A6-9B0C-11FC8E50EB2C}" type="presParOf" srcId="{59D3E072-4070-4960-8CAF-5FE4ECBEF330}" destId="{1608E098-3CF5-48CE-A0C5-3C48865D6EDC}" srcOrd="1" destOrd="0" presId="urn:microsoft.com/office/officeart/2018/2/layout/IconVerticalSolidList"/>
    <dgm:cxn modelId="{51C6C86F-A62C-4B89-BEE7-4AB1334093A5}" type="presParOf" srcId="{59D3E072-4070-4960-8CAF-5FE4ECBEF330}" destId="{FE233C89-B7B3-4242-B1FD-52FA9F83B820}" srcOrd="2" destOrd="0" presId="urn:microsoft.com/office/officeart/2018/2/layout/IconVerticalSolidList"/>
    <dgm:cxn modelId="{D3AE3DCB-3379-46F5-9208-7BD5664F360E}" type="presParOf" srcId="{59D3E072-4070-4960-8CAF-5FE4ECBEF330}" destId="{636DB206-EC82-4F22-8499-FA7932C07A6B}" srcOrd="3" destOrd="0" presId="urn:microsoft.com/office/officeart/2018/2/layout/IconVerticalSolidList"/>
    <dgm:cxn modelId="{F5F5EE10-B048-46E1-8976-CD6FEAFE83BA}" type="presParOf" srcId="{CF46A56D-FD75-4BDB-B0BB-E8A7A38430FD}" destId="{294E0834-1D76-4160-A296-9A393B4E6DE2}" srcOrd="3" destOrd="0" presId="urn:microsoft.com/office/officeart/2018/2/layout/IconVerticalSolidList"/>
    <dgm:cxn modelId="{C0C9DDF2-6A2E-438F-B7E3-E566CF854E24}" type="presParOf" srcId="{CF46A56D-FD75-4BDB-B0BB-E8A7A38430FD}" destId="{C1F71D73-C2AB-4B1C-A7E2-BF3345512F85}" srcOrd="4" destOrd="0" presId="urn:microsoft.com/office/officeart/2018/2/layout/IconVerticalSolidList"/>
    <dgm:cxn modelId="{77376714-185C-445D-9D4A-3CD1DB4CBF6A}" type="presParOf" srcId="{C1F71D73-C2AB-4B1C-A7E2-BF3345512F85}" destId="{30E1A627-7C3B-443E-A994-031CF490863F}" srcOrd="0" destOrd="0" presId="urn:microsoft.com/office/officeart/2018/2/layout/IconVerticalSolidList"/>
    <dgm:cxn modelId="{80F75AA4-31E8-4DE9-AE99-FA8BA2BBF75E}" type="presParOf" srcId="{C1F71D73-C2AB-4B1C-A7E2-BF3345512F85}" destId="{9AE768EB-E8E4-4522-A655-634D3C291E1D}" srcOrd="1" destOrd="0" presId="urn:microsoft.com/office/officeart/2018/2/layout/IconVerticalSolidList"/>
    <dgm:cxn modelId="{F148D749-C4B6-4502-9652-0519A7BC1906}" type="presParOf" srcId="{C1F71D73-C2AB-4B1C-A7E2-BF3345512F85}" destId="{FBFCE878-DB42-4DD5-A330-7B4E892AA403}" srcOrd="2" destOrd="0" presId="urn:microsoft.com/office/officeart/2018/2/layout/IconVerticalSolidList"/>
    <dgm:cxn modelId="{90643180-1499-4E6F-BB35-763CF9F59429}" type="presParOf" srcId="{C1F71D73-C2AB-4B1C-A7E2-BF3345512F85}" destId="{B95DCA3B-4AD0-42C9-9F19-9E2CD7B9D016}" srcOrd="3" destOrd="0" presId="urn:microsoft.com/office/officeart/2018/2/layout/IconVerticalSolidList"/>
    <dgm:cxn modelId="{7DD0D231-C9CE-470F-A110-55590A623048}" type="presParOf" srcId="{CF46A56D-FD75-4BDB-B0BB-E8A7A38430FD}" destId="{B1351D96-D71D-40E6-9843-D39CC10B8A02}" srcOrd="5" destOrd="0" presId="urn:microsoft.com/office/officeart/2018/2/layout/IconVerticalSolidList"/>
    <dgm:cxn modelId="{F2F4DF10-6EDD-4DDC-A309-B681779499CA}" type="presParOf" srcId="{CF46A56D-FD75-4BDB-B0BB-E8A7A38430FD}" destId="{F9569A91-BC79-49BB-BEA7-728FD12B1BD8}" srcOrd="6" destOrd="0" presId="urn:microsoft.com/office/officeart/2018/2/layout/IconVerticalSolidList"/>
    <dgm:cxn modelId="{2503331F-F868-444F-A706-A01FB54D4B48}" type="presParOf" srcId="{F9569A91-BC79-49BB-BEA7-728FD12B1BD8}" destId="{5B134C76-AF49-4A7B-B541-AAE36B3255F6}" srcOrd="0" destOrd="0" presId="urn:microsoft.com/office/officeart/2018/2/layout/IconVerticalSolidList"/>
    <dgm:cxn modelId="{C1116A70-4862-40E8-B9F9-9CA53E588746}" type="presParOf" srcId="{F9569A91-BC79-49BB-BEA7-728FD12B1BD8}" destId="{60F5DB89-BF0A-489B-B8D3-2FBEE24A10FC}" srcOrd="1" destOrd="0" presId="urn:microsoft.com/office/officeart/2018/2/layout/IconVerticalSolidList"/>
    <dgm:cxn modelId="{BBB38923-D400-49EA-9398-974332F672ED}" type="presParOf" srcId="{F9569A91-BC79-49BB-BEA7-728FD12B1BD8}" destId="{412E8215-0608-46DC-9401-58168A3FB676}" srcOrd="2" destOrd="0" presId="urn:microsoft.com/office/officeart/2018/2/layout/IconVerticalSolidList"/>
    <dgm:cxn modelId="{A7D00D18-903F-4BCD-9CF7-B3AC48F007F7}" type="presParOf" srcId="{F9569A91-BC79-49BB-BEA7-728FD12B1BD8}" destId="{210D0141-BA21-49AF-9A55-A7248AF0A4C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5DB02B4-E110-4F20-928C-2AFFB46334B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08E09035-6B5B-4301-86B9-D7FCF036D032}">
      <dgm:prSet/>
      <dgm:spPr/>
      <dgm:t>
        <a:bodyPr/>
        <a:lstStyle/>
        <a:p>
          <a:r>
            <a:rPr lang="en-US" dirty="0"/>
            <a:t>Long tail - focuses on changes in competitive landscape</a:t>
          </a:r>
        </a:p>
      </dgm:t>
    </dgm:pt>
    <dgm:pt modelId="{26CBBBD3-E37D-49BB-8BC6-3A4E2C2CF6B7}" type="parTrans" cxnId="{C9F41E29-1EC2-4790-98CA-D169BDA692BD}">
      <dgm:prSet/>
      <dgm:spPr/>
      <dgm:t>
        <a:bodyPr/>
        <a:lstStyle/>
        <a:p>
          <a:endParaRPr lang="en-US"/>
        </a:p>
      </dgm:t>
    </dgm:pt>
    <dgm:pt modelId="{80927B8C-6D12-4FE2-944F-70138F21BB08}" type="sibTrans" cxnId="{C9F41E29-1EC2-4790-98CA-D169BDA692BD}">
      <dgm:prSet/>
      <dgm:spPr/>
      <dgm:t>
        <a:bodyPr/>
        <a:lstStyle/>
        <a:p>
          <a:endParaRPr lang="en-US"/>
        </a:p>
      </dgm:t>
    </dgm:pt>
    <dgm:pt modelId="{A9408652-E9DA-4118-B377-9C6A7ABFE73B}">
      <dgm:prSet/>
      <dgm:spPr/>
      <dgm:t>
        <a:bodyPr/>
        <a:lstStyle/>
        <a:p>
          <a:r>
            <a:rPr lang="en-US" dirty="0"/>
            <a:t>Digital finance - focuses on changes in financial entities and technologies</a:t>
          </a:r>
        </a:p>
      </dgm:t>
    </dgm:pt>
    <dgm:pt modelId="{71237D31-E91A-4337-AFD1-7AE57D448EE1}" type="parTrans" cxnId="{7D9CE1F8-7D05-43F2-A8FE-755DB875994F}">
      <dgm:prSet/>
      <dgm:spPr/>
      <dgm:t>
        <a:bodyPr/>
        <a:lstStyle/>
        <a:p>
          <a:endParaRPr lang="en-US"/>
        </a:p>
      </dgm:t>
    </dgm:pt>
    <dgm:pt modelId="{ABD4C05D-CD41-4510-A016-20DCF0A95D37}" type="sibTrans" cxnId="{7D9CE1F8-7D05-43F2-A8FE-755DB875994F}">
      <dgm:prSet/>
      <dgm:spPr/>
      <dgm:t>
        <a:bodyPr/>
        <a:lstStyle/>
        <a:p>
          <a:endParaRPr lang="en-US"/>
        </a:p>
      </dgm:t>
    </dgm:pt>
    <dgm:pt modelId="{9E57C33F-1DF8-462B-ACC2-9AEE1E1BE06A}">
      <dgm:prSet/>
      <dgm:spPr/>
      <dgm:t>
        <a:bodyPr/>
        <a:lstStyle/>
        <a:p>
          <a:r>
            <a:rPr lang="en-US" dirty="0"/>
            <a:t>Collaboration - focuses on changes in operations models</a:t>
          </a:r>
        </a:p>
      </dgm:t>
    </dgm:pt>
    <dgm:pt modelId="{8697201C-A15E-4F5C-8EAE-BE97B487EA7B}" type="parTrans" cxnId="{52935899-66F1-4019-A6EF-E7EA1F670F29}">
      <dgm:prSet/>
      <dgm:spPr/>
      <dgm:t>
        <a:bodyPr/>
        <a:lstStyle/>
        <a:p>
          <a:endParaRPr lang="en-US"/>
        </a:p>
      </dgm:t>
    </dgm:pt>
    <dgm:pt modelId="{2709D546-53E0-4345-9929-9CAF169694FE}" type="sibTrans" cxnId="{52935899-66F1-4019-A6EF-E7EA1F670F29}">
      <dgm:prSet/>
      <dgm:spPr/>
      <dgm:t>
        <a:bodyPr/>
        <a:lstStyle/>
        <a:p>
          <a:endParaRPr lang="en-US"/>
        </a:p>
      </dgm:t>
    </dgm:pt>
    <dgm:pt modelId="{B2551C96-244D-47AD-B623-20EF226488B1}" type="pres">
      <dgm:prSet presAssocID="{85DB02B4-E110-4F20-928C-2AFFB46334B8}" presName="root" presStyleCnt="0">
        <dgm:presLayoutVars>
          <dgm:dir/>
          <dgm:resizeHandles val="exact"/>
        </dgm:presLayoutVars>
      </dgm:prSet>
      <dgm:spPr/>
    </dgm:pt>
    <dgm:pt modelId="{F12DFC1D-FDB7-4377-AFAE-F89E2C54EF32}" type="pres">
      <dgm:prSet presAssocID="{08E09035-6B5B-4301-86B9-D7FCF036D032}" presName="compNode" presStyleCnt="0"/>
      <dgm:spPr/>
    </dgm:pt>
    <dgm:pt modelId="{4C2F5443-63FE-4FFD-A8DC-6533C111256C}" type="pres">
      <dgm:prSet presAssocID="{08E09035-6B5B-4301-86B9-D7FCF036D032}" presName="bgRect" presStyleLbl="bgShp" presStyleIdx="0" presStyleCnt="3" custLinFactNeighborX="9103" custLinFactNeighborY="-16322"/>
      <dgm:spPr/>
    </dgm:pt>
    <dgm:pt modelId="{F92C8CBB-917F-48C3-8649-AD276F8F1D88}" type="pres">
      <dgm:prSet presAssocID="{08E09035-6B5B-4301-86B9-D7FCF036D032}"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upply And Demand"/>
        </a:ext>
      </dgm:extLst>
    </dgm:pt>
    <dgm:pt modelId="{3BD22170-67A7-430A-A74F-D58F3FB89306}" type="pres">
      <dgm:prSet presAssocID="{08E09035-6B5B-4301-86B9-D7FCF036D032}" presName="spaceRect" presStyleCnt="0"/>
      <dgm:spPr/>
    </dgm:pt>
    <dgm:pt modelId="{431289F3-9BFD-4F40-86F4-66F923D0A266}" type="pres">
      <dgm:prSet presAssocID="{08E09035-6B5B-4301-86B9-D7FCF036D032}" presName="parTx" presStyleLbl="revTx" presStyleIdx="0" presStyleCnt="3">
        <dgm:presLayoutVars>
          <dgm:chMax val="0"/>
          <dgm:chPref val="0"/>
        </dgm:presLayoutVars>
      </dgm:prSet>
      <dgm:spPr/>
    </dgm:pt>
    <dgm:pt modelId="{8D4E9600-2F3B-4ADB-8661-2D8A9619176B}" type="pres">
      <dgm:prSet presAssocID="{80927B8C-6D12-4FE2-944F-70138F21BB08}" presName="sibTrans" presStyleCnt="0"/>
      <dgm:spPr/>
    </dgm:pt>
    <dgm:pt modelId="{93AD539D-9B03-403C-9C95-E37AD49D5E84}" type="pres">
      <dgm:prSet presAssocID="{A9408652-E9DA-4118-B377-9C6A7ABFE73B}" presName="compNode" presStyleCnt="0"/>
      <dgm:spPr/>
    </dgm:pt>
    <dgm:pt modelId="{17AA5016-A9AA-4803-B1E8-F27AB2759EC6}" type="pres">
      <dgm:prSet presAssocID="{A9408652-E9DA-4118-B377-9C6A7ABFE73B}" presName="bgRect" presStyleLbl="bgShp" presStyleIdx="1" presStyleCnt="3"/>
      <dgm:spPr/>
    </dgm:pt>
    <dgm:pt modelId="{5907C649-C225-4A75-85AC-5FE58C1167B2}" type="pres">
      <dgm:prSet presAssocID="{A9408652-E9DA-4118-B377-9C6A7ABFE73B}" presName="iconRect" presStyleLbl="node1" presStyleIdx="1" presStyleCnt="3"/>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E043D760-7D24-4CC2-BC20-20F5345B9381}" type="pres">
      <dgm:prSet presAssocID="{A9408652-E9DA-4118-B377-9C6A7ABFE73B}" presName="spaceRect" presStyleCnt="0"/>
      <dgm:spPr/>
    </dgm:pt>
    <dgm:pt modelId="{83EF56DF-2174-4C2E-BC42-772C5BEAE1AB}" type="pres">
      <dgm:prSet presAssocID="{A9408652-E9DA-4118-B377-9C6A7ABFE73B}" presName="parTx" presStyleLbl="revTx" presStyleIdx="1" presStyleCnt="3">
        <dgm:presLayoutVars>
          <dgm:chMax val="0"/>
          <dgm:chPref val="0"/>
        </dgm:presLayoutVars>
      </dgm:prSet>
      <dgm:spPr/>
    </dgm:pt>
    <dgm:pt modelId="{B7494BA1-421E-4D38-AFD7-EAEB10684ECA}" type="pres">
      <dgm:prSet presAssocID="{ABD4C05D-CD41-4510-A016-20DCF0A95D37}" presName="sibTrans" presStyleCnt="0"/>
      <dgm:spPr/>
    </dgm:pt>
    <dgm:pt modelId="{B5038C57-BC94-4066-B9F4-419FF4A393F9}" type="pres">
      <dgm:prSet presAssocID="{9E57C33F-1DF8-462B-ACC2-9AEE1E1BE06A}" presName="compNode" presStyleCnt="0"/>
      <dgm:spPr/>
    </dgm:pt>
    <dgm:pt modelId="{2AE7B120-02BA-45CD-BA38-5D000EA72D73}" type="pres">
      <dgm:prSet presAssocID="{9E57C33F-1DF8-462B-ACC2-9AEE1E1BE06A}" presName="bgRect" presStyleLbl="bgShp" presStyleIdx="2" presStyleCnt="3"/>
      <dgm:spPr/>
    </dgm:pt>
    <dgm:pt modelId="{3CBDFECD-46F5-4458-A102-06B665599EFF}" type="pres">
      <dgm:prSet presAssocID="{9E57C33F-1DF8-462B-ACC2-9AEE1E1BE06A}" presName="iconRect" presStyleLbl="node1" presStyleIdx="2" presStyleCnt="3"/>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3E7DA97A-C0E7-4AAF-A393-9D48DCDE5091}" type="pres">
      <dgm:prSet presAssocID="{9E57C33F-1DF8-462B-ACC2-9AEE1E1BE06A}" presName="spaceRect" presStyleCnt="0"/>
      <dgm:spPr/>
    </dgm:pt>
    <dgm:pt modelId="{F8F132C8-94B9-4447-BA50-36DA2B71030E}" type="pres">
      <dgm:prSet presAssocID="{9E57C33F-1DF8-462B-ACC2-9AEE1E1BE06A}" presName="parTx" presStyleLbl="revTx" presStyleIdx="2" presStyleCnt="3">
        <dgm:presLayoutVars>
          <dgm:chMax val="0"/>
          <dgm:chPref val="0"/>
        </dgm:presLayoutVars>
      </dgm:prSet>
      <dgm:spPr/>
    </dgm:pt>
  </dgm:ptLst>
  <dgm:cxnLst>
    <dgm:cxn modelId="{C9F41E29-1EC2-4790-98CA-D169BDA692BD}" srcId="{85DB02B4-E110-4F20-928C-2AFFB46334B8}" destId="{08E09035-6B5B-4301-86B9-D7FCF036D032}" srcOrd="0" destOrd="0" parTransId="{26CBBBD3-E37D-49BB-8BC6-3A4E2C2CF6B7}" sibTransId="{80927B8C-6D12-4FE2-944F-70138F21BB08}"/>
    <dgm:cxn modelId="{3E7E714B-DF2D-4CE1-8E7B-AD6D5D897CDC}" type="presOf" srcId="{85DB02B4-E110-4F20-928C-2AFFB46334B8}" destId="{B2551C96-244D-47AD-B623-20EF226488B1}" srcOrd="0" destOrd="0" presId="urn:microsoft.com/office/officeart/2018/2/layout/IconVerticalSolidList"/>
    <dgm:cxn modelId="{E411234E-CD92-465C-87E9-BAF125B008C0}" type="presOf" srcId="{9E57C33F-1DF8-462B-ACC2-9AEE1E1BE06A}" destId="{F8F132C8-94B9-4447-BA50-36DA2B71030E}" srcOrd="0" destOrd="0" presId="urn:microsoft.com/office/officeart/2018/2/layout/IconVerticalSolidList"/>
    <dgm:cxn modelId="{F7EFAE80-0B99-4789-93B8-5A6CB8177E20}" type="presOf" srcId="{08E09035-6B5B-4301-86B9-D7FCF036D032}" destId="{431289F3-9BFD-4F40-86F4-66F923D0A266}" srcOrd="0" destOrd="0" presId="urn:microsoft.com/office/officeart/2018/2/layout/IconVerticalSolidList"/>
    <dgm:cxn modelId="{25881D98-ACE1-4B34-BC41-8C3563BE9949}" type="presOf" srcId="{A9408652-E9DA-4118-B377-9C6A7ABFE73B}" destId="{83EF56DF-2174-4C2E-BC42-772C5BEAE1AB}" srcOrd="0" destOrd="0" presId="urn:microsoft.com/office/officeart/2018/2/layout/IconVerticalSolidList"/>
    <dgm:cxn modelId="{52935899-66F1-4019-A6EF-E7EA1F670F29}" srcId="{85DB02B4-E110-4F20-928C-2AFFB46334B8}" destId="{9E57C33F-1DF8-462B-ACC2-9AEE1E1BE06A}" srcOrd="2" destOrd="0" parTransId="{8697201C-A15E-4F5C-8EAE-BE97B487EA7B}" sibTransId="{2709D546-53E0-4345-9929-9CAF169694FE}"/>
    <dgm:cxn modelId="{7D9CE1F8-7D05-43F2-A8FE-755DB875994F}" srcId="{85DB02B4-E110-4F20-928C-2AFFB46334B8}" destId="{A9408652-E9DA-4118-B377-9C6A7ABFE73B}" srcOrd="1" destOrd="0" parTransId="{71237D31-E91A-4337-AFD1-7AE57D448EE1}" sibTransId="{ABD4C05D-CD41-4510-A016-20DCF0A95D37}"/>
    <dgm:cxn modelId="{3106F462-26E5-42EE-94F9-BA6C382A2388}" type="presParOf" srcId="{B2551C96-244D-47AD-B623-20EF226488B1}" destId="{F12DFC1D-FDB7-4377-AFAE-F89E2C54EF32}" srcOrd="0" destOrd="0" presId="urn:microsoft.com/office/officeart/2018/2/layout/IconVerticalSolidList"/>
    <dgm:cxn modelId="{B3D36B79-5AD1-42ED-8E0A-9C66A2345C0F}" type="presParOf" srcId="{F12DFC1D-FDB7-4377-AFAE-F89E2C54EF32}" destId="{4C2F5443-63FE-4FFD-A8DC-6533C111256C}" srcOrd="0" destOrd="0" presId="urn:microsoft.com/office/officeart/2018/2/layout/IconVerticalSolidList"/>
    <dgm:cxn modelId="{91EDFFA4-E672-4DC8-8F3D-C36EB6B940CA}" type="presParOf" srcId="{F12DFC1D-FDB7-4377-AFAE-F89E2C54EF32}" destId="{F92C8CBB-917F-48C3-8649-AD276F8F1D88}" srcOrd="1" destOrd="0" presId="urn:microsoft.com/office/officeart/2018/2/layout/IconVerticalSolidList"/>
    <dgm:cxn modelId="{5C615817-4151-402E-8082-167A7B8C0609}" type="presParOf" srcId="{F12DFC1D-FDB7-4377-AFAE-F89E2C54EF32}" destId="{3BD22170-67A7-430A-A74F-D58F3FB89306}" srcOrd="2" destOrd="0" presId="urn:microsoft.com/office/officeart/2018/2/layout/IconVerticalSolidList"/>
    <dgm:cxn modelId="{662DC6EF-B122-44BB-86B8-DC16E82D5CF5}" type="presParOf" srcId="{F12DFC1D-FDB7-4377-AFAE-F89E2C54EF32}" destId="{431289F3-9BFD-4F40-86F4-66F923D0A266}" srcOrd="3" destOrd="0" presId="urn:microsoft.com/office/officeart/2018/2/layout/IconVerticalSolidList"/>
    <dgm:cxn modelId="{452707B3-FCD7-4241-A7A2-B6557EE44C28}" type="presParOf" srcId="{B2551C96-244D-47AD-B623-20EF226488B1}" destId="{8D4E9600-2F3B-4ADB-8661-2D8A9619176B}" srcOrd="1" destOrd="0" presId="urn:microsoft.com/office/officeart/2018/2/layout/IconVerticalSolidList"/>
    <dgm:cxn modelId="{122AB8E8-5B92-4CD8-95BD-76194A8343C3}" type="presParOf" srcId="{B2551C96-244D-47AD-B623-20EF226488B1}" destId="{93AD539D-9B03-403C-9C95-E37AD49D5E84}" srcOrd="2" destOrd="0" presId="urn:microsoft.com/office/officeart/2018/2/layout/IconVerticalSolidList"/>
    <dgm:cxn modelId="{07A1CC23-CBEC-40B3-ACEE-FE21A082F2B7}" type="presParOf" srcId="{93AD539D-9B03-403C-9C95-E37AD49D5E84}" destId="{17AA5016-A9AA-4803-B1E8-F27AB2759EC6}" srcOrd="0" destOrd="0" presId="urn:microsoft.com/office/officeart/2018/2/layout/IconVerticalSolidList"/>
    <dgm:cxn modelId="{D2030405-9D97-4C3E-BB22-A2DF3EEB88BC}" type="presParOf" srcId="{93AD539D-9B03-403C-9C95-E37AD49D5E84}" destId="{5907C649-C225-4A75-85AC-5FE58C1167B2}" srcOrd="1" destOrd="0" presId="urn:microsoft.com/office/officeart/2018/2/layout/IconVerticalSolidList"/>
    <dgm:cxn modelId="{44E26D46-6FD5-4E2E-8D13-803A5004C9ED}" type="presParOf" srcId="{93AD539D-9B03-403C-9C95-E37AD49D5E84}" destId="{E043D760-7D24-4CC2-BC20-20F5345B9381}" srcOrd="2" destOrd="0" presId="urn:microsoft.com/office/officeart/2018/2/layout/IconVerticalSolidList"/>
    <dgm:cxn modelId="{CEC32C86-166A-48DF-8CFD-650FEAE1F4B7}" type="presParOf" srcId="{93AD539D-9B03-403C-9C95-E37AD49D5E84}" destId="{83EF56DF-2174-4C2E-BC42-772C5BEAE1AB}" srcOrd="3" destOrd="0" presId="urn:microsoft.com/office/officeart/2018/2/layout/IconVerticalSolidList"/>
    <dgm:cxn modelId="{3B7D07CB-3E9F-4737-8656-60863DB17F81}" type="presParOf" srcId="{B2551C96-244D-47AD-B623-20EF226488B1}" destId="{B7494BA1-421E-4D38-AFD7-EAEB10684ECA}" srcOrd="3" destOrd="0" presId="urn:microsoft.com/office/officeart/2018/2/layout/IconVerticalSolidList"/>
    <dgm:cxn modelId="{0BBA6D4C-ADE1-43A3-9505-9AC625A1D4C6}" type="presParOf" srcId="{B2551C96-244D-47AD-B623-20EF226488B1}" destId="{B5038C57-BC94-4066-B9F4-419FF4A393F9}" srcOrd="4" destOrd="0" presId="urn:microsoft.com/office/officeart/2018/2/layout/IconVerticalSolidList"/>
    <dgm:cxn modelId="{B327D814-D2AF-46E8-BFD0-C5CC084ED889}" type="presParOf" srcId="{B5038C57-BC94-4066-B9F4-419FF4A393F9}" destId="{2AE7B120-02BA-45CD-BA38-5D000EA72D73}" srcOrd="0" destOrd="0" presId="urn:microsoft.com/office/officeart/2018/2/layout/IconVerticalSolidList"/>
    <dgm:cxn modelId="{10571A89-EEB1-428C-8D4A-F62B862F8975}" type="presParOf" srcId="{B5038C57-BC94-4066-B9F4-419FF4A393F9}" destId="{3CBDFECD-46F5-4458-A102-06B665599EFF}" srcOrd="1" destOrd="0" presId="urn:microsoft.com/office/officeart/2018/2/layout/IconVerticalSolidList"/>
    <dgm:cxn modelId="{93D8635D-0F11-45B9-A9FE-61065E22B4EA}" type="presParOf" srcId="{B5038C57-BC94-4066-B9F4-419FF4A393F9}" destId="{3E7DA97A-C0E7-4AAF-A393-9D48DCDE5091}" srcOrd="2" destOrd="0" presId="urn:microsoft.com/office/officeart/2018/2/layout/IconVerticalSolidList"/>
    <dgm:cxn modelId="{1CBF45B4-BD64-4146-86DC-4ED9B8FC963A}" type="presParOf" srcId="{B5038C57-BC94-4066-B9F4-419FF4A393F9}" destId="{F8F132C8-94B9-4447-BA50-36DA2B71030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049AAFD-DF19-43B9-B49F-872348D41E0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B83E7F0-A983-431A-BA94-AC5DB1F05871}">
      <dgm:prSet/>
      <dgm:spPr/>
      <dgm:t>
        <a:bodyPr/>
        <a:lstStyle/>
        <a:p>
          <a:r>
            <a:rPr lang="en-US" b="1" dirty="0"/>
            <a:t>Big data, cloud computing, mobile internet - focuses on changes in infrastructure</a:t>
          </a:r>
        </a:p>
      </dgm:t>
    </dgm:pt>
    <dgm:pt modelId="{F10C3F76-51C4-48C9-BBD2-E74BB7F02BE3}" type="parTrans" cxnId="{DCD56E8D-AFFF-4F18-B4A2-5E351033BEC4}">
      <dgm:prSet/>
      <dgm:spPr/>
      <dgm:t>
        <a:bodyPr/>
        <a:lstStyle/>
        <a:p>
          <a:endParaRPr lang="en-US"/>
        </a:p>
      </dgm:t>
    </dgm:pt>
    <dgm:pt modelId="{6A9DD716-4DF5-4A3E-812E-CAB31435B248}" type="sibTrans" cxnId="{DCD56E8D-AFFF-4F18-B4A2-5E351033BEC4}">
      <dgm:prSet/>
      <dgm:spPr/>
      <dgm:t>
        <a:bodyPr/>
        <a:lstStyle/>
        <a:p>
          <a:endParaRPr lang="en-US"/>
        </a:p>
      </dgm:t>
    </dgm:pt>
    <dgm:pt modelId="{370A2FCE-5B01-41FD-8633-013A3AB237C9}">
      <dgm:prSet/>
      <dgm:spPr/>
      <dgm:t>
        <a:bodyPr/>
        <a:lstStyle/>
        <a:p>
          <a:r>
            <a:rPr lang="en-US"/>
            <a:t>Software-defined anything - focuses on changes in productivity</a:t>
          </a:r>
        </a:p>
      </dgm:t>
    </dgm:pt>
    <dgm:pt modelId="{21E8DD69-F0CA-41B1-B467-C05D675FCF77}" type="parTrans" cxnId="{8CE07F83-FF3A-4EA6-BF23-3063E5FC7F19}">
      <dgm:prSet/>
      <dgm:spPr/>
      <dgm:t>
        <a:bodyPr/>
        <a:lstStyle/>
        <a:p>
          <a:endParaRPr lang="en-US"/>
        </a:p>
      </dgm:t>
    </dgm:pt>
    <dgm:pt modelId="{E126CF6A-135C-416E-9F12-7F8DBEB01AAB}" type="sibTrans" cxnId="{8CE07F83-FF3A-4EA6-BF23-3063E5FC7F19}">
      <dgm:prSet/>
      <dgm:spPr/>
      <dgm:t>
        <a:bodyPr/>
        <a:lstStyle/>
        <a:p>
          <a:endParaRPr lang="en-US"/>
        </a:p>
      </dgm:t>
    </dgm:pt>
    <dgm:pt modelId="{3829A012-DFAA-4DD1-ABEC-385CD5F5F6AE}">
      <dgm:prSet/>
      <dgm:spPr/>
      <dgm:t>
        <a:bodyPr/>
        <a:lstStyle/>
        <a:p>
          <a:r>
            <a:rPr lang="en-US" dirty="0"/>
            <a:t>Outsourcing and crowdsourcing - focuses on changes in production organization</a:t>
          </a:r>
        </a:p>
      </dgm:t>
    </dgm:pt>
    <dgm:pt modelId="{1B99EFC1-36CB-4ECF-95BF-51F2810776B3}" type="parTrans" cxnId="{256AC09C-4F78-413A-94DD-BC7DACA6FB0F}">
      <dgm:prSet/>
      <dgm:spPr/>
      <dgm:t>
        <a:bodyPr/>
        <a:lstStyle/>
        <a:p>
          <a:endParaRPr lang="en-US"/>
        </a:p>
      </dgm:t>
    </dgm:pt>
    <dgm:pt modelId="{58F5F247-FEA2-48B5-B241-86DE1B92ED34}" type="sibTrans" cxnId="{256AC09C-4F78-413A-94DD-BC7DACA6FB0F}">
      <dgm:prSet/>
      <dgm:spPr/>
      <dgm:t>
        <a:bodyPr/>
        <a:lstStyle/>
        <a:p>
          <a:endParaRPr lang="en-US"/>
        </a:p>
      </dgm:t>
    </dgm:pt>
    <dgm:pt modelId="{42499CD6-1A4E-472F-87C3-E8EAE6217D74}">
      <dgm:prSet/>
      <dgm:spPr/>
      <dgm:t>
        <a:bodyPr/>
        <a:lstStyle/>
        <a:p>
          <a:r>
            <a:rPr lang="en-US" dirty="0"/>
            <a:t>Prosumer economy - focuses on changes in forces of economic growth</a:t>
          </a:r>
        </a:p>
      </dgm:t>
    </dgm:pt>
    <dgm:pt modelId="{0BFFD001-8985-4E57-90F7-DB90F407D39D}" type="parTrans" cxnId="{7F15195A-DF93-4A8C-A629-3F8D09511D51}">
      <dgm:prSet/>
      <dgm:spPr/>
      <dgm:t>
        <a:bodyPr/>
        <a:lstStyle/>
        <a:p>
          <a:endParaRPr lang="en-US"/>
        </a:p>
      </dgm:t>
    </dgm:pt>
    <dgm:pt modelId="{F631928C-F671-4DE0-B9B5-ED3170884259}" type="sibTrans" cxnId="{7F15195A-DF93-4A8C-A629-3F8D09511D51}">
      <dgm:prSet/>
      <dgm:spPr/>
      <dgm:t>
        <a:bodyPr/>
        <a:lstStyle/>
        <a:p>
          <a:endParaRPr lang="en-US"/>
        </a:p>
      </dgm:t>
    </dgm:pt>
    <dgm:pt modelId="{CF46A56D-FD75-4BDB-B0BB-E8A7A38430FD}" type="pres">
      <dgm:prSet presAssocID="{C049AAFD-DF19-43B9-B49F-872348D41E01}" presName="root" presStyleCnt="0">
        <dgm:presLayoutVars>
          <dgm:dir/>
          <dgm:resizeHandles val="exact"/>
        </dgm:presLayoutVars>
      </dgm:prSet>
      <dgm:spPr/>
    </dgm:pt>
    <dgm:pt modelId="{FF4E9800-CA24-4C4E-BAF7-FB5EBDC55BB7}" type="pres">
      <dgm:prSet presAssocID="{9B83E7F0-A983-431A-BA94-AC5DB1F05871}" presName="compNode" presStyleCnt="0"/>
      <dgm:spPr/>
    </dgm:pt>
    <dgm:pt modelId="{6F11BC8B-CCAF-4F62-A2D4-5C8A830882C1}" type="pres">
      <dgm:prSet presAssocID="{9B83E7F0-A983-431A-BA94-AC5DB1F05871}" presName="bgRect" presStyleLbl="bgShp" presStyleIdx="0" presStyleCnt="4"/>
      <dgm:spPr/>
    </dgm:pt>
    <dgm:pt modelId="{FF27715A-E7EA-4EF0-BE7D-8AC311DC44BD}" type="pres">
      <dgm:prSet presAssocID="{9B83E7F0-A983-431A-BA94-AC5DB1F05871}"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DAE05F15-DDED-4063-A841-7F8BD11942B1}" type="pres">
      <dgm:prSet presAssocID="{9B83E7F0-A983-431A-BA94-AC5DB1F05871}" presName="spaceRect" presStyleCnt="0"/>
      <dgm:spPr/>
    </dgm:pt>
    <dgm:pt modelId="{9F24B41B-CC66-4669-B1E4-E316D5902263}" type="pres">
      <dgm:prSet presAssocID="{9B83E7F0-A983-431A-BA94-AC5DB1F05871}" presName="parTx" presStyleLbl="revTx" presStyleIdx="0" presStyleCnt="4">
        <dgm:presLayoutVars>
          <dgm:chMax val="0"/>
          <dgm:chPref val="0"/>
        </dgm:presLayoutVars>
      </dgm:prSet>
      <dgm:spPr/>
    </dgm:pt>
    <dgm:pt modelId="{38A2653B-A07D-4BEA-86EA-0CE27B4996DD}" type="pres">
      <dgm:prSet presAssocID="{6A9DD716-4DF5-4A3E-812E-CAB31435B248}" presName="sibTrans" presStyleCnt="0"/>
      <dgm:spPr/>
    </dgm:pt>
    <dgm:pt modelId="{59D3E072-4070-4960-8CAF-5FE4ECBEF330}" type="pres">
      <dgm:prSet presAssocID="{370A2FCE-5B01-41FD-8633-013A3AB237C9}" presName="compNode" presStyleCnt="0"/>
      <dgm:spPr/>
    </dgm:pt>
    <dgm:pt modelId="{B87BAF6A-59FD-49FC-80BE-0EE2CED32500}" type="pres">
      <dgm:prSet presAssocID="{370A2FCE-5B01-41FD-8633-013A3AB237C9}" presName="bgRect" presStyleLbl="bgShp" presStyleIdx="1" presStyleCnt="4"/>
      <dgm:spPr/>
    </dgm:pt>
    <dgm:pt modelId="{1608E098-3CF5-48CE-A0C5-3C48865D6EDC}" type="pres">
      <dgm:prSet presAssocID="{370A2FCE-5B01-41FD-8633-013A3AB237C9}" presName="iconRect" presStyleLbl="node1" presStyleIdx="1" presStyleCnt="4"/>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FE233C89-B7B3-4242-B1FD-52FA9F83B820}" type="pres">
      <dgm:prSet presAssocID="{370A2FCE-5B01-41FD-8633-013A3AB237C9}" presName="spaceRect" presStyleCnt="0"/>
      <dgm:spPr/>
    </dgm:pt>
    <dgm:pt modelId="{636DB206-EC82-4F22-8499-FA7932C07A6B}" type="pres">
      <dgm:prSet presAssocID="{370A2FCE-5B01-41FD-8633-013A3AB237C9}" presName="parTx" presStyleLbl="revTx" presStyleIdx="1" presStyleCnt="4">
        <dgm:presLayoutVars>
          <dgm:chMax val="0"/>
          <dgm:chPref val="0"/>
        </dgm:presLayoutVars>
      </dgm:prSet>
      <dgm:spPr/>
    </dgm:pt>
    <dgm:pt modelId="{294E0834-1D76-4160-A296-9A393B4E6DE2}" type="pres">
      <dgm:prSet presAssocID="{E126CF6A-135C-416E-9F12-7F8DBEB01AAB}" presName="sibTrans" presStyleCnt="0"/>
      <dgm:spPr/>
    </dgm:pt>
    <dgm:pt modelId="{C1F71D73-C2AB-4B1C-A7E2-BF3345512F85}" type="pres">
      <dgm:prSet presAssocID="{3829A012-DFAA-4DD1-ABEC-385CD5F5F6AE}" presName="compNode" presStyleCnt="0"/>
      <dgm:spPr/>
    </dgm:pt>
    <dgm:pt modelId="{30E1A627-7C3B-443E-A994-031CF490863F}" type="pres">
      <dgm:prSet presAssocID="{3829A012-DFAA-4DD1-ABEC-385CD5F5F6AE}" presName="bgRect" presStyleLbl="bgShp" presStyleIdx="2" presStyleCnt="4"/>
      <dgm:spPr/>
    </dgm:pt>
    <dgm:pt modelId="{9AE768EB-E8E4-4522-A655-634D3C291E1D}" type="pres">
      <dgm:prSet presAssocID="{3829A012-DFAA-4DD1-ABEC-385CD5F5F6AE}" presName="iconRect" presStyleLbl="node1" presStyleIdx="2" presStyleCnt="4"/>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re With Person"/>
        </a:ext>
      </dgm:extLst>
    </dgm:pt>
    <dgm:pt modelId="{FBFCE878-DB42-4DD5-A330-7B4E892AA403}" type="pres">
      <dgm:prSet presAssocID="{3829A012-DFAA-4DD1-ABEC-385CD5F5F6AE}" presName="spaceRect" presStyleCnt="0"/>
      <dgm:spPr/>
    </dgm:pt>
    <dgm:pt modelId="{B95DCA3B-4AD0-42C9-9F19-9E2CD7B9D016}" type="pres">
      <dgm:prSet presAssocID="{3829A012-DFAA-4DD1-ABEC-385CD5F5F6AE}" presName="parTx" presStyleLbl="revTx" presStyleIdx="2" presStyleCnt="4">
        <dgm:presLayoutVars>
          <dgm:chMax val="0"/>
          <dgm:chPref val="0"/>
        </dgm:presLayoutVars>
      </dgm:prSet>
      <dgm:spPr/>
    </dgm:pt>
    <dgm:pt modelId="{B1351D96-D71D-40E6-9843-D39CC10B8A02}" type="pres">
      <dgm:prSet presAssocID="{58F5F247-FEA2-48B5-B241-86DE1B92ED34}" presName="sibTrans" presStyleCnt="0"/>
      <dgm:spPr/>
    </dgm:pt>
    <dgm:pt modelId="{F9569A91-BC79-49BB-BEA7-728FD12B1BD8}" type="pres">
      <dgm:prSet presAssocID="{42499CD6-1A4E-472F-87C3-E8EAE6217D74}" presName="compNode" presStyleCnt="0"/>
      <dgm:spPr/>
    </dgm:pt>
    <dgm:pt modelId="{5B134C76-AF49-4A7B-B541-AAE36B3255F6}" type="pres">
      <dgm:prSet presAssocID="{42499CD6-1A4E-472F-87C3-E8EAE6217D74}" presName="bgRect" presStyleLbl="bgShp" presStyleIdx="3" presStyleCnt="4"/>
      <dgm:spPr/>
    </dgm:pt>
    <dgm:pt modelId="{60F5DB89-BF0A-489B-B8D3-2FBEE24A10FC}" type="pres">
      <dgm:prSet presAssocID="{42499CD6-1A4E-472F-87C3-E8EAE6217D74}" presName="iconRect" presStyleLbl="node1" presStyleIdx="3" presStyleCnt="4"/>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ins"/>
        </a:ext>
      </dgm:extLst>
    </dgm:pt>
    <dgm:pt modelId="{412E8215-0608-46DC-9401-58168A3FB676}" type="pres">
      <dgm:prSet presAssocID="{42499CD6-1A4E-472F-87C3-E8EAE6217D74}" presName="spaceRect" presStyleCnt="0"/>
      <dgm:spPr/>
    </dgm:pt>
    <dgm:pt modelId="{210D0141-BA21-49AF-9A55-A7248AF0A4CE}" type="pres">
      <dgm:prSet presAssocID="{42499CD6-1A4E-472F-87C3-E8EAE6217D74}" presName="parTx" presStyleLbl="revTx" presStyleIdx="3" presStyleCnt="4">
        <dgm:presLayoutVars>
          <dgm:chMax val="0"/>
          <dgm:chPref val="0"/>
        </dgm:presLayoutVars>
      </dgm:prSet>
      <dgm:spPr/>
    </dgm:pt>
  </dgm:ptLst>
  <dgm:cxnLst>
    <dgm:cxn modelId="{32B6DE00-EB3B-463E-88E1-A80C2DBE6E76}" type="presOf" srcId="{370A2FCE-5B01-41FD-8633-013A3AB237C9}" destId="{636DB206-EC82-4F22-8499-FA7932C07A6B}" srcOrd="0" destOrd="0" presId="urn:microsoft.com/office/officeart/2018/2/layout/IconVerticalSolidList"/>
    <dgm:cxn modelId="{1138D01C-C1D4-4849-8DAE-BA1BBC3AC508}" type="presOf" srcId="{42499CD6-1A4E-472F-87C3-E8EAE6217D74}" destId="{210D0141-BA21-49AF-9A55-A7248AF0A4CE}" srcOrd="0" destOrd="0" presId="urn:microsoft.com/office/officeart/2018/2/layout/IconVerticalSolidList"/>
    <dgm:cxn modelId="{E0ABEA77-3089-41C8-B05A-9F5ABFB8FEBD}" type="presOf" srcId="{C049AAFD-DF19-43B9-B49F-872348D41E01}" destId="{CF46A56D-FD75-4BDB-B0BB-E8A7A38430FD}" srcOrd="0" destOrd="0" presId="urn:microsoft.com/office/officeart/2018/2/layout/IconVerticalSolidList"/>
    <dgm:cxn modelId="{7F15195A-DF93-4A8C-A629-3F8D09511D51}" srcId="{C049AAFD-DF19-43B9-B49F-872348D41E01}" destId="{42499CD6-1A4E-472F-87C3-E8EAE6217D74}" srcOrd="3" destOrd="0" parTransId="{0BFFD001-8985-4E57-90F7-DB90F407D39D}" sibTransId="{F631928C-F671-4DE0-B9B5-ED3170884259}"/>
    <dgm:cxn modelId="{8CE07F83-FF3A-4EA6-BF23-3063E5FC7F19}" srcId="{C049AAFD-DF19-43B9-B49F-872348D41E01}" destId="{370A2FCE-5B01-41FD-8633-013A3AB237C9}" srcOrd="1" destOrd="0" parTransId="{21E8DD69-F0CA-41B1-B467-C05D675FCF77}" sibTransId="{E126CF6A-135C-416E-9F12-7F8DBEB01AAB}"/>
    <dgm:cxn modelId="{DCD56E8D-AFFF-4F18-B4A2-5E351033BEC4}" srcId="{C049AAFD-DF19-43B9-B49F-872348D41E01}" destId="{9B83E7F0-A983-431A-BA94-AC5DB1F05871}" srcOrd="0" destOrd="0" parTransId="{F10C3F76-51C4-48C9-BBD2-E74BB7F02BE3}" sibTransId="{6A9DD716-4DF5-4A3E-812E-CAB31435B248}"/>
    <dgm:cxn modelId="{256AC09C-4F78-413A-94DD-BC7DACA6FB0F}" srcId="{C049AAFD-DF19-43B9-B49F-872348D41E01}" destId="{3829A012-DFAA-4DD1-ABEC-385CD5F5F6AE}" srcOrd="2" destOrd="0" parTransId="{1B99EFC1-36CB-4ECF-95BF-51F2810776B3}" sibTransId="{58F5F247-FEA2-48B5-B241-86DE1B92ED34}"/>
    <dgm:cxn modelId="{A746EF9F-5D01-45B8-BD38-796C1935E031}" type="presOf" srcId="{9B83E7F0-A983-431A-BA94-AC5DB1F05871}" destId="{9F24B41B-CC66-4669-B1E4-E316D5902263}" srcOrd="0" destOrd="0" presId="urn:microsoft.com/office/officeart/2018/2/layout/IconVerticalSolidList"/>
    <dgm:cxn modelId="{9BA13DC3-739E-42E7-B1F4-AA5F7B3E0B59}" type="presOf" srcId="{3829A012-DFAA-4DD1-ABEC-385CD5F5F6AE}" destId="{B95DCA3B-4AD0-42C9-9F19-9E2CD7B9D016}" srcOrd="0" destOrd="0" presId="urn:microsoft.com/office/officeart/2018/2/layout/IconVerticalSolidList"/>
    <dgm:cxn modelId="{BC170BBF-2F90-439B-92F0-A534F6344D18}" type="presParOf" srcId="{CF46A56D-FD75-4BDB-B0BB-E8A7A38430FD}" destId="{FF4E9800-CA24-4C4E-BAF7-FB5EBDC55BB7}" srcOrd="0" destOrd="0" presId="urn:microsoft.com/office/officeart/2018/2/layout/IconVerticalSolidList"/>
    <dgm:cxn modelId="{7DBBD557-DBAE-42DF-9075-1DA23F736A8A}" type="presParOf" srcId="{FF4E9800-CA24-4C4E-BAF7-FB5EBDC55BB7}" destId="{6F11BC8B-CCAF-4F62-A2D4-5C8A830882C1}" srcOrd="0" destOrd="0" presId="urn:microsoft.com/office/officeart/2018/2/layout/IconVerticalSolidList"/>
    <dgm:cxn modelId="{15057232-11C3-4C94-BA80-37FD845940F1}" type="presParOf" srcId="{FF4E9800-CA24-4C4E-BAF7-FB5EBDC55BB7}" destId="{FF27715A-E7EA-4EF0-BE7D-8AC311DC44BD}" srcOrd="1" destOrd="0" presId="urn:microsoft.com/office/officeart/2018/2/layout/IconVerticalSolidList"/>
    <dgm:cxn modelId="{D3D74345-ACDF-4008-ABB6-B724CD2C6837}" type="presParOf" srcId="{FF4E9800-CA24-4C4E-BAF7-FB5EBDC55BB7}" destId="{DAE05F15-DDED-4063-A841-7F8BD11942B1}" srcOrd="2" destOrd="0" presId="urn:microsoft.com/office/officeart/2018/2/layout/IconVerticalSolidList"/>
    <dgm:cxn modelId="{7C3A99C3-514E-41EC-AB35-BE677B44B02A}" type="presParOf" srcId="{FF4E9800-CA24-4C4E-BAF7-FB5EBDC55BB7}" destId="{9F24B41B-CC66-4669-B1E4-E316D5902263}" srcOrd="3" destOrd="0" presId="urn:microsoft.com/office/officeart/2018/2/layout/IconVerticalSolidList"/>
    <dgm:cxn modelId="{E63B1CCD-9120-4D75-8F40-FA7280438F8C}" type="presParOf" srcId="{CF46A56D-FD75-4BDB-B0BB-E8A7A38430FD}" destId="{38A2653B-A07D-4BEA-86EA-0CE27B4996DD}" srcOrd="1" destOrd="0" presId="urn:microsoft.com/office/officeart/2018/2/layout/IconVerticalSolidList"/>
    <dgm:cxn modelId="{4BE4959B-9721-4581-84FB-45391BBC9C8F}" type="presParOf" srcId="{CF46A56D-FD75-4BDB-B0BB-E8A7A38430FD}" destId="{59D3E072-4070-4960-8CAF-5FE4ECBEF330}" srcOrd="2" destOrd="0" presId="urn:microsoft.com/office/officeart/2018/2/layout/IconVerticalSolidList"/>
    <dgm:cxn modelId="{70B1A73E-E3A0-466D-8278-57893DB3FD5C}" type="presParOf" srcId="{59D3E072-4070-4960-8CAF-5FE4ECBEF330}" destId="{B87BAF6A-59FD-49FC-80BE-0EE2CED32500}" srcOrd="0" destOrd="0" presId="urn:microsoft.com/office/officeart/2018/2/layout/IconVerticalSolidList"/>
    <dgm:cxn modelId="{9B80594B-B887-42A6-9B0C-11FC8E50EB2C}" type="presParOf" srcId="{59D3E072-4070-4960-8CAF-5FE4ECBEF330}" destId="{1608E098-3CF5-48CE-A0C5-3C48865D6EDC}" srcOrd="1" destOrd="0" presId="urn:microsoft.com/office/officeart/2018/2/layout/IconVerticalSolidList"/>
    <dgm:cxn modelId="{51C6C86F-A62C-4B89-BEE7-4AB1334093A5}" type="presParOf" srcId="{59D3E072-4070-4960-8CAF-5FE4ECBEF330}" destId="{FE233C89-B7B3-4242-B1FD-52FA9F83B820}" srcOrd="2" destOrd="0" presId="urn:microsoft.com/office/officeart/2018/2/layout/IconVerticalSolidList"/>
    <dgm:cxn modelId="{D3AE3DCB-3379-46F5-9208-7BD5664F360E}" type="presParOf" srcId="{59D3E072-4070-4960-8CAF-5FE4ECBEF330}" destId="{636DB206-EC82-4F22-8499-FA7932C07A6B}" srcOrd="3" destOrd="0" presId="urn:microsoft.com/office/officeart/2018/2/layout/IconVerticalSolidList"/>
    <dgm:cxn modelId="{F5F5EE10-B048-46E1-8976-CD6FEAFE83BA}" type="presParOf" srcId="{CF46A56D-FD75-4BDB-B0BB-E8A7A38430FD}" destId="{294E0834-1D76-4160-A296-9A393B4E6DE2}" srcOrd="3" destOrd="0" presId="urn:microsoft.com/office/officeart/2018/2/layout/IconVerticalSolidList"/>
    <dgm:cxn modelId="{C0C9DDF2-6A2E-438F-B7E3-E566CF854E24}" type="presParOf" srcId="{CF46A56D-FD75-4BDB-B0BB-E8A7A38430FD}" destId="{C1F71D73-C2AB-4B1C-A7E2-BF3345512F85}" srcOrd="4" destOrd="0" presId="urn:microsoft.com/office/officeart/2018/2/layout/IconVerticalSolidList"/>
    <dgm:cxn modelId="{77376714-185C-445D-9D4A-3CD1DB4CBF6A}" type="presParOf" srcId="{C1F71D73-C2AB-4B1C-A7E2-BF3345512F85}" destId="{30E1A627-7C3B-443E-A994-031CF490863F}" srcOrd="0" destOrd="0" presId="urn:microsoft.com/office/officeart/2018/2/layout/IconVerticalSolidList"/>
    <dgm:cxn modelId="{80F75AA4-31E8-4DE9-AE99-FA8BA2BBF75E}" type="presParOf" srcId="{C1F71D73-C2AB-4B1C-A7E2-BF3345512F85}" destId="{9AE768EB-E8E4-4522-A655-634D3C291E1D}" srcOrd="1" destOrd="0" presId="urn:microsoft.com/office/officeart/2018/2/layout/IconVerticalSolidList"/>
    <dgm:cxn modelId="{F148D749-C4B6-4502-9652-0519A7BC1906}" type="presParOf" srcId="{C1F71D73-C2AB-4B1C-A7E2-BF3345512F85}" destId="{FBFCE878-DB42-4DD5-A330-7B4E892AA403}" srcOrd="2" destOrd="0" presId="urn:microsoft.com/office/officeart/2018/2/layout/IconVerticalSolidList"/>
    <dgm:cxn modelId="{90643180-1499-4E6F-BB35-763CF9F59429}" type="presParOf" srcId="{C1F71D73-C2AB-4B1C-A7E2-BF3345512F85}" destId="{B95DCA3B-4AD0-42C9-9F19-9E2CD7B9D016}" srcOrd="3" destOrd="0" presId="urn:microsoft.com/office/officeart/2018/2/layout/IconVerticalSolidList"/>
    <dgm:cxn modelId="{7DD0D231-C9CE-470F-A110-55590A623048}" type="presParOf" srcId="{CF46A56D-FD75-4BDB-B0BB-E8A7A38430FD}" destId="{B1351D96-D71D-40E6-9843-D39CC10B8A02}" srcOrd="5" destOrd="0" presId="urn:microsoft.com/office/officeart/2018/2/layout/IconVerticalSolidList"/>
    <dgm:cxn modelId="{F2F4DF10-6EDD-4DDC-A309-B681779499CA}" type="presParOf" srcId="{CF46A56D-FD75-4BDB-B0BB-E8A7A38430FD}" destId="{F9569A91-BC79-49BB-BEA7-728FD12B1BD8}" srcOrd="6" destOrd="0" presId="urn:microsoft.com/office/officeart/2018/2/layout/IconVerticalSolidList"/>
    <dgm:cxn modelId="{2503331F-F868-444F-A706-A01FB54D4B48}" type="presParOf" srcId="{F9569A91-BC79-49BB-BEA7-728FD12B1BD8}" destId="{5B134C76-AF49-4A7B-B541-AAE36B3255F6}" srcOrd="0" destOrd="0" presId="urn:microsoft.com/office/officeart/2018/2/layout/IconVerticalSolidList"/>
    <dgm:cxn modelId="{C1116A70-4862-40E8-B9F9-9CA53E588746}" type="presParOf" srcId="{F9569A91-BC79-49BB-BEA7-728FD12B1BD8}" destId="{60F5DB89-BF0A-489B-B8D3-2FBEE24A10FC}" srcOrd="1" destOrd="0" presId="urn:microsoft.com/office/officeart/2018/2/layout/IconVerticalSolidList"/>
    <dgm:cxn modelId="{BBB38923-D400-49EA-9398-974332F672ED}" type="presParOf" srcId="{F9569A91-BC79-49BB-BEA7-728FD12B1BD8}" destId="{412E8215-0608-46DC-9401-58168A3FB676}" srcOrd="2" destOrd="0" presId="urn:microsoft.com/office/officeart/2018/2/layout/IconVerticalSolidList"/>
    <dgm:cxn modelId="{A7D00D18-903F-4BCD-9CF7-B3AC48F007F7}" type="presParOf" srcId="{F9569A91-BC79-49BB-BEA7-728FD12B1BD8}" destId="{210D0141-BA21-49AF-9A55-A7248AF0A4C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049AAFD-DF19-43B9-B49F-872348D41E0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B83E7F0-A983-431A-BA94-AC5DB1F05871}">
      <dgm:prSet/>
      <dgm:spPr/>
      <dgm:t>
        <a:bodyPr/>
        <a:lstStyle/>
        <a:p>
          <a:r>
            <a:rPr lang="en-US" b="0" dirty="0"/>
            <a:t>Big data, cloud computing, mobile internet - focuses on changes in infrastructure</a:t>
          </a:r>
        </a:p>
      </dgm:t>
    </dgm:pt>
    <dgm:pt modelId="{F10C3F76-51C4-48C9-BBD2-E74BB7F02BE3}" type="parTrans" cxnId="{DCD56E8D-AFFF-4F18-B4A2-5E351033BEC4}">
      <dgm:prSet/>
      <dgm:spPr/>
      <dgm:t>
        <a:bodyPr/>
        <a:lstStyle/>
        <a:p>
          <a:endParaRPr lang="en-US"/>
        </a:p>
      </dgm:t>
    </dgm:pt>
    <dgm:pt modelId="{6A9DD716-4DF5-4A3E-812E-CAB31435B248}" type="sibTrans" cxnId="{DCD56E8D-AFFF-4F18-B4A2-5E351033BEC4}">
      <dgm:prSet/>
      <dgm:spPr/>
      <dgm:t>
        <a:bodyPr/>
        <a:lstStyle/>
        <a:p>
          <a:endParaRPr lang="en-US"/>
        </a:p>
      </dgm:t>
    </dgm:pt>
    <dgm:pt modelId="{370A2FCE-5B01-41FD-8633-013A3AB237C9}">
      <dgm:prSet/>
      <dgm:spPr/>
      <dgm:t>
        <a:bodyPr/>
        <a:lstStyle/>
        <a:p>
          <a:r>
            <a:rPr lang="en-US" b="1" dirty="0"/>
            <a:t>Software-defined anything - focuses on changes in productivity</a:t>
          </a:r>
        </a:p>
      </dgm:t>
    </dgm:pt>
    <dgm:pt modelId="{21E8DD69-F0CA-41B1-B467-C05D675FCF77}" type="parTrans" cxnId="{8CE07F83-FF3A-4EA6-BF23-3063E5FC7F19}">
      <dgm:prSet/>
      <dgm:spPr/>
      <dgm:t>
        <a:bodyPr/>
        <a:lstStyle/>
        <a:p>
          <a:endParaRPr lang="en-US"/>
        </a:p>
      </dgm:t>
    </dgm:pt>
    <dgm:pt modelId="{E126CF6A-135C-416E-9F12-7F8DBEB01AAB}" type="sibTrans" cxnId="{8CE07F83-FF3A-4EA6-BF23-3063E5FC7F19}">
      <dgm:prSet/>
      <dgm:spPr/>
      <dgm:t>
        <a:bodyPr/>
        <a:lstStyle/>
        <a:p>
          <a:endParaRPr lang="en-US"/>
        </a:p>
      </dgm:t>
    </dgm:pt>
    <dgm:pt modelId="{3829A012-DFAA-4DD1-ABEC-385CD5F5F6AE}">
      <dgm:prSet/>
      <dgm:spPr/>
      <dgm:t>
        <a:bodyPr/>
        <a:lstStyle/>
        <a:p>
          <a:r>
            <a:rPr lang="en-US" dirty="0"/>
            <a:t>Outsourcing and crowdsourcing - focuses on changes in production organization</a:t>
          </a:r>
        </a:p>
      </dgm:t>
    </dgm:pt>
    <dgm:pt modelId="{1B99EFC1-36CB-4ECF-95BF-51F2810776B3}" type="parTrans" cxnId="{256AC09C-4F78-413A-94DD-BC7DACA6FB0F}">
      <dgm:prSet/>
      <dgm:spPr/>
      <dgm:t>
        <a:bodyPr/>
        <a:lstStyle/>
        <a:p>
          <a:endParaRPr lang="en-US"/>
        </a:p>
      </dgm:t>
    </dgm:pt>
    <dgm:pt modelId="{58F5F247-FEA2-48B5-B241-86DE1B92ED34}" type="sibTrans" cxnId="{256AC09C-4F78-413A-94DD-BC7DACA6FB0F}">
      <dgm:prSet/>
      <dgm:spPr/>
      <dgm:t>
        <a:bodyPr/>
        <a:lstStyle/>
        <a:p>
          <a:endParaRPr lang="en-US"/>
        </a:p>
      </dgm:t>
    </dgm:pt>
    <dgm:pt modelId="{42499CD6-1A4E-472F-87C3-E8EAE6217D74}">
      <dgm:prSet/>
      <dgm:spPr/>
      <dgm:t>
        <a:bodyPr/>
        <a:lstStyle/>
        <a:p>
          <a:r>
            <a:rPr lang="en-US" dirty="0"/>
            <a:t>Prosumer economy - focuses on changes in forces of economic growth</a:t>
          </a:r>
        </a:p>
      </dgm:t>
    </dgm:pt>
    <dgm:pt modelId="{0BFFD001-8985-4E57-90F7-DB90F407D39D}" type="parTrans" cxnId="{7F15195A-DF93-4A8C-A629-3F8D09511D51}">
      <dgm:prSet/>
      <dgm:spPr/>
      <dgm:t>
        <a:bodyPr/>
        <a:lstStyle/>
        <a:p>
          <a:endParaRPr lang="en-US"/>
        </a:p>
      </dgm:t>
    </dgm:pt>
    <dgm:pt modelId="{F631928C-F671-4DE0-B9B5-ED3170884259}" type="sibTrans" cxnId="{7F15195A-DF93-4A8C-A629-3F8D09511D51}">
      <dgm:prSet/>
      <dgm:spPr/>
      <dgm:t>
        <a:bodyPr/>
        <a:lstStyle/>
        <a:p>
          <a:endParaRPr lang="en-US"/>
        </a:p>
      </dgm:t>
    </dgm:pt>
    <dgm:pt modelId="{CF46A56D-FD75-4BDB-B0BB-E8A7A38430FD}" type="pres">
      <dgm:prSet presAssocID="{C049AAFD-DF19-43B9-B49F-872348D41E01}" presName="root" presStyleCnt="0">
        <dgm:presLayoutVars>
          <dgm:dir/>
          <dgm:resizeHandles val="exact"/>
        </dgm:presLayoutVars>
      </dgm:prSet>
      <dgm:spPr/>
    </dgm:pt>
    <dgm:pt modelId="{FF4E9800-CA24-4C4E-BAF7-FB5EBDC55BB7}" type="pres">
      <dgm:prSet presAssocID="{9B83E7F0-A983-431A-BA94-AC5DB1F05871}" presName="compNode" presStyleCnt="0"/>
      <dgm:spPr/>
    </dgm:pt>
    <dgm:pt modelId="{6F11BC8B-CCAF-4F62-A2D4-5C8A830882C1}" type="pres">
      <dgm:prSet presAssocID="{9B83E7F0-A983-431A-BA94-AC5DB1F05871}" presName="bgRect" presStyleLbl="bgShp" presStyleIdx="0" presStyleCnt="4"/>
      <dgm:spPr/>
    </dgm:pt>
    <dgm:pt modelId="{FF27715A-E7EA-4EF0-BE7D-8AC311DC44BD}" type="pres">
      <dgm:prSet presAssocID="{9B83E7F0-A983-431A-BA94-AC5DB1F05871}"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DAE05F15-DDED-4063-A841-7F8BD11942B1}" type="pres">
      <dgm:prSet presAssocID="{9B83E7F0-A983-431A-BA94-AC5DB1F05871}" presName="spaceRect" presStyleCnt="0"/>
      <dgm:spPr/>
    </dgm:pt>
    <dgm:pt modelId="{9F24B41B-CC66-4669-B1E4-E316D5902263}" type="pres">
      <dgm:prSet presAssocID="{9B83E7F0-A983-431A-BA94-AC5DB1F05871}" presName="parTx" presStyleLbl="revTx" presStyleIdx="0" presStyleCnt="4">
        <dgm:presLayoutVars>
          <dgm:chMax val="0"/>
          <dgm:chPref val="0"/>
        </dgm:presLayoutVars>
      </dgm:prSet>
      <dgm:spPr/>
    </dgm:pt>
    <dgm:pt modelId="{38A2653B-A07D-4BEA-86EA-0CE27B4996DD}" type="pres">
      <dgm:prSet presAssocID="{6A9DD716-4DF5-4A3E-812E-CAB31435B248}" presName="sibTrans" presStyleCnt="0"/>
      <dgm:spPr/>
    </dgm:pt>
    <dgm:pt modelId="{59D3E072-4070-4960-8CAF-5FE4ECBEF330}" type="pres">
      <dgm:prSet presAssocID="{370A2FCE-5B01-41FD-8633-013A3AB237C9}" presName="compNode" presStyleCnt="0"/>
      <dgm:spPr/>
    </dgm:pt>
    <dgm:pt modelId="{B87BAF6A-59FD-49FC-80BE-0EE2CED32500}" type="pres">
      <dgm:prSet presAssocID="{370A2FCE-5B01-41FD-8633-013A3AB237C9}" presName="bgRect" presStyleLbl="bgShp" presStyleIdx="1" presStyleCnt="4"/>
      <dgm:spPr/>
    </dgm:pt>
    <dgm:pt modelId="{1608E098-3CF5-48CE-A0C5-3C48865D6EDC}" type="pres">
      <dgm:prSet presAssocID="{370A2FCE-5B01-41FD-8633-013A3AB237C9}" presName="iconRect" presStyleLbl="node1" presStyleIdx="1" presStyleCnt="4"/>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FE233C89-B7B3-4242-B1FD-52FA9F83B820}" type="pres">
      <dgm:prSet presAssocID="{370A2FCE-5B01-41FD-8633-013A3AB237C9}" presName="spaceRect" presStyleCnt="0"/>
      <dgm:spPr/>
    </dgm:pt>
    <dgm:pt modelId="{636DB206-EC82-4F22-8499-FA7932C07A6B}" type="pres">
      <dgm:prSet presAssocID="{370A2FCE-5B01-41FD-8633-013A3AB237C9}" presName="parTx" presStyleLbl="revTx" presStyleIdx="1" presStyleCnt="4">
        <dgm:presLayoutVars>
          <dgm:chMax val="0"/>
          <dgm:chPref val="0"/>
        </dgm:presLayoutVars>
      </dgm:prSet>
      <dgm:spPr/>
    </dgm:pt>
    <dgm:pt modelId="{294E0834-1D76-4160-A296-9A393B4E6DE2}" type="pres">
      <dgm:prSet presAssocID="{E126CF6A-135C-416E-9F12-7F8DBEB01AAB}" presName="sibTrans" presStyleCnt="0"/>
      <dgm:spPr/>
    </dgm:pt>
    <dgm:pt modelId="{C1F71D73-C2AB-4B1C-A7E2-BF3345512F85}" type="pres">
      <dgm:prSet presAssocID="{3829A012-DFAA-4DD1-ABEC-385CD5F5F6AE}" presName="compNode" presStyleCnt="0"/>
      <dgm:spPr/>
    </dgm:pt>
    <dgm:pt modelId="{30E1A627-7C3B-443E-A994-031CF490863F}" type="pres">
      <dgm:prSet presAssocID="{3829A012-DFAA-4DD1-ABEC-385CD5F5F6AE}" presName="bgRect" presStyleLbl="bgShp" presStyleIdx="2" presStyleCnt="4"/>
      <dgm:spPr/>
    </dgm:pt>
    <dgm:pt modelId="{9AE768EB-E8E4-4522-A655-634D3C291E1D}" type="pres">
      <dgm:prSet presAssocID="{3829A012-DFAA-4DD1-ABEC-385CD5F5F6AE}" presName="iconRect" presStyleLbl="node1" presStyleIdx="2" presStyleCnt="4"/>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re With Person"/>
        </a:ext>
      </dgm:extLst>
    </dgm:pt>
    <dgm:pt modelId="{FBFCE878-DB42-4DD5-A330-7B4E892AA403}" type="pres">
      <dgm:prSet presAssocID="{3829A012-DFAA-4DD1-ABEC-385CD5F5F6AE}" presName="spaceRect" presStyleCnt="0"/>
      <dgm:spPr/>
    </dgm:pt>
    <dgm:pt modelId="{B95DCA3B-4AD0-42C9-9F19-9E2CD7B9D016}" type="pres">
      <dgm:prSet presAssocID="{3829A012-DFAA-4DD1-ABEC-385CD5F5F6AE}" presName="parTx" presStyleLbl="revTx" presStyleIdx="2" presStyleCnt="4">
        <dgm:presLayoutVars>
          <dgm:chMax val="0"/>
          <dgm:chPref val="0"/>
        </dgm:presLayoutVars>
      </dgm:prSet>
      <dgm:spPr/>
    </dgm:pt>
    <dgm:pt modelId="{B1351D96-D71D-40E6-9843-D39CC10B8A02}" type="pres">
      <dgm:prSet presAssocID="{58F5F247-FEA2-48B5-B241-86DE1B92ED34}" presName="sibTrans" presStyleCnt="0"/>
      <dgm:spPr/>
    </dgm:pt>
    <dgm:pt modelId="{F9569A91-BC79-49BB-BEA7-728FD12B1BD8}" type="pres">
      <dgm:prSet presAssocID="{42499CD6-1A4E-472F-87C3-E8EAE6217D74}" presName="compNode" presStyleCnt="0"/>
      <dgm:spPr/>
    </dgm:pt>
    <dgm:pt modelId="{5B134C76-AF49-4A7B-B541-AAE36B3255F6}" type="pres">
      <dgm:prSet presAssocID="{42499CD6-1A4E-472F-87C3-E8EAE6217D74}" presName="bgRect" presStyleLbl="bgShp" presStyleIdx="3" presStyleCnt="4"/>
      <dgm:spPr/>
    </dgm:pt>
    <dgm:pt modelId="{60F5DB89-BF0A-489B-B8D3-2FBEE24A10FC}" type="pres">
      <dgm:prSet presAssocID="{42499CD6-1A4E-472F-87C3-E8EAE6217D74}" presName="iconRect" presStyleLbl="node1" presStyleIdx="3" presStyleCnt="4"/>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ins"/>
        </a:ext>
      </dgm:extLst>
    </dgm:pt>
    <dgm:pt modelId="{412E8215-0608-46DC-9401-58168A3FB676}" type="pres">
      <dgm:prSet presAssocID="{42499CD6-1A4E-472F-87C3-E8EAE6217D74}" presName="spaceRect" presStyleCnt="0"/>
      <dgm:spPr/>
    </dgm:pt>
    <dgm:pt modelId="{210D0141-BA21-49AF-9A55-A7248AF0A4CE}" type="pres">
      <dgm:prSet presAssocID="{42499CD6-1A4E-472F-87C3-E8EAE6217D74}" presName="parTx" presStyleLbl="revTx" presStyleIdx="3" presStyleCnt="4">
        <dgm:presLayoutVars>
          <dgm:chMax val="0"/>
          <dgm:chPref val="0"/>
        </dgm:presLayoutVars>
      </dgm:prSet>
      <dgm:spPr/>
    </dgm:pt>
  </dgm:ptLst>
  <dgm:cxnLst>
    <dgm:cxn modelId="{32B6DE00-EB3B-463E-88E1-A80C2DBE6E76}" type="presOf" srcId="{370A2FCE-5B01-41FD-8633-013A3AB237C9}" destId="{636DB206-EC82-4F22-8499-FA7932C07A6B}" srcOrd="0" destOrd="0" presId="urn:microsoft.com/office/officeart/2018/2/layout/IconVerticalSolidList"/>
    <dgm:cxn modelId="{1138D01C-C1D4-4849-8DAE-BA1BBC3AC508}" type="presOf" srcId="{42499CD6-1A4E-472F-87C3-E8EAE6217D74}" destId="{210D0141-BA21-49AF-9A55-A7248AF0A4CE}" srcOrd="0" destOrd="0" presId="urn:microsoft.com/office/officeart/2018/2/layout/IconVerticalSolidList"/>
    <dgm:cxn modelId="{E0ABEA77-3089-41C8-B05A-9F5ABFB8FEBD}" type="presOf" srcId="{C049AAFD-DF19-43B9-B49F-872348D41E01}" destId="{CF46A56D-FD75-4BDB-B0BB-E8A7A38430FD}" srcOrd="0" destOrd="0" presId="urn:microsoft.com/office/officeart/2018/2/layout/IconVerticalSolidList"/>
    <dgm:cxn modelId="{7F15195A-DF93-4A8C-A629-3F8D09511D51}" srcId="{C049AAFD-DF19-43B9-B49F-872348D41E01}" destId="{42499CD6-1A4E-472F-87C3-E8EAE6217D74}" srcOrd="3" destOrd="0" parTransId="{0BFFD001-8985-4E57-90F7-DB90F407D39D}" sibTransId="{F631928C-F671-4DE0-B9B5-ED3170884259}"/>
    <dgm:cxn modelId="{8CE07F83-FF3A-4EA6-BF23-3063E5FC7F19}" srcId="{C049AAFD-DF19-43B9-B49F-872348D41E01}" destId="{370A2FCE-5B01-41FD-8633-013A3AB237C9}" srcOrd="1" destOrd="0" parTransId="{21E8DD69-F0CA-41B1-B467-C05D675FCF77}" sibTransId="{E126CF6A-135C-416E-9F12-7F8DBEB01AAB}"/>
    <dgm:cxn modelId="{DCD56E8D-AFFF-4F18-B4A2-5E351033BEC4}" srcId="{C049AAFD-DF19-43B9-B49F-872348D41E01}" destId="{9B83E7F0-A983-431A-BA94-AC5DB1F05871}" srcOrd="0" destOrd="0" parTransId="{F10C3F76-51C4-48C9-BBD2-E74BB7F02BE3}" sibTransId="{6A9DD716-4DF5-4A3E-812E-CAB31435B248}"/>
    <dgm:cxn modelId="{256AC09C-4F78-413A-94DD-BC7DACA6FB0F}" srcId="{C049AAFD-DF19-43B9-B49F-872348D41E01}" destId="{3829A012-DFAA-4DD1-ABEC-385CD5F5F6AE}" srcOrd="2" destOrd="0" parTransId="{1B99EFC1-36CB-4ECF-95BF-51F2810776B3}" sibTransId="{58F5F247-FEA2-48B5-B241-86DE1B92ED34}"/>
    <dgm:cxn modelId="{A746EF9F-5D01-45B8-BD38-796C1935E031}" type="presOf" srcId="{9B83E7F0-A983-431A-BA94-AC5DB1F05871}" destId="{9F24B41B-CC66-4669-B1E4-E316D5902263}" srcOrd="0" destOrd="0" presId="urn:microsoft.com/office/officeart/2018/2/layout/IconVerticalSolidList"/>
    <dgm:cxn modelId="{9BA13DC3-739E-42E7-B1F4-AA5F7B3E0B59}" type="presOf" srcId="{3829A012-DFAA-4DD1-ABEC-385CD5F5F6AE}" destId="{B95DCA3B-4AD0-42C9-9F19-9E2CD7B9D016}" srcOrd="0" destOrd="0" presId="urn:microsoft.com/office/officeart/2018/2/layout/IconVerticalSolidList"/>
    <dgm:cxn modelId="{BC170BBF-2F90-439B-92F0-A534F6344D18}" type="presParOf" srcId="{CF46A56D-FD75-4BDB-B0BB-E8A7A38430FD}" destId="{FF4E9800-CA24-4C4E-BAF7-FB5EBDC55BB7}" srcOrd="0" destOrd="0" presId="urn:microsoft.com/office/officeart/2018/2/layout/IconVerticalSolidList"/>
    <dgm:cxn modelId="{7DBBD557-DBAE-42DF-9075-1DA23F736A8A}" type="presParOf" srcId="{FF4E9800-CA24-4C4E-BAF7-FB5EBDC55BB7}" destId="{6F11BC8B-CCAF-4F62-A2D4-5C8A830882C1}" srcOrd="0" destOrd="0" presId="urn:microsoft.com/office/officeart/2018/2/layout/IconVerticalSolidList"/>
    <dgm:cxn modelId="{15057232-11C3-4C94-BA80-37FD845940F1}" type="presParOf" srcId="{FF4E9800-CA24-4C4E-BAF7-FB5EBDC55BB7}" destId="{FF27715A-E7EA-4EF0-BE7D-8AC311DC44BD}" srcOrd="1" destOrd="0" presId="urn:microsoft.com/office/officeart/2018/2/layout/IconVerticalSolidList"/>
    <dgm:cxn modelId="{D3D74345-ACDF-4008-ABB6-B724CD2C6837}" type="presParOf" srcId="{FF4E9800-CA24-4C4E-BAF7-FB5EBDC55BB7}" destId="{DAE05F15-DDED-4063-A841-7F8BD11942B1}" srcOrd="2" destOrd="0" presId="urn:microsoft.com/office/officeart/2018/2/layout/IconVerticalSolidList"/>
    <dgm:cxn modelId="{7C3A99C3-514E-41EC-AB35-BE677B44B02A}" type="presParOf" srcId="{FF4E9800-CA24-4C4E-BAF7-FB5EBDC55BB7}" destId="{9F24B41B-CC66-4669-B1E4-E316D5902263}" srcOrd="3" destOrd="0" presId="urn:microsoft.com/office/officeart/2018/2/layout/IconVerticalSolidList"/>
    <dgm:cxn modelId="{E63B1CCD-9120-4D75-8F40-FA7280438F8C}" type="presParOf" srcId="{CF46A56D-FD75-4BDB-B0BB-E8A7A38430FD}" destId="{38A2653B-A07D-4BEA-86EA-0CE27B4996DD}" srcOrd="1" destOrd="0" presId="urn:microsoft.com/office/officeart/2018/2/layout/IconVerticalSolidList"/>
    <dgm:cxn modelId="{4BE4959B-9721-4581-84FB-45391BBC9C8F}" type="presParOf" srcId="{CF46A56D-FD75-4BDB-B0BB-E8A7A38430FD}" destId="{59D3E072-4070-4960-8CAF-5FE4ECBEF330}" srcOrd="2" destOrd="0" presId="urn:microsoft.com/office/officeart/2018/2/layout/IconVerticalSolidList"/>
    <dgm:cxn modelId="{70B1A73E-E3A0-466D-8278-57893DB3FD5C}" type="presParOf" srcId="{59D3E072-4070-4960-8CAF-5FE4ECBEF330}" destId="{B87BAF6A-59FD-49FC-80BE-0EE2CED32500}" srcOrd="0" destOrd="0" presId="urn:microsoft.com/office/officeart/2018/2/layout/IconVerticalSolidList"/>
    <dgm:cxn modelId="{9B80594B-B887-42A6-9B0C-11FC8E50EB2C}" type="presParOf" srcId="{59D3E072-4070-4960-8CAF-5FE4ECBEF330}" destId="{1608E098-3CF5-48CE-A0C5-3C48865D6EDC}" srcOrd="1" destOrd="0" presId="urn:microsoft.com/office/officeart/2018/2/layout/IconVerticalSolidList"/>
    <dgm:cxn modelId="{51C6C86F-A62C-4B89-BEE7-4AB1334093A5}" type="presParOf" srcId="{59D3E072-4070-4960-8CAF-5FE4ECBEF330}" destId="{FE233C89-B7B3-4242-B1FD-52FA9F83B820}" srcOrd="2" destOrd="0" presId="urn:microsoft.com/office/officeart/2018/2/layout/IconVerticalSolidList"/>
    <dgm:cxn modelId="{D3AE3DCB-3379-46F5-9208-7BD5664F360E}" type="presParOf" srcId="{59D3E072-4070-4960-8CAF-5FE4ECBEF330}" destId="{636DB206-EC82-4F22-8499-FA7932C07A6B}" srcOrd="3" destOrd="0" presId="urn:microsoft.com/office/officeart/2018/2/layout/IconVerticalSolidList"/>
    <dgm:cxn modelId="{F5F5EE10-B048-46E1-8976-CD6FEAFE83BA}" type="presParOf" srcId="{CF46A56D-FD75-4BDB-B0BB-E8A7A38430FD}" destId="{294E0834-1D76-4160-A296-9A393B4E6DE2}" srcOrd="3" destOrd="0" presId="urn:microsoft.com/office/officeart/2018/2/layout/IconVerticalSolidList"/>
    <dgm:cxn modelId="{C0C9DDF2-6A2E-438F-B7E3-E566CF854E24}" type="presParOf" srcId="{CF46A56D-FD75-4BDB-B0BB-E8A7A38430FD}" destId="{C1F71D73-C2AB-4B1C-A7E2-BF3345512F85}" srcOrd="4" destOrd="0" presId="urn:microsoft.com/office/officeart/2018/2/layout/IconVerticalSolidList"/>
    <dgm:cxn modelId="{77376714-185C-445D-9D4A-3CD1DB4CBF6A}" type="presParOf" srcId="{C1F71D73-C2AB-4B1C-A7E2-BF3345512F85}" destId="{30E1A627-7C3B-443E-A994-031CF490863F}" srcOrd="0" destOrd="0" presId="urn:microsoft.com/office/officeart/2018/2/layout/IconVerticalSolidList"/>
    <dgm:cxn modelId="{80F75AA4-31E8-4DE9-AE99-FA8BA2BBF75E}" type="presParOf" srcId="{C1F71D73-C2AB-4B1C-A7E2-BF3345512F85}" destId="{9AE768EB-E8E4-4522-A655-634D3C291E1D}" srcOrd="1" destOrd="0" presId="urn:microsoft.com/office/officeart/2018/2/layout/IconVerticalSolidList"/>
    <dgm:cxn modelId="{F148D749-C4B6-4502-9652-0519A7BC1906}" type="presParOf" srcId="{C1F71D73-C2AB-4B1C-A7E2-BF3345512F85}" destId="{FBFCE878-DB42-4DD5-A330-7B4E892AA403}" srcOrd="2" destOrd="0" presId="urn:microsoft.com/office/officeart/2018/2/layout/IconVerticalSolidList"/>
    <dgm:cxn modelId="{90643180-1499-4E6F-BB35-763CF9F59429}" type="presParOf" srcId="{C1F71D73-C2AB-4B1C-A7E2-BF3345512F85}" destId="{B95DCA3B-4AD0-42C9-9F19-9E2CD7B9D016}" srcOrd="3" destOrd="0" presId="urn:microsoft.com/office/officeart/2018/2/layout/IconVerticalSolidList"/>
    <dgm:cxn modelId="{7DD0D231-C9CE-470F-A110-55590A623048}" type="presParOf" srcId="{CF46A56D-FD75-4BDB-B0BB-E8A7A38430FD}" destId="{B1351D96-D71D-40E6-9843-D39CC10B8A02}" srcOrd="5" destOrd="0" presId="urn:microsoft.com/office/officeart/2018/2/layout/IconVerticalSolidList"/>
    <dgm:cxn modelId="{F2F4DF10-6EDD-4DDC-A309-B681779499CA}" type="presParOf" srcId="{CF46A56D-FD75-4BDB-B0BB-E8A7A38430FD}" destId="{F9569A91-BC79-49BB-BEA7-728FD12B1BD8}" srcOrd="6" destOrd="0" presId="urn:microsoft.com/office/officeart/2018/2/layout/IconVerticalSolidList"/>
    <dgm:cxn modelId="{2503331F-F868-444F-A706-A01FB54D4B48}" type="presParOf" srcId="{F9569A91-BC79-49BB-BEA7-728FD12B1BD8}" destId="{5B134C76-AF49-4A7B-B541-AAE36B3255F6}" srcOrd="0" destOrd="0" presId="urn:microsoft.com/office/officeart/2018/2/layout/IconVerticalSolidList"/>
    <dgm:cxn modelId="{C1116A70-4862-40E8-B9F9-9CA53E588746}" type="presParOf" srcId="{F9569A91-BC79-49BB-BEA7-728FD12B1BD8}" destId="{60F5DB89-BF0A-489B-B8D3-2FBEE24A10FC}" srcOrd="1" destOrd="0" presId="urn:microsoft.com/office/officeart/2018/2/layout/IconVerticalSolidList"/>
    <dgm:cxn modelId="{BBB38923-D400-49EA-9398-974332F672ED}" type="presParOf" srcId="{F9569A91-BC79-49BB-BEA7-728FD12B1BD8}" destId="{412E8215-0608-46DC-9401-58168A3FB676}" srcOrd="2" destOrd="0" presId="urn:microsoft.com/office/officeart/2018/2/layout/IconVerticalSolidList"/>
    <dgm:cxn modelId="{A7D00D18-903F-4BCD-9CF7-B3AC48F007F7}" type="presParOf" srcId="{F9569A91-BC79-49BB-BEA7-728FD12B1BD8}" destId="{210D0141-BA21-49AF-9A55-A7248AF0A4C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049AAFD-DF19-43B9-B49F-872348D41E0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B83E7F0-A983-431A-BA94-AC5DB1F05871}">
      <dgm:prSet/>
      <dgm:spPr/>
      <dgm:t>
        <a:bodyPr/>
        <a:lstStyle/>
        <a:p>
          <a:r>
            <a:rPr lang="en-US" b="0" dirty="0"/>
            <a:t>Big data, cloud computing, mobile internet - focuses on changes in infrastructure</a:t>
          </a:r>
        </a:p>
      </dgm:t>
    </dgm:pt>
    <dgm:pt modelId="{F10C3F76-51C4-48C9-BBD2-E74BB7F02BE3}" type="parTrans" cxnId="{DCD56E8D-AFFF-4F18-B4A2-5E351033BEC4}">
      <dgm:prSet/>
      <dgm:spPr/>
      <dgm:t>
        <a:bodyPr/>
        <a:lstStyle/>
        <a:p>
          <a:endParaRPr lang="en-US"/>
        </a:p>
      </dgm:t>
    </dgm:pt>
    <dgm:pt modelId="{6A9DD716-4DF5-4A3E-812E-CAB31435B248}" type="sibTrans" cxnId="{DCD56E8D-AFFF-4F18-B4A2-5E351033BEC4}">
      <dgm:prSet/>
      <dgm:spPr/>
      <dgm:t>
        <a:bodyPr/>
        <a:lstStyle/>
        <a:p>
          <a:endParaRPr lang="en-US"/>
        </a:p>
      </dgm:t>
    </dgm:pt>
    <dgm:pt modelId="{370A2FCE-5B01-41FD-8633-013A3AB237C9}">
      <dgm:prSet/>
      <dgm:spPr/>
      <dgm:t>
        <a:bodyPr/>
        <a:lstStyle/>
        <a:p>
          <a:r>
            <a:rPr lang="en-US"/>
            <a:t>Software-defined anything - focuses on changes in productivity</a:t>
          </a:r>
        </a:p>
      </dgm:t>
    </dgm:pt>
    <dgm:pt modelId="{21E8DD69-F0CA-41B1-B467-C05D675FCF77}" type="parTrans" cxnId="{8CE07F83-FF3A-4EA6-BF23-3063E5FC7F19}">
      <dgm:prSet/>
      <dgm:spPr/>
      <dgm:t>
        <a:bodyPr/>
        <a:lstStyle/>
        <a:p>
          <a:endParaRPr lang="en-US"/>
        </a:p>
      </dgm:t>
    </dgm:pt>
    <dgm:pt modelId="{E126CF6A-135C-416E-9F12-7F8DBEB01AAB}" type="sibTrans" cxnId="{8CE07F83-FF3A-4EA6-BF23-3063E5FC7F19}">
      <dgm:prSet/>
      <dgm:spPr/>
      <dgm:t>
        <a:bodyPr/>
        <a:lstStyle/>
        <a:p>
          <a:endParaRPr lang="en-US"/>
        </a:p>
      </dgm:t>
    </dgm:pt>
    <dgm:pt modelId="{3829A012-DFAA-4DD1-ABEC-385CD5F5F6AE}">
      <dgm:prSet/>
      <dgm:spPr/>
      <dgm:t>
        <a:bodyPr/>
        <a:lstStyle/>
        <a:p>
          <a:r>
            <a:rPr lang="en-US" b="1" dirty="0"/>
            <a:t>Outsourcing and crowdsourcing - focuses on changes in production organization</a:t>
          </a:r>
        </a:p>
      </dgm:t>
    </dgm:pt>
    <dgm:pt modelId="{1B99EFC1-36CB-4ECF-95BF-51F2810776B3}" type="parTrans" cxnId="{256AC09C-4F78-413A-94DD-BC7DACA6FB0F}">
      <dgm:prSet/>
      <dgm:spPr/>
      <dgm:t>
        <a:bodyPr/>
        <a:lstStyle/>
        <a:p>
          <a:endParaRPr lang="en-US"/>
        </a:p>
      </dgm:t>
    </dgm:pt>
    <dgm:pt modelId="{58F5F247-FEA2-48B5-B241-86DE1B92ED34}" type="sibTrans" cxnId="{256AC09C-4F78-413A-94DD-BC7DACA6FB0F}">
      <dgm:prSet/>
      <dgm:spPr/>
      <dgm:t>
        <a:bodyPr/>
        <a:lstStyle/>
        <a:p>
          <a:endParaRPr lang="en-US"/>
        </a:p>
      </dgm:t>
    </dgm:pt>
    <dgm:pt modelId="{42499CD6-1A4E-472F-87C3-E8EAE6217D74}">
      <dgm:prSet/>
      <dgm:spPr/>
      <dgm:t>
        <a:bodyPr/>
        <a:lstStyle/>
        <a:p>
          <a:r>
            <a:rPr lang="en-US" dirty="0"/>
            <a:t>Prosumer economy - focuses on changes in forces of economic growth</a:t>
          </a:r>
        </a:p>
      </dgm:t>
    </dgm:pt>
    <dgm:pt modelId="{0BFFD001-8985-4E57-90F7-DB90F407D39D}" type="parTrans" cxnId="{7F15195A-DF93-4A8C-A629-3F8D09511D51}">
      <dgm:prSet/>
      <dgm:spPr/>
      <dgm:t>
        <a:bodyPr/>
        <a:lstStyle/>
        <a:p>
          <a:endParaRPr lang="en-US"/>
        </a:p>
      </dgm:t>
    </dgm:pt>
    <dgm:pt modelId="{F631928C-F671-4DE0-B9B5-ED3170884259}" type="sibTrans" cxnId="{7F15195A-DF93-4A8C-A629-3F8D09511D51}">
      <dgm:prSet/>
      <dgm:spPr/>
      <dgm:t>
        <a:bodyPr/>
        <a:lstStyle/>
        <a:p>
          <a:endParaRPr lang="en-US"/>
        </a:p>
      </dgm:t>
    </dgm:pt>
    <dgm:pt modelId="{CF46A56D-FD75-4BDB-B0BB-E8A7A38430FD}" type="pres">
      <dgm:prSet presAssocID="{C049AAFD-DF19-43B9-B49F-872348D41E01}" presName="root" presStyleCnt="0">
        <dgm:presLayoutVars>
          <dgm:dir/>
          <dgm:resizeHandles val="exact"/>
        </dgm:presLayoutVars>
      </dgm:prSet>
      <dgm:spPr/>
    </dgm:pt>
    <dgm:pt modelId="{FF4E9800-CA24-4C4E-BAF7-FB5EBDC55BB7}" type="pres">
      <dgm:prSet presAssocID="{9B83E7F0-A983-431A-BA94-AC5DB1F05871}" presName="compNode" presStyleCnt="0"/>
      <dgm:spPr/>
    </dgm:pt>
    <dgm:pt modelId="{6F11BC8B-CCAF-4F62-A2D4-5C8A830882C1}" type="pres">
      <dgm:prSet presAssocID="{9B83E7F0-A983-431A-BA94-AC5DB1F05871}" presName="bgRect" presStyleLbl="bgShp" presStyleIdx="0" presStyleCnt="4"/>
      <dgm:spPr/>
    </dgm:pt>
    <dgm:pt modelId="{FF27715A-E7EA-4EF0-BE7D-8AC311DC44BD}" type="pres">
      <dgm:prSet presAssocID="{9B83E7F0-A983-431A-BA94-AC5DB1F05871}"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DAE05F15-DDED-4063-A841-7F8BD11942B1}" type="pres">
      <dgm:prSet presAssocID="{9B83E7F0-A983-431A-BA94-AC5DB1F05871}" presName="spaceRect" presStyleCnt="0"/>
      <dgm:spPr/>
    </dgm:pt>
    <dgm:pt modelId="{9F24B41B-CC66-4669-B1E4-E316D5902263}" type="pres">
      <dgm:prSet presAssocID="{9B83E7F0-A983-431A-BA94-AC5DB1F05871}" presName="parTx" presStyleLbl="revTx" presStyleIdx="0" presStyleCnt="4">
        <dgm:presLayoutVars>
          <dgm:chMax val="0"/>
          <dgm:chPref val="0"/>
        </dgm:presLayoutVars>
      </dgm:prSet>
      <dgm:spPr/>
    </dgm:pt>
    <dgm:pt modelId="{38A2653B-A07D-4BEA-86EA-0CE27B4996DD}" type="pres">
      <dgm:prSet presAssocID="{6A9DD716-4DF5-4A3E-812E-CAB31435B248}" presName="sibTrans" presStyleCnt="0"/>
      <dgm:spPr/>
    </dgm:pt>
    <dgm:pt modelId="{59D3E072-4070-4960-8CAF-5FE4ECBEF330}" type="pres">
      <dgm:prSet presAssocID="{370A2FCE-5B01-41FD-8633-013A3AB237C9}" presName="compNode" presStyleCnt="0"/>
      <dgm:spPr/>
    </dgm:pt>
    <dgm:pt modelId="{B87BAF6A-59FD-49FC-80BE-0EE2CED32500}" type="pres">
      <dgm:prSet presAssocID="{370A2FCE-5B01-41FD-8633-013A3AB237C9}" presName="bgRect" presStyleLbl="bgShp" presStyleIdx="1" presStyleCnt="4" custLinFactY="-28842" custLinFactNeighborX="24695" custLinFactNeighborY="-100000"/>
      <dgm:spPr/>
    </dgm:pt>
    <dgm:pt modelId="{1608E098-3CF5-48CE-A0C5-3C48865D6EDC}" type="pres">
      <dgm:prSet presAssocID="{370A2FCE-5B01-41FD-8633-013A3AB237C9}" presName="iconRect" presStyleLbl="node1" presStyleIdx="1" presStyleCnt="4"/>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FE233C89-B7B3-4242-B1FD-52FA9F83B820}" type="pres">
      <dgm:prSet presAssocID="{370A2FCE-5B01-41FD-8633-013A3AB237C9}" presName="spaceRect" presStyleCnt="0"/>
      <dgm:spPr/>
    </dgm:pt>
    <dgm:pt modelId="{636DB206-EC82-4F22-8499-FA7932C07A6B}" type="pres">
      <dgm:prSet presAssocID="{370A2FCE-5B01-41FD-8633-013A3AB237C9}" presName="parTx" presStyleLbl="revTx" presStyleIdx="1" presStyleCnt="4">
        <dgm:presLayoutVars>
          <dgm:chMax val="0"/>
          <dgm:chPref val="0"/>
        </dgm:presLayoutVars>
      </dgm:prSet>
      <dgm:spPr/>
    </dgm:pt>
    <dgm:pt modelId="{294E0834-1D76-4160-A296-9A393B4E6DE2}" type="pres">
      <dgm:prSet presAssocID="{E126CF6A-135C-416E-9F12-7F8DBEB01AAB}" presName="sibTrans" presStyleCnt="0"/>
      <dgm:spPr/>
    </dgm:pt>
    <dgm:pt modelId="{C1F71D73-C2AB-4B1C-A7E2-BF3345512F85}" type="pres">
      <dgm:prSet presAssocID="{3829A012-DFAA-4DD1-ABEC-385CD5F5F6AE}" presName="compNode" presStyleCnt="0"/>
      <dgm:spPr/>
    </dgm:pt>
    <dgm:pt modelId="{30E1A627-7C3B-443E-A994-031CF490863F}" type="pres">
      <dgm:prSet presAssocID="{3829A012-DFAA-4DD1-ABEC-385CD5F5F6AE}" presName="bgRect" presStyleLbl="bgShp" presStyleIdx="2" presStyleCnt="4"/>
      <dgm:spPr/>
    </dgm:pt>
    <dgm:pt modelId="{9AE768EB-E8E4-4522-A655-634D3C291E1D}" type="pres">
      <dgm:prSet presAssocID="{3829A012-DFAA-4DD1-ABEC-385CD5F5F6AE}" presName="iconRect" presStyleLbl="node1" presStyleIdx="2" presStyleCnt="4"/>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re With Person"/>
        </a:ext>
      </dgm:extLst>
    </dgm:pt>
    <dgm:pt modelId="{FBFCE878-DB42-4DD5-A330-7B4E892AA403}" type="pres">
      <dgm:prSet presAssocID="{3829A012-DFAA-4DD1-ABEC-385CD5F5F6AE}" presName="spaceRect" presStyleCnt="0"/>
      <dgm:spPr/>
    </dgm:pt>
    <dgm:pt modelId="{B95DCA3B-4AD0-42C9-9F19-9E2CD7B9D016}" type="pres">
      <dgm:prSet presAssocID="{3829A012-DFAA-4DD1-ABEC-385CD5F5F6AE}" presName="parTx" presStyleLbl="revTx" presStyleIdx="2" presStyleCnt="4">
        <dgm:presLayoutVars>
          <dgm:chMax val="0"/>
          <dgm:chPref val="0"/>
        </dgm:presLayoutVars>
      </dgm:prSet>
      <dgm:spPr/>
    </dgm:pt>
    <dgm:pt modelId="{B1351D96-D71D-40E6-9843-D39CC10B8A02}" type="pres">
      <dgm:prSet presAssocID="{58F5F247-FEA2-48B5-B241-86DE1B92ED34}" presName="sibTrans" presStyleCnt="0"/>
      <dgm:spPr/>
    </dgm:pt>
    <dgm:pt modelId="{F9569A91-BC79-49BB-BEA7-728FD12B1BD8}" type="pres">
      <dgm:prSet presAssocID="{42499CD6-1A4E-472F-87C3-E8EAE6217D74}" presName="compNode" presStyleCnt="0"/>
      <dgm:spPr/>
    </dgm:pt>
    <dgm:pt modelId="{5B134C76-AF49-4A7B-B541-AAE36B3255F6}" type="pres">
      <dgm:prSet presAssocID="{42499CD6-1A4E-472F-87C3-E8EAE6217D74}" presName="bgRect" presStyleLbl="bgShp" presStyleIdx="3" presStyleCnt="4"/>
      <dgm:spPr/>
    </dgm:pt>
    <dgm:pt modelId="{60F5DB89-BF0A-489B-B8D3-2FBEE24A10FC}" type="pres">
      <dgm:prSet presAssocID="{42499CD6-1A4E-472F-87C3-E8EAE6217D74}" presName="iconRect" presStyleLbl="node1" presStyleIdx="3" presStyleCnt="4"/>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ins"/>
        </a:ext>
      </dgm:extLst>
    </dgm:pt>
    <dgm:pt modelId="{412E8215-0608-46DC-9401-58168A3FB676}" type="pres">
      <dgm:prSet presAssocID="{42499CD6-1A4E-472F-87C3-E8EAE6217D74}" presName="spaceRect" presStyleCnt="0"/>
      <dgm:spPr/>
    </dgm:pt>
    <dgm:pt modelId="{210D0141-BA21-49AF-9A55-A7248AF0A4CE}" type="pres">
      <dgm:prSet presAssocID="{42499CD6-1A4E-472F-87C3-E8EAE6217D74}" presName="parTx" presStyleLbl="revTx" presStyleIdx="3" presStyleCnt="4">
        <dgm:presLayoutVars>
          <dgm:chMax val="0"/>
          <dgm:chPref val="0"/>
        </dgm:presLayoutVars>
      </dgm:prSet>
      <dgm:spPr/>
    </dgm:pt>
  </dgm:ptLst>
  <dgm:cxnLst>
    <dgm:cxn modelId="{32B6DE00-EB3B-463E-88E1-A80C2DBE6E76}" type="presOf" srcId="{370A2FCE-5B01-41FD-8633-013A3AB237C9}" destId="{636DB206-EC82-4F22-8499-FA7932C07A6B}" srcOrd="0" destOrd="0" presId="urn:microsoft.com/office/officeart/2018/2/layout/IconVerticalSolidList"/>
    <dgm:cxn modelId="{1138D01C-C1D4-4849-8DAE-BA1BBC3AC508}" type="presOf" srcId="{42499CD6-1A4E-472F-87C3-E8EAE6217D74}" destId="{210D0141-BA21-49AF-9A55-A7248AF0A4CE}" srcOrd="0" destOrd="0" presId="urn:microsoft.com/office/officeart/2018/2/layout/IconVerticalSolidList"/>
    <dgm:cxn modelId="{E0ABEA77-3089-41C8-B05A-9F5ABFB8FEBD}" type="presOf" srcId="{C049AAFD-DF19-43B9-B49F-872348D41E01}" destId="{CF46A56D-FD75-4BDB-B0BB-E8A7A38430FD}" srcOrd="0" destOrd="0" presId="urn:microsoft.com/office/officeart/2018/2/layout/IconVerticalSolidList"/>
    <dgm:cxn modelId="{7F15195A-DF93-4A8C-A629-3F8D09511D51}" srcId="{C049AAFD-DF19-43B9-B49F-872348D41E01}" destId="{42499CD6-1A4E-472F-87C3-E8EAE6217D74}" srcOrd="3" destOrd="0" parTransId="{0BFFD001-8985-4E57-90F7-DB90F407D39D}" sibTransId="{F631928C-F671-4DE0-B9B5-ED3170884259}"/>
    <dgm:cxn modelId="{8CE07F83-FF3A-4EA6-BF23-3063E5FC7F19}" srcId="{C049AAFD-DF19-43B9-B49F-872348D41E01}" destId="{370A2FCE-5B01-41FD-8633-013A3AB237C9}" srcOrd="1" destOrd="0" parTransId="{21E8DD69-F0CA-41B1-B467-C05D675FCF77}" sibTransId="{E126CF6A-135C-416E-9F12-7F8DBEB01AAB}"/>
    <dgm:cxn modelId="{DCD56E8D-AFFF-4F18-B4A2-5E351033BEC4}" srcId="{C049AAFD-DF19-43B9-B49F-872348D41E01}" destId="{9B83E7F0-A983-431A-BA94-AC5DB1F05871}" srcOrd="0" destOrd="0" parTransId="{F10C3F76-51C4-48C9-BBD2-E74BB7F02BE3}" sibTransId="{6A9DD716-4DF5-4A3E-812E-CAB31435B248}"/>
    <dgm:cxn modelId="{256AC09C-4F78-413A-94DD-BC7DACA6FB0F}" srcId="{C049AAFD-DF19-43B9-B49F-872348D41E01}" destId="{3829A012-DFAA-4DD1-ABEC-385CD5F5F6AE}" srcOrd="2" destOrd="0" parTransId="{1B99EFC1-36CB-4ECF-95BF-51F2810776B3}" sibTransId="{58F5F247-FEA2-48B5-B241-86DE1B92ED34}"/>
    <dgm:cxn modelId="{A746EF9F-5D01-45B8-BD38-796C1935E031}" type="presOf" srcId="{9B83E7F0-A983-431A-BA94-AC5DB1F05871}" destId="{9F24B41B-CC66-4669-B1E4-E316D5902263}" srcOrd="0" destOrd="0" presId="urn:microsoft.com/office/officeart/2018/2/layout/IconVerticalSolidList"/>
    <dgm:cxn modelId="{9BA13DC3-739E-42E7-B1F4-AA5F7B3E0B59}" type="presOf" srcId="{3829A012-DFAA-4DD1-ABEC-385CD5F5F6AE}" destId="{B95DCA3B-4AD0-42C9-9F19-9E2CD7B9D016}" srcOrd="0" destOrd="0" presId="urn:microsoft.com/office/officeart/2018/2/layout/IconVerticalSolidList"/>
    <dgm:cxn modelId="{BC170BBF-2F90-439B-92F0-A534F6344D18}" type="presParOf" srcId="{CF46A56D-FD75-4BDB-B0BB-E8A7A38430FD}" destId="{FF4E9800-CA24-4C4E-BAF7-FB5EBDC55BB7}" srcOrd="0" destOrd="0" presId="urn:microsoft.com/office/officeart/2018/2/layout/IconVerticalSolidList"/>
    <dgm:cxn modelId="{7DBBD557-DBAE-42DF-9075-1DA23F736A8A}" type="presParOf" srcId="{FF4E9800-CA24-4C4E-BAF7-FB5EBDC55BB7}" destId="{6F11BC8B-CCAF-4F62-A2D4-5C8A830882C1}" srcOrd="0" destOrd="0" presId="urn:microsoft.com/office/officeart/2018/2/layout/IconVerticalSolidList"/>
    <dgm:cxn modelId="{15057232-11C3-4C94-BA80-37FD845940F1}" type="presParOf" srcId="{FF4E9800-CA24-4C4E-BAF7-FB5EBDC55BB7}" destId="{FF27715A-E7EA-4EF0-BE7D-8AC311DC44BD}" srcOrd="1" destOrd="0" presId="urn:microsoft.com/office/officeart/2018/2/layout/IconVerticalSolidList"/>
    <dgm:cxn modelId="{D3D74345-ACDF-4008-ABB6-B724CD2C6837}" type="presParOf" srcId="{FF4E9800-CA24-4C4E-BAF7-FB5EBDC55BB7}" destId="{DAE05F15-DDED-4063-A841-7F8BD11942B1}" srcOrd="2" destOrd="0" presId="urn:microsoft.com/office/officeart/2018/2/layout/IconVerticalSolidList"/>
    <dgm:cxn modelId="{7C3A99C3-514E-41EC-AB35-BE677B44B02A}" type="presParOf" srcId="{FF4E9800-CA24-4C4E-BAF7-FB5EBDC55BB7}" destId="{9F24B41B-CC66-4669-B1E4-E316D5902263}" srcOrd="3" destOrd="0" presId="urn:microsoft.com/office/officeart/2018/2/layout/IconVerticalSolidList"/>
    <dgm:cxn modelId="{E63B1CCD-9120-4D75-8F40-FA7280438F8C}" type="presParOf" srcId="{CF46A56D-FD75-4BDB-B0BB-E8A7A38430FD}" destId="{38A2653B-A07D-4BEA-86EA-0CE27B4996DD}" srcOrd="1" destOrd="0" presId="urn:microsoft.com/office/officeart/2018/2/layout/IconVerticalSolidList"/>
    <dgm:cxn modelId="{4BE4959B-9721-4581-84FB-45391BBC9C8F}" type="presParOf" srcId="{CF46A56D-FD75-4BDB-B0BB-E8A7A38430FD}" destId="{59D3E072-4070-4960-8CAF-5FE4ECBEF330}" srcOrd="2" destOrd="0" presId="urn:microsoft.com/office/officeart/2018/2/layout/IconVerticalSolidList"/>
    <dgm:cxn modelId="{70B1A73E-E3A0-466D-8278-57893DB3FD5C}" type="presParOf" srcId="{59D3E072-4070-4960-8CAF-5FE4ECBEF330}" destId="{B87BAF6A-59FD-49FC-80BE-0EE2CED32500}" srcOrd="0" destOrd="0" presId="urn:microsoft.com/office/officeart/2018/2/layout/IconVerticalSolidList"/>
    <dgm:cxn modelId="{9B80594B-B887-42A6-9B0C-11FC8E50EB2C}" type="presParOf" srcId="{59D3E072-4070-4960-8CAF-5FE4ECBEF330}" destId="{1608E098-3CF5-48CE-A0C5-3C48865D6EDC}" srcOrd="1" destOrd="0" presId="urn:microsoft.com/office/officeart/2018/2/layout/IconVerticalSolidList"/>
    <dgm:cxn modelId="{51C6C86F-A62C-4B89-BEE7-4AB1334093A5}" type="presParOf" srcId="{59D3E072-4070-4960-8CAF-5FE4ECBEF330}" destId="{FE233C89-B7B3-4242-B1FD-52FA9F83B820}" srcOrd="2" destOrd="0" presId="urn:microsoft.com/office/officeart/2018/2/layout/IconVerticalSolidList"/>
    <dgm:cxn modelId="{D3AE3DCB-3379-46F5-9208-7BD5664F360E}" type="presParOf" srcId="{59D3E072-4070-4960-8CAF-5FE4ECBEF330}" destId="{636DB206-EC82-4F22-8499-FA7932C07A6B}" srcOrd="3" destOrd="0" presId="urn:microsoft.com/office/officeart/2018/2/layout/IconVerticalSolidList"/>
    <dgm:cxn modelId="{F5F5EE10-B048-46E1-8976-CD6FEAFE83BA}" type="presParOf" srcId="{CF46A56D-FD75-4BDB-B0BB-E8A7A38430FD}" destId="{294E0834-1D76-4160-A296-9A393B4E6DE2}" srcOrd="3" destOrd="0" presId="urn:microsoft.com/office/officeart/2018/2/layout/IconVerticalSolidList"/>
    <dgm:cxn modelId="{C0C9DDF2-6A2E-438F-B7E3-E566CF854E24}" type="presParOf" srcId="{CF46A56D-FD75-4BDB-B0BB-E8A7A38430FD}" destId="{C1F71D73-C2AB-4B1C-A7E2-BF3345512F85}" srcOrd="4" destOrd="0" presId="urn:microsoft.com/office/officeart/2018/2/layout/IconVerticalSolidList"/>
    <dgm:cxn modelId="{77376714-185C-445D-9D4A-3CD1DB4CBF6A}" type="presParOf" srcId="{C1F71D73-C2AB-4B1C-A7E2-BF3345512F85}" destId="{30E1A627-7C3B-443E-A994-031CF490863F}" srcOrd="0" destOrd="0" presId="urn:microsoft.com/office/officeart/2018/2/layout/IconVerticalSolidList"/>
    <dgm:cxn modelId="{80F75AA4-31E8-4DE9-AE99-FA8BA2BBF75E}" type="presParOf" srcId="{C1F71D73-C2AB-4B1C-A7E2-BF3345512F85}" destId="{9AE768EB-E8E4-4522-A655-634D3C291E1D}" srcOrd="1" destOrd="0" presId="urn:microsoft.com/office/officeart/2018/2/layout/IconVerticalSolidList"/>
    <dgm:cxn modelId="{F148D749-C4B6-4502-9652-0519A7BC1906}" type="presParOf" srcId="{C1F71D73-C2AB-4B1C-A7E2-BF3345512F85}" destId="{FBFCE878-DB42-4DD5-A330-7B4E892AA403}" srcOrd="2" destOrd="0" presId="urn:microsoft.com/office/officeart/2018/2/layout/IconVerticalSolidList"/>
    <dgm:cxn modelId="{90643180-1499-4E6F-BB35-763CF9F59429}" type="presParOf" srcId="{C1F71D73-C2AB-4B1C-A7E2-BF3345512F85}" destId="{B95DCA3B-4AD0-42C9-9F19-9E2CD7B9D016}" srcOrd="3" destOrd="0" presId="urn:microsoft.com/office/officeart/2018/2/layout/IconVerticalSolidList"/>
    <dgm:cxn modelId="{7DD0D231-C9CE-470F-A110-55590A623048}" type="presParOf" srcId="{CF46A56D-FD75-4BDB-B0BB-E8A7A38430FD}" destId="{B1351D96-D71D-40E6-9843-D39CC10B8A02}" srcOrd="5" destOrd="0" presId="urn:microsoft.com/office/officeart/2018/2/layout/IconVerticalSolidList"/>
    <dgm:cxn modelId="{F2F4DF10-6EDD-4DDC-A309-B681779499CA}" type="presParOf" srcId="{CF46A56D-FD75-4BDB-B0BB-E8A7A38430FD}" destId="{F9569A91-BC79-49BB-BEA7-728FD12B1BD8}" srcOrd="6" destOrd="0" presId="urn:microsoft.com/office/officeart/2018/2/layout/IconVerticalSolidList"/>
    <dgm:cxn modelId="{2503331F-F868-444F-A706-A01FB54D4B48}" type="presParOf" srcId="{F9569A91-BC79-49BB-BEA7-728FD12B1BD8}" destId="{5B134C76-AF49-4A7B-B541-AAE36B3255F6}" srcOrd="0" destOrd="0" presId="urn:microsoft.com/office/officeart/2018/2/layout/IconVerticalSolidList"/>
    <dgm:cxn modelId="{C1116A70-4862-40E8-B9F9-9CA53E588746}" type="presParOf" srcId="{F9569A91-BC79-49BB-BEA7-728FD12B1BD8}" destId="{60F5DB89-BF0A-489B-B8D3-2FBEE24A10FC}" srcOrd="1" destOrd="0" presId="urn:microsoft.com/office/officeart/2018/2/layout/IconVerticalSolidList"/>
    <dgm:cxn modelId="{BBB38923-D400-49EA-9398-974332F672ED}" type="presParOf" srcId="{F9569A91-BC79-49BB-BEA7-728FD12B1BD8}" destId="{412E8215-0608-46DC-9401-58168A3FB676}" srcOrd="2" destOrd="0" presId="urn:microsoft.com/office/officeart/2018/2/layout/IconVerticalSolidList"/>
    <dgm:cxn modelId="{A7D00D18-903F-4BCD-9CF7-B3AC48F007F7}" type="presParOf" srcId="{F9569A91-BC79-49BB-BEA7-728FD12B1BD8}" destId="{210D0141-BA21-49AF-9A55-A7248AF0A4C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049AAFD-DF19-43B9-B49F-872348D41E0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B83E7F0-A983-431A-BA94-AC5DB1F05871}">
      <dgm:prSet/>
      <dgm:spPr/>
      <dgm:t>
        <a:bodyPr/>
        <a:lstStyle/>
        <a:p>
          <a:r>
            <a:rPr lang="en-US" b="0" dirty="0"/>
            <a:t>Big data, cloud computing, mobile internet - focuses on changes in infrastructure</a:t>
          </a:r>
        </a:p>
      </dgm:t>
    </dgm:pt>
    <dgm:pt modelId="{F10C3F76-51C4-48C9-BBD2-E74BB7F02BE3}" type="parTrans" cxnId="{DCD56E8D-AFFF-4F18-B4A2-5E351033BEC4}">
      <dgm:prSet/>
      <dgm:spPr/>
      <dgm:t>
        <a:bodyPr/>
        <a:lstStyle/>
        <a:p>
          <a:endParaRPr lang="en-US"/>
        </a:p>
      </dgm:t>
    </dgm:pt>
    <dgm:pt modelId="{6A9DD716-4DF5-4A3E-812E-CAB31435B248}" type="sibTrans" cxnId="{DCD56E8D-AFFF-4F18-B4A2-5E351033BEC4}">
      <dgm:prSet/>
      <dgm:spPr/>
      <dgm:t>
        <a:bodyPr/>
        <a:lstStyle/>
        <a:p>
          <a:endParaRPr lang="en-US"/>
        </a:p>
      </dgm:t>
    </dgm:pt>
    <dgm:pt modelId="{370A2FCE-5B01-41FD-8633-013A3AB237C9}">
      <dgm:prSet/>
      <dgm:spPr/>
      <dgm:t>
        <a:bodyPr/>
        <a:lstStyle/>
        <a:p>
          <a:r>
            <a:rPr lang="en-US" dirty="0"/>
            <a:t>Software-defined anything - focuses on changes in productivity</a:t>
          </a:r>
        </a:p>
      </dgm:t>
    </dgm:pt>
    <dgm:pt modelId="{21E8DD69-F0CA-41B1-B467-C05D675FCF77}" type="parTrans" cxnId="{8CE07F83-FF3A-4EA6-BF23-3063E5FC7F19}">
      <dgm:prSet/>
      <dgm:spPr/>
      <dgm:t>
        <a:bodyPr/>
        <a:lstStyle/>
        <a:p>
          <a:endParaRPr lang="en-US"/>
        </a:p>
      </dgm:t>
    </dgm:pt>
    <dgm:pt modelId="{E126CF6A-135C-416E-9F12-7F8DBEB01AAB}" type="sibTrans" cxnId="{8CE07F83-FF3A-4EA6-BF23-3063E5FC7F19}">
      <dgm:prSet/>
      <dgm:spPr/>
      <dgm:t>
        <a:bodyPr/>
        <a:lstStyle/>
        <a:p>
          <a:endParaRPr lang="en-US"/>
        </a:p>
      </dgm:t>
    </dgm:pt>
    <dgm:pt modelId="{3829A012-DFAA-4DD1-ABEC-385CD5F5F6AE}">
      <dgm:prSet/>
      <dgm:spPr/>
      <dgm:t>
        <a:bodyPr/>
        <a:lstStyle/>
        <a:p>
          <a:r>
            <a:rPr lang="en-US" dirty="0"/>
            <a:t>Outsourcing and crowdsourcing - focuses on changes in production organization</a:t>
          </a:r>
        </a:p>
      </dgm:t>
    </dgm:pt>
    <dgm:pt modelId="{1B99EFC1-36CB-4ECF-95BF-51F2810776B3}" type="parTrans" cxnId="{256AC09C-4F78-413A-94DD-BC7DACA6FB0F}">
      <dgm:prSet/>
      <dgm:spPr/>
      <dgm:t>
        <a:bodyPr/>
        <a:lstStyle/>
        <a:p>
          <a:endParaRPr lang="en-US"/>
        </a:p>
      </dgm:t>
    </dgm:pt>
    <dgm:pt modelId="{58F5F247-FEA2-48B5-B241-86DE1B92ED34}" type="sibTrans" cxnId="{256AC09C-4F78-413A-94DD-BC7DACA6FB0F}">
      <dgm:prSet/>
      <dgm:spPr/>
      <dgm:t>
        <a:bodyPr/>
        <a:lstStyle/>
        <a:p>
          <a:endParaRPr lang="en-US"/>
        </a:p>
      </dgm:t>
    </dgm:pt>
    <dgm:pt modelId="{42499CD6-1A4E-472F-87C3-E8EAE6217D74}">
      <dgm:prSet/>
      <dgm:spPr/>
      <dgm:t>
        <a:bodyPr/>
        <a:lstStyle/>
        <a:p>
          <a:r>
            <a:rPr lang="en-US" b="1" dirty="0"/>
            <a:t>Prosumer economy - focuses on changes in forces of economic growth</a:t>
          </a:r>
        </a:p>
      </dgm:t>
    </dgm:pt>
    <dgm:pt modelId="{0BFFD001-8985-4E57-90F7-DB90F407D39D}" type="parTrans" cxnId="{7F15195A-DF93-4A8C-A629-3F8D09511D51}">
      <dgm:prSet/>
      <dgm:spPr/>
      <dgm:t>
        <a:bodyPr/>
        <a:lstStyle/>
        <a:p>
          <a:endParaRPr lang="en-US"/>
        </a:p>
      </dgm:t>
    </dgm:pt>
    <dgm:pt modelId="{F631928C-F671-4DE0-B9B5-ED3170884259}" type="sibTrans" cxnId="{7F15195A-DF93-4A8C-A629-3F8D09511D51}">
      <dgm:prSet/>
      <dgm:spPr/>
      <dgm:t>
        <a:bodyPr/>
        <a:lstStyle/>
        <a:p>
          <a:endParaRPr lang="en-US"/>
        </a:p>
      </dgm:t>
    </dgm:pt>
    <dgm:pt modelId="{CF46A56D-FD75-4BDB-B0BB-E8A7A38430FD}" type="pres">
      <dgm:prSet presAssocID="{C049AAFD-DF19-43B9-B49F-872348D41E01}" presName="root" presStyleCnt="0">
        <dgm:presLayoutVars>
          <dgm:dir/>
          <dgm:resizeHandles val="exact"/>
        </dgm:presLayoutVars>
      </dgm:prSet>
      <dgm:spPr/>
    </dgm:pt>
    <dgm:pt modelId="{FF4E9800-CA24-4C4E-BAF7-FB5EBDC55BB7}" type="pres">
      <dgm:prSet presAssocID="{9B83E7F0-A983-431A-BA94-AC5DB1F05871}" presName="compNode" presStyleCnt="0"/>
      <dgm:spPr/>
    </dgm:pt>
    <dgm:pt modelId="{6F11BC8B-CCAF-4F62-A2D4-5C8A830882C1}" type="pres">
      <dgm:prSet presAssocID="{9B83E7F0-A983-431A-BA94-AC5DB1F05871}" presName="bgRect" presStyleLbl="bgShp" presStyleIdx="0" presStyleCnt="4"/>
      <dgm:spPr/>
    </dgm:pt>
    <dgm:pt modelId="{FF27715A-E7EA-4EF0-BE7D-8AC311DC44BD}" type="pres">
      <dgm:prSet presAssocID="{9B83E7F0-A983-431A-BA94-AC5DB1F05871}"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DAE05F15-DDED-4063-A841-7F8BD11942B1}" type="pres">
      <dgm:prSet presAssocID="{9B83E7F0-A983-431A-BA94-AC5DB1F05871}" presName="spaceRect" presStyleCnt="0"/>
      <dgm:spPr/>
    </dgm:pt>
    <dgm:pt modelId="{9F24B41B-CC66-4669-B1E4-E316D5902263}" type="pres">
      <dgm:prSet presAssocID="{9B83E7F0-A983-431A-BA94-AC5DB1F05871}" presName="parTx" presStyleLbl="revTx" presStyleIdx="0" presStyleCnt="4">
        <dgm:presLayoutVars>
          <dgm:chMax val="0"/>
          <dgm:chPref val="0"/>
        </dgm:presLayoutVars>
      </dgm:prSet>
      <dgm:spPr/>
    </dgm:pt>
    <dgm:pt modelId="{38A2653B-A07D-4BEA-86EA-0CE27B4996DD}" type="pres">
      <dgm:prSet presAssocID="{6A9DD716-4DF5-4A3E-812E-CAB31435B248}" presName="sibTrans" presStyleCnt="0"/>
      <dgm:spPr/>
    </dgm:pt>
    <dgm:pt modelId="{59D3E072-4070-4960-8CAF-5FE4ECBEF330}" type="pres">
      <dgm:prSet presAssocID="{370A2FCE-5B01-41FD-8633-013A3AB237C9}" presName="compNode" presStyleCnt="0"/>
      <dgm:spPr/>
    </dgm:pt>
    <dgm:pt modelId="{B87BAF6A-59FD-49FC-80BE-0EE2CED32500}" type="pres">
      <dgm:prSet presAssocID="{370A2FCE-5B01-41FD-8633-013A3AB237C9}" presName="bgRect" presStyleLbl="bgShp" presStyleIdx="1" presStyleCnt="4"/>
      <dgm:spPr/>
    </dgm:pt>
    <dgm:pt modelId="{1608E098-3CF5-48CE-A0C5-3C48865D6EDC}" type="pres">
      <dgm:prSet presAssocID="{370A2FCE-5B01-41FD-8633-013A3AB237C9}" presName="iconRect" presStyleLbl="node1" presStyleIdx="1" presStyleCnt="4"/>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FE233C89-B7B3-4242-B1FD-52FA9F83B820}" type="pres">
      <dgm:prSet presAssocID="{370A2FCE-5B01-41FD-8633-013A3AB237C9}" presName="spaceRect" presStyleCnt="0"/>
      <dgm:spPr/>
    </dgm:pt>
    <dgm:pt modelId="{636DB206-EC82-4F22-8499-FA7932C07A6B}" type="pres">
      <dgm:prSet presAssocID="{370A2FCE-5B01-41FD-8633-013A3AB237C9}" presName="parTx" presStyleLbl="revTx" presStyleIdx="1" presStyleCnt="4">
        <dgm:presLayoutVars>
          <dgm:chMax val="0"/>
          <dgm:chPref val="0"/>
        </dgm:presLayoutVars>
      </dgm:prSet>
      <dgm:spPr/>
    </dgm:pt>
    <dgm:pt modelId="{294E0834-1D76-4160-A296-9A393B4E6DE2}" type="pres">
      <dgm:prSet presAssocID="{E126CF6A-135C-416E-9F12-7F8DBEB01AAB}" presName="sibTrans" presStyleCnt="0"/>
      <dgm:spPr/>
    </dgm:pt>
    <dgm:pt modelId="{C1F71D73-C2AB-4B1C-A7E2-BF3345512F85}" type="pres">
      <dgm:prSet presAssocID="{3829A012-DFAA-4DD1-ABEC-385CD5F5F6AE}" presName="compNode" presStyleCnt="0"/>
      <dgm:spPr/>
    </dgm:pt>
    <dgm:pt modelId="{30E1A627-7C3B-443E-A994-031CF490863F}" type="pres">
      <dgm:prSet presAssocID="{3829A012-DFAA-4DD1-ABEC-385CD5F5F6AE}" presName="bgRect" presStyleLbl="bgShp" presStyleIdx="2" presStyleCnt="4"/>
      <dgm:spPr/>
    </dgm:pt>
    <dgm:pt modelId="{9AE768EB-E8E4-4522-A655-634D3C291E1D}" type="pres">
      <dgm:prSet presAssocID="{3829A012-DFAA-4DD1-ABEC-385CD5F5F6AE}" presName="iconRect" presStyleLbl="node1" presStyleIdx="2" presStyleCnt="4"/>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re With Person"/>
        </a:ext>
      </dgm:extLst>
    </dgm:pt>
    <dgm:pt modelId="{FBFCE878-DB42-4DD5-A330-7B4E892AA403}" type="pres">
      <dgm:prSet presAssocID="{3829A012-DFAA-4DD1-ABEC-385CD5F5F6AE}" presName="spaceRect" presStyleCnt="0"/>
      <dgm:spPr/>
    </dgm:pt>
    <dgm:pt modelId="{B95DCA3B-4AD0-42C9-9F19-9E2CD7B9D016}" type="pres">
      <dgm:prSet presAssocID="{3829A012-DFAA-4DD1-ABEC-385CD5F5F6AE}" presName="parTx" presStyleLbl="revTx" presStyleIdx="2" presStyleCnt="4">
        <dgm:presLayoutVars>
          <dgm:chMax val="0"/>
          <dgm:chPref val="0"/>
        </dgm:presLayoutVars>
      </dgm:prSet>
      <dgm:spPr/>
    </dgm:pt>
    <dgm:pt modelId="{B1351D96-D71D-40E6-9843-D39CC10B8A02}" type="pres">
      <dgm:prSet presAssocID="{58F5F247-FEA2-48B5-B241-86DE1B92ED34}" presName="sibTrans" presStyleCnt="0"/>
      <dgm:spPr/>
    </dgm:pt>
    <dgm:pt modelId="{F9569A91-BC79-49BB-BEA7-728FD12B1BD8}" type="pres">
      <dgm:prSet presAssocID="{42499CD6-1A4E-472F-87C3-E8EAE6217D74}" presName="compNode" presStyleCnt="0"/>
      <dgm:spPr/>
    </dgm:pt>
    <dgm:pt modelId="{5B134C76-AF49-4A7B-B541-AAE36B3255F6}" type="pres">
      <dgm:prSet presAssocID="{42499CD6-1A4E-472F-87C3-E8EAE6217D74}" presName="bgRect" presStyleLbl="bgShp" presStyleIdx="3" presStyleCnt="4"/>
      <dgm:spPr/>
    </dgm:pt>
    <dgm:pt modelId="{60F5DB89-BF0A-489B-B8D3-2FBEE24A10FC}" type="pres">
      <dgm:prSet presAssocID="{42499CD6-1A4E-472F-87C3-E8EAE6217D74}" presName="iconRect" presStyleLbl="node1" presStyleIdx="3" presStyleCnt="4"/>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ins"/>
        </a:ext>
      </dgm:extLst>
    </dgm:pt>
    <dgm:pt modelId="{412E8215-0608-46DC-9401-58168A3FB676}" type="pres">
      <dgm:prSet presAssocID="{42499CD6-1A4E-472F-87C3-E8EAE6217D74}" presName="spaceRect" presStyleCnt="0"/>
      <dgm:spPr/>
    </dgm:pt>
    <dgm:pt modelId="{210D0141-BA21-49AF-9A55-A7248AF0A4CE}" type="pres">
      <dgm:prSet presAssocID="{42499CD6-1A4E-472F-87C3-E8EAE6217D74}" presName="parTx" presStyleLbl="revTx" presStyleIdx="3" presStyleCnt="4">
        <dgm:presLayoutVars>
          <dgm:chMax val="0"/>
          <dgm:chPref val="0"/>
        </dgm:presLayoutVars>
      </dgm:prSet>
      <dgm:spPr/>
    </dgm:pt>
  </dgm:ptLst>
  <dgm:cxnLst>
    <dgm:cxn modelId="{32B6DE00-EB3B-463E-88E1-A80C2DBE6E76}" type="presOf" srcId="{370A2FCE-5B01-41FD-8633-013A3AB237C9}" destId="{636DB206-EC82-4F22-8499-FA7932C07A6B}" srcOrd="0" destOrd="0" presId="urn:microsoft.com/office/officeart/2018/2/layout/IconVerticalSolidList"/>
    <dgm:cxn modelId="{1138D01C-C1D4-4849-8DAE-BA1BBC3AC508}" type="presOf" srcId="{42499CD6-1A4E-472F-87C3-E8EAE6217D74}" destId="{210D0141-BA21-49AF-9A55-A7248AF0A4CE}" srcOrd="0" destOrd="0" presId="urn:microsoft.com/office/officeart/2018/2/layout/IconVerticalSolidList"/>
    <dgm:cxn modelId="{E0ABEA77-3089-41C8-B05A-9F5ABFB8FEBD}" type="presOf" srcId="{C049AAFD-DF19-43B9-B49F-872348D41E01}" destId="{CF46A56D-FD75-4BDB-B0BB-E8A7A38430FD}" srcOrd="0" destOrd="0" presId="urn:microsoft.com/office/officeart/2018/2/layout/IconVerticalSolidList"/>
    <dgm:cxn modelId="{7F15195A-DF93-4A8C-A629-3F8D09511D51}" srcId="{C049AAFD-DF19-43B9-B49F-872348D41E01}" destId="{42499CD6-1A4E-472F-87C3-E8EAE6217D74}" srcOrd="3" destOrd="0" parTransId="{0BFFD001-8985-4E57-90F7-DB90F407D39D}" sibTransId="{F631928C-F671-4DE0-B9B5-ED3170884259}"/>
    <dgm:cxn modelId="{8CE07F83-FF3A-4EA6-BF23-3063E5FC7F19}" srcId="{C049AAFD-DF19-43B9-B49F-872348D41E01}" destId="{370A2FCE-5B01-41FD-8633-013A3AB237C9}" srcOrd="1" destOrd="0" parTransId="{21E8DD69-F0CA-41B1-B467-C05D675FCF77}" sibTransId="{E126CF6A-135C-416E-9F12-7F8DBEB01AAB}"/>
    <dgm:cxn modelId="{DCD56E8D-AFFF-4F18-B4A2-5E351033BEC4}" srcId="{C049AAFD-DF19-43B9-B49F-872348D41E01}" destId="{9B83E7F0-A983-431A-BA94-AC5DB1F05871}" srcOrd="0" destOrd="0" parTransId="{F10C3F76-51C4-48C9-BBD2-E74BB7F02BE3}" sibTransId="{6A9DD716-4DF5-4A3E-812E-CAB31435B248}"/>
    <dgm:cxn modelId="{256AC09C-4F78-413A-94DD-BC7DACA6FB0F}" srcId="{C049AAFD-DF19-43B9-B49F-872348D41E01}" destId="{3829A012-DFAA-4DD1-ABEC-385CD5F5F6AE}" srcOrd="2" destOrd="0" parTransId="{1B99EFC1-36CB-4ECF-95BF-51F2810776B3}" sibTransId="{58F5F247-FEA2-48B5-B241-86DE1B92ED34}"/>
    <dgm:cxn modelId="{A746EF9F-5D01-45B8-BD38-796C1935E031}" type="presOf" srcId="{9B83E7F0-A983-431A-BA94-AC5DB1F05871}" destId="{9F24B41B-CC66-4669-B1E4-E316D5902263}" srcOrd="0" destOrd="0" presId="urn:microsoft.com/office/officeart/2018/2/layout/IconVerticalSolidList"/>
    <dgm:cxn modelId="{9BA13DC3-739E-42E7-B1F4-AA5F7B3E0B59}" type="presOf" srcId="{3829A012-DFAA-4DD1-ABEC-385CD5F5F6AE}" destId="{B95DCA3B-4AD0-42C9-9F19-9E2CD7B9D016}" srcOrd="0" destOrd="0" presId="urn:microsoft.com/office/officeart/2018/2/layout/IconVerticalSolidList"/>
    <dgm:cxn modelId="{BC170BBF-2F90-439B-92F0-A534F6344D18}" type="presParOf" srcId="{CF46A56D-FD75-4BDB-B0BB-E8A7A38430FD}" destId="{FF4E9800-CA24-4C4E-BAF7-FB5EBDC55BB7}" srcOrd="0" destOrd="0" presId="urn:microsoft.com/office/officeart/2018/2/layout/IconVerticalSolidList"/>
    <dgm:cxn modelId="{7DBBD557-DBAE-42DF-9075-1DA23F736A8A}" type="presParOf" srcId="{FF4E9800-CA24-4C4E-BAF7-FB5EBDC55BB7}" destId="{6F11BC8B-CCAF-4F62-A2D4-5C8A830882C1}" srcOrd="0" destOrd="0" presId="urn:microsoft.com/office/officeart/2018/2/layout/IconVerticalSolidList"/>
    <dgm:cxn modelId="{15057232-11C3-4C94-BA80-37FD845940F1}" type="presParOf" srcId="{FF4E9800-CA24-4C4E-BAF7-FB5EBDC55BB7}" destId="{FF27715A-E7EA-4EF0-BE7D-8AC311DC44BD}" srcOrd="1" destOrd="0" presId="urn:microsoft.com/office/officeart/2018/2/layout/IconVerticalSolidList"/>
    <dgm:cxn modelId="{D3D74345-ACDF-4008-ABB6-B724CD2C6837}" type="presParOf" srcId="{FF4E9800-CA24-4C4E-BAF7-FB5EBDC55BB7}" destId="{DAE05F15-DDED-4063-A841-7F8BD11942B1}" srcOrd="2" destOrd="0" presId="urn:microsoft.com/office/officeart/2018/2/layout/IconVerticalSolidList"/>
    <dgm:cxn modelId="{7C3A99C3-514E-41EC-AB35-BE677B44B02A}" type="presParOf" srcId="{FF4E9800-CA24-4C4E-BAF7-FB5EBDC55BB7}" destId="{9F24B41B-CC66-4669-B1E4-E316D5902263}" srcOrd="3" destOrd="0" presId="urn:microsoft.com/office/officeart/2018/2/layout/IconVerticalSolidList"/>
    <dgm:cxn modelId="{E63B1CCD-9120-4D75-8F40-FA7280438F8C}" type="presParOf" srcId="{CF46A56D-FD75-4BDB-B0BB-E8A7A38430FD}" destId="{38A2653B-A07D-4BEA-86EA-0CE27B4996DD}" srcOrd="1" destOrd="0" presId="urn:microsoft.com/office/officeart/2018/2/layout/IconVerticalSolidList"/>
    <dgm:cxn modelId="{4BE4959B-9721-4581-84FB-45391BBC9C8F}" type="presParOf" srcId="{CF46A56D-FD75-4BDB-B0BB-E8A7A38430FD}" destId="{59D3E072-4070-4960-8CAF-5FE4ECBEF330}" srcOrd="2" destOrd="0" presId="urn:microsoft.com/office/officeart/2018/2/layout/IconVerticalSolidList"/>
    <dgm:cxn modelId="{70B1A73E-E3A0-466D-8278-57893DB3FD5C}" type="presParOf" srcId="{59D3E072-4070-4960-8CAF-5FE4ECBEF330}" destId="{B87BAF6A-59FD-49FC-80BE-0EE2CED32500}" srcOrd="0" destOrd="0" presId="urn:microsoft.com/office/officeart/2018/2/layout/IconVerticalSolidList"/>
    <dgm:cxn modelId="{9B80594B-B887-42A6-9B0C-11FC8E50EB2C}" type="presParOf" srcId="{59D3E072-4070-4960-8CAF-5FE4ECBEF330}" destId="{1608E098-3CF5-48CE-A0C5-3C48865D6EDC}" srcOrd="1" destOrd="0" presId="urn:microsoft.com/office/officeart/2018/2/layout/IconVerticalSolidList"/>
    <dgm:cxn modelId="{51C6C86F-A62C-4B89-BEE7-4AB1334093A5}" type="presParOf" srcId="{59D3E072-4070-4960-8CAF-5FE4ECBEF330}" destId="{FE233C89-B7B3-4242-B1FD-52FA9F83B820}" srcOrd="2" destOrd="0" presId="urn:microsoft.com/office/officeart/2018/2/layout/IconVerticalSolidList"/>
    <dgm:cxn modelId="{D3AE3DCB-3379-46F5-9208-7BD5664F360E}" type="presParOf" srcId="{59D3E072-4070-4960-8CAF-5FE4ECBEF330}" destId="{636DB206-EC82-4F22-8499-FA7932C07A6B}" srcOrd="3" destOrd="0" presId="urn:microsoft.com/office/officeart/2018/2/layout/IconVerticalSolidList"/>
    <dgm:cxn modelId="{F5F5EE10-B048-46E1-8976-CD6FEAFE83BA}" type="presParOf" srcId="{CF46A56D-FD75-4BDB-B0BB-E8A7A38430FD}" destId="{294E0834-1D76-4160-A296-9A393B4E6DE2}" srcOrd="3" destOrd="0" presId="urn:microsoft.com/office/officeart/2018/2/layout/IconVerticalSolidList"/>
    <dgm:cxn modelId="{C0C9DDF2-6A2E-438F-B7E3-E566CF854E24}" type="presParOf" srcId="{CF46A56D-FD75-4BDB-B0BB-E8A7A38430FD}" destId="{C1F71D73-C2AB-4B1C-A7E2-BF3345512F85}" srcOrd="4" destOrd="0" presId="urn:microsoft.com/office/officeart/2018/2/layout/IconVerticalSolidList"/>
    <dgm:cxn modelId="{77376714-185C-445D-9D4A-3CD1DB4CBF6A}" type="presParOf" srcId="{C1F71D73-C2AB-4B1C-A7E2-BF3345512F85}" destId="{30E1A627-7C3B-443E-A994-031CF490863F}" srcOrd="0" destOrd="0" presId="urn:microsoft.com/office/officeart/2018/2/layout/IconVerticalSolidList"/>
    <dgm:cxn modelId="{80F75AA4-31E8-4DE9-AE99-FA8BA2BBF75E}" type="presParOf" srcId="{C1F71D73-C2AB-4B1C-A7E2-BF3345512F85}" destId="{9AE768EB-E8E4-4522-A655-634D3C291E1D}" srcOrd="1" destOrd="0" presId="urn:microsoft.com/office/officeart/2018/2/layout/IconVerticalSolidList"/>
    <dgm:cxn modelId="{F148D749-C4B6-4502-9652-0519A7BC1906}" type="presParOf" srcId="{C1F71D73-C2AB-4B1C-A7E2-BF3345512F85}" destId="{FBFCE878-DB42-4DD5-A330-7B4E892AA403}" srcOrd="2" destOrd="0" presId="urn:microsoft.com/office/officeart/2018/2/layout/IconVerticalSolidList"/>
    <dgm:cxn modelId="{90643180-1499-4E6F-BB35-763CF9F59429}" type="presParOf" srcId="{C1F71D73-C2AB-4B1C-A7E2-BF3345512F85}" destId="{B95DCA3B-4AD0-42C9-9F19-9E2CD7B9D016}" srcOrd="3" destOrd="0" presId="urn:microsoft.com/office/officeart/2018/2/layout/IconVerticalSolidList"/>
    <dgm:cxn modelId="{7DD0D231-C9CE-470F-A110-55590A623048}" type="presParOf" srcId="{CF46A56D-FD75-4BDB-B0BB-E8A7A38430FD}" destId="{B1351D96-D71D-40E6-9843-D39CC10B8A02}" srcOrd="5" destOrd="0" presId="urn:microsoft.com/office/officeart/2018/2/layout/IconVerticalSolidList"/>
    <dgm:cxn modelId="{F2F4DF10-6EDD-4DDC-A309-B681779499CA}" type="presParOf" srcId="{CF46A56D-FD75-4BDB-B0BB-E8A7A38430FD}" destId="{F9569A91-BC79-49BB-BEA7-728FD12B1BD8}" srcOrd="6" destOrd="0" presId="urn:microsoft.com/office/officeart/2018/2/layout/IconVerticalSolidList"/>
    <dgm:cxn modelId="{2503331F-F868-444F-A706-A01FB54D4B48}" type="presParOf" srcId="{F9569A91-BC79-49BB-BEA7-728FD12B1BD8}" destId="{5B134C76-AF49-4A7B-B541-AAE36B3255F6}" srcOrd="0" destOrd="0" presId="urn:microsoft.com/office/officeart/2018/2/layout/IconVerticalSolidList"/>
    <dgm:cxn modelId="{C1116A70-4862-40E8-B9F9-9CA53E588746}" type="presParOf" srcId="{F9569A91-BC79-49BB-BEA7-728FD12B1BD8}" destId="{60F5DB89-BF0A-489B-B8D3-2FBEE24A10FC}" srcOrd="1" destOrd="0" presId="urn:microsoft.com/office/officeart/2018/2/layout/IconVerticalSolidList"/>
    <dgm:cxn modelId="{BBB38923-D400-49EA-9398-974332F672ED}" type="presParOf" srcId="{F9569A91-BC79-49BB-BEA7-728FD12B1BD8}" destId="{412E8215-0608-46DC-9401-58168A3FB676}" srcOrd="2" destOrd="0" presId="urn:microsoft.com/office/officeart/2018/2/layout/IconVerticalSolidList"/>
    <dgm:cxn modelId="{A7D00D18-903F-4BCD-9CF7-B3AC48F007F7}" type="presParOf" srcId="{F9569A91-BC79-49BB-BEA7-728FD12B1BD8}" destId="{210D0141-BA21-49AF-9A55-A7248AF0A4C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5DB02B4-E110-4F20-928C-2AFFB46334B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08E09035-6B5B-4301-86B9-D7FCF036D032}">
      <dgm:prSet/>
      <dgm:spPr/>
      <dgm:t>
        <a:bodyPr/>
        <a:lstStyle/>
        <a:p>
          <a:r>
            <a:rPr lang="en-US" b="1" dirty="0"/>
            <a:t>Long tail - focuses on changes in competitive landscape</a:t>
          </a:r>
        </a:p>
      </dgm:t>
    </dgm:pt>
    <dgm:pt modelId="{26CBBBD3-E37D-49BB-8BC6-3A4E2C2CF6B7}" type="parTrans" cxnId="{C9F41E29-1EC2-4790-98CA-D169BDA692BD}">
      <dgm:prSet/>
      <dgm:spPr/>
      <dgm:t>
        <a:bodyPr/>
        <a:lstStyle/>
        <a:p>
          <a:endParaRPr lang="en-US"/>
        </a:p>
      </dgm:t>
    </dgm:pt>
    <dgm:pt modelId="{80927B8C-6D12-4FE2-944F-70138F21BB08}" type="sibTrans" cxnId="{C9F41E29-1EC2-4790-98CA-D169BDA692BD}">
      <dgm:prSet/>
      <dgm:spPr/>
      <dgm:t>
        <a:bodyPr/>
        <a:lstStyle/>
        <a:p>
          <a:endParaRPr lang="en-US"/>
        </a:p>
      </dgm:t>
    </dgm:pt>
    <dgm:pt modelId="{A9408652-E9DA-4118-B377-9C6A7ABFE73B}">
      <dgm:prSet/>
      <dgm:spPr/>
      <dgm:t>
        <a:bodyPr/>
        <a:lstStyle/>
        <a:p>
          <a:r>
            <a:rPr lang="en-US" dirty="0"/>
            <a:t>Digital finance - focuses on changes in financial entities and technologies</a:t>
          </a:r>
        </a:p>
      </dgm:t>
    </dgm:pt>
    <dgm:pt modelId="{71237D31-E91A-4337-AFD1-7AE57D448EE1}" type="parTrans" cxnId="{7D9CE1F8-7D05-43F2-A8FE-755DB875994F}">
      <dgm:prSet/>
      <dgm:spPr/>
      <dgm:t>
        <a:bodyPr/>
        <a:lstStyle/>
        <a:p>
          <a:endParaRPr lang="en-US"/>
        </a:p>
      </dgm:t>
    </dgm:pt>
    <dgm:pt modelId="{ABD4C05D-CD41-4510-A016-20DCF0A95D37}" type="sibTrans" cxnId="{7D9CE1F8-7D05-43F2-A8FE-755DB875994F}">
      <dgm:prSet/>
      <dgm:spPr/>
      <dgm:t>
        <a:bodyPr/>
        <a:lstStyle/>
        <a:p>
          <a:endParaRPr lang="en-US"/>
        </a:p>
      </dgm:t>
    </dgm:pt>
    <dgm:pt modelId="{9E57C33F-1DF8-462B-ACC2-9AEE1E1BE06A}">
      <dgm:prSet/>
      <dgm:spPr/>
      <dgm:t>
        <a:bodyPr/>
        <a:lstStyle/>
        <a:p>
          <a:r>
            <a:rPr lang="en-US"/>
            <a:t>Collaboration - focuses on changes in operations models</a:t>
          </a:r>
        </a:p>
      </dgm:t>
    </dgm:pt>
    <dgm:pt modelId="{8697201C-A15E-4F5C-8EAE-BE97B487EA7B}" type="parTrans" cxnId="{52935899-66F1-4019-A6EF-E7EA1F670F29}">
      <dgm:prSet/>
      <dgm:spPr/>
      <dgm:t>
        <a:bodyPr/>
        <a:lstStyle/>
        <a:p>
          <a:endParaRPr lang="en-US"/>
        </a:p>
      </dgm:t>
    </dgm:pt>
    <dgm:pt modelId="{2709D546-53E0-4345-9929-9CAF169694FE}" type="sibTrans" cxnId="{52935899-66F1-4019-A6EF-E7EA1F670F29}">
      <dgm:prSet/>
      <dgm:spPr/>
      <dgm:t>
        <a:bodyPr/>
        <a:lstStyle/>
        <a:p>
          <a:endParaRPr lang="en-US"/>
        </a:p>
      </dgm:t>
    </dgm:pt>
    <dgm:pt modelId="{B2551C96-244D-47AD-B623-20EF226488B1}" type="pres">
      <dgm:prSet presAssocID="{85DB02B4-E110-4F20-928C-2AFFB46334B8}" presName="root" presStyleCnt="0">
        <dgm:presLayoutVars>
          <dgm:dir/>
          <dgm:resizeHandles val="exact"/>
        </dgm:presLayoutVars>
      </dgm:prSet>
      <dgm:spPr/>
    </dgm:pt>
    <dgm:pt modelId="{F12DFC1D-FDB7-4377-AFAE-F89E2C54EF32}" type="pres">
      <dgm:prSet presAssocID="{08E09035-6B5B-4301-86B9-D7FCF036D032}" presName="compNode" presStyleCnt="0"/>
      <dgm:spPr/>
    </dgm:pt>
    <dgm:pt modelId="{4C2F5443-63FE-4FFD-A8DC-6533C111256C}" type="pres">
      <dgm:prSet presAssocID="{08E09035-6B5B-4301-86B9-D7FCF036D032}" presName="bgRect" presStyleLbl="bgShp" presStyleIdx="0" presStyleCnt="3"/>
      <dgm:spPr/>
    </dgm:pt>
    <dgm:pt modelId="{F92C8CBB-917F-48C3-8649-AD276F8F1D88}" type="pres">
      <dgm:prSet presAssocID="{08E09035-6B5B-4301-86B9-D7FCF036D032}"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upply And Demand"/>
        </a:ext>
      </dgm:extLst>
    </dgm:pt>
    <dgm:pt modelId="{3BD22170-67A7-430A-A74F-D58F3FB89306}" type="pres">
      <dgm:prSet presAssocID="{08E09035-6B5B-4301-86B9-D7FCF036D032}" presName="spaceRect" presStyleCnt="0"/>
      <dgm:spPr/>
    </dgm:pt>
    <dgm:pt modelId="{431289F3-9BFD-4F40-86F4-66F923D0A266}" type="pres">
      <dgm:prSet presAssocID="{08E09035-6B5B-4301-86B9-D7FCF036D032}" presName="parTx" presStyleLbl="revTx" presStyleIdx="0" presStyleCnt="3">
        <dgm:presLayoutVars>
          <dgm:chMax val="0"/>
          <dgm:chPref val="0"/>
        </dgm:presLayoutVars>
      </dgm:prSet>
      <dgm:spPr/>
    </dgm:pt>
    <dgm:pt modelId="{8D4E9600-2F3B-4ADB-8661-2D8A9619176B}" type="pres">
      <dgm:prSet presAssocID="{80927B8C-6D12-4FE2-944F-70138F21BB08}" presName="sibTrans" presStyleCnt="0"/>
      <dgm:spPr/>
    </dgm:pt>
    <dgm:pt modelId="{93AD539D-9B03-403C-9C95-E37AD49D5E84}" type="pres">
      <dgm:prSet presAssocID="{A9408652-E9DA-4118-B377-9C6A7ABFE73B}" presName="compNode" presStyleCnt="0"/>
      <dgm:spPr/>
    </dgm:pt>
    <dgm:pt modelId="{17AA5016-A9AA-4803-B1E8-F27AB2759EC6}" type="pres">
      <dgm:prSet presAssocID="{A9408652-E9DA-4118-B377-9C6A7ABFE73B}" presName="bgRect" presStyleLbl="bgShp" presStyleIdx="1" presStyleCnt="3"/>
      <dgm:spPr/>
    </dgm:pt>
    <dgm:pt modelId="{5907C649-C225-4A75-85AC-5FE58C1167B2}" type="pres">
      <dgm:prSet presAssocID="{A9408652-E9DA-4118-B377-9C6A7ABFE73B}" presName="iconRect" presStyleLbl="node1" presStyleIdx="1" presStyleCnt="3"/>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E043D760-7D24-4CC2-BC20-20F5345B9381}" type="pres">
      <dgm:prSet presAssocID="{A9408652-E9DA-4118-B377-9C6A7ABFE73B}" presName="spaceRect" presStyleCnt="0"/>
      <dgm:spPr/>
    </dgm:pt>
    <dgm:pt modelId="{83EF56DF-2174-4C2E-BC42-772C5BEAE1AB}" type="pres">
      <dgm:prSet presAssocID="{A9408652-E9DA-4118-B377-9C6A7ABFE73B}" presName="parTx" presStyleLbl="revTx" presStyleIdx="1" presStyleCnt="3">
        <dgm:presLayoutVars>
          <dgm:chMax val="0"/>
          <dgm:chPref val="0"/>
        </dgm:presLayoutVars>
      </dgm:prSet>
      <dgm:spPr/>
    </dgm:pt>
    <dgm:pt modelId="{B7494BA1-421E-4D38-AFD7-EAEB10684ECA}" type="pres">
      <dgm:prSet presAssocID="{ABD4C05D-CD41-4510-A016-20DCF0A95D37}" presName="sibTrans" presStyleCnt="0"/>
      <dgm:spPr/>
    </dgm:pt>
    <dgm:pt modelId="{B5038C57-BC94-4066-B9F4-419FF4A393F9}" type="pres">
      <dgm:prSet presAssocID="{9E57C33F-1DF8-462B-ACC2-9AEE1E1BE06A}" presName="compNode" presStyleCnt="0"/>
      <dgm:spPr/>
    </dgm:pt>
    <dgm:pt modelId="{2AE7B120-02BA-45CD-BA38-5D000EA72D73}" type="pres">
      <dgm:prSet presAssocID="{9E57C33F-1DF8-462B-ACC2-9AEE1E1BE06A}" presName="bgRect" presStyleLbl="bgShp" presStyleIdx="2" presStyleCnt="3"/>
      <dgm:spPr/>
    </dgm:pt>
    <dgm:pt modelId="{3CBDFECD-46F5-4458-A102-06B665599EFF}" type="pres">
      <dgm:prSet presAssocID="{9E57C33F-1DF8-462B-ACC2-9AEE1E1BE06A}" presName="iconRect" presStyleLbl="node1" presStyleIdx="2" presStyleCnt="3"/>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3E7DA97A-C0E7-4AAF-A393-9D48DCDE5091}" type="pres">
      <dgm:prSet presAssocID="{9E57C33F-1DF8-462B-ACC2-9AEE1E1BE06A}" presName="spaceRect" presStyleCnt="0"/>
      <dgm:spPr/>
    </dgm:pt>
    <dgm:pt modelId="{F8F132C8-94B9-4447-BA50-36DA2B71030E}" type="pres">
      <dgm:prSet presAssocID="{9E57C33F-1DF8-462B-ACC2-9AEE1E1BE06A}" presName="parTx" presStyleLbl="revTx" presStyleIdx="2" presStyleCnt="3">
        <dgm:presLayoutVars>
          <dgm:chMax val="0"/>
          <dgm:chPref val="0"/>
        </dgm:presLayoutVars>
      </dgm:prSet>
      <dgm:spPr/>
    </dgm:pt>
  </dgm:ptLst>
  <dgm:cxnLst>
    <dgm:cxn modelId="{C9F41E29-1EC2-4790-98CA-D169BDA692BD}" srcId="{85DB02B4-E110-4F20-928C-2AFFB46334B8}" destId="{08E09035-6B5B-4301-86B9-D7FCF036D032}" srcOrd="0" destOrd="0" parTransId="{26CBBBD3-E37D-49BB-8BC6-3A4E2C2CF6B7}" sibTransId="{80927B8C-6D12-4FE2-944F-70138F21BB08}"/>
    <dgm:cxn modelId="{3E7E714B-DF2D-4CE1-8E7B-AD6D5D897CDC}" type="presOf" srcId="{85DB02B4-E110-4F20-928C-2AFFB46334B8}" destId="{B2551C96-244D-47AD-B623-20EF226488B1}" srcOrd="0" destOrd="0" presId="urn:microsoft.com/office/officeart/2018/2/layout/IconVerticalSolidList"/>
    <dgm:cxn modelId="{E411234E-CD92-465C-87E9-BAF125B008C0}" type="presOf" srcId="{9E57C33F-1DF8-462B-ACC2-9AEE1E1BE06A}" destId="{F8F132C8-94B9-4447-BA50-36DA2B71030E}" srcOrd="0" destOrd="0" presId="urn:microsoft.com/office/officeart/2018/2/layout/IconVerticalSolidList"/>
    <dgm:cxn modelId="{F7EFAE80-0B99-4789-93B8-5A6CB8177E20}" type="presOf" srcId="{08E09035-6B5B-4301-86B9-D7FCF036D032}" destId="{431289F3-9BFD-4F40-86F4-66F923D0A266}" srcOrd="0" destOrd="0" presId="urn:microsoft.com/office/officeart/2018/2/layout/IconVerticalSolidList"/>
    <dgm:cxn modelId="{25881D98-ACE1-4B34-BC41-8C3563BE9949}" type="presOf" srcId="{A9408652-E9DA-4118-B377-9C6A7ABFE73B}" destId="{83EF56DF-2174-4C2E-BC42-772C5BEAE1AB}" srcOrd="0" destOrd="0" presId="urn:microsoft.com/office/officeart/2018/2/layout/IconVerticalSolidList"/>
    <dgm:cxn modelId="{52935899-66F1-4019-A6EF-E7EA1F670F29}" srcId="{85DB02B4-E110-4F20-928C-2AFFB46334B8}" destId="{9E57C33F-1DF8-462B-ACC2-9AEE1E1BE06A}" srcOrd="2" destOrd="0" parTransId="{8697201C-A15E-4F5C-8EAE-BE97B487EA7B}" sibTransId="{2709D546-53E0-4345-9929-9CAF169694FE}"/>
    <dgm:cxn modelId="{7D9CE1F8-7D05-43F2-A8FE-755DB875994F}" srcId="{85DB02B4-E110-4F20-928C-2AFFB46334B8}" destId="{A9408652-E9DA-4118-B377-9C6A7ABFE73B}" srcOrd="1" destOrd="0" parTransId="{71237D31-E91A-4337-AFD1-7AE57D448EE1}" sibTransId="{ABD4C05D-CD41-4510-A016-20DCF0A95D37}"/>
    <dgm:cxn modelId="{3106F462-26E5-42EE-94F9-BA6C382A2388}" type="presParOf" srcId="{B2551C96-244D-47AD-B623-20EF226488B1}" destId="{F12DFC1D-FDB7-4377-AFAE-F89E2C54EF32}" srcOrd="0" destOrd="0" presId="urn:microsoft.com/office/officeart/2018/2/layout/IconVerticalSolidList"/>
    <dgm:cxn modelId="{B3D36B79-5AD1-42ED-8E0A-9C66A2345C0F}" type="presParOf" srcId="{F12DFC1D-FDB7-4377-AFAE-F89E2C54EF32}" destId="{4C2F5443-63FE-4FFD-A8DC-6533C111256C}" srcOrd="0" destOrd="0" presId="urn:microsoft.com/office/officeart/2018/2/layout/IconVerticalSolidList"/>
    <dgm:cxn modelId="{91EDFFA4-E672-4DC8-8F3D-C36EB6B940CA}" type="presParOf" srcId="{F12DFC1D-FDB7-4377-AFAE-F89E2C54EF32}" destId="{F92C8CBB-917F-48C3-8649-AD276F8F1D88}" srcOrd="1" destOrd="0" presId="urn:microsoft.com/office/officeart/2018/2/layout/IconVerticalSolidList"/>
    <dgm:cxn modelId="{5C615817-4151-402E-8082-167A7B8C0609}" type="presParOf" srcId="{F12DFC1D-FDB7-4377-AFAE-F89E2C54EF32}" destId="{3BD22170-67A7-430A-A74F-D58F3FB89306}" srcOrd="2" destOrd="0" presId="urn:microsoft.com/office/officeart/2018/2/layout/IconVerticalSolidList"/>
    <dgm:cxn modelId="{662DC6EF-B122-44BB-86B8-DC16E82D5CF5}" type="presParOf" srcId="{F12DFC1D-FDB7-4377-AFAE-F89E2C54EF32}" destId="{431289F3-9BFD-4F40-86F4-66F923D0A266}" srcOrd="3" destOrd="0" presId="urn:microsoft.com/office/officeart/2018/2/layout/IconVerticalSolidList"/>
    <dgm:cxn modelId="{452707B3-FCD7-4241-A7A2-B6557EE44C28}" type="presParOf" srcId="{B2551C96-244D-47AD-B623-20EF226488B1}" destId="{8D4E9600-2F3B-4ADB-8661-2D8A9619176B}" srcOrd="1" destOrd="0" presId="urn:microsoft.com/office/officeart/2018/2/layout/IconVerticalSolidList"/>
    <dgm:cxn modelId="{122AB8E8-5B92-4CD8-95BD-76194A8343C3}" type="presParOf" srcId="{B2551C96-244D-47AD-B623-20EF226488B1}" destId="{93AD539D-9B03-403C-9C95-E37AD49D5E84}" srcOrd="2" destOrd="0" presId="urn:microsoft.com/office/officeart/2018/2/layout/IconVerticalSolidList"/>
    <dgm:cxn modelId="{07A1CC23-CBEC-40B3-ACEE-FE21A082F2B7}" type="presParOf" srcId="{93AD539D-9B03-403C-9C95-E37AD49D5E84}" destId="{17AA5016-A9AA-4803-B1E8-F27AB2759EC6}" srcOrd="0" destOrd="0" presId="urn:microsoft.com/office/officeart/2018/2/layout/IconVerticalSolidList"/>
    <dgm:cxn modelId="{D2030405-9D97-4C3E-BB22-A2DF3EEB88BC}" type="presParOf" srcId="{93AD539D-9B03-403C-9C95-E37AD49D5E84}" destId="{5907C649-C225-4A75-85AC-5FE58C1167B2}" srcOrd="1" destOrd="0" presId="urn:microsoft.com/office/officeart/2018/2/layout/IconVerticalSolidList"/>
    <dgm:cxn modelId="{44E26D46-6FD5-4E2E-8D13-803A5004C9ED}" type="presParOf" srcId="{93AD539D-9B03-403C-9C95-E37AD49D5E84}" destId="{E043D760-7D24-4CC2-BC20-20F5345B9381}" srcOrd="2" destOrd="0" presId="urn:microsoft.com/office/officeart/2018/2/layout/IconVerticalSolidList"/>
    <dgm:cxn modelId="{CEC32C86-166A-48DF-8CFD-650FEAE1F4B7}" type="presParOf" srcId="{93AD539D-9B03-403C-9C95-E37AD49D5E84}" destId="{83EF56DF-2174-4C2E-BC42-772C5BEAE1AB}" srcOrd="3" destOrd="0" presId="urn:microsoft.com/office/officeart/2018/2/layout/IconVerticalSolidList"/>
    <dgm:cxn modelId="{3B7D07CB-3E9F-4737-8656-60863DB17F81}" type="presParOf" srcId="{B2551C96-244D-47AD-B623-20EF226488B1}" destId="{B7494BA1-421E-4D38-AFD7-EAEB10684ECA}" srcOrd="3" destOrd="0" presId="urn:microsoft.com/office/officeart/2018/2/layout/IconVerticalSolidList"/>
    <dgm:cxn modelId="{0BBA6D4C-ADE1-43A3-9505-9AC625A1D4C6}" type="presParOf" srcId="{B2551C96-244D-47AD-B623-20EF226488B1}" destId="{B5038C57-BC94-4066-B9F4-419FF4A393F9}" srcOrd="4" destOrd="0" presId="urn:microsoft.com/office/officeart/2018/2/layout/IconVerticalSolidList"/>
    <dgm:cxn modelId="{B327D814-D2AF-46E8-BFD0-C5CC084ED889}" type="presParOf" srcId="{B5038C57-BC94-4066-B9F4-419FF4A393F9}" destId="{2AE7B120-02BA-45CD-BA38-5D000EA72D73}" srcOrd="0" destOrd="0" presId="urn:microsoft.com/office/officeart/2018/2/layout/IconVerticalSolidList"/>
    <dgm:cxn modelId="{10571A89-EEB1-428C-8D4A-F62B862F8975}" type="presParOf" srcId="{B5038C57-BC94-4066-B9F4-419FF4A393F9}" destId="{3CBDFECD-46F5-4458-A102-06B665599EFF}" srcOrd="1" destOrd="0" presId="urn:microsoft.com/office/officeart/2018/2/layout/IconVerticalSolidList"/>
    <dgm:cxn modelId="{93D8635D-0F11-45B9-A9FE-61065E22B4EA}" type="presParOf" srcId="{B5038C57-BC94-4066-B9F4-419FF4A393F9}" destId="{3E7DA97A-C0E7-4AAF-A393-9D48DCDE5091}" srcOrd="2" destOrd="0" presId="urn:microsoft.com/office/officeart/2018/2/layout/IconVerticalSolidList"/>
    <dgm:cxn modelId="{1CBF45B4-BD64-4146-86DC-4ED9B8FC963A}" type="presParOf" srcId="{B5038C57-BC94-4066-B9F4-419FF4A393F9}" destId="{F8F132C8-94B9-4447-BA50-36DA2B71030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5DB02B4-E110-4F20-928C-2AFFB46334B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08E09035-6B5B-4301-86B9-D7FCF036D032}">
      <dgm:prSet/>
      <dgm:spPr/>
      <dgm:t>
        <a:bodyPr/>
        <a:lstStyle/>
        <a:p>
          <a:r>
            <a:rPr lang="en-US" dirty="0"/>
            <a:t>Long tail - focuses on changes in competitive landscape</a:t>
          </a:r>
        </a:p>
      </dgm:t>
    </dgm:pt>
    <dgm:pt modelId="{26CBBBD3-E37D-49BB-8BC6-3A4E2C2CF6B7}" type="parTrans" cxnId="{C9F41E29-1EC2-4790-98CA-D169BDA692BD}">
      <dgm:prSet/>
      <dgm:spPr/>
      <dgm:t>
        <a:bodyPr/>
        <a:lstStyle/>
        <a:p>
          <a:endParaRPr lang="en-US"/>
        </a:p>
      </dgm:t>
    </dgm:pt>
    <dgm:pt modelId="{80927B8C-6D12-4FE2-944F-70138F21BB08}" type="sibTrans" cxnId="{C9F41E29-1EC2-4790-98CA-D169BDA692BD}">
      <dgm:prSet/>
      <dgm:spPr/>
      <dgm:t>
        <a:bodyPr/>
        <a:lstStyle/>
        <a:p>
          <a:endParaRPr lang="en-US"/>
        </a:p>
      </dgm:t>
    </dgm:pt>
    <dgm:pt modelId="{A9408652-E9DA-4118-B377-9C6A7ABFE73B}">
      <dgm:prSet/>
      <dgm:spPr/>
      <dgm:t>
        <a:bodyPr/>
        <a:lstStyle/>
        <a:p>
          <a:r>
            <a:rPr lang="en-US" b="1" dirty="0"/>
            <a:t>Digital finance - focuses on changes in financial entities and technologies</a:t>
          </a:r>
        </a:p>
      </dgm:t>
    </dgm:pt>
    <dgm:pt modelId="{71237D31-E91A-4337-AFD1-7AE57D448EE1}" type="parTrans" cxnId="{7D9CE1F8-7D05-43F2-A8FE-755DB875994F}">
      <dgm:prSet/>
      <dgm:spPr/>
      <dgm:t>
        <a:bodyPr/>
        <a:lstStyle/>
        <a:p>
          <a:endParaRPr lang="en-US"/>
        </a:p>
      </dgm:t>
    </dgm:pt>
    <dgm:pt modelId="{ABD4C05D-CD41-4510-A016-20DCF0A95D37}" type="sibTrans" cxnId="{7D9CE1F8-7D05-43F2-A8FE-755DB875994F}">
      <dgm:prSet/>
      <dgm:spPr/>
      <dgm:t>
        <a:bodyPr/>
        <a:lstStyle/>
        <a:p>
          <a:endParaRPr lang="en-US"/>
        </a:p>
      </dgm:t>
    </dgm:pt>
    <dgm:pt modelId="{9E57C33F-1DF8-462B-ACC2-9AEE1E1BE06A}">
      <dgm:prSet/>
      <dgm:spPr/>
      <dgm:t>
        <a:bodyPr/>
        <a:lstStyle/>
        <a:p>
          <a:r>
            <a:rPr lang="en-US"/>
            <a:t>Collaboration - focuses on changes in operations models</a:t>
          </a:r>
        </a:p>
      </dgm:t>
    </dgm:pt>
    <dgm:pt modelId="{8697201C-A15E-4F5C-8EAE-BE97B487EA7B}" type="parTrans" cxnId="{52935899-66F1-4019-A6EF-E7EA1F670F29}">
      <dgm:prSet/>
      <dgm:spPr/>
      <dgm:t>
        <a:bodyPr/>
        <a:lstStyle/>
        <a:p>
          <a:endParaRPr lang="en-US"/>
        </a:p>
      </dgm:t>
    </dgm:pt>
    <dgm:pt modelId="{2709D546-53E0-4345-9929-9CAF169694FE}" type="sibTrans" cxnId="{52935899-66F1-4019-A6EF-E7EA1F670F29}">
      <dgm:prSet/>
      <dgm:spPr/>
      <dgm:t>
        <a:bodyPr/>
        <a:lstStyle/>
        <a:p>
          <a:endParaRPr lang="en-US"/>
        </a:p>
      </dgm:t>
    </dgm:pt>
    <dgm:pt modelId="{B2551C96-244D-47AD-B623-20EF226488B1}" type="pres">
      <dgm:prSet presAssocID="{85DB02B4-E110-4F20-928C-2AFFB46334B8}" presName="root" presStyleCnt="0">
        <dgm:presLayoutVars>
          <dgm:dir/>
          <dgm:resizeHandles val="exact"/>
        </dgm:presLayoutVars>
      </dgm:prSet>
      <dgm:spPr/>
    </dgm:pt>
    <dgm:pt modelId="{F12DFC1D-FDB7-4377-AFAE-F89E2C54EF32}" type="pres">
      <dgm:prSet presAssocID="{08E09035-6B5B-4301-86B9-D7FCF036D032}" presName="compNode" presStyleCnt="0"/>
      <dgm:spPr/>
    </dgm:pt>
    <dgm:pt modelId="{4C2F5443-63FE-4FFD-A8DC-6533C111256C}" type="pres">
      <dgm:prSet presAssocID="{08E09035-6B5B-4301-86B9-D7FCF036D032}" presName="bgRect" presStyleLbl="bgShp" presStyleIdx="0" presStyleCnt="3"/>
      <dgm:spPr/>
    </dgm:pt>
    <dgm:pt modelId="{F92C8CBB-917F-48C3-8649-AD276F8F1D88}" type="pres">
      <dgm:prSet presAssocID="{08E09035-6B5B-4301-86B9-D7FCF036D032}"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upply And Demand"/>
        </a:ext>
      </dgm:extLst>
    </dgm:pt>
    <dgm:pt modelId="{3BD22170-67A7-430A-A74F-D58F3FB89306}" type="pres">
      <dgm:prSet presAssocID="{08E09035-6B5B-4301-86B9-D7FCF036D032}" presName="spaceRect" presStyleCnt="0"/>
      <dgm:spPr/>
    </dgm:pt>
    <dgm:pt modelId="{431289F3-9BFD-4F40-86F4-66F923D0A266}" type="pres">
      <dgm:prSet presAssocID="{08E09035-6B5B-4301-86B9-D7FCF036D032}" presName="parTx" presStyleLbl="revTx" presStyleIdx="0" presStyleCnt="3">
        <dgm:presLayoutVars>
          <dgm:chMax val="0"/>
          <dgm:chPref val="0"/>
        </dgm:presLayoutVars>
      </dgm:prSet>
      <dgm:spPr/>
    </dgm:pt>
    <dgm:pt modelId="{8D4E9600-2F3B-4ADB-8661-2D8A9619176B}" type="pres">
      <dgm:prSet presAssocID="{80927B8C-6D12-4FE2-944F-70138F21BB08}" presName="sibTrans" presStyleCnt="0"/>
      <dgm:spPr/>
    </dgm:pt>
    <dgm:pt modelId="{93AD539D-9B03-403C-9C95-E37AD49D5E84}" type="pres">
      <dgm:prSet presAssocID="{A9408652-E9DA-4118-B377-9C6A7ABFE73B}" presName="compNode" presStyleCnt="0"/>
      <dgm:spPr/>
    </dgm:pt>
    <dgm:pt modelId="{17AA5016-A9AA-4803-B1E8-F27AB2759EC6}" type="pres">
      <dgm:prSet presAssocID="{A9408652-E9DA-4118-B377-9C6A7ABFE73B}" presName="bgRect" presStyleLbl="bgShp" presStyleIdx="1" presStyleCnt="3"/>
      <dgm:spPr/>
    </dgm:pt>
    <dgm:pt modelId="{5907C649-C225-4A75-85AC-5FE58C1167B2}" type="pres">
      <dgm:prSet presAssocID="{A9408652-E9DA-4118-B377-9C6A7ABFE73B}" presName="iconRect" presStyleLbl="node1" presStyleIdx="1" presStyleCnt="3"/>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E043D760-7D24-4CC2-BC20-20F5345B9381}" type="pres">
      <dgm:prSet presAssocID="{A9408652-E9DA-4118-B377-9C6A7ABFE73B}" presName="spaceRect" presStyleCnt="0"/>
      <dgm:spPr/>
    </dgm:pt>
    <dgm:pt modelId="{83EF56DF-2174-4C2E-BC42-772C5BEAE1AB}" type="pres">
      <dgm:prSet presAssocID="{A9408652-E9DA-4118-B377-9C6A7ABFE73B}" presName="parTx" presStyleLbl="revTx" presStyleIdx="1" presStyleCnt="3">
        <dgm:presLayoutVars>
          <dgm:chMax val="0"/>
          <dgm:chPref val="0"/>
        </dgm:presLayoutVars>
      </dgm:prSet>
      <dgm:spPr/>
    </dgm:pt>
    <dgm:pt modelId="{B7494BA1-421E-4D38-AFD7-EAEB10684ECA}" type="pres">
      <dgm:prSet presAssocID="{ABD4C05D-CD41-4510-A016-20DCF0A95D37}" presName="sibTrans" presStyleCnt="0"/>
      <dgm:spPr/>
    </dgm:pt>
    <dgm:pt modelId="{B5038C57-BC94-4066-B9F4-419FF4A393F9}" type="pres">
      <dgm:prSet presAssocID="{9E57C33F-1DF8-462B-ACC2-9AEE1E1BE06A}" presName="compNode" presStyleCnt="0"/>
      <dgm:spPr/>
    </dgm:pt>
    <dgm:pt modelId="{2AE7B120-02BA-45CD-BA38-5D000EA72D73}" type="pres">
      <dgm:prSet presAssocID="{9E57C33F-1DF8-462B-ACC2-9AEE1E1BE06A}" presName="bgRect" presStyleLbl="bgShp" presStyleIdx="2" presStyleCnt="3"/>
      <dgm:spPr/>
    </dgm:pt>
    <dgm:pt modelId="{3CBDFECD-46F5-4458-A102-06B665599EFF}" type="pres">
      <dgm:prSet presAssocID="{9E57C33F-1DF8-462B-ACC2-9AEE1E1BE06A}" presName="iconRect" presStyleLbl="node1" presStyleIdx="2" presStyleCnt="3"/>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3E7DA97A-C0E7-4AAF-A393-9D48DCDE5091}" type="pres">
      <dgm:prSet presAssocID="{9E57C33F-1DF8-462B-ACC2-9AEE1E1BE06A}" presName="spaceRect" presStyleCnt="0"/>
      <dgm:spPr/>
    </dgm:pt>
    <dgm:pt modelId="{F8F132C8-94B9-4447-BA50-36DA2B71030E}" type="pres">
      <dgm:prSet presAssocID="{9E57C33F-1DF8-462B-ACC2-9AEE1E1BE06A}" presName="parTx" presStyleLbl="revTx" presStyleIdx="2" presStyleCnt="3">
        <dgm:presLayoutVars>
          <dgm:chMax val="0"/>
          <dgm:chPref val="0"/>
        </dgm:presLayoutVars>
      </dgm:prSet>
      <dgm:spPr/>
    </dgm:pt>
  </dgm:ptLst>
  <dgm:cxnLst>
    <dgm:cxn modelId="{C9F41E29-1EC2-4790-98CA-D169BDA692BD}" srcId="{85DB02B4-E110-4F20-928C-2AFFB46334B8}" destId="{08E09035-6B5B-4301-86B9-D7FCF036D032}" srcOrd="0" destOrd="0" parTransId="{26CBBBD3-E37D-49BB-8BC6-3A4E2C2CF6B7}" sibTransId="{80927B8C-6D12-4FE2-944F-70138F21BB08}"/>
    <dgm:cxn modelId="{3E7E714B-DF2D-4CE1-8E7B-AD6D5D897CDC}" type="presOf" srcId="{85DB02B4-E110-4F20-928C-2AFFB46334B8}" destId="{B2551C96-244D-47AD-B623-20EF226488B1}" srcOrd="0" destOrd="0" presId="urn:microsoft.com/office/officeart/2018/2/layout/IconVerticalSolidList"/>
    <dgm:cxn modelId="{E411234E-CD92-465C-87E9-BAF125B008C0}" type="presOf" srcId="{9E57C33F-1DF8-462B-ACC2-9AEE1E1BE06A}" destId="{F8F132C8-94B9-4447-BA50-36DA2B71030E}" srcOrd="0" destOrd="0" presId="urn:microsoft.com/office/officeart/2018/2/layout/IconVerticalSolidList"/>
    <dgm:cxn modelId="{F7EFAE80-0B99-4789-93B8-5A6CB8177E20}" type="presOf" srcId="{08E09035-6B5B-4301-86B9-D7FCF036D032}" destId="{431289F3-9BFD-4F40-86F4-66F923D0A266}" srcOrd="0" destOrd="0" presId="urn:microsoft.com/office/officeart/2018/2/layout/IconVerticalSolidList"/>
    <dgm:cxn modelId="{25881D98-ACE1-4B34-BC41-8C3563BE9949}" type="presOf" srcId="{A9408652-E9DA-4118-B377-9C6A7ABFE73B}" destId="{83EF56DF-2174-4C2E-BC42-772C5BEAE1AB}" srcOrd="0" destOrd="0" presId="urn:microsoft.com/office/officeart/2018/2/layout/IconVerticalSolidList"/>
    <dgm:cxn modelId="{52935899-66F1-4019-A6EF-E7EA1F670F29}" srcId="{85DB02B4-E110-4F20-928C-2AFFB46334B8}" destId="{9E57C33F-1DF8-462B-ACC2-9AEE1E1BE06A}" srcOrd="2" destOrd="0" parTransId="{8697201C-A15E-4F5C-8EAE-BE97B487EA7B}" sibTransId="{2709D546-53E0-4345-9929-9CAF169694FE}"/>
    <dgm:cxn modelId="{7D9CE1F8-7D05-43F2-A8FE-755DB875994F}" srcId="{85DB02B4-E110-4F20-928C-2AFFB46334B8}" destId="{A9408652-E9DA-4118-B377-9C6A7ABFE73B}" srcOrd="1" destOrd="0" parTransId="{71237D31-E91A-4337-AFD1-7AE57D448EE1}" sibTransId="{ABD4C05D-CD41-4510-A016-20DCF0A95D37}"/>
    <dgm:cxn modelId="{3106F462-26E5-42EE-94F9-BA6C382A2388}" type="presParOf" srcId="{B2551C96-244D-47AD-B623-20EF226488B1}" destId="{F12DFC1D-FDB7-4377-AFAE-F89E2C54EF32}" srcOrd="0" destOrd="0" presId="urn:microsoft.com/office/officeart/2018/2/layout/IconVerticalSolidList"/>
    <dgm:cxn modelId="{B3D36B79-5AD1-42ED-8E0A-9C66A2345C0F}" type="presParOf" srcId="{F12DFC1D-FDB7-4377-AFAE-F89E2C54EF32}" destId="{4C2F5443-63FE-4FFD-A8DC-6533C111256C}" srcOrd="0" destOrd="0" presId="urn:microsoft.com/office/officeart/2018/2/layout/IconVerticalSolidList"/>
    <dgm:cxn modelId="{91EDFFA4-E672-4DC8-8F3D-C36EB6B940CA}" type="presParOf" srcId="{F12DFC1D-FDB7-4377-AFAE-F89E2C54EF32}" destId="{F92C8CBB-917F-48C3-8649-AD276F8F1D88}" srcOrd="1" destOrd="0" presId="urn:microsoft.com/office/officeart/2018/2/layout/IconVerticalSolidList"/>
    <dgm:cxn modelId="{5C615817-4151-402E-8082-167A7B8C0609}" type="presParOf" srcId="{F12DFC1D-FDB7-4377-AFAE-F89E2C54EF32}" destId="{3BD22170-67A7-430A-A74F-D58F3FB89306}" srcOrd="2" destOrd="0" presId="urn:microsoft.com/office/officeart/2018/2/layout/IconVerticalSolidList"/>
    <dgm:cxn modelId="{662DC6EF-B122-44BB-86B8-DC16E82D5CF5}" type="presParOf" srcId="{F12DFC1D-FDB7-4377-AFAE-F89E2C54EF32}" destId="{431289F3-9BFD-4F40-86F4-66F923D0A266}" srcOrd="3" destOrd="0" presId="urn:microsoft.com/office/officeart/2018/2/layout/IconVerticalSolidList"/>
    <dgm:cxn modelId="{452707B3-FCD7-4241-A7A2-B6557EE44C28}" type="presParOf" srcId="{B2551C96-244D-47AD-B623-20EF226488B1}" destId="{8D4E9600-2F3B-4ADB-8661-2D8A9619176B}" srcOrd="1" destOrd="0" presId="urn:microsoft.com/office/officeart/2018/2/layout/IconVerticalSolidList"/>
    <dgm:cxn modelId="{122AB8E8-5B92-4CD8-95BD-76194A8343C3}" type="presParOf" srcId="{B2551C96-244D-47AD-B623-20EF226488B1}" destId="{93AD539D-9B03-403C-9C95-E37AD49D5E84}" srcOrd="2" destOrd="0" presId="urn:microsoft.com/office/officeart/2018/2/layout/IconVerticalSolidList"/>
    <dgm:cxn modelId="{07A1CC23-CBEC-40B3-ACEE-FE21A082F2B7}" type="presParOf" srcId="{93AD539D-9B03-403C-9C95-E37AD49D5E84}" destId="{17AA5016-A9AA-4803-B1E8-F27AB2759EC6}" srcOrd="0" destOrd="0" presId="urn:microsoft.com/office/officeart/2018/2/layout/IconVerticalSolidList"/>
    <dgm:cxn modelId="{D2030405-9D97-4C3E-BB22-A2DF3EEB88BC}" type="presParOf" srcId="{93AD539D-9B03-403C-9C95-E37AD49D5E84}" destId="{5907C649-C225-4A75-85AC-5FE58C1167B2}" srcOrd="1" destOrd="0" presId="urn:microsoft.com/office/officeart/2018/2/layout/IconVerticalSolidList"/>
    <dgm:cxn modelId="{44E26D46-6FD5-4E2E-8D13-803A5004C9ED}" type="presParOf" srcId="{93AD539D-9B03-403C-9C95-E37AD49D5E84}" destId="{E043D760-7D24-4CC2-BC20-20F5345B9381}" srcOrd="2" destOrd="0" presId="urn:microsoft.com/office/officeart/2018/2/layout/IconVerticalSolidList"/>
    <dgm:cxn modelId="{CEC32C86-166A-48DF-8CFD-650FEAE1F4B7}" type="presParOf" srcId="{93AD539D-9B03-403C-9C95-E37AD49D5E84}" destId="{83EF56DF-2174-4C2E-BC42-772C5BEAE1AB}" srcOrd="3" destOrd="0" presId="urn:microsoft.com/office/officeart/2018/2/layout/IconVerticalSolidList"/>
    <dgm:cxn modelId="{3B7D07CB-3E9F-4737-8656-60863DB17F81}" type="presParOf" srcId="{B2551C96-244D-47AD-B623-20EF226488B1}" destId="{B7494BA1-421E-4D38-AFD7-EAEB10684ECA}" srcOrd="3" destOrd="0" presId="urn:microsoft.com/office/officeart/2018/2/layout/IconVerticalSolidList"/>
    <dgm:cxn modelId="{0BBA6D4C-ADE1-43A3-9505-9AC625A1D4C6}" type="presParOf" srcId="{B2551C96-244D-47AD-B623-20EF226488B1}" destId="{B5038C57-BC94-4066-B9F4-419FF4A393F9}" srcOrd="4" destOrd="0" presId="urn:microsoft.com/office/officeart/2018/2/layout/IconVerticalSolidList"/>
    <dgm:cxn modelId="{B327D814-D2AF-46E8-BFD0-C5CC084ED889}" type="presParOf" srcId="{B5038C57-BC94-4066-B9F4-419FF4A393F9}" destId="{2AE7B120-02BA-45CD-BA38-5D000EA72D73}" srcOrd="0" destOrd="0" presId="urn:microsoft.com/office/officeart/2018/2/layout/IconVerticalSolidList"/>
    <dgm:cxn modelId="{10571A89-EEB1-428C-8D4A-F62B862F8975}" type="presParOf" srcId="{B5038C57-BC94-4066-B9F4-419FF4A393F9}" destId="{3CBDFECD-46F5-4458-A102-06B665599EFF}" srcOrd="1" destOrd="0" presId="urn:microsoft.com/office/officeart/2018/2/layout/IconVerticalSolidList"/>
    <dgm:cxn modelId="{93D8635D-0F11-45B9-A9FE-61065E22B4EA}" type="presParOf" srcId="{B5038C57-BC94-4066-B9F4-419FF4A393F9}" destId="{3E7DA97A-C0E7-4AAF-A393-9D48DCDE5091}" srcOrd="2" destOrd="0" presId="urn:microsoft.com/office/officeart/2018/2/layout/IconVerticalSolidList"/>
    <dgm:cxn modelId="{1CBF45B4-BD64-4146-86DC-4ED9B8FC963A}" type="presParOf" srcId="{B5038C57-BC94-4066-B9F4-419FF4A393F9}" destId="{F8F132C8-94B9-4447-BA50-36DA2B71030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5DB02B4-E110-4F20-928C-2AFFB46334B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08E09035-6B5B-4301-86B9-D7FCF036D032}">
      <dgm:prSet/>
      <dgm:spPr/>
      <dgm:t>
        <a:bodyPr/>
        <a:lstStyle/>
        <a:p>
          <a:r>
            <a:rPr lang="en-US" dirty="0"/>
            <a:t>Long tail - focuses on changes in competitive landscape</a:t>
          </a:r>
        </a:p>
      </dgm:t>
    </dgm:pt>
    <dgm:pt modelId="{26CBBBD3-E37D-49BB-8BC6-3A4E2C2CF6B7}" type="parTrans" cxnId="{C9F41E29-1EC2-4790-98CA-D169BDA692BD}">
      <dgm:prSet/>
      <dgm:spPr/>
      <dgm:t>
        <a:bodyPr/>
        <a:lstStyle/>
        <a:p>
          <a:endParaRPr lang="en-US"/>
        </a:p>
      </dgm:t>
    </dgm:pt>
    <dgm:pt modelId="{80927B8C-6D12-4FE2-944F-70138F21BB08}" type="sibTrans" cxnId="{C9F41E29-1EC2-4790-98CA-D169BDA692BD}">
      <dgm:prSet/>
      <dgm:spPr/>
      <dgm:t>
        <a:bodyPr/>
        <a:lstStyle/>
        <a:p>
          <a:endParaRPr lang="en-US"/>
        </a:p>
      </dgm:t>
    </dgm:pt>
    <dgm:pt modelId="{A9408652-E9DA-4118-B377-9C6A7ABFE73B}">
      <dgm:prSet/>
      <dgm:spPr/>
      <dgm:t>
        <a:bodyPr/>
        <a:lstStyle/>
        <a:p>
          <a:r>
            <a:rPr lang="en-US" dirty="0"/>
            <a:t>Digital finance - focuses on changes in financial entities and technologies</a:t>
          </a:r>
        </a:p>
      </dgm:t>
    </dgm:pt>
    <dgm:pt modelId="{71237D31-E91A-4337-AFD1-7AE57D448EE1}" type="parTrans" cxnId="{7D9CE1F8-7D05-43F2-A8FE-755DB875994F}">
      <dgm:prSet/>
      <dgm:spPr/>
      <dgm:t>
        <a:bodyPr/>
        <a:lstStyle/>
        <a:p>
          <a:endParaRPr lang="en-US"/>
        </a:p>
      </dgm:t>
    </dgm:pt>
    <dgm:pt modelId="{ABD4C05D-CD41-4510-A016-20DCF0A95D37}" type="sibTrans" cxnId="{7D9CE1F8-7D05-43F2-A8FE-755DB875994F}">
      <dgm:prSet/>
      <dgm:spPr/>
      <dgm:t>
        <a:bodyPr/>
        <a:lstStyle/>
        <a:p>
          <a:endParaRPr lang="en-US"/>
        </a:p>
      </dgm:t>
    </dgm:pt>
    <dgm:pt modelId="{9E57C33F-1DF8-462B-ACC2-9AEE1E1BE06A}">
      <dgm:prSet/>
      <dgm:spPr/>
      <dgm:t>
        <a:bodyPr/>
        <a:lstStyle/>
        <a:p>
          <a:r>
            <a:rPr lang="en-US" b="1" dirty="0"/>
            <a:t>Collaboration - focuses on changes in operations models</a:t>
          </a:r>
        </a:p>
      </dgm:t>
    </dgm:pt>
    <dgm:pt modelId="{8697201C-A15E-4F5C-8EAE-BE97B487EA7B}" type="parTrans" cxnId="{52935899-66F1-4019-A6EF-E7EA1F670F29}">
      <dgm:prSet/>
      <dgm:spPr/>
      <dgm:t>
        <a:bodyPr/>
        <a:lstStyle/>
        <a:p>
          <a:endParaRPr lang="en-US"/>
        </a:p>
      </dgm:t>
    </dgm:pt>
    <dgm:pt modelId="{2709D546-53E0-4345-9929-9CAF169694FE}" type="sibTrans" cxnId="{52935899-66F1-4019-A6EF-E7EA1F670F29}">
      <dgm:prSet/>
      <dgm:spPr/>
      <dgm:t>
        <a:bodyPr/>
        <a:lstStyle/>
        <a:p>
          <a:endParaRPr lang="en-US"/>
        </a:p>
      </dgm:t>
    </dgm:pt>
    <dgm:pt modelId="{B2551C96-244D-47AD-B623-20EF226488B1}" type="pres">
      <dgm:prSet presAssocID="{85DB02B4-E110-4F20-928C-2AFFB46334B8}" presName="root" presStyleCnt="0">
        <dgm:presLayoutVars>
          <dgm:dir/>
          <dgm:resizeHandles val="exact"/>
        </dgm:presLayoutVars>
      </dgm:prSet>
      <dgm:spPr/>
    </dgm:pt>
    <dgm:pt modelId="{F12DFC1D-FDB7-4377-AFAE-F89E2C54EF32}" type="pres">
      <dgm:prSet presAssocID="{08E09035-6B5B-4301-86B9-D7FCF036D032}" presName="compNode" presStyleCnt="0"/>
      <dgm:spPr/>
    </dgm:pt>
    <dgm:pt modelId="{4C2F5443-63FE-4FFD-A8DC-6533C111256C}" type="pres">
      <dgm:prSet presAssocID="{08E09035-6B5B-4301-86B9-D7FCF036D032}" presName="bgRect" presStyleLbl="bgShp" presStyleIdx="0" presStyleCnt="3"/>
      <dgm:spPr/>
    </dgm:pt>
    <dgm:pt modelId="{F92C8CBB-917F-48C3-8649-AD276F8F1D88}" type="pres">
      <dgm:prSet presAssocID="{08E09035-6B5B-4301-86B9-D7FCF036D032}"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upply And Demand"/>
        </a:ext>
      </dgm:extLst>
    </dgm:pt>
    <dgm:pt modelId="{3BD22170-67A7-430A-A74F-D58F3FB89306}" type="pres">
      <dgm:prSet presAssocID="{08E09035-6B5B-4301-86B9-D7FCF036D032}" presName="spaceRect" presStyleCnt="0"/>
      <dgm:spPr/>
    </dgm:pt>
    <dgm:pt modelId="{431289F3-9BFD-4F40-86F4-66F923D0A266}" type="pres">
      <dgm:prSet presAssocID="{08E09035-6B5B-4301-86B9-D7FCF036D032}" presName="parTx" presStyleLbl="revTx" presStyleIdx="0" presStyleCnt="3">
        <dgm:presLayoutVars>
          <dgm:chMax val="0"/>
          <dgm:chPref val="0"/>
        </dgm:presLayoutVars>
      </dgm:prSet>
      <dgm:spPr/>
    </dgm:pt>
    <dgm:pt modelId="{8D4E9600-2F3B-4ADB-8661-2D8A9619176B}" type="pres">
      <dgm:prSet presAssocID="{80927B8C-6D12-4FE2-944F-70138F21BB08}" presName="sibTrans" presStyleCnt="0"/>
      <dgm:spPr/>
    </dgm:pt>
    <dgm:pt modelId="{93AD539D-9B03-403C-9C95-E37AD49D5E84}" type="pres">
      <dgm:prSet presAssocID="{A9408652-E9DA-4118-B377-9C6A7ABFE73B}" presName="compNode" presStyleCnt="0"/>
      <dgm:spPr/>
    </dgm:pt>
    <dgm:pt modelId="{17AA5016-A9AA-4803-B1E8-F27AB2759EC6}" type="pres">
      <dgm:prSet presAssocID="{A9408652-E9DA-4118-B377-9C6A7ABFE73B}" presName="bgRect" presStyleLbl="bgShp" presStyleIdx="1" presStyleCnt="3"/>
      <dgm:spPr/>
    </dgm:pt>
    <dgm:pt modelId="{5907C649-C225-4A75-85AC-5FE58C1167B2}" type="pres">
      <dgm:prSet presAssocID="{A9408652-E9DA-4118-B377-9C6A7ABFE73B}" presName="iconRect" presStyleLbl="node1" presStyleIdx="1" presStyleCnt="3"/>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E043D760-7D24-4CC2-BC20-20F5345B9381}" type="pres">
      <dgm:prSet presAssocID="{A9408652-E9DA-4118-B377-9C6A7ABFE73B}" presName="spaceRect" presStyleCnt="0"/>
      <dgm:spPr/>
    </dgm:pt>
    <dgm:pt modelId="{83EF56DF-2174-4C2E-BC42-772C5BEAE1AB}" type="pres">
      <dgm:prSet presAssocID="{A9408652-E9DA-4118-B377-9C6A7ABFE73B}" presName="parTx" presStyleLbl="revTx" presStyleIdx="1" presStyleCnt="3">
        <dgm:presLayoutVars>
          <dgm:chMax val="0"/>
          <dgm:chPref val="0"/>
        </dgm:presLayoutVars>
      </dgm:prSet>
      <dgm:spPr/>
    </dgm:pt>
    <dgm:pt modelId="{B7494BA1-421E-4D38-AFD7-EAEB10684ECA}" type="pres">
      <dgm:prSet presAssocID="{ABD4C05D-CD41-4510-A016-20DCF0A95D37}" presName="sibTrans" presStyleCnt="0"/>
      <dgm:spPr/>
    </dgm:pt>
    <dgm:pt modelId="{B5038C57-BC94-4066-B9F4-419FF4A393F9}" type="pres">
      <dgm:prSet presAssocID="{9E57C33F-1DF8-462B-ACC2-9AEE1E1BE06A}" presName="compNode" presStyleCnt="0"/>
      <dgm:spPr/>
    </dgm:pt>
    <dgm:pt modelId="{2AE7B120-02BA-45CD-BA38-5D000EA72D73}" type="pres">
      <dgm:prSet presAssocID="{9E57C33F-1DF8-462B-ACC2-9AEE1E1BE06A}" presName="bgRect" presStyleLbl="bgShp" presStyleIdx="2" presStyleCnt="3"/>
      <dgm:spPr/>
    </dgm:pt>
    <dgm:pt modelId="{3CBDFECD-46F5-4458-A102-06B665599EFF}" type="pres">
      <dgm:prSet presAssocID="{9E57C33F-1DF8-462B-ACC2-9AEE1E1BE06A}" presName="iconRect" presStyleLbl="node1" presStyleIdx="2" presStyleCnt="3"/>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3E7DA97A-C0E7-4AAF-A393-9D48DCDE5091}" type="pres">
      <dgm:prSet presAssocID="{9E57C33F-1DF8-462B-ACC2-9AEE1E1BE06A}" presName="spaceRect" presStyleCnt="0"/>
      <dgm:spPr/>
    </dgm:pt>
    <dgm:pt modelId="{F8F132C8-94B9-4447-BA50-36DA2B71030E}" type="pres">
      <dgm:prSet presAssocID="{9E57C33F-1DF8-462B-ACC2-9AEE1E1BE06A}" presName="parTx" presStyleLbl="revTx" presStyleIdx="2" presStyleCnt="3">
        <dgm:presLayoutVars>
          <dgm:chMax val="0"/>
          <dgm:chPref val="0"/>
        </dgm:presLayoutVars>
      </dgm:prSet>
      <dgm:spPr/>
    </dgm:pt>
  </dgm:ptLst>
  <dgm:cxnLst>
    <dgm:cxn modelId="{C9F41E29-1EC2-4790-98CA-D169BDA692BD}" srcId="{85DB02B4-E110-4F20-928C-2AFFB46334B8}" destId="{08E09035-6B5B-4301-86B9-D7FCF036D032}" srcOrd="0" destOrd="0" parTransId="{26CBBBD3-E37D-49BB-8BC6-3A4E2C2CF6B7}" sibTransId="{80927B8C-6D12-4FE2-944F-70138F21BB08}"/>
    <dgm:cxn modelId="{3E7E714B-DF2D-4CE1-8E7B-AD6D5D897CDC}" type="presOf" srcId="{85DB02B4-E110-4F20-928C-2AFFB46334B8}" destId="{B2551C96-244D-47AD-B623-20EF226488B1}" srcOrd="0" destOrd="0" presId="urn:microsoft.com/office/officeart/2018/2/layout/IconVerticalSolidList"/>
    <dgm:cxn modelId="{E411234E-CD92-465C-87E9-BAF125B008C0}" type="presOf" srcId="{9E57C33F-1DF8-462B-ACC2-9AEE1E1BE06A}" destId="{F8F132C8-94B9-4447-BA50-36DA2B71030E}" srcOrd="0" destOrd="0" presId="urn:microsoft.com/office/officeart/2018/2/layout/IconVerticalSolidList"/>
    <dgm:cxn modelId="{F7EFAE80-0B99-4789-93B8-5A6CB8177E20}" type="presOf" srcId="{08E09035-6B5B-4301-86B9-D7FCF036D032}" destId="{431289F3-9BFD-4F40-86F4-66F923D0A266}" srcOrd="0" destOrd="0" presId="urn:microsoft.com/office/officeart/2018/2/layout/IconVerticalSolidList"/>
    <dgm:cxn modelId="{25881D98-ACE1-4B34-BC41-8C3563BE9949}" type="presOf" srcId="{A9408652-E9DA-4118-B377-9C6A7ABFE73B}" destId="{83EF56DF-2174-4C2E-BC42-772C5BEAE1AB}" srcOrd="0" destOrd="0" presId="urn:microsoft.com/office/officeart/2018/2/layout/IconVerticalSolidList"/>
    <dgm:cxn modelId="{52935899-66F1-4019-A6EF-E7EA1F670F29}" srcId="{85DB02B4-E110-4F20-928C-2AFFB46334B8}" destId="{9E57C33F-1DF8-462B-ACC2-9AEE1E1BE06A}" srcOrd="2" destOrd="0" parTransId="{8697201C-A15E-4F5C-8EAE-BE97B487EA7B}" sibTransId="{2709D546-53E0-4345-9929-9CAF169694FE}"/>
    <dgm:cxn modelId="{7D9CE1F8-7D05-43F2-A8FE-755DB875994F}" srcId="{85DB02B4-E110-4F20-928C-2AFFB46334B8}" destId="{A9408652-E9DA-4118-B377-9C6A7ABFE73B}" srcOrd="1" destOrd="0" parTransId="{71237D31-E91A-4337-AFD1-7AE57D448EE1}" sibTransId="{ABD4C05D-CD41-4510-A016-20DCF0A95D37}"/>
    <dgm:cxn modelId="{3106F462-26E5-42EE-94F9-BA6C382A2388}" type="presParOf" srcId="{B2551C96-244D-47AD-B623-20EF226488B1}" destId="{F12DFC1D-FDB7-4377-AFAE-F89E2C54EF32}" srcOrd="0" destOrd="0" presId="urn:microsoft.com/office/officeart/2018/2/layout/IconVerticalSolidList"/>
    <dgm:cxn modelId="{B3D36B79-5AD1-42ED-8E0A-9C66A2345C0F}" type="presParOf" srcId="{F12DFC1D-FDB7-4377-AFAE-F89E2C54EF32}" destId="{4C2F5443-63FE-4FFD-A8DC-6533C111256C}" srcOrd="0" destOrd="0" presId="urn:microsoft.com/office/officeart/2018/2/layout/IconVerticalSolidList"/>
    <dgm:cxn modelId="{91EDFFA4-E672-4DC8-8F3D-C36EB6B940CA}" type="presParOf" srcId="{F12DFC1D-FDB7-4377-AFAE-F89E2C54EF32}" destId="{F92C8CBB-917F-48C3-8649-AD276F8F1D88}" srcOrd="1" destOrd="0" presId="urn:microsoft.com/office/officeart/2018/2/layout/IconVerticalSolidList"/>
    <dgm:cxn modelId="{5C615817-4151-402E-8082-167A7B8C0609}" type="presParOf" srcId="{F12DFC1D-FDB7-4377-AFAE-F89E2C54EF32}" destId="{3BD22170-67A7-430A-A74F-D58F3FB89306}" srcOrd="2" destOrd="0" presId="urn:microsoft.com/office/officeart/2018/2/layout/IconVerticalSolidList"/>
    <dgm:cxn modelId="{662DC6EF-B122-44BB-86B8-DC16E82D5CF5}" type="presParOf" srcId="{F12DFC1D-FDB7-4377-AFAE-F89E2C54EF32}" destId="{431289F3-9BFD-4F40-86F4-66F923D0A266}" srcOrd="3" destOrd="0" presId="urn:microsoft.com/office/officeart/2018/2/layout/IconVerticalSolidList"/>
    <dgm:cxn modelId="{452707B3-FCD7-4241-A7A2-B6557EE44C28}" type="presParOf" srcId="{B2551C96-244D-47AD-B623-20EF226488B1}" destId="{8D4E9600-2F3B-4ADB-8661-2D8A9619176B}" srcOrd="1" destOrd="0" presId="urn:microsoft.com/office/officeart/2018/2/layout/IconVerticalSolidList"/>
    <dgm:cxn modelId="{122AB8E8-5B92-4CD8-95BD-76194A8343C3}" type="presParOf" srcId="{B2551C96-244D-47AD-B623-20EF226488B1}" destId="{93AD539D-9B03-403C-9C95-E37AD49D5E84}" srcOrd="2" destOrd="0" presId="urn:microsoft.com/office/officeart/2018/2/layout/IconVerticalSolidList"/>
    <dgm:cxn modelId="{07A1CC23-CBEC-40B3-ACEE-FE21A082F2B7}" type="presParOf" srcId="{93AD539D-9B03-403C-9C95-E37AD49D5E84}" destId="{17AA5016-A9AA-4803-B1E8-F27AB2759EC6}" srcOrd="0" destOrd="0" presId="urn:microsoft.com/office/officeart/2018/2/layout/IconVerticalSolidList"/>
    <dgm:cxn modelId="{D2030405-9D97-4C3E-BB22-A2DF3EEB88BC}" type="presParOf" srcId="{93AD539D-9B03-403C-9C95-E37AD49D5E84}" destId="{5907C649-C225-4A75-85AC-5FE58C1167B2}" srcOrd="1" destOrd="0" presId="urn:microsoft.com/office/officeart/2018/2/layout/IconVerticalSolidList"/>
    <dgm:cxn modelId="{44E26D46-6FD5-4E2E-8D13-803A5004C9ED}" type="presParOf" srcId="{93AD539D-9B03-403C-9C95-E37AD49D5E84}" destId="{E043D760-7D24-4CC2-BC20-20F5345B9381}" srcOrd="2" destOrd="0" presId="urn:microsoft.com/office/officeart/2018/2/layout/IconVerticalSolidList"/>
    <dgm:cxn modelId="{CEC32C86-166A-48DF-8CFD-650FEAE1F4B7}" type="presParOf" srcId="{93AD539D-9B03-403C-9C95-E37AD49D5E84}" destId="{83EF56DF-2174-4C2E-BC42-772C5BEAE1AB}" srcOrd="3" destOrd="0" presId="urn:microsoft.com/office/officeart/2018/2/layout/IconVerticalSolidList"/>
    <dgm:cxn modelId="{3B7D07CB-3E9F-4737-8656-60863DB17F81}" type="presParOf" srcId="{B2551C96-244D-47AD-B623-20EF226488B1}" destId="{B7494BA1-421E-4D38-AFD7-EAEB10684ECA}" srcOrd="3" destOrd="0" presId="urn:microsoft.com/office/officeart/2018/2/layout/IconVerticalSolidList"/>
    <dgm:cxn modelId="{0BBA6D4C-ADE1-43A3-9505-9AC625A1D4C6}" type="presParOf" srcId="{B2551C96-244D-47AD-B623-20EF226488B1}" destId="{B5038C57-BC94-4066-B9F4-419FF4A393F9}" srcOrd="4" destOrd="0" presId="urn:microsoft.com/office/officeart/2018/2/layout/IconVerticalSolidList"/>
    <dgm:cxn modelId="{B327D814-D2AF-46E8-BFD0-C5CC084ED889}" type="presParOf" srcId="{B5038C57-BC94-4066-B9F4-419FF4A393F9}" destId="{2AE7B120-02BA-45CD-BA38-5D000EA72D73}" srcOrd="0" destOrd="0" presId="urn:microsoft.com/office/officeart/2018/2/layout/IconVerticalSolidList"/>
    <dgm:cxn modelId="{10571A89-EEB1-428C-8D4A-F62B862F8975}" type="presParOf" srcId="{B5038C57-BC94-4066-B9F4-419FF4A393F9}" destId="{3CBDFECD-46F5-4458-A102-06B665599EFF}" srcOrd="1" destOrd="0" presId="urn:microsoft.com/office/officeart/2018/2/layout/IconVerticalSolidList"/>
    <dgm:cxn modelId="{93D8635D-0F11-45B9-A9FE-61065E22B4EA}" type="presParOf" srcId="{B5038C57-BC94-4066-B9F4-419FF4A393F9}" destId="{3E7DA97A-C0E7-4AAF-A393-9D48DCDE5091}" srcOrd="2" destOrd="0" presId="urn:microsoft.com/office/officeart/2018/2/layout/IconVerticalSolidList"/>
    <dgm:cxn modelId="{1CBF45B4-BD64-4146-86DC-4ED9B8FC963A}" type="presParOf" srcId="{B5038C57-BC94-4066-B9F4-419FF4A393F9}" destId="{F8F132C8-94B9-4447-BA50-36DA2B71030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11BC8B-CCAF-4F62-A2D4-5C8A830882C1}">
      <dsp:nvSpPr>
        <dsp:cNvPr id="0" name=""/>
        <dsp:cNvSpPr/>
      </dsp:nvSpPr>
      <dsp:spPr>
        <a:xfrm>
          <a:off x="0" y="1878"/>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27715A-E7EA-4EF0-BE7D-8AC311DC44BD}">
      <dsp:nvSpPr>
        <dsp:cNvPr id="0" name=""/>
        <dsp:cNvSpPr/>
      </dsp:nvSpPr>
      <dsp:spPr>
        <a:xfrm>
          <a:off x="287993" y="216088"/>
          <a:ext cx="523623" cy="523623"/>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24B41B-CC66-4669-B1E4-E316D5902263}">
      <dsp:nvSpPr>
        <dsp:cNvPr id="0" name=""/>
        <dsp:cNvSpPr/>
      </dsp:nvSpPr>
      <dsp:spPr>
        <a:xfrm>
          <a:off x="1099609" y="1878"/>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b="0" kern="1200" dirty="0"/>
            <a:t>Big data, cloud computing, mobile internet - focuses on changes in infrastructure</a:t>
          </a:r>
        </a:p>
      </dsp:txBody>
      <dsp:txXfrm>
        <a:off x="1099609" y="1878"/>
        <a:ext cx="9873190" cy="952043"/>
      </dsp:txXfrm>
    </dsp:sp>
    <dsp:sp modelId="{B87BAF6A-59FD-49FC-80BE-0EE2CED32500}">
      <dsp:nvSpPr>
        <dsp:cNvPr id="0" name=""/>
        <dsp:cNvSpPr/>
      </dsp:nvSpPr>
      <dsp:spPr>
        <a:xfrm>
          <a:off x="0" y="1191932"/>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08E098-3CF5-48CE-A0C5-3C48865D6EDC}">
      <dsp:nvSpPr>
        <dsp:cNvPr id="0" name=""/>
        <dsp:cNvSpPr/>
      </dsp:nvSpPr>
      <dsp:spPr>
        <a:xfrm>
          <a:off x="287993" y="1406142"/>
          <a:ext cx="523623" cy="523623"/>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36DB206-EC82-4F22-8499-FA7932C07A6B}">
      <dsp:nvSpPr>
        <dsp:cNvPr id="0" name=""/>
        <dsp:cNvSpPr/>
      </dsp:nvSpPr>
      <dsp:spPr>
        <a:xfrm>
          <a:off x="1099609" y="1191932"/>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Software-defined anything - focuses on changes in productivity</a:t>
          </a:r>
        </a:p>
      </dsp:txBody>
      <dsp:txXfrm>
        <a:off x="1099609" y="1191932"/>
        <a:ext cx="9873190" cy="952043"/>
      </dsp:txXfrm>
    </dsp:sp>
    <dsp:sp modelId="{30E1A627-7C3B-443E-A994-031CF490863F}">
      <dsp:nvSpPr>
        <dsp:cNvPr id="0" name=""/>
        <dsp:cNvSpPr/>
      </dsp:nvSpPr>
      <dsp:spPr>
        <a:xfrm>
          <a:off x="0" y="2381986"/>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E768EB-E8E4-4522-A655-634D3C291E1D}">
      <dsp:nvSpPr>
        <dsp:cNvPr id="0" name=""/>
        <dsp:cNvSpPr/>
      </dsp:nvSpPr>
      <dsp:spPr>
        <a:xfrm>
          <a:off x="287993" y="2596196"/>
          <a:ext cx="523623" cy="523623"/>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5DCA3B-4AD0-42C9-9F19-9E2CD7B9D016}">
      <dsp:nvSpPr>
        <dsp:cNvPr id="0" name=""/>
        <dsp:cNvSpPr/>
      </dsp:nvSpPr>
      <dsp:spPr>
        <a:xfrm>
          <a:off x="1099609" y="2381986"/>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Outsourcing and crowdsourcing - focuses on changes in production organization</a:t>
          </a:r>
        </a:p>
      </dsp:txBody>
      <dsp:txXfrm>
        <a:off x="1099609" y="2381986"/>
        <a:ext cx="9873190" cy="952043"/>
      </dsp:txXfrm>
    </dsp:sp>
    <dsp:sp modelId="{5B134C76-AF49-4A7B-B541-AAE36B3255F6}">
      <dsp:nvSpPr>
        <dsp:cNvPr id="0" name=""/>
        <dsp:cNvSpPr/>
      </dsp:nvSpPr>
      <dsp:spPr>
        <a:xfrm>
          <a:off x="0" y="3572040"/>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F5DB89-BF0A-489B-B8D3-2FBEE24A10FC}">
      <dsp:nvSpPr>
        <dsp:cNvPr id="0" name=""/>
        <dsp:cNvSpPr/>
      </dsp:nvSpPr>
      <dsp:spPr>
        <a:xfrm>
          <a:off x="287993" y="3786250"/>
          <a:ext cx="523623" cy="523623"/>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0D0141-BA21-49AF-9A55-A7248AF0A4CE}">
      <dsp:nvSpPr>
        <dsp:cNvPr id="0" name=""/>
        <dsp:cNvSpPr/>
      </dsp:nvSpPr>
      <dsp:spPr>
        <a:xfrm>
          <a:off x="1099609" y="3572040"/>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Prosumer economy - focuses on changes in forces of economic growth</a:t>
          </a:r>
        </a:p>
      </dsp:txBody>
      <dsp:txXfrm>
        <a:off x="1099609" y="3572040"/>
        <a:ext cx="9873190" cy="9520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2F5443-63FE-4FFD-A8DC-6533C111256C}">
      <dsp:nvSpPr>
        <dsp:cNvPr id="0" name=""/>
        <dsp:cNvSpPr/>
      </dsp:nvSpPr>
      <dsp:spPr>
        <a:xfrm>
          <a:off x="0" y="0"/>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2C8CBB-917F-48C3-8649-AD276F8F1D88}">
      <dsp:nvSpPr>
        <dsp:cNvPr id="0" name=""/>
        <dsp:cNvSpPr/>
      </dsp:nvSpPr>
      <dsp:spPr>
        <a:xfrm>
          <a:off x="391076" y="291436"/>
          <a:ext cx="711048" cy="71104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1289F3-9BFD-4F40-86F4-66F923D0A266}">
      <dsp:nvSpPr>
        <dsp:cNvPr id="0" name=""/>
        <dsp:cNvSpPr/>
      </dsp:nvSpPr>
      <dsp:spPr>
        <a:xfrm>
          <a:off x="1493202" y="552"/>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dirty="0"/>
            <a:t>Long tail - focuses on changes in competitive landscape</a:t>
          </a:r>
        </a:p>
      </dsp:txBody>
      <dsp:txXfrm>
        <a:off x="1493202" y="552"/>
        <a:ext cx="9479597" cy="1292816"/>
      </dsp:txXfrm>
    </dsp:sp>
    <dsp:sp modelId="{17AA5016-A9AA-4803-B1E8-F27AB2759EC6}">
      <dsp:nvSpPr>
        <dsp:cNvPr id="0" name=""/>
        <dsp:cNvSpPr/>
      </dsp:nvSpPr>
      <dsp:spPr>
        <a:xfrm>
          <a:off x="0" y="1616572"/>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07C649-C225-4A75-85AC-5FE58C1167B2}">
      <dsp:nvSpPr>
        <dsp:cNvPr id="0" name=""/>
        <dsp:cNvSpPr/>
      </dsp:nvSpPr>
      <dsp:spPr>
        <a:xfrm>
          <a:off x="391076" y="1907456"/>
          <a:ext cx="711048" cy="711048"/>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EF56DF-2174-4C2E-BC42-772C5BEAE1AB}">
      <dsp:nvSpPr>
        <dsp:cNvPr id="0" name=""/>
        <dsp:cNvSpPr/>
      </dsp:nvSpPr>
      <dsp:spPr>
        <a:xfrm>
          <a:off x="1493202" y="1616572"/>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dirty="0"/>
            <a:t>Digital finance - focuses on changes in financial entities and technologies</a:t>
          </a:r>
        </a:p>
      </dsp:txBody>
      <dsp:txXfrm>
        <a:off x="1493202" y="1616572"/>
        <a:ext cx="9479597" cy="1292816"/>
      </dsp:txXfrm>
    </dsp:sp>
    <dsp:sp modelId="{2AE7B120-02BA-45CD-BA38-5D000EA72D73}">
      <dsp:nvSpPr>
        <dsp:cNvPr id="0" name=""/>
        <dsp:cNvSpPr/>
      </dsp:nvSpPr>
      <dsp:spPr>
        <a:xfrm>
          <a:off x="0" y="3232593"/>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BDFECD-46F5-4458-A102-06B665599EFF}">
      <dsp:nvSpPr>
        <dsp:cNvPr id="0" name=""/>
        <dsp:cNvSpPr/>
      </dsp:nvSpPr>
      <dsp:spPr>
        <a:xfrm>
          <a:off x="391076" y="3523476"/>
          <a:ext cx="711048" cy="711048"/>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F132C8-94B9-4447-BA50-36DA2B71030E}">
      <dsp:nvSpPr>
        <dsp:cNvPr id="0" name=""/>
        <dsp:cNvSpPr/>
      </dsp:nvSpPr>
      <dsp:spPr>
        <a:xfrm>
          <a:off x="1493202" y="3232593"/>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dirty="0"/>
            <a:t>Collaboration - focuses on changes in operations models</a:t>
          </a:r>
        </a:p>
      </dsp:txBody>
      <dsp:txXfrm>
        <a:off x="1493202" y="3232593"/>
        <a:ext cx="9479597" cy="12928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11BC8B-CCAF-4F62-A2D4-5C8A830882C1}">
      <dsp:nvSpPr>
        <dsp:cNvPr id="0" name=""/>
        <dsp:cNvSpPr/>
      </dsp:nvSpPr>
      <dsp:spPr>
        <a:xfrm>
          <a:off x="0" y="1878"/>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27715A-E7EA-4EF0-BE7D-8AC311DC44BD}">
      <dsp:nvSpPr>
        <dsp:cNvPr id="0" name=""/>
        <dsp:cNvSpPr/>
      </dsp:nvSpPr>
      <dsp:spPr>
        <a:xfrm>
          <a:off x="287993" y="216088"/>
          <a:ext cx="523623" cy="523623"/>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24B41B-CC66-4669-B1E4-E316D5902263}">
      <dsp:nvSpPr>
        <dsp:cNvPr id="0" name=""/>
        <dsp:cNvSpPr/>
      </dsp:nvSpPr>
      <dsp:spPr>
        <a:xfrm>
          <a:off x="1099609" y="1878"/>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b="1" kern="1200" dirty="0"/>
            <a:t>Big data, cloud computing, mobile internet - focuses on changes in infrastructure</a:t>
          </a:r>
        </a:p>
      </dsp:txBody>
      <dsp:txXfrm>
        <a:off x="1099609" y="1878"/>
        <a:ext cx="9873190" cy="952043"/>
      </dsp:txXfrm>
    </dsp:sp>
    <dsp:sp modelId="{B87BAF6A-59FD-49FC-80BE-0EE2CED32500}">
      <dsp:nvSpPr>
        <dsp:cNvPr id="0" name=""/>
        <dsp:cNvSpPr/>
      </dsp:nvSpPr>
      <dsp:spPr>
        <a:xfrm>
          <a:off x="0" y="1191932"/>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08E098-3CF5-48CE-A0C5-3C48865D6EDC}">
      <dsp:nvSpPr>
        <dsp:cNvPr id="0" name=""/>
        <dsp:cNvSpPr/>
      </dsp:nvSpPr>
      <dsp:spPr>
        <a:xfrm>
          <a:off x="287993" y="1406142"/>
          <a:ext cx="523623" cy="523623"/>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36DB206-EC82-4F22-8499-FA7932C07A6B}">
      <dsp:nvSpPr>
        <dsp:cNvPr id="0" name=""/>
        <dsp:cNvSpPr/>
      </dsp:nvSpPr>
      <dsp:spPr>
        <a:xfrm>
          <a:off x="1099609" y="1191932"/>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a:t>Software-defined anything - focuses on changes in productivity</a:t>
          </a:r>
        </a:p>
      </dsp:txBody>
      <dsp:txXfrm>
        <a:off x="1099609" y="1191932"/>
        <a:ext cx="9873190" cy="952043"/>
      </dsp:txXfrm>
    </dsp:sp>
    <dsp:sp modelId="{30E1A627-7C3B-443E-A994-031CF490863F}">
      <dsp:nvSpPr>
        <dsp:cNvPr id="0" name=""/>
        <dsp:cNvSpPr/>
      </dsp:nvSpPr>
      <dsp:spPr>
        <a:xfrm>
          <a:off x="0" y="2381986"/>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E768EB-E8E4-4522-A655-634D3C291E1D}">
      <dsp:nvSpPr>
        <dsp:cNvPr id="0" name=""/>
        <dsp:cNvSpPr/>
      </dsp:nvSpPr>
      <dsp:spPr>
        <a:xfrm>
          <a:off x="287993" y="2596196"/>
          <a:ext cx="523623" cy="523623"/>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5DCA3B-4AD0-42C9-9F19-9E2CD7B9D016}">
      <dsp:nvSpPr>
        <dsp:cNvPr id="0" name=""/>
        <dsp:cNvSpPr/>
      </dsp:nvSpPr>
      <dsp:spPr>
        <a:xfrm>
          <a:off x="1099609" y="2381986"/>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Outsourcing and crowdsourcing - focuses on changes in production organization</a:t>
          </a:r>
        </a:p>
      </dsp:txBody>
      <dsp:txXfrm>
        <a:off x="1099609" y="2381986"/>
        <a:ext cx="9873190" cy="952043"/>
      </dsp:txXfrm>
    </dsp:sp>
    <dsp:sp modelId="{5B134C76-AF49-4A7B-B541-AAE36B3255F6}">
      <dsp:nvSpPr>
        <dsp:cNvPr id="0" name=""/>
        <dsp:cNvSpPr/>
      </dsp:nvSpPr>
      <dsp:spPr>
        <a:xfrm>
          <a:off x="0" y="3572040"/>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F5DB89-BF0A-489B-B8D3-2FBEE24A10FC}">
      <dsp:nvSpPr>
        <dsp:cNvPr id="0" name=""/>
        <dsp:cNvSpPr/>
      </dsp:nvSpPr>
      <dsp:spPr>
        <a:xfrm>
          <a:off x="287993" y="3786250"/>
          <a:ext cx="523623" cy="523623"/>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0D0141-BA21-49AF-9A55-A7248AF0A4CE}">
      <dsp:nvSpPr>
        <dsp:cNvPr id="0" name=""/>
        <dsp:cNvSpPr/>
      </dsp:nvSpPr>
      <dsp:spPr>
        <a:xfrm>
          <a:off x="1099609" y="3572040"/>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Prosumer economy - focuses on changes in forces of economic growth</a:t>
          </a:r>
        </a:p>
      </dsp:txBody>
      <dsp:txXfrm>
        <a:off x="1099609" y="3572040"/>
        <a:ext cx="9873190" cy="9520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11BC8B-CCAF-4F62-A2D4-5C8A830882C1}">
      <dsp:nvSpPr>
        <dsp:cNvPr id="0" name=""/>
        <dsp:cNvSpPr/>
      </dsp:nvSpPr>
      <dsp:spPr>
        <a:xfrm>
          <a:off x="0" y="1878"/>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27715A-E7EA-4EF0-BE7D-8AC311DC44BD}">
      <dsp:nvSpPr>
        <dsp:cNvPr id="0" name=""/>
        <dsp:cNvSpPr/>
      </dsp:nvSpPr>
      <dsp:spPr>
        <a:xfrm>
          <a:off x="287993" y="216088"/>
          <a:ext cx="523623" cy="523623"/>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24B41B-CC66-4669-B1E4-E316D5902263}">
      <dsp:nvSpPr>
        <dsp:cNvPr id="0" name=""/>
        <dsp:cNvSpPr/>
      </dsp:nvSpPr>
      <dsp:spPr>
        <a:xfrm>
          <a:off x="1099609" y="1878"/>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b="0" kern="1200" dirty="0"/>
            <a:t>Big data, cloud computing, mobile internet - focuses on changes in infrastructure</a:t>
          </a:r>
        </a:p>
      </dsp:txBody>
      <dsp:txXfrm>
        <a:off x="1099609" y="1878"/>
        <a:ext cx="9873190" cy="952043"/>
      </dsp:txXfrm>
    </dsp:sp>
    <dsp:sp modelId="{B87BAF6A-59FD-49FC-80BE-0EE2CED32500}">
      <dsp:nvSpPr>
        <dsp:cNvPr id="0" name=""/>
        <dsp:cNvSpPr/>
      </dsp:nvSpPr>
      <dsp:spPr>
        <a:xfrm>
          <a:off x="0" y="1191932"/>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08E098-3CF5-48CE-A0C5-3C48865D6EDC}">
      <dsp:nvSpPr>
        <dsp:cNvPr id="0" name=""/>
        <dsp:cNvSpPr/>
      </dsp:nvSpPr>
      <dsp:spPr>
        <a:xfrm>
          <a:off x="287993" y="1406142"/>
          <a:ext cx="523623" cy="523623"/>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36DB206-EC82-4F22-8499-FA7932C07A6B}">
      <dsp:nvSpPr>
        <dsp:cNvPr id="0" name=""/>
        <dsp:cNvSpPr/>
      </dsp:nvSpPr>
      <dsp:spPr>
        <a:xfrm>
          <a:off x="1099609" y="1191932"/>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b="1" kern="1200" dirty="0"/>
            <a:t>Software-defined anything - focuses on changes in productivity</a:t>
          </a:r>
        </a:p>
      </dsp:txBody>
      <dsp:txXfrm>
        <a:off x="1099609" y="1191932"/>
        <a:ext cx="9873190" cy="952043"/>
      </dsp:txXfrm>
    </dsp:sp>
    <dsp:sp modelId="{30E1A627-7C3B-443E-A994-031CF490863F}">
      <dsp:nvSpPr>
        <dsp:cNvPr id="0" name=""/>
        <dsp:cNvSpPr/>
      </dsp:nvSpPr>
      <dsp:spPr>
        <a:xfrm>
          <a:off x="0" y="2381986"/>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E768EB-E8E4-4522-A655-634D3C291E1D}">
      <dsp:nvSpPr>
        <dsp:cNvPr id="0" name=""/>
        <dsp:cNvSpPr/>
      </dsp:nvSpPr>
      <dsp:spPr>
        <a:xfrm>
          <a:off x="287993" y="2596196"/>
          <a:ext cx="523623" cy="523623"/>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5DCA3B-4AD0-42C9-9F19-9E2CD7B9D016}">
      <dsp:nvSpPr>
        <dsp:cNvPr id="0" name=""/>
        <dsp:cNvSpPr/>
      </dsp:nvSpPr>
      <dsp:spPr>
        <a:xfrm>
          <a:off x="1099609" y="2381986"/>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Outsourcing and crowdsourcing - focuses on changes in production organization</a:t>
          </a:r>
        </a:p>
      </dsp:txBody>
      <dsp:txXfrm>
        <a:off x="1099609" y="2381986"/>
        <a:ext cx="9873190" cy="952043"/>
      </dsp:txXfrm>
    </dsp:sp>
    <dsp:sp modelId="{5B134C76-AF49-4A7B-B541-AAE36B3255F6}">
      <dsp:nvSpPr>
        <dsp:cNvPr id="0" name=""/>
        <dsp:cNvSpPr/>
      </dsp:nvSpPr>
      <dsp:spPr>
        <a:xfrm>
          <a:off x="0" y="3572040"/>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F5DB89-BF0A-489B-B8D3-2FBEE24A10FC}">
      <dsp:nvSpPr>
        <dsp:cNvPr id="0" name=""/>
        <dsp:cNvSpPr/>
      </dsp:nvSpPr>
      <dsp:spPr>
        <a:xfrm>
          <a:off x="287993" y="3786250"/>
          <a:ext cx="523623" cy="523623"/>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0D0141-BA21-49AF-9A55-A7248AF0A4CE}">
      <dsp:nvSpPr>
        <dsp:cNvPr id="0" name=""/>
        <dsp:cNvSpPr/>
      </dsp:nvSpPr>
      <dsp:spPr>
        <a:xfrm>
          <a:off x="1099609" y="3572040"/>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Prosumer economy - focuses on changes in forces of economic growth</a:t>
          </a:r>
        </a:p>
      </dsp:txBody>
      <dsp:txXfrm>
        <a:off x="1099609" y="3572040"/>
        <a:ext cx="9873190" cy="95204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11BC8B-CCAF-4F62-A2D4-5C8A830882C1}">
      <dsp:nvSpPr>
        <dsp:cNvPr id="0" name=""/>
        <dsp:cNvSpPr/>
      </dsp:nvSpPr>
      <dsp:spPr>
        <a:xfrm>
          <a:off x="0" y="1878"/>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27715A-E7EA-4EF0-BE7D-8AC311DC44BD}">
      <dsp:nvSpPr>
        <dsp:cNvPr id="0" name=""/>
        <dsp:cNvSpPr/>
      </dsp:nvSpPr>
      <dsp:spPr>
        <a:xfrm>
          <a:off x="287993" y="216088"/>
          <a:ext cx="523623" cy="523623"/>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24B41B-CC66-4669-B1E4-E316D5902263}">
      <dsp:nvSpPr>
        <dsp:cNvPr id="0" name=""/>
        <dsp:cNvSpPr/>
      </dsp:nvSpPr>
      <dsp:spPr>
        <a:xfrm>
          <a:off x="1099609" y="1878"/>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b="0" kern="1200" dirty="0"/>
            <a:t>Big data, cloud computing, mobile internet - focuses on changes in infrastructure</a:t>
          </a:r>
        </a:p>
      </dsp:txBody>
      <dsp:txXfrm>
        <a:off x="1099609" y="1878"/>
        <a:ext cx="9873190" cy="952043"/>
      </dsp:txXfrm>
    </dsp:sp>
    <dsp:sp modelId="{B87BAF6A-59FD-49FC-80BE-0EE2CED32500}">
      <dsp:nvSpPr>
        <dsp:cNvPr id="0" name=""/>
        <dsp:cNvSpPr/>
      </dsp:nvSpPr>
      <dsp:spPr>
        <a:xfrm>
          <a:off x="0" y="0"/>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08E098-3CF5-48CE-A0C5-3C48865D6EDC}">
      <dsp:nvSpPr>
        <dsp:cNvPr id="0" name=""/>
        <dsp:cNvSpPr/>
      </dsp:nvSpPr>
      <dsp:spPr>
        <a:xfrm>
          <a:off x="287993" y="1406142"/>
          <a:ext cx="523623" cy="523623"/>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36DB206-EC82-4F22-8499-FA7932C07A6B}">
      <dsp:nvSpPr>
        <dsp:cNvPr id="0" name=""/>
        <dsp:cNvSpPr/>
      </dsp:nvSpPr>
      <dsp:spPr>
        <a:xfrm>
          <a:off x="1099609" y="1191932"/>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a:t>Software-defined anything - focuses on changes in productivity</a:t>
          </a:r>
        </a:p>
      </dsp:txBody>
      <dsp:txXfrm>
        <a:off x="1099609" y="1191932"/>
        <a:ext cx="9873190" cy="952043"/>
      </dsp:txXfrm>
    </dsp:sp>
    <dsp:sp modelId="{30E1A627-7C3B-443E-A994-031CF490863F}">
      <dsp:nvSpPr>
        <dsp:cNvPr id="0" name=""/>
        <dsp:cNvSpPr/>
      </dsp:nvSpPr>
      <dsp:spPr>
        <a:xfrm>
          <a:off x="0" y="2381986"/>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E768EB-E8E4-4522-A655-634D3C291E1D}">
      <dsp:nvSpPr>
        <dsp:cNvPr id="0" name=""/>
        <dsp:cNvSpPr/>
      </dsp:nvSpPr>
      <dsp:spPr>
        <a:xfrm>
          <a:off x="287993" y="2596196"/>
          <a:ext cx="523623" cy="523623"/>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5DCA3B-4AD0-42C9-9F19-9E2CD7B9D016}">
      <dsp:nvSpPr>
        <dsp:cNvPr id="0" name=""/>
        <dsp:cNvSpPr/>
      </dsp:nvSpPr>
      <dsp:spPr>
        <a:xfrm>
          <a:off x="1099609" y="2381986"/>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b="1" kern="1200" dirty="0"/>
            <a:t>Outsourcing and crowdsourcing - focuses on changes in production organization</a:t>
          </a:r>
        </a:p>
      </dsp:txBody>
      <dsp:txXfrm>
        <a:off x="1099609" y="2381986"/>
        <a:ext cx="9873190" cy="952043"/>
      </dsp:txXfrm>
    </dsp:sp>
    <dsp:sp modelId="{5B134C76-AF49-4A7B-B541-AAE36B3255F6}">
      <dsp:nvSpPr>
        <dsp:cNvPr id="0" name=""/>
        <dsp:cNvSpPr/>
      </dsp:nvSpPr>
      <dsp:spPr>
        <a:xfrm>
          <a:off x="0" y="3572040"/>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F5DB89-BF0A-489B-B8D3-2FBEE24A10FC}">
      <dsp:nvSpPr>
        <dsp:cNvPr id="0" name=""/>
        <dsp:cNvSpPr/>
      </dsp:nvSpPr>
      <dsp:spPr>
        <a:xfrm>
          <a:off x="287993" y="3786250"/>
          <a:ext cx="523623" cy="523623"/>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0D0141-BA21-49AF-9A55-A7248AF0A4CE}">
      <dsp:nvSpPr>
        <dsp:cNvPr id="0" name=""/>
        <dsp:cNvSpPr/>
      </dsp:nvSpPr>
      <dsp:spPr>
        <a:xfrm>
          <a:off x="1099609" y="3572040"/>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Prosumer economy - focuses on changes in forces of economic growth</a:t>
          </a:r>
        </a:p>
      </dsp:txBody>
      <dsp:txXfrm>
        <a:off x="1099609" y="3572040"/>
        <a:ext cx="9873190" cy="95204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11BC8B-CCAF-4F62-A2D4-5C8A830882C1}">
      <dsp:nvSpPr>
        <dsp:cNvPr id="0" name=""/>
        <dsp:cNvSpPr/>
      </dsp:nvSpPr>
      <dsp:spPr>
        <a:xfrm>
          <a:off x="0" y="1878"/>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27715A-E7EA-4EF0-BE7D-8AC311DC44BD}">
      <dsp:nvSpPr>
        <dsp:cNvPr id="0" name=""/>
        <dsp:cNvSpPr/>
      </dsp:nvSpPr>
      <dsp:spPr>
        <a:xfrm>
          <a:off x="287993" y="216088"/>
          <a:ext cx="523623" cy="523623"/>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24B41B-CC66-4669-B1E4-E316D5902263}">
      <dsp:nvSpPr>
        <dsp:cNvPr id="0" name=""/>
        <dsp:cNvSpPr/>
      </dsp:nvSpPr>
      <dsp:spPr>
        <a:xfrm>
          <a:off x="1099609" y="1878"/>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b="0" kern="1200" dirty="0"/>
            <a:t>Big data, cloud computing, mobile internet - focuses on changes in infrastructure</a:t>
          </a:r>
        </a:p>
      </dsp:txBody>
      <dsp:txXfrm>
        <a:off x="1099609" y="1878"/>
        <a:ext cx="9873190" cy="952043"/>
      </dsp:txXfrm>
    </dsp:sp>
    <dsp:sp modelId="{B87BAF6A-59FD-49FC-80BE-0EE2CED32500}">
      <dsp:nvSpPr>
        <dsp:cNvPr id="0" name=""/>
        <dsp:cNvSpPr/>
      </dsp:nvSpPr>
      <dsp:spPr>
        <a:xfrm>
          <a:off x="0" y="1191932"/>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08E098-3CF5-48CE-A0C5-3C48865D6EDC}">
      <dsp:nvSpPr>
        <dsp:cNvPr id="0" name=""/>
        <dsp:cNvSpPr/>
      </dsp:nvSpPr>
      <dsp:spPr>
        <a:xfrm>
          <a:off x="287993" y="1406142"/>
          <a:ext cx="523623" cy="523623"/>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36DB206-EC82-4F22-8499-FA7932C07A6B}">
      <dsp:nvSpPr>
        <dsp:cNvPr id="0" name=""/>
        <dsp:cNvSpPr/>
      </dsp:nvSpPr>
      <dsp:spPr>
        <a:xfrm>
          <a:off x="1099609" y="1191932"/>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Software-defined anything - focuses on changes in productivity</a:t>
          </a:r>
        </a:p>
      </dsp:txBody>
      <dsp:txXfrm>
        <a:off x="1099609" y="1191932"/>
        <a:ext cx="9873190" cy="952043"/>
      </dsp:txXfrm>
    </dsp:sp>
    <dsp:sp modelId="{30E1A627-7C3B-443E-A994-031CF490863F}">
      <dsp:nvSpPr>
        <dsp:cNvPr id="0" name=""/>
        <dsp:cNvSpPr/>
      </dsp:nvSpPr>
      <dsp:spPr>
        <a:xfrm>
          <a:off x="0" y="2381986"/>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E768EB-E8E4-4522-A655-634D3C291E1D}">
      <dsp:nvSpPr>
        <dsp:cNvPr id="0" name=""/>
        <dsp:cNvSpPr/>
      </dsp:nvSpPr>
      <dsp:spPr>
        <a:xfrm>
          <a:off x="287993" y="2596196"/>
          <a:ext cx="523623" cy="523623"/>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5DCA3B-4AD0-42C9-9F19-9E2CD7B9D016}">
      <dsp:nvSpPr>
        <dsp:cNvPr id="0" name=""/>
        <dsp:cNvSpPr/>
      </dsp:nvSpPr>
      <dsp:spPr>
        <a:xfrm>
          <a:off x="1099609" y="2381986"/>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kern="1200" dirty="0"/>
            <a:t>Outsourcing and crowdsourcing - focuses on changes in production organization</a:t>
          </a:r>
        </a:p>
      </dsp:txBody>
      <dsp:txXfrm>
        <a:off x="1099609" y="2381986"/>
        <a:ext cx="9873190" cy="952043"/>
      </dsp:txXfrm>
    </dsp:sp>
    <dsp:sp modelId="{5B134C76-AF49-4A7B-B541-AAE36B3255F6}">
      <dsp:nvSpPr>
        <dsp:cNvPr id="0" name=""/>
        <dsp:cNvSpPr/>
      </dsp:nvSpPr>
      <dsp:spPr>
        <a:xfrm>
          <a:off x="0" y="3572040"/>
          <a:ext cx="109728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F5DB89-BF0A-489B-B8D3-2FBEE24A10FC}">
      <dsp:nvSpPr>
        <dsp:cNvPr id="0" name=""/>
        <dsp:cNvSpPr/>
      </dsp:nvSpPr>
      <dsp:spPr>
        <a:xfrm>
          <a:off x="287993" y="3786250"/>
          <a:ext cx="523623" cy="523623"/>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0D0141-BA21-49AF-9A55-A7248AF0A4CE}">
      <dsp:nvSpPr>
        <dsp:cNvPr id="0" name=""/>
        <dsp:cNvSpPr/>
      </dsp:nvSpPr>
      <dsp:spPr>
        <a:xfrm>
          <a:off x="1099609" y="3572040"/>
          <a:ext cx="98731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90000"/>
            </a:lnSpc>
            <a:spcBef>
              <a:spcPct val="0"/>
            </a:spcBef>
            <a:spcAft>
              <a:spcPct val="35000"/>
            </a:spcAft>
            <a:buNone/>
          </a:pPr>
          <a:r>
            <a:rPr lang="en-US" sz="2200" b="1" kern="1200" dirty="0"/>
            <a:t>Prosumer economy - focuses on changes in forces of economic growth</a:t>
          </a:r>
        </a:p>
      </dsp:txBody>
      <dsp:txXfrm>
        <a:off x="1099609" y="3572040"/>
        <a:ext cx="9873190" cy="95204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2F5443-63FE-4FFD-A8DC-6533C111256C}">
      <dsp:nvSpPr>
        <dsp:cNvPr id="0" name=""/>
        <dsp:cNvSpPr/>
      </dsp:nvSpPr>
      <dsp:spPr>
        <a:xfrm>
          <a:off x="0" y="552"/>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2C8CBB-917F-48C3-8649-AD276F8F1D88}">
      <dsp:nvSpPr>
        <dsp:cNvPr id="0" name=""/>
        <dsp:cNvSpPr/>
      </dsp:nvSpPr>
      <dsp:spPr>
        <a:xfrm>
          <a:off x="391076" y="291436"/>
          <a:ext cx="711048" cy="71104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1289F3-9BFD-4F40-86F4-66F923D0A266}">
      <dsp:nvSpPr>
        <dsp:cNvPr id="0" name=""/>
        <dsp:cNvSpPr/>
      </dsp:nvSpPr>
      <dsp:spPr>
        <a:xfrm>
          <a:off x="1493202" y="552"/>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b="1" kern="1200" dirty="0"/>
            <a:t>Long tail - focuses on changes in competitive landscape</a:t>
          </a:r>
        </a:p>
      </dsp:txBody>
      <dsp:txXfrm>
        <a:off x="1493202" y="552"/>
        <a:ext cx="9479597" cy="1292816"/>
      </dsp:txXfrm>
    </dsp:sp>
    <dsp:sp modelId="{17AA5016-A9AA-4803-B1E8-F27AB2759EC6}">
      <dsp:nvSpPr>
        <dsp:cNvPr id="0" name=""/>
        <dsp:cNvSpPr/>
      </dsp:nvSpPr>
      <dsp:spPr>
        <a:xfrm>
          <a:off x="0" y="1616572"/>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07C649-C225-4A75-85AC-5FE58C1167B2}">
      <dsp:nvSpPr>
        <dsp:cNvPr id="0" name=""/>
        <dsp:cNvSpPr/>
      </dsp:nvSpPr>
      <dsp:spPr>
        <a:xfrm>
          <a:off x="391076" y="1907456"/>
          <a:ext cx="711048" cy="711048"/>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EF56DF-2174-4C2E-BC42-772C5BEAE1AB}">
      <dsp:nvSpPr>
        <dsp:cNvPr id="0" name=""/>
        <dsp:cNvSpPr/>
      </dsp:nvSpPr>
      <dsp:spPr>
        <a:xfrm>
          <a:off x="1493202" y="1616572"/>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dirty="0"/>
            <a:t>Digital finance - focuses on changes in financial entities and technologies</a:t>
          </a:r>
        </a:p>
      </dsp:txBody>
      <dsp:txXfrm>
        <a:off x="1493202" y="1616572"/>
        <a:ext cx="9479597" cy="1292816"/>
      </dsp:txXfrm>
    </dsp:sp>
    <dsp:sp modelId="{2AE7B120-02BA-45CD-BA38-5D000EA72D73}">
      <dsp:nvSpPr>
        <dsp:cNvPr id="0" name=""/>
        <dsp:cNvSpPr/>
      </dsp:nvSpPr>
      <dsp:spPr>
        <a:xfrm>
          <a:off x="0" y="3232593"/>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BDFECD-46F5-4458-A102-06B665599EFF}">
      <dsp:nvSpPr>
        <dsp:cNvPr id="0" name=""/>
        <dsp:cNvSpPr/>
      </dsp:nvSpPr>
      <dsp:spPr>
        <a:xfrm>
          <a:off x="391076" y="3523476"/>
          <a:ext cx="711048" cy="711048"/>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F132C8-94B9-4447-BA50-36DA2B71030E}">
      <dsp:nvSpPr>
        <dsp:cNvPr id="0" name=""/>
        <dsp:cNvSpPr/>
      </dsp:nvSpPr>
      <dsp:spPr>
        <a:xfrm>
          <a:off x="1493202" y="3232593"/>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a:t>Collaboration - focuses on changes in operations models</a:t>
          </a:r>
        </a:p>
      </dsp:txBody>
      <dsp:txXfrm>
        <a:off x="1493202" y="3232593"/>
        <a:ext cx="9479597" cy="129281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2F5443-63FE-4FFD-A8DC-6533C111256C}">
      <dsp:nvSpPr>
        <dsp:cNvPr id="0" name=""/>
        <dsp:cNvSpPr/>
      </dsp:nvSpPr>
      <dsp:spPr>
        <a:xfrm>
          <a:off x="0" y="552"/>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2C8CBB-917F-48C3-8649-AD276F8F1D88}">
      <dsp:nvSpPr>
        <dsp:cNvPr id="0" name=""/>
        <dsp:cNvSpPr/>
      </dsp:nvSpPr>
      <dsp:spPr>
        <a:xfrm>
          <a:off x="391076" y="291436"/>
          <a:ext cx="711048" cy="71104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1289F3-9BFD-4F40-86F4-66F923D0A266}">
      <dsp:nvSpPr>
        <dsp:cNvPr id="0" name=""/>
        <dsp:cNvSpPr/>
      </dsp:nvSpPr>
      <dsp:spPr>
        <a:xfrm>
          <a:off x="1493202" y="552"/>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dirty="0"/>
            <a:t>Long tail - focuses on changes in competitive landscape</a:t>
          </a:r>
        </a:p>
      </dsp:txBody>
      <dsp:txXfrm>
        <a:off x="1493202" y="552"/>
        <a:ext cx="9479597" cy="1292816"/>
      </dsp:txXfrm>
    </dsp:sp>
    <dsp:sp modelId="{17AA5016-A9AA-4803-B1E8-F27AB2759EC6}">
      <dsp:nvSpPr>
        <dsp:cNvPr id="0" name=""/>
        <dsp:cNvSpPr/>
      </dsp:nvSpPr>
      <dsp:spPr>
        <a:xfrm>
          <a:off x="0" y="1616572"/>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07C649-C225-4A75-85AC-5FE58C1167B2}">
      <dsp:nvSpPr>
        <dsp:cNvPr id="0" name=""/>
        <dsp:cNvSpPr/>
      </dsp:nvSpPr>
      <dsp:spPr>
        <a:xfrm>
          <a:off x="391076" y="1907456"/>
          <a:ext cx="711048" cy="711048"/>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EF56DF-2174-4C2E-BC42-772C5BEAE1AB}">
      <dsp:nvSpPr>
        <dsp:cNvPr id="0" name=""/>
        <dsp:cNvSpPr/>
      </dsp:nvSpPr>
      <dsp:spPr>
        <a:xfrm>
          <a:off x="1493202" y="1616572"/>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b="1" kern="1200" dirty="0"/>
            <a:t>Digital finance - focuses on changes in financial entities and technologies</a:t>
          </a:r>
        </a:p>
      </dsp:txBody>
      <dsp:txXfrm>
        <a:off x="1493202" y="1616572"/>
        <a:ext cx="9479597" cy="1292816"/>
      </dsp:txXfrm>
    </dsp:sp>
    <dsp:sp modelId="{2AE7B120-02BA-45CD-BA38-5D000EA72D73}">
      <dsp:nvSpPr>
        <dsp:cNvPr id="0" name=""/>
        <dsp:cNvSpPr/>
      </dsp:nvSpPr>
      <dsp:spPr>
        <a:xfrm>
          <a:off x="0" y="3232593"/>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BDFECD-46F5-4458-A102-06B665599EFF}">
      <dsp:nvSpPr>
        <dsp:cNvPr id="0" name=""/>
        <dsp:cNvSpPr/>
      </dsp:nvSpPr>
      <dsp:spPr>
        <a:xfrm>
          <a:off x="391076" y="3523476"/>
          <a:ext cx="711048" cy="711048"/>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F132C8-94B9-4447-BA50-36DA2B71030E}">
      <dsp:nvSpPr>
        <dsp:cNvPr id="0" name=""/>
        <dsp:cNvSpPr/>
      </dsp:nvSpPr>
      <dsp:spPr>
        <a:xfrm>
          <a:off x="1493202" y="3232593"/>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a:t>Collaboration - focuses on changes in operations models</a:t>
          </a:r>
        </a:p>
      </dsp:txBody>
      <dsp:txXfrm>
        <a:off x="1493202" y="3232593"/>
        <a:ext cx="9479597" cy="129281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2F5443-63FE-4FFD-A8DC-6533C111256C}">
      <dsp:nvSpPr>
        <dsp:cNvPr id="0" name=""/>
        <dsp:cNvSpPr/>
      </dsp:nvSpPr>
      <dsp:spPr>
        <a:xfrm>
          <a:off x="0" y="552"/>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2C8CBB-917F-48C3-8649-AD276F8F1D88}">
      <dsp:nvSpPr>
        <dsp:cNvPr id="0" name=""/>
        <dsp:cNvSpPr/>
      </dsp:nvSpPr>
      <dsp:spPr>
        <a:xfrm>
          <a:off x="391076" y="291436"/>
          <a:ext cx="711048" cy="71104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1289F3-9BFD-4F40-86F4-66F923D0A266}">
      <dsp:nvSpPr>
        <dsp:cNvPr id="0" name=""/>
        <dsp:cNvSpPr/>
      </dsp:nvSpPr>
      <dsp:spPr>
        <a:xfrm>
          <a:off x="1493202" y="552"/>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dirty="0"/>
            <a:t>Long tail - focuses on changes in competitive landscape</a:t>
          </a:r>
        </a:p>
      </dsp:txBody>
      <dsp:txXfrm>
        <a:off x="1493202" y="552"/>
        <a:ext cx="9479597" cy="1292816"/>
      </dsp:txXfrm>
    </dsp:sp>
    <dsp:sp modelId="{17AA5016-A9AA-4803-B1E8-F27AB2759EC6}">
      <dsp:nvSpPr>
        <dsp:cNvPr id="0" name=""/>
        <dsp:cNvSpPr/>
      </dsp:nvSpPr>
      <dsp:spPr>
        <a:xfrm>
          <a:off x="0" y="1616572"/>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07C649-C225-4A75-85AC-5FE58C1167B2}">
      <dsp:nvSpPr>
        <dsp:cNvPr id="0" name=""/>
        <dsp:cNvSpPr/>
      </dsp:nvSpPr>
      <dsp:spPr>
        <a:xfrm>
          <a:off x="391076" y="1907456"/>
          <a:ext cx="711048" cy="711048"/>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EF56DF-2174-4C2E-BC42-772C5BEAE1AB}">
      <dsp:nvSpPr>
        <dsp:cNvPr id="0" name=""/>
        <dsp:cNvSpPr/>
      </dsp:nvSpPr>
      <dsp:spPr>
        <a:xfrm>
          <a:off x="1493202" y="1616572"/>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kern="1200" dirty="0"/>
            <a:t>Digital finance - focuses on changes in financial entities and technologies</a:t>
          </a:r>
        </a:p>
      </dsp:txBody>
      <dsp:txXfrm>
        <a:off x="1493202" y="1616572"/>
        <a:ext cx="9479597" cy="1292816"/>
      </dsp:txXfrm>
    </dsp:sp>
    <dsp:sp modelId="{2AE7B120-02BA-45CD-BA38-5D000EA72D73}">
      <dsp:nvSpPr>
        <dsp:cNvPr id="0" name=""/>
        <dsp:cNvSpPr/>
      </dsp:nvSpPr>
      <dsp:spPr>
        <a:xfrm>
          <a:off x="0" y="3232593"/>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BDFECD-46F5-4458-A102-06B665599EFF}">
      <dsp:nvSpPr>
        <dsp:cNvPr id="0" name=""/>
        <dsp:cNvSpPr/>
      </dsp:nvSpPr>
      <dsp:spPr>
        <a:xfrm>
          <a:off x="391076" y="3523476"/>
          <a:ext cx="711048" cy="711048"/>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F132C8-94B9-4447-BA50-36DA2B71030E}">
      <dsp:nvSpPr>
        <dsp:cNvPr id="0" name=""/>
        <dsp:cNvSpPr/>
      </dsp:nvSpPr>
      <dsp:spPr>
        <a:xfrm>
          <a:off x="1493202" y="3232593"/>
          <a:ext cx="94795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b="1" kern="1200" dirty="0"/>
            <a:t>Collaboration - focuses on changes in operations models</a:t>
          </a:r>
        </a:p>
      </dsp:txBody>
      <dsp:txXfrm>
        <a:off x="1493202" y="3232593"/>
        <a:ext cx="9479597" cy="129281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ED1FDD-2C1F-468D-BE38-C762FE5531B4}" type="datetimeFigureOut">
              <a:rPr lang="en-US" smtClean="0"/>
              <a:t>9/17/2025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7BC5BD-5FA0-4D4F-B95E-0ACA78BC8122}" type="slidenum">
              <a:rPr lang="en-US" smtClean="0"/>
              <a:t>‹#›</a:t>
            </a:fld>
            <a:endParaRPr lang="en-US"/>
          </a:p>
        </p:txBody>
      </p:sp>
    </p:spTree>
    <p:extLst>
      <p:ext uri="{BB962C8B-B14F-4D97-AF65-F5344CB8AC3E}">
        <p14:creationId xmlns:p14="http://schemas.microsoft.com/office/powerpoint/2010/main" val="1278050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19A55E57-38E4-41C7-8154-A8B991DEA4F6}"/>
              </a:ext>
            </a:extLst>
          </p:cNvPr>
          <p:cNvSpPr>
            <a:spLocks noChangeArrowheads="1"/>
          </p:cNvSpPr>
          <p:nvPr/>
        </p:nvSpPr>
        <p:spPr bwMode="auto">
          <a:xfrm>
            <a:off x="0" y="0"/>
            <a:ext cx="12192000" cy="3429000"/>
          </a:xfrm>
          <a:prstGeom prst="rect">
            <a:avLst/>
          </a:prstGeom>
          <a:solidFill>
            <a:srgbClr val="A2FFA3"/>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sz="1800"/>
          </a:p>
        </p:txBody>
      </p:sp>
      <p:pic>
        <p:nvPicPr>
          <p:cNvPr id="5" name="Picture 10" descr="APU Logo_Final_Vertical_V1_HR1 copy.png">
            <a:extLst>
              <a:ext uri="{FF2B5EF4-FFF2-40B4-BE49-F238E27FC236}">
                <a16:creationId xmlns:a16="http://schemas.microsoft.com/office/drawing/2014/main" id="{D82D9B23-9521-4397-A0C7-7D0BE0B0C4F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4517" y="2514600"/>
            <a:ext cx="3373968" cy="238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2" name="Rectangle 2"/>
          <p:cNvSpPr>
            <a:spLocks noGrp="1" noChangeArrowheads="1"/>
          </p:cNvSpPr>
          <p:nvPr>
            <p:ph type="ctrTitle"/>
          </p:nvPr>
        </p:nvSpPr>
        <p:spPr>
          <a:xfrm>
            <a:off x="3185584" y="1952626"/>
            <a:ext cx="9006416" cy="1470025"/>
          </a:xfrm>
        </p:spPr>
        <p:txBody>
          <a:bodyPr/>
          <a:lstStyle>
            <a:lvl1pPr>
              <a:defRPr/>
            </a:lvl1pPr>
          </a:lstStyle>
          <a:p>
            <a:r>
              <a:rPr lang="en-US"/>
              <a:t>Click to edit Master title style</a:t>
            </a:r>
            <a:endParaRPr lang="en-GB"/>
          </a:p>
        </p:txBody>
      </p:sp>
      <p:sp>
        <p:nvSpPr>
          <p:cNvPr id="87043" name="Rectangle 3"/>
          <p:cNvSpPr>
            <a:spLocks noGrp="1" noChangeArrowheads="1"/>
          </p:cNvSpPr>
          <p:nvPr>
            <p:ph type="subTitle" idx="1"/>
          </p:nvPr>
        </p:nvSpPr>
        <p:spPr>
          <a:xfrm>
            <a:off x="3166533" y="3886200"/>
            <a:ext cx="9025467" cy="1752600"/>
          </a:xfrm>
        </p:spPr>
        <p:txBody>
          <a:bodyPr/>
          <a:lstStyle>
            <a:lvl1pPr marL="0" indent="0" algn="ctr">
              <a:buFontTx/>
              <a:buNone/>
              <a:defRPr/>
            </a:lvl1pPr>
          </a:lstStyle>
          <a:p>
            <a:r>
              <a:rPr lang="en-US"/>
              <a:t>Click to edit Master subtitle style</a:t>
            </a:r>
            <a:endParaRPr lang="en-GB"/>
          </a:p>
        </p:txBody>
      </p:sp>
    </p:spTree>
    <p:extLst>
      <p:ext uri="{BB962C8B-B14F-4D97-AF65-F5344CB8AC3E}">
        <p14:creationId xmlns:p14="http://schemas.microsoft.com/office/powerpoint/2010/main" val="1328361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311925" cy="1367327"/>
          </a:xfrm>
          <a:solidFill>
            <a:srgbClr val="A2FFA3"/>
          </a:solidFill>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C94CCE7B-8C0C-42E3-87DC-DE817FB78B76}"/>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347238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a:extLst>
              <a:ext uri="{FF2B5EF4-FFF2-40B4-BE49-F238E27FC236}">
                <a16:creationId xmlns:a16="http://schemas.microsoft.com/office/drawing/2014/main" id="{B6392066-0EF0-4FF8-93AA-2093B8EDA099}"/>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3471153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49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D7A2D113-A871-44A2-B949-2DB5FAFF9E66}"/>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2372881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6">
            <a:extLst>
              <a:ext uri="{FF2B5EF4-FFF2-40B4-BE49-F238E27FC236}">
                <a16:creationId xmlns:a16="http://schemas.microsoft.com/office/drawing/2014/main" id="{47D21544-1A19-450A-9A54-709EC423BCFE}"/>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265718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D77AD2FE-548C-4C8C-86B4-F659E1B7E949}"/>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850485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917C336-48FB-4D30-BD06-54EA5295C452}"/>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3549959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a:extLst>
              <a:ext uri="{FF2B5EF4-FFF2-40B4-BE49-F238E27FC236}">
                <a16:creationId xmlns:a16="http://schemas.microsoft.com/office/drawing/2014/main" id="{43535719-93FB-4BCB-999D-ADC5B6C8FEA1}"/>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2208955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a:extLst>
              <a:ext uri="{FF2B5EF4-FFF2-40B4-BE49-F238E27FC236}">
                <a16:creationId xmlns:a16="http://schemas.microsoft.com/office/drawing/2014/main" id="{4E197F50-3179-4421-9233-93FB4F4AE80B}"/>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845223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790899FE-50CE-4592-8241-9731B40B4305}"/>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680653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79417" y="274638"/>
            <a:ext cx="2743200" cy="59483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47700" y="274638"/>
            <a:ext cx="8028517" cy="59483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DFB6B087-45F3-4C06-AF9A-3C1779880019}"/>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929502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74638"/>
            <a:ext cx="9389533" cy="1143000"/>
          </a:xfrm>
        </p:spPr>
        <p:txBody>
          <a:bodyPr/>
          <a:lstStyle/>
          <a:p>
            <a:r>
              <a:rPr lang="en-US"/>
              <a:t>Click to edit Master title style</a:t>
            </a:r>
          </a:p>
        </p:txBody>
      </p:sp>
      <p:sp>
        <p:nvSpPr>
          <p:cNvPr id="3" name="Text Placeholder 2"/>
          <p:cNvSpPr>
            <a:spLocks noGrp="1"/>
          </p:cNvSpPr>
          <p:nvPr>
            <p:ph type="body" sz="half" idx="1"/>
          </p:nvPr>
        </p:nvSpPr>
        <p:spPr>
          <a:xfrm>
            <a:off x="624417" y="1641476"/>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2417" y="1641476"/>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5A6DC315-7F58-4763-BC2C-AF70BD9B47C6}"/>
              </a:ext>
            </a:extLst>
          </p:cNvPr>
          <p:cNvSpPr>
            <a:spLocks noGrp="1" noChangeArrowheads="1"/>
          </p:cNvSpPr>
          <p:nvPr>
            <p:ph type="ftr" sz="quarter" idx="10"/>
          </p:nvPr>
        </p:nvSpPr>
        <p:spPr>
          <a:ln/>
        </p:spPr>
        <p:txBody>
          <a:bodyPr/>
          <a:lstStyle>
            <a:lvl1pPr>
              <a:defRPr/>
            </a:lvl1pPr>
          </a:lstStyle>
          <a:p>
            <a:pPr>
              <a:defRPr/>
            </a:pPr>
            <a:fld id="{17B7D8E3-266E-47CB-8CC4-A3D79B48A3B5}" type="slidenum">
              <a:rPr lang="en-US" altLang="en-US"/>
              <a:pPr>
                <a:defRPr/>
              </a:pPr>
              <a:t>‹#›</a:t>
            </a:fld>
            <a:endParaRPr lang="en-US" altLang="en-US"/>
          </a:p>
        </p:txBody>
      </p:sp>
    </p:spTree>
    <p:extLst>
      <p:ext uri="{BB962C8B-B14F-4D97-AF65-F5344CB8AC3E}">
        <p14:creationId xmlns:p14="http://schemas.microsoft.com/office/powerpoint/2010/main" val="1748479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7" descr="ucti_globe1_transparent_small">
            <a:extLst>
              <a:ext uri="{FF2B5EF4-FFF2-40B4-BE49-F238E27FC236}">
                <a16:creationId xmlns:a16="http://schemas.microsoft.com/office/drawing/2014/main" id="{78D6A39E-0BA3-4626-8EF0-3422758B0867}"/>
              </a:ext>
            </a:extLst>
          </p:cNvPr>
          <p:cNvPicPr>
            <a:picLocks noChangeAspect="1" noChangeArrowheads="1"/>
          </p:cNvPicPr>
          <p:nvPr/>
        </p:nvPicPr>
        <p:blipFill>
          <a:blip r:embed="rId14">
            <a:lum bright="80000" contrast="-90000"/>
            <a:extLst>
              <a:ext uri="{28A0092B-C50C-407E-A947-70E740481C1C}">
                <a14:useLocalDpi xmlns:a14="http://schemas.microsoft.com/office/drawing/2010/main" val="0"/>
              </a:ext>
            </a:extLst>
          </a:blip>
          <a:srcRect/>
          <a:stretch>
            <a:fillRect/>
          </a:stretch>
        </p:blipFill>
        <p:spPr bwMode="auto">
          <a:xfrm>
            <a:off x="-1921934" y="2570164"/>
            <a:ext cx="9609667"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5D889B73-4BC7-4175-8777-89F6049860A0}"/>
              </a:ext>
            </a:extLst>
          </p:cNvPr>
          <p:cNvSpPr>
            <a:spLocks noChangeArrowheads="1"/>
          </p:cNvSpPr>
          <p:nvPr/>
        </p:nvSpPr>
        <p:spPr bwMode="auto">
          <a:xfrm>
            <a:off x="-55034" y="6564768"/>
            <a:ext cx="12192000" cy="236537"/>
          </a:xfrm>
          <a:prstGeom prst="rect">
            <a:avLst/>
          </a:prstGeom>
          <a:solidFill>
            <a:srgbClr val="A2FFA3"/>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GB" sz="1800" dirty="0"/>
          </a:p>
        </p:txBody>
      </p:sp>
      <p:sp>
        <p:nvSpPr>
          <p:cNvPr id="1028" name="Rectangle 4">
            <a:extLst>
              <a:ext uri="{FF2B5EF4-FFF2-40B4-BE49-F238E27FC236}">
                <a16:creationId xmlns:a16="http://schemas.microsoft.com/office/drawing/2014/main" id="{01326838-1107-4D82-B9EC-B2E5D9B1D4B4}"/>
              </a:ext>
            </a:extLst>
          </p:cNvPr>
          <p:cNvSpPr>
            <a:spLocks noGrp="1" noChangeArrowheads="1"/>
          </p:cNvSpPr>
          <p:nvPr>
            <p:ph type="body" idx="1"/>
          </p:nvPr>
        </p:nvSpPr>
        <p:spPr bwMode="auto">
          <a:xfrm>
            <a:off x="649817" y="16970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6">
            <a:extLst>
              <a:ext uri="{FF2B5EF4-FFF2-40B4-BE49-F238E27FC236}">
                <a16:creationId xmlns:a16="http://schemas.microsoft.com/office/drawing/2014/main" id="{3E5B5E28-740F-4CE1-8D47-D46EA3E4FCE8}"/>
              </a:ext>
            </a:extLst>
          </p:cNvPr>
          <p:cNvSpPr>
            <a:spLocks noGrp="1" noChangeArrowheads="1"/>
          </p:cNvSpPr>
          <p:nvPr>
            <p:ph type="title"/>
          </p:nvPr>
        </p:nvSpPr>
        <p:spPr bwMode="auto">
          <a:xfrm>
            <a:off x="647700" y="274638"/>
            <a:ext cx="938953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86024" name="Rectangle 8">
            <a:extLst>
              <a:ext uri="{FF2B5EF4-FFF2-40B4-BE49-F238E27FC236}">
                <a16:creationId xmlns:a16="http://schemas.microsoft.com/office/drawing/2014/main" id="{C50B826F-79B0-4D38-A8FA-4FBA74C95EB1}"/>
              </a:ext>
            </a:extLst>
          </p:cNvPr>
          <p:cNvSpPr>
            <a:spLocks noGrp="1" noChangeArrowheads="1"/>
          </p:cNvSpPr>
          <p:nvPr>
            <p:ph type="ftr" sz="quarter" idx="3"/>
          </p:nvPr>
        </p:nvSpPr>
        <p:spPr bwMode="auto">
          <a:xfrm>
            <a:off x="8331200" y="6623050"/>
            <a:ext cx="38608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800" smtClean="0">
                <a:latin typeface="Calibri" panose="020F0502020204030204" pitchFamily="34" charset="0"/>
                <a:cs typeface="Calibri" panose="020F0502020204030204" pitchFamily="34" charset="0"/>
              </a:defRPr>
            </a:lvl1pPr>
          </a:lstStyle>
          <a:p>
            <a:pPr>
              <a:defRPr/>
            </a:pPr>
            <a:fld id="{8716479A-60E4-42E1-B9D1-F4016DE67B5A}" type="slidenum">
              <a:rPr lang="en-US" altLang="en-US"/>
              <a:pPr>
                <a:defRPr/>
              </a:pPr>
              <a:t>‹#›</a:t>
            </a:fld>
            <a:endParaRPr lang="en-US" altLang="en-US"/>
          </a:p>
        </p:txBody>
      </p:sp>
      <p:sp>
        <p:nvSpPr>
          <p:cNvPr id="1032" name="Rectangle 9">
            <a:extLst>
              <a:ext uri="{FF2B5EF4-FFF2-40B4-BE49-F238E27FC236}">
                <a16:creationId xmlns:a16="http://schemas.microsoft.com/office/drawing/2014/main" id="{9E037968-5E94-4DFF-A255-3B9193204320}"/>
              </a:ext>
            </a:extLst>
          </p:cNvPr>
          <p:cNvSpPr>
            <a:spLocks noChangeArrowheads="1"/>
          </p:cNvSpPr>
          <p:nvPr/>
        </p:nvSpPr>
        <p:spPr bwMode="auto">
          <a:xfrm>
            <a:off x="4233333" y="6597650"/>
            <a:ext cx="3615267" cy="260350"/>
          </a:xfrm>
          <a:prstGeom prst="rect">
            <a:avLst/>
          </a:prstGeom>
          <a:no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GB" sz="8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0" descr="APU Logo Final-medium.jpg">
            <a:extLst>
              <a:ext uri="{FF2B5EF4-FFF2-40B4-BE49-F238E27FC236}">
                <a16:creationId xmlns:a16="http://schemas.microsoft.com/office/drawing/2014/main" id="{3A5908B1-49F6-461B-A3D4-C9A0E65D1248}"/>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10172701" y="1"/>
            <a:ext cx="201930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7">
            <a:extLst>
              <a:ext uri="{FF2B5EF4-FFF2-40B4-BE49-F238E27FC236}">
                <a16:creationId xmlns:a16="http://schemas.microsoft.com/office/drawing/2014/main" id="{5227F5A3-5696-4C2C-A740-D531ED64E2D9}"/>
              </a:ext>
            </a:extLst>
          </p:cNvPr>
          <p:cNvSpPr>
            <a:spLocks noChangeArrowheads="1"/>
          </p:cNvSpPr>
          <p:nvPr userDrawn="1"/>
        </p:nvSpPr>
        <p:spPr bwMode="auto">
          <a:xfrm>
            <a:off x="0" y="6597650"/>
            <a:ext cx="2711450" cy="260350"/>
          </a:xfrm>
          <a:prstGeom prst="rect">
            <a:avLst/>
          </a:prstGeom>
          <a:noFill/>
          <a:ln w="9525">
            <a:noFill/>
            <a:miter lim="800000"/>
            <a:headEnd/>
            <a:tailEnd/>
          </a:ln>
          <a:effectLst/>
        </p:spPr>
        <p:txBody>
          <a:bodyPr/>
          <a:lstStyle/>
          <a:p>
            <a:pPr>
              <a:defRPr/>
            </a:pPr>
            <a:r>
              <a:rPr lang="en-GB" sz="1000" dirty="0">
                <a:latin typeface="Calibri" pitchFamily="34" charset="0"/>
                <a:cs typeface="Calibri" pitchFamily="34" charset="0"/>
              </a:rPr>
              <a:t>CT109-3-1 Digital Thinking and Innovation</a:t>
            </a:r>
          </a:p>
        </p:txBody>
      </p:sp>
      <p:sp>
        <p:nvSpPr>
          <p:cNvPr id="13" name="Rectangle 12">
            <a:extLst>
              <a:ext uri="{FF2B5EF4-FFF2-40B4-BE49-F238E27FC236}">
                <a16:creationId xmlns:a16="http://schemas.microsoft.com/office/drawing/2014/main" id="{C0333672-DE8B-4476-BC98-975CBBA6D730}"/>
              </a:ext>
            </a:extLst>
          </p:cNvPr>
          <p:cNvSpPr>
            <a:spLocks noChangeArrowheads="1"/>
          </p:cNvSpPr>
          <p:nvPr userDrawn="1"/>
        </p:nvSpPr>
        <p:spPr bwMode="auto">
          <a:xfrm>
            <a:off x="4624979" y="6597650"/>
            <a:ext cx="3134360" cy="270510"/>
          </a:xfrm>
          <a:prstGeom prst="rect">
            <a:avLst/>
          </a:prstGeom>
          <a:noFill/>
          <a:ln w="9525">
            <a:noFill/>
            <a:miter lim="800000"/>
            <a:headEnd/>
            <a:tailEnd/>
          </a:ln>
          <a:effectLst/>
        </p:spPr>
        <p:txBody>
          <a:bodyPr/>
          <a:lstStyle/>
          <a:p>
            <a:pPr algn="ctr">
              <a:defRPr/>
            </a:pPr>
            <a:r>
              <a:rPr lang="en-GB" sz="1000" dirty="0">
                <a:latin typeface="Calibri" pitchFamily="34" charset="0"/>
                <a:cs typeface="Calibri" pitchFamily="34" charset="0"/>
              </a:rPr>
              <a:t>Innovation in Digital Trends</a:t>
            </a:r>
          </a:p>
        </p:txBody>
      </p:sp>
      <p:sp>
        <p:nvSpPr>
          <p:cNvPr id="14" name="Rectangle 13">
            <a:extLst>
              <a:ext uri="{FF2B5EF4-FFF2-40B4-BE49-F238E27FC236}">
                <a16:creationId xmlns:a16="http://schemas.microsoft.com/office/drawing/2014/main" id="{234B5DE0-0175-45A1-A193-259AD9F2416E}"/>
              </a:ext>
            </a:extLst>
          </p:cNvPr>
          <p:cNvSpPr>
            <a:spLocks noChangeArrowheads="1"/>
          </p:cNvSpPr>
          <p:nvPr userDrawn="1"/>
        </p:nvSpPr>
        <p:spPr bwMode="auto">
          <a:xfrm>
            <a:off x="9457835" y="6607810"/>
            <a:ext cx="2711450" cy="260350"/>
          </a:xfrm>
          <a:prstGeom prst="rect">
            <a:avLst/>
          </a:prstGeom>
          <a:noFill/>
          <a:ln w="9525">
            <a:noFill/>
            <a:miter lim="800000"/>
            <a:headEnd/>
            <a:tailEnd/>
          </a:ln>
          <a:effectLst/>
        </p:spPr>
        <p:txBody>
          <a:bodyPr/>
          <a:lstStyle/>
          <a:p>
            <a:pPr algn="r">
              <a:defRPr/>
            </a:pPr>
            <a:r>
              <a:rPr lang="en-GB" sz="1000" dirty="0">
                <a:latin typeface="Calibri" pitchFamily="34" charset="0"/>
                <a:cs typeface="Calibri" pitchFamily="34" charset="0"/>
              </a:rPr>
              <a:t>Slide </a:t>
            </a:r>
            <a:fld id="{DECA9CF0-005F-441B-BAB5-56B8212B3760}" type="slidenum">
              <a:rPr lang="en-GB" sz="1000" smtClean="0">
                <a:latin typeface="Calibri" pitchFamily="34" charset="0"/>
                <a:cs typeface="Calibri" pitchFamily="34" charset="0"/>
              </a:rPr>
              <a:pPr algn="r">
                <a:defRPr/>
              </a:pPr>
              <a:t>‹#›</a:t>
            </a:fld>
            <a:r>
              <a:rPr lang="en-GB" sz="1000" dirty="0">
                <a:latin typeface="Calibri" pitchFamily="34" charset="0"/>
                <a:cs typeface="Calibri" pitchFamily="34" charset="0"/>
              </a:rPr>
              <a:t> out of 30</a:t>
            </a:r>
          </a:p>
        </p:txBody>
      </p:sp>
    </p:spTree>
    <p:extLst>
      <p:ext uri="{BB962C8B-B14F-4D97-AF65-F5344CB8AC3E}">
        <p14:creationId xmlns:p14="http://schemas.microsoft.com/office/powerpoint/2010/main" val="7178405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eaLnBrk="1" fontAlgn="base" hangingPunct="1">
        <a:spcBef>
          <a:spcPct val="0"/>
        </a:spcBef>
        <a:spcAft>
          <a:spcPct val="0"/>
        </a:spcAft>
        <a:defRPr sz="3600">
          <a:solidFill>
            <a:schemeClr val="tx2"/>
          </a:solidFill>
          <a:latin typeface="Arial" charset="0"/>
        </a:defRPr>
      </a:lvl6pPr>
      <a:lvl7pPr marL="914400" algn="ctr" rtl="0" eaLnBrk="1" fontAlgn="base" hangingPunct="1">
        <a:spcBef>
          <a:spcPct val="0"/>
        </a:spcBef>
        <a:spcAft>
          <a:spcPct val="0"/>
        </a:spcAft>
        <a:defRPr sz="3600">
          <a:solidFill>
            <a:schemeClr val="tx2"/>
          </a:solidFill>
          <a:latin typeface="Arial" charset="0"/>
        </a:defRPr>
      </a:lvl7pPr>
      <a:lvl8pPr marL="1371600" algn="ctr" rtl="0" eaLnBrk="1" fontAlgn="base" hangingPunct="1">
        <a:spcBef>
          <a:spcPct val="0"/>
        </a:spcBef>
        <a:spcAft>
          <a:spcPct val="0"/>
        </a:spcAft>
        <a:defRPr sz="3600">
          <a:solidFill>
            <a:schemeClr val="tx2"/>
          </a:solidFill>
          <a:latin typeface="Arial" charset="0"/>
        </a:defRPr>
      </a:lvl8pPr>
      <a:lvl9pPr marL="1828800" algn="ctr" rtl="0" eaLnBrk="1" fontAlgn="base" hangingPunct="1">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5sKb8IM7veA" TargetMode="External"/><Relationship Id="rId2" Type="http://schemas.openxmlformats.org/officeDocument/2006/relationships/slideLayout" Target="../slideLayouts/slideLayout2.xml"/><Relationship Id="rId1" Type="http://schemas.openxmlformats.org/officeDocument/2006/relationships/video" Target="https://www.youtube.com/embed/5sKb8IM7veA?feature=oembed" TargetMode="External"/><Relationship Id="rId5" Type="http://schemas.openxmlformats.org/officeDocument/2006/relationships/image" Target="../media/image22.jpe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google.com/search?num=10&amp;newwindow=1&amp;sca_esv=a67a64356a29d00d&amp;rlz=1C1GCEA_enMY1124MY1124&amp;biw=1280&amp;bih=593&amp;sxsrf=ADLYWILfjhjZdjMyezgsj69nTpAqC9I8Og:1732597776366&amp;q=unpaid&amp;si=ACC90nwzNcbSj6HKgPz_Y9fzn5jcdMjH6Oz05oxe_zetWOgkM5ENu2GktEiACA49_F3YS4qamFDkSN5ggz_fpefffoUL0zIOoA%3D%3D&amp;expnd=1&amp;sa=X&amp;ved=2ahUKEwinvf7XnfmJAxXRcGwGHW2_EUoQyecJegQIHhAP&amp;cshid=1732597809917148" TargetMode="External"/><Relationship Id="rId2" Type="http://schemas.openxmlformats.org/officeDocument/2006/relationships/hyperlink" Target="https://www.google.com/search?num=10&amp;newwindow=1&amp;sca_esv=a67a64356a29d00d&amp;rlz=1C1GCEA_enMY1124MY1124&amp;biw=1280&amp;bih=593&amp;sxsrf=ADLYWILfjhjZdjMyezgsj69nTpAqC9I8Og:1732597776366&amp;q=enlisting&amp;si=ACC90nytWkp8tIhRuqKAL6XWXX-N-v4LtMjpL7SoriQuL7ODr7ppzlb0PYYv_EUWN1Ie8_JFGFXPQyD6i8oHKGmEupcsd_pxFrAQP9oJ8AlMSsHUMe-2080%3D&amp;expnd=1&amp;sa=X&amp;ved=2ahUKEwinvf7XnfmJAxXRcGwGHW2_EUoQyecJegQIHhAO&amp;cshid=1732597809917148" TargetMode="Externa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slideLayout" Target="../slideLayouts/slideLayout2.xml"/><Relationship Id="rId1" Type="http://schemas.openxmlformats.org/officeDocument/2006/relationships/video" Target="https://www.youtube.com/embed/JMLsHI8aV0g?feature=oembed"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72033-E616-4689-8B30-032E753181F7}"/>
              </a:ext>
            </a:extLst>
          </p:cNvPr>
          <p:cNvSpPr>
            <a:spLocks noGrp="1"/>
          </p:cNvSpPr>
          <p:nvPr>
            <p:ph type="ctrTitle"/>
          </p:nvPr>
        </p:nvSpPr>
        <p:spPr/>
        <p:txBody>
          <a:bodyPr/>
          <a:lstStyle/>
          <a:p>
            <a:r>
              <a:rPr lang="en-US" dirty="0"/>
              <a:t>Digital Thinking and Innovation</a:t>
            </a:r>
          </a:p>
        </p:txBody>
      </p:sp>
      <p:sp>
        <p:nvSpPr>
          <p:cNvPr id="3" name="Subtitle 2">
            <a:extLst>
              <a:ext uri="{FF2B5EF4-FFF2-40B4-BE49-F238E27FC236}">
                <a16:creationId xmlns:a16="http://schemas.microsoft.com/office/drawing/2014/main" id="{EA5624DE-0F9F-4A4F-8533-D7F4AD4E9C42}"/>
              </a:ext>
            </a:extLst>
          </p:cNvPr>
          <p:cNvSpPr>
            <a:spLocks noGrp="1"/>
          </p:cNvSpPr>
          <p:nvPr>
            <p:ph type="subTitle" idx="1"/>
          </p:nvPr>
        </p:nvSpPr>
        <p:spPr/>
        <p:txBody>
          <a:bodyPr/>
          <a:lstStyle/>
          <a:p>
            <a:r>
              <a:rPr lang="de-DE" dirty="0"/>
              <a:t>Innovation in Digital Trends</a:t>
            </a:r>
            <a:endParaRPr lang="en-US" dirty="0"/>
          </a:p>
        </p:txBody>
      </p:sp>
    </p:spTree>
    <p:extLst>
      <p:ext uri="{BB962C8B-B14F-4D97-AF65-F5344CB8AC3E}">
        <p14:creationId xmlns:p14="http://schemas.microsoft.com/office/powerpoint/2010/main" val="1680535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7FD2-3BC9-4D69-A5CA-55E909379DE4}"/>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0A81EA78-3F9D-4EBF-BBC6-460FCCBF5F84}"/>
              </a:ext>
            </a:extLst>
          </p:cNvPr>
          <p:cNvSpPr>
            <a:spLocks noGrp="1"/>
          </p:cNvSpPr>
          <p:nvPr>
            <p:ph idx="1"/>
          </p:nvPr>
        </p:nvSpPr>
        <p:spPr/>
        <p:txBody>
          <a:bodyPr/>
          <a:lstStyle/>
          <a:p>
            <a:pPr marL="0" indent="0">
              <a:buNone/>
            </a:pPr>
            <a:r>
              <a:rPr lang="en-US" dirty="0"/>
              <a:t>This topic discusses how the traditional ways are pushed aside by the digital technologies, and the trends that are well accepted and continue to emerge</a:t>
            </a:r>
          </a:p>
        </p:txBody>
      </p:sp>
      <p:pic>
        <p:nvPicPr>
          <p:cNvPr id="5" name="Picture 4">
            <a:extLst>
              <a:ext uri="{FF2B5EF4-FFF2-40B4-BE49-F238E27FC236}">
                <a16:creationId xmlns:a16="http://schemas.microsoft.com/office/drawing/2014/main" id="{DB07AAE2-330B-4A4D-AA60-B9BD92F6C3B6}"/>
              </a:ext>
            </a:extLst>
          </p:cNvPr>
          <p:cNvPicPr>
            <a:picLocks noChangeAspect="1"/>
          </p:cNvPicPr>
          <p:nvPr/>
        </p:nvPicPr>
        <p:blipFill>
          <a:blip r:embed="rId2"/>
          <a:stretch>
            <a:fillRect/>
          </a:stretch>
        </p:blipFill>
        <p:spPr>
          <a:xfrm>
            <a:off x="7674964" y="3376427"/>
            <a:ext cx="4398832" cy="3046598"/>
          </a:xfrm>
          <a:prstGeom prst="rect">
            <a:avLst/>
          </a:prstGeom>
        </p:spPr>
      </p:pic>
    </p:spTree>
    <p:extLst>
      <p:ext uri="{BB962C8B-B14F-4D97-AF65-F5344CB8AC3E}">
        <p14:creationId xmlns:p14="http://schemas.microsoft.com/office/powerpoint/2010/main" val="3430751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t>Explain how a</a:t>
            </a:r>
            <a:r>
              <a:rPr lang="en-US" dirty="0"/>
              <a:t> business world is reshaped by </a:t>
            </a:r>
            <a:r>
              <a:rPr lang="en-US" b="1" dirty="0"/>
              <a:t>digitization</a:t>
            </a:r>
          </a:p>
          <a:p>
            <a:pPr lvl="1"/>
            <a:r>
              <a:rPr lang="en-US" dirty="0"/>
              <a:t>Understand the role of the </a:t>
            </a:r>
            <a:r>
              <a:rPr lang="en-US" b="1" dirty="0"/>
              <a:t>Internet</a:t>
            </a:r>
            <a:r>
              <a:rPr lang="en-US" dirty="0"/>
              <a:t> in the business world</a:t>
            </a:r>
          </a:p>
          <a:p>
            <a:pPr lvl="1"/>
            <a:r>
              <a:rPr lang="en-US" dirty="0"/>
              <a:t>Explain the categories of digital </a:t>
            </a:r>
            <a:r>
              <a:rPr lang="en-US" b="1" dirty="0"/>
              <a:t>trends</a:t>
            </a:r>
          </a:p>
          <a:p>
            <a:pPr marL="457200" lvl="1" indent="0">
              <a:buNone/>
            </a:pPr>
            <a:endParaRPr lang="en-US" altLang="en-US" dirty="0"/>
          </a:p>
        </p:txBody>
      </p:sp>
    </p:spTree>
    <p:extLst>
      <p:ext uri="{BB962C8B-B14F-4D97-AF65-F5344CB8AC3E}">
        <p14:creationId xmlns:p14="http://schemas.microsoft.com/office/powerpoint/2010/main" val="2358772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A7B8C-51DB-44E3-B068-D38390B3E593}"/>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700DED67-8809-4620-84D8-CAF5509FB566}"/>
              </a:ext>
            </a:extLst>
          </p:cNvPr>
          <p:cNvSpPr>
            <a:spLocks noGrp="1"/>
          </p:cNvSpPr>
          <p:nvPr>
            <p:ph idx="1"/>
          </p:nvPr>
        </p:nvSpPr>
        <p:spPr/>
        <p:txBody>
          <a:bodyPr/>
          <a:lstStyle/>
          <a:p>
            <a:r>
              <a:rPr lang="en-US" dirty="0"/>
              <a:t>Digitization of Businesses</a:t>
            </a:r>
          </a:p>
          <a:p>
            <a:r>
              <a:rPr lang="en-US" dirty="0"/>
              <a:t>Digital Trends:</a:t>
            </a:r>
          </a:p>
          <a:p>
            <a:pPr lvl="1"/>
            <a:r>
              <a:rPr lang="en-US" dirty="0"/>
              <a:t>Big Data, Cloud Computing and Mobile Internet</a:t>
            </a:r>
          </a:p>
          <a:p>
            <a:pPr lvl="1"/>
            <a:r>
              <a:rPr lang="en-US" dirty="0"/>
              <a:t>Software-Defined Anything</a:t>
            </a:r>
          </a:p>
          <a:p>
            <a:pPr lvl="1"/>
            <a:r>
              <a:rPr lang="en-US" dirty="0"/>
              <a:t>Outsourcing and Crowdsourcing</a:t>
            </a:r>
          </a:p>
          <a:p>
            <a:pPr lvl="1"/>
            <a:r>
              <a:rPr lang="en-US" dirty="0"/>
              <a:t>Prosumer Economy</a:t>
            </a:r>
          </a:p>
          <a:p>
            <a:pPr lvl="1"/>
            <a:r>
              <a:rPr lang="en-US" dirty="0"/>
              <a:t>Long Tail</a:t>
            </a:r>
          </a:p>
          <a:p>
            <a:pPr lvl="1"/>
            <a:r>
              <a:rPr lang="en-US" dirty="0"/>
              <a:t>Digital Finance</a:t>
            </a:r>
          </a:p>
          <a:p>
            <a:pPr lvl="1"/>
            <a:r>
              <a:rPr lang="en-US" dirty="0"/>
              <a:t>Collaboration</a:t>
            </a:r>
          </a:p>
          <a:p>
            <a:pPr lvl="1"/>
            <a:endParaRPr lang="en-US" dirty="0"/>
          </a:p>
          <a:p>
            <a:pPr lvl="1"/>
            <a:endParaRPr lang="en-US" dirty="0"/>
          </a:p>
        </p:txBody>
      </p:sp>
    </p:spTree>
    <p:extLst>
      <p:ext uri="{BB962C8B-B14F-4D97-AF65-F5344CB8AC3E}">
        <p14:creationId xmlns:p14="http://schemas.microsoft.com/office/powerpoint/2010/main" val="1048850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DE481BA-8336-4B81-A977-71281F263108}"/>
              </a:ext>
            </a:extLst>
          </p:cNvPr>
          <p:cNvSpPr>
            <a:spLocks noGrp="1"/>
          </p:cNvSpPr>
          <p:nvPr>
            <p:ph type="title"/>
          </p:nvPr>
        </p:nvSpPr>
        <p:spPr>
          <a:xfrm>
            <a:off x="0" y="1"/>
            <a:ext cx="10311925" cy="1367327"/>
          </a:xfrm>
        </p:spPr>
        <p:txBody>
          <a:bodyPr/>
          <a:lstStyle/>
          <a:p>
            <a:r>
              <a:rPr lang="en-US" dirty="0"/>
              <a:t>Mind Map</a:t>
            </a:r>
          </a:p>
        </p:txBody>
      </p:sp>
      <p:pic>
        <p:nvPicPr>
          <p:cNvPr id="2" name="Picture 1">
            <a:extLst>
              <a:ext uri="{FF2B5EF4-FFF2-40B4-BE49-F238E27FC236}">
                <a16:creationId xmlns:a16="http://schemas.microsoft.com/office/drawing/2014/main" id="{42989A38-A5B1-4664-9447-8FB14E630491}"/>
              </a:ext>
            </a:extLst>
          </p:cNvPr>
          <p:cNvPicPr>
            <a:picLocks noChangeAspect="1"/>
          </p:cNvPicPr>
          <p:nvPr/>
        </p:nvPicPr>
        <p:blipFill>
          <a:blip r:embed="rId2"/>
          <a:stretch>
            <a:fillRect/>
          </a:stretch>
        </p:blipFill>
        <p:spPr>
          <a:xfrm>
            <a:off x="1154244" y="1093423"/>
            <a:ext cx="9473784" cy="5697121"/>
          </a:xfrm>
          <a:prstGeom prst="rect">
            <a:avLst/>
          </a:prstGeom>
        </p:spPr>
      </p:pic>
    </p:spTree>
    <p:extLst>
      <p:ext uri="{BB962C8B-B14F-4D97-AF65-F5344CB8AC3E}">
        <p14:creationId xmlns:p14="http://schemas.microsoft.com/office/powerpoint/2010/main" val="4000942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t>Explain how a</a:t>
            </a:r>
            <a:r>
              <a:rPr lang="en-US" dirty="0"/>
              <a:t> business world is reshaped by digitization</a:t>
            </a:r>
          </a:p>
          <a:p>
            <a:pPr lvl="1"/>
            <a:r>
              <a:rPr lang="en-US" dirty="0">
                <a:solidFill>
                  <a:schemeClr val="tx1">
                    <a:lumMod val="50000"/>
                    <a:lumOff val="50000"/>
                  </a:schemeClr>
                </a:solidFill>
              </a:rPr>
              <a:t>Understand the role of the Internet in the business world</a:t>
            </a:r>
          </a:p>
          <a:p>
            <a:pPr lvl="1"/>
            <a:r>
              <a:rPr lang="en-US" dirty="0">
                <a:solidFill>
                  <a:schemeClr val="tx1">
                    <a:lumMod val="50000"/>
                    <a:lumOff val="50000"/>
                  </a:schemeClr>
                </a:solidFill>
              </a:rPr>
              <a:t>Explain the categories of digital trends</a:t>
            </a:r>
          </a:p>
          <a:p>
            <a:pPr marL="457200" lvl="1" indent="0">
              <a:buNone/>
            </a:pPr>
            <a:endParaRPr lang="en-US" altLang="en-US" dirty="0"/>
          </a:p>
        </p:txBody>
      </p:sp>
    </p:spTree>
    <p:extLst>
      <p:ext uri="{BB962C8B-B14F-4D97-AF65-F5344CB8AC3E}">
        <p14:creationId xmlns:p14="http://schemas.microsoft.com/office/powerpoint/2010/main" val="1904683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263FC-BAC1-4142-A5BA-628BBB088D91}"/>
              </a:ext>
            </a:extLst>
          </p:cNvPr>
          <p:cNvSpPr>
            <a:spLocks noGrp="1"/>
          </p:cNvSpPr>
          <p:nvPr>
            <p:ph type="title"/>
          </p:nvPr>
        </p:nvSpPr>
        <p:spPr/>
        <p:txBody>
          <a:bodyPr/>
          <a:lstStyle/>
          <a:p>
            <a:r>
              <a:rPr lang="en-US" dirty="0"/>
              <a:t>A Business World Reshaped by Digitization </a:t>
            </a:r>
          </a:p>
        </p:txBody>
      </p:sp>
      <p:sp>
        <p:nvSpPr>
          <p:cNvPr id="3" name="Content Placeholder 2">
            <a:extLst>
              <a:ext uri="{FF2B5EF4-FFF2-40B4-BE49-F238E27FC236}">
                <a16:creationId xmlns:a16="http://schemas.microsoft.com/office/drawing/2014/main" id="{9EA4C2A0-657F-409F-894E-E1ABA966BDB4}"/>
              </a:ext>
            </a:extLst>
          </p:cNvPr>
          <p:cNvSpPr>
            <a:spLocks noGrp="1"/>
          </p:cNvSpPr>
          <p:nvPr>
            <p:ph idx="1"/>
          </p:nvPr>
        </p:nvSpPr>
        <p:spPr/>
        <p:txBody>
          <a:bodyPr/>
          <a:lstStyle/>
          <a:p>
            <a:r>
              <a:rPr lang="en-US" dirty="0"/>
              <a:t>As social media platforms have connected people from all over the world with each other, time and space are no longer barriers to communication</a:t>
            </a:r>
          </a:p>
          <a:p>
            <a:pPr lvl="1"/>
            <a:r>
              <a:rPr lang="en-US" dirty="0"/>
              <a:t>Telegram: 400 million users</a:t>
            </a:r>
          </a:p>
          <a:p>
            <a:pPr lvl="1"/>
            <a:r>
              <a:rPr lang="en-US" dirty="0" err="1"/>
              <a:t>Sina</a:t>
            </a:r>
            <a:r>
              <a:rPr lang="en-US" dirty="0"/>
              <a:t> Weibo: 500 million users</a:t>
            </a:r>
          </a:p>
          <a:p>
            <a:pPr lvl="1"/>
            <a:r>
              <a:rPr lang="en-US" dirty="0"/>
              <a:t>WeChat: 500 million users</a:t>
            </a:r>
          </a:p>
          <a:p>
            <a:pPr lvl="1"/>
            <a:r>
              <a:rPr lang="en-US" dirty="0"/>
              <a:t>Facebook: 1.2 billion users</a:t>
            </a:r>
          </a:p>
          <a:p>
            <a:pPr lvl="1"/>
            <a:r>
              <a:rPr lang="en-US" dirty="0"/>
              <a:t>WhatsApp: 1.6 billion users</a:t>
            </a:r>
          </a:p>
          <a:p>
            <a:pPr lvl="1"/>
            <a:endParaRPr lang="en-US" dirty="0"/>
          </a:p>
          <a:p>
            <a:pPr lvl="1"/>
            <a:endParaRPr lang="en-US" dirty="0"/>
          </a:p>
        </p:txBody>
      </p:sp>
    </p:spTree>
    <p:extLst>
      <p:ext uri="{BB962C8B-B14F-4D97-AF65-F5344CB8AC3E}">
        <p14:creationId xmlns:p14="http://schemas.microsoft.com/office/powerpoint/2010/main" val="3840413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263FC-BAC1-4142-A5BA-628BBB088D91}"/>
              </a:ext>
            </a:extLst>
          </p:cNvPr>
          <p:cNvSpPr>
            <a:spLocks noGrp="1"/>
          </p:cNvSpPr>
          <p:nvPr>
            <p:ph type="title"/>
          </p:nvPr>
        </p:nvSpPr>
        <p:spPr/>
        <p:txBody>
          <a:bodyPr/>
          <a:lstStyle/>
          <a:p>
            <a:r>
              <a:rPr lang="en-US" dirty="0"/>
              <a:t>A Business World Reshaped by Digitization </a:t>
            </a:r>
          </a:p>
        </p:txBody>
      </p:sp>
      <p:sp>
        <p:nvSpPr>
          <p:cNvPr id="3" name="Content Placeholder 2">
            <a:extLst>
              <a:ext uri="{FF2B5EF4-FFF2-40B4-BE49-F238E27FC236}">
                <a16:creationId xmlns:a16="http://schemas.microsoft.com/office/drawing/2014/main" id="{9EA4C2A0-657F-409F-894E-E1ABA966BDB4}"/>
              </a:ext>
            </a:extLst>
          </p:cNvPr>
          <p:cNvSpPr>
            <a:spLocks noGrp="1"/>
          </p:cNvSpPr>
          <p:nvPr>
            <p:ph idx="1"/>
          </p:nvPr>
        </p:nvSpPr>
        <p:spPr>
          <a:xfrm>
            <a:off x="393192" y="1367329"/>
            <a:ext cx="8995905" cy="2290272"/>
          </a:xfrm>
        </p:spPr>
        <p:txBody>
          <a:bodyPr/>
          <a:lstStyle/>
          <a:p>
            <a:pPr lvl="1"/>
            <a:r>
              <a:rPr lang="en-US" sz="2400" dirty="0"/>
              <a:t>Telegram: 900 (400) million users (Mar24)</a:t>
            </a:r>
          </a:p>
          <a:p>
            <a:pPr lvl="1"/>
            <a:r>
              <a:rPr lang="en-US" sz="2400" dirty="0"/>
              <a:t>Sina Weibo: 593 (500) million users (Sep24)</a:t>
            </a:r>
          </a:p>
          <a:p>
            <a:pPr lvl="1"/>
            <a:r>
              <a:rPr lang="en-US" sz="2400" dirty="0"/>
              <a:t>WeChat: 1.3 (500) billion users (end 2023)</a:t>
            </a:r>
          </a:p>
          <a:p>
            <a:pPr lvl="1"/>
            <a:r>
              <a:rPr lang="en-US" sz="2400" dirty="0"/>
              <a:t>Facebook: over 3 (1.2) billion monthly active users (Nov24)</a:t>
            </a:r>
          </a:p>
          <a:p>
            <a:pPr lvl="1"/>
            <a:r>
              <a:rPr lang="en-US" sz="2400" dirty="0"/>
              <a:t>WhatsApp: 3 (1.6) billion users (Jun24)</a:t>
            </a:r>
          </a:p>
          <a:p>
            <a:pPr lvl="1"/>
            <a:endParaRPr lang="en-US" sz="2400" dirty="0"/>
          </a:p>
          <a:p>
            <a:pPr lvl="1"/>
            <a:endParaRPr lang="en-US" sz="2400" dirty="0"/>
          </a:p>
        </p:txBody>
      </p:sp>
      <p:sp>
        <p:nvSpPr>
          <p:cNvPr id="5" name="TextBox 4">
            <a:extLst>
              <a:ext uri="{FF2B5EF4-FFF2-40B4-BE49-F238E27FC236}">
                <a16:creationId xmlns:a16="http://schemas.microsoft.com/office/drawing/2014/main" id="{FEF1647E-0266-B376-A965-F4ACE48D4137}"/>
              </a:ext>
            </a:extLst>
          </p:cNvPr>
          <p:cNvSpPr txBox="1"/>
          <p:nvPr/>
        </p:nvSpPr>
        <p:spPr>
          <a:xfrm>
            <a:off x="7132320" y="3657601"/>
            <a:ext cx="4666488" cy="2246769"/>
          </a:xfrm>
          <a:prstGeom prst="rect">
            <a:avLst/>
          </a:prstGeom>
          <a:noFill/>
        </p:spPr>
        <p:txBody>
          <a:bodyPr wrap="square">
            <a:spAutoFit/>
          </a:bodyPr>
          <a:lstStyle/>
          <a:p>
            <a:r>
              <a:rPr lang="en-US" sz="2000" b="0" i="0" dirty="0">
                <a:solidFill>
                  <a:srgbClr val="455F7C"/>
                </a:solidFill>
                <a:effectLst/>
                <a:latin typeface="Open Sans" panose="020B0606030504020204" pitchFamily="34" charset="0"/>
              </a:rPr>
              <a:t>As of October 2024, there were 5.52 billion internet users worldwide, which amounted to 67.5 percent of the global population. Of this total, 5.22 billion, or 63.8 percent of the world's population, were social media users. </a:t>
            </a:r>
            <a:endParaRPr lang="en-MY" sz="2000" dirty="0"/>
          </a:p>
        </p:txBody>
      </p:sp>
    </p:spTree>
    <p:extLst>
      <p:ext uri="{BB962C8B-B14F-4D97-AF65-F5344CB8AC3E}">
        <p14:creationId xmlns:p14="http://schemas.microsoft.com/office/powerpoint/2010/main" val="447647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D80E0-9B9E-4FAA-ADD9-E2659191D860}"/>
              </a:ext>
            </a:extLst>
          </p:cNvPr>
          <p:cNvSpPr>
            <a:spLocks noGrp="1"/>
          </p:cNvSpPr>
          <p:nvPr>
            <p:ph type="title"/>
          </p:nvPr>
        </p:nvSpPr>
        <p:spPr/>
        <p:txBody>
          <a:bodyPr/>
          <a:lstStyle/>
          <a:p>
            <a:r>
              <a:rPr lang="en-US" dirty="0"/>
              <a:t>A Business World Reshaped by Digitization</a:t>
            </a:r>
          </a:p>
        </p:txBody>
      </p:sp>
      <p:sp>
        <p:nvSpPr>
          <p:cNvPr id="3" name="Content Placeholder 2">
            <a:extLst>
              <a:ext uri="{FF2B5EF4-FFF2-40B4-BE49-F238E27FC236}">
                <a16:creationId xmlns:a16="http://schemas.microsoft.com/office/drawing/2014/main" id="{FE797122-C268-4EFC-A3A5-8BD01CFD7957}"/>
              </a:ext>
            </a:extLst>
          </p:cNvPr>
          <p:cNvSpPr>
            <a:spLocks noGrp="1"/>
          </p:cNvSpPr>
          <p:nvPr>
            <p:ph idx="1"/>
          </p:nvPr>
        </p:nvSpPr>
        <p:spPr>
          <a:xfrm>
            <a:off x="609600" y="1463358"/>
            <a:ext cx="11074400" cy="4525962"/>
          </a:xfrm>
        </p:spPr>
        <p:txBody>
          <a:bodyPr/>
          <a:lstStyle/>
          <a:p>
            <a:r>
              <a:rPr lang="en-US" dirty="0"/>
              <a:t>With the rapid evolution of digital technologies, the flood of information sweeps all over the world at virtually no cost</a:t>
            </a:r>
          </a:p>
          <a:p>
            <a:r>
              <a:rPr lang="en-US" dirty="0"/>
              <a:t>Promotes closer links:</a:t>
            </a:r>
          </a:p>
          <a:p>
            <a:pPr lvl="1"/>
            <a:r>
              <a:rPr lang="en-US" dirty="0"/>
              <a:t>between humans</a:t>
            </a:r>
          </a:p>
          <a:p>
            <a:pPr lvl="1"/>
            <a:r>
              <a:rPr lang="en-US" dirty="0"/>
              <a:t>between things </a:t>
            </a:r>
          </a:p>
          <a:p>
            <a:pPr lvl="1"/>
            <a:r>
              <a:rPr lang="en-US" dirty="0"/>
              <a:t>between humans and things</a:t>
            </a:r>
          </a:p>
          <a:p>
            <a:r>
              <a:rPr lang="en-US" dirty="0"/>
              <a:t>Individuals, companies, industries and countries will be affected when the revolution on the horizon arrives.</a:t>
            </a:r>
          </a:p>
        </p:txBody>
      </p:sp>
    </p:spTree>
    <p:extLst>
      <p:ext uri="{BB962C8B-B14F-4D97-AF65-F5344CB8AC3E}">
        <p14:creationId xmlns:p14="http://schemas.microsoft.com/office/powerpoint/2010/main" val="703551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6CE19-109A-4AE8-B0E9-6631F0D59C66}"/>
              </a:ext>
            </a:extLst>
          </p:cNvPr>
          <p:cNvSpPr>
            <a:spLocks noGrp="1"/>
          </p:cNvSpPr>
          <p:nvPr>
            <p:ph type="title"/>
          </p:nvPr>
        </p:nvSpPr>
        <p:spPr/>
        <p:txBody>
          <a:bodyPr/>
          <a:lstStyle/>
          <a:p>
            <a:r>
              <a:rPr lang="en-US" dirty="0"/>
              <a:t>Kodak: Missing Its Own Moments</a:t>
            </a:r>
          </a:p>
        </p:txBody>
      </p:sp>
      <p:sp>
        <p:nvSpPr>
          <p:cNvPr id="3" name="Content Placeholder 2">
            <a:extLst>
              <a:ext uri="{FF2B5EF4-FFF2-40B4-BE49-F238E27FC236}">
                <a16:creationId xmlns:a16="http://schemas.microsoft.com/office/drawing/2014/main" id="{1C38080E-FBE0-49C6-9450-865FEDD415DF}"/>
              </a:ext>
            </a:extLst>
          </p:cNvPr>
          <p:cNvSpPr>
            <a:spLocks noGrp="1"/>
          </p:cNvSpPr>
          <p:nvPr>
            <p:ph idx="1"/>
          </p:nvPr>
        </p:nvSpPr>
        <p:spPr>
          <a:xfrm>
            <a:off x="559559" y="1567353"/>
            <a:ext cx="11063058" cy="4655647"/>
          </a:xfrm>
        </p:spPr>
        <p:txBody>
          <a:bodyPr/>
          <a:lstStyle/>
          <a:p>
            <a:r>
              <a:rPr lang="en-US" dirty="0"/>
              <a:t>Kodak (more than 130 years old giant) was the undisputed king of photographic film, with two thirds of global market share. Kodak created many “firsts”: </a:t>
            </a:r>
          </a:p>
          <a:p>
            <a:pPr lvl="1"/>
            <a:r>
              <a:rPr lang="en-US" dirty="0"/>
              <a:t>It came out on top in the imaging and photographic film market</a:t>
            </a:r>
          </a:p>
          <a:p>
            <a:pPr lvl="1"/>
            <a:r>
              <a:rPr lang="en-US" dirty="0"/>
              <a:t>It created the world’s first digital camera using a Charge Coupled Device (CCD), a major piece of technology for digital imaging</a:t>
            </a:r>
          </a:p>
          <a:p>
            <a:pPr lvl="1"/>
            <a:r>
              <a:rPr lang="en-US" dirty="0"/>
              <a:t>The first company to flame out in the imaging industry</a:t>
            </a:r>
          </a:p>
          <a:p>
            <a:r>
              <a:rPr lang="en-US" dirty="0"/>
              <a:t>It failed to capture its own moments:</a:t>
            </a:r>
          </a:p>
          <a:p>
            <a:pPr lvl="1"/>
            <a:r>
              <a:rPr lang="en-US" dirty="0"/>
              <a:t>To keep abreast of digital technologies</a:t>
            </a:r>
            <a:endParaRPr lang="en-US" i="1" dirty="0"/>
          </a:p>
        </p:txBody>
      </p:sp>
      <p:pic>
        <p:nvPicPr>
          <p:cNvPr id="5" name="Picture 4">
            <a:extLst>
              <a:ext uri="{FF2B5EF4-FFF2-40B4-BE49-F238E27FC236}">
                <a16:creationId xmlns:a16="http://schemas.microsoft.com/office/drawing/2014/main" id="{3290BC5D-0F4F-4FF3-9D5D-CA2A7B065352}"/>
              </a:ext>
            </a:extLst>
          </p:cNvPr>
          <p:cNvPicPr>
            <a:picLocks noChangeAspect="1"/>
          </p:cNvPicPr>
          <p:nvPr/>
        </p:nvPicPr>
        <p:blipFill rotWithShape="1">
          <a:blip r:embed="rId2"/>
          <a:srcRect t="15654" b="17144"/>
          <a:stretch/>
        </p:blipFill>
        <p:spPr>
          <a:xfrm>
            <a:off x="10058811" y="5142865"/>
            <a:ext cx="1905000" cy="1280160"/>
          </a:xfrm>
          <a:prstGeom prst="rect">
            <a:avLst/>
          </a:prstGeom>
        </p:spPr>
      </p:pic>
    </p:spTree>
    <p:extLst>
      <p:ext uri="{BB962C8B-B14F-4D97-AF65-F5344CB8AC3E}">
        <p14:creationId xmlns:p14="http://schemas.microsoft.com/office/powerpoint/2010/main" val="962241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A4F8E-81F4-472E-886D-B015B963530F}"/>
              </a:ext>
            </a:extLst>
          </p:cNvPr>
          <p:cNvSpPr>
            <a:spLocks noGrp="1"/>
          </p:cNvSpPr>
          <p:nvPr>
            <p:ph type="title"/>
          </p:nvPr>
        </p:nvSpPr>
        <p:spPr/>
        <p:txBody>
          <a:bodyPr/>
          <a:lstStyle/>
          <a:p>
            <a:r>
              <a:rPr lang="en-US" dirty="0"/>
              <a:t>Kodak: Missing Its Own Moments</a:t>
            </a:r>
          </a:p>
        </p:txBody>
      </p:sp>
      <p:sp>
        <p:nvSpPr>
          <p:cNvPr id="3" name="Content Placeholder 2">
            <a:extLst>
              <a:ext uri="{FF2B5EF4-FFF2-40B4-BE49-F238E27FC236}">
                <a16:creationId xmlns:a16="http://schemas.microsoft.com/office/drawing/2014/main" id="{3BC08FAB-B804-4875-BE82-9D37C8AE18CB}"/>
              </a:ext>
            </a:extLst>
          </p:cNvPr>
          <p:cNvSpPr>
            <a:spLocks noGrp="1"/>
          </p:cNvSpPr>
          <p:nvPr>
            <p:ph idx="1"/>
          </p:nvPr>
        </p:nvSpPr>
        <p:spPr/>
        <p:txBody>
          <a:bodyPr/>
          <a:lstStyle/>
          <a:p>
            <a:r>
              <a:rPr lang="en-US" dirty="0"/>
              <a:t>How do you take pictures today? Where do you store the photos?</a:t>
            </a:r>
          </a:p>
          <a:p>
            <a:endParaRPr lang="en-US" dirty="0"/>
          </a:p>
          <a:p>
            <a:r>
              <a:rPr lang="en-US" dirty="0"/>
              <a:t>Why do you think Kodak didn’t make it through?</a:t>
            </a:r>
          </a:p>
        </p:txBody>
      </p:sp>
    </p:spTree>
    <p:extLst>
      <p:ext uri="{BB962C8B-B14F-4D97-AF65-F5344CB8AC3E}">
        <p14:creationId xmlns:p14="http://schemas.microsoft.com/office/powerpoint/2010/main" val="2939036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solidFill>
                  <a:schemeClr val="tx1">
                    <a:lumMod val="50000"/>
                    <a:lumOff val="50000"/>
                  </a:schemeClr>
                </a:solidFill>
              </a:rPr>
              <a:t>Explain how a</a:t>
            </a:r>
            <a:r>
              <a:rPr lang="en-US" dirty="0">
                <a:solidFill>
                  <a:schemeClr val="tx1">
                    <a:lumMod val="50000"/>
                    <a:lumOff val="50000"/>
                  </a:schemeClr>
                </a:solidFill>
              </a:rPr>
              <a:t> business world is reshaped by digitization</a:t>
            </a:r>
          </a:p>
          <a:p>
            <a:pPr lvl="1"/>
            <a:r>
              <a:rPr lang="en-US" dirty="0"/>
              <a:t>Understand the role of the Internet in the business world</a:t>
            </a:r>
          </a:p>
          <a:p>
            <a:pPr lvl="1"/>
            <a:r>
              <a:rPr lang="en-US" dirty="0">
                <a:solidFill>
                  <a:schemeClr val="tx1">
                    <a:lumMod val="50000"/>
                    <a:lumOff val="50000"/>
                  </a:schemeClr>
                </a:solidFill>
              </a:rPr>
              <a:t>Explain the categories of digital trends</a:t>
            </a:r>
          </a:p>
          <a:p>
            <a:pPr marL="457200" lvl="1" indent="0">
              <a:buNone/>
            </a:pPr>
            <a:endParaRPr lang="en-US" altLang="en-US" dirty="0"/>
          </a:p>
        </p:txBody>
      </p:sp>
    </p:spTree>
    <p:extLst>
      <p:ext uri="{BB962C8B-B14F-4D97-AF65-F5344CB8AC3E}">
        <p14:creationId xmlns:p14="http://schemas.microsoft.com/office/powerpoint/2010/main" val="978064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57F41-4D7D-4C95-8B70-5E94B2B27BD3}"/>
              </a:ext>
            </a:extLst>
          </p:cNvPr>
          <p:cNvSpPr>
            <a:spLocks noGrp="1"/>
          </p:cNvSpPr>
          <p:nvPr>
            <p:ph type="title"/>
          </p:nvPr>
        </p:nvSpPr>
        <p:spPr/>
        <p:txBody>
          <a:bodyPr/>
          <a:lstStyle/>
          <a:p>
            <a:r>
              <a:rPr lang="en-US" dirty="0"/>
              <a:t>The Ever-Changing Digital Business World</a:t>
            </a:r>
          </a:p>
        </p:txBody>
      </p:sp>
      <p:sp>
        <p:nvSpPr>
          <p:cNvPr id="3" name="Content Placeholder 2">
            <a:extLst>
              <a:ext uri="{FF2B5EF4-FFF2-40B4-BE49-F238E27FC236}">
                <a16:creationId xmlns:a16="http://schemas.microsoft.com/office/drawing/2014/main" id="{ACD24D00-95AE-47FA-A36B-1DC4ABB44201}"/>
              </a:ext>
            </a:extLst>
          </p:cNvPr>
          <p:cNvSpPr>
            <a:spLocks noGrp="1"/>
          </p:cNvSpPr>
          <p:nvPr>
            <p:ph idx="1"/>
          </p:nvPr>
        </p:nvSpPr>
        <p:spPr/>
        <p:txBody>
          <a:bodyPr/>
          <a:lstStyle/>
          <a:p>
            <a:r>
              <a:rPr lang="en-US" dirty="0"/>
              <a:t>The leaders in the digital age can easily fall behind</a:t>
            </a:r>
          </a:p>
          <a:p>
            <a:pPr lvl="1"/>
            <a:r>
              <a:rPr lang="en-US" dirty="0"/>
              <a:t>Top 4 Tech giants Microsoft, Intel, HP, and Yahoo have been dethroned by Apple, Google, Amazon, and Facebook</a:t>
            </a:r>
          </a:p>
          <a:p>
            <a:r>
              <a:rPr lang="en-US" dirty="0"/>
              <a:t>Many companies have fallen because of a resistance to reform; or have undergone disruptive changes</a:t>
            </a:r>
          </a:p>
          <a:p>
            <a:pPr lvl="1"/>
            <a:r>
              <a:rPr lang="en-US" dirty="0"/>
              <a:t>Nokia and Blackberry ended up selling their assets</a:t>
            </a:r>
          </a:p>
          <a:p>
            <a:r>
              <a:rPr lang="en-US" dirty="0"/>
              <a:t>Market Players are inspired by the Internet</a:t>
            </a:r>
          </a:p>
        </p:txBody>
      </p:sp>
    </p:spTree>
    <p:extLst>
      <p:ext uri="{BB962C8B-B14F-4D97-AF65-F5344CB8AC3E}">
        <p14:creationId xmlns:p14="http://schemas.microsoft.com/office/powerpoint/2010/main" val="1006782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375C6-2C7A-44AB-8EA9-423757460A56}"/>
              </a:ext>
            </a:extLst>
          </p:cNvPr>
          <p:cNvSpPr>
            <a:spLocks noGrp="1"/>
          </p:cNvSpPr>
          <p:nvPr>
            <p:ph type="title"/>
          </p:nvPr>
        </p:nvSpPr>
        <p:spPr/>
        <p:txBody>
          <a:bodyPr/>
          <a:lstStyle/>
          <a:p>
            <a:r>
              <a:rPr lang="en-US" dirty="0"/>
              <a:t>Case Study</a:t>
            </a:r>
          </a:p>
        </p:txBody>
      </p:sp>
      <p:sp>
        <p:nvSpPr>
          <p:cNvPr id="3" name="Content Placeholder 2">
            <a:extLst>
              <a:ext uri="{FF2B5EF4-FFF2-40B4-BE49-F238E27FC236}">
                <a16:creationId xmlns:a16="http://schemas.microsoft.com/office/drawing/2014/main" id="{97A48897-4A36-4BB9-ABFF-71BEE4D430A7}"/>
              </a:ext>
            </a:extLst>
          </p:cNvPr>
          <p:cNvSpPr>
            <a:spLocks noGrp="1"/>
          </p:cNvSpPr>
          <p:nvPr>
            <p:ph idx="1"/>
          </p:nvPr>
        </p:nvSpPr>
        <p:spPr/>
        <p:txBody>
          <a:bodyPr/>
          <a:lstStyle/>
          <a:p>
            <a:r>
              <a:rPr lang="en-US" dirty="0"/>
              <a:t>How has education evolved due to the use of the Internet? </a:t>
            </a:r>
          </a:p>
        </p:txBody>
      </p:sp>
    </p:spTree>
    <p:extLst>
      <p:ext uri="{BB962C8B-B14F-4D97-AF65-F5344CB8AC3E}">
        <p14:creationId xmlns:p14="http://schemas.microsoft.com/office/powerpoint/2010/main" val="4109491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solidFill>
                  <a:schemeClr val="tx1">
                    <a:lumMod val="50000"/>
                    <a:lumOff val="50000"/>
                  </a:schemeClr>
                </a:solidFill>
              </a:rPr>
              <a:t>Explain how a</a:t>
            </a:r>
            <a:r>
              <a:rPr lang="en-US" dirty="0">
                <a:solidFill>
                  <a:schemeClr val="tx1">
                    <a:lumMod val="50000"/>
                    <a:lumOff val="50000"/>
                  </a:schemeClr>
                </a:solidFill>
              </a:rPr>
              <a:t> business world is reshaped by digitization</a:t>
            </a:r>
          </a:p>
          <a:p>
            <a:pPr lvl="1"/>
            <a:r>
              <a:rPr lang="en-US" dirty="0">
                <a:solidFill>
                  <a:schemeClr val="tx1">
                    <a:lumMod val="50000"/>
                    <a:lumOff val="50000"/>
                  </a:schemeClr>
                </a:solidFill>
              </a:rPr>
              <a:t>Understand the role of the Internet in the business world</a:t>
            </a:r>
          </a:p>
          <a:p>
            <a:pPr lvl="1"/>
            <a:r>
              <a:rPr lang="en-US" dirty="0"/>
              <a:t>Explain the categories of digital trends</a:t>
            </a:r>
          </a:p>
          <a:p>
            <a:pPr marL="457200" lvl="1" indent="0">
              <a:buNone/>
            </a:pPr>
            <a:endParaRPr lang="en-US" altLang="en-US" dirty="0"/>
          </a:p>
        </p:txBody>
      </p:sp>
    </p:spTree>
    <p:extLst>
      <p:ext uri="{BB962C8B-B14F-4D97-AF65-F5344CB8AC3E}">
        <p14:creationId xmlns:p14="http://schemas.microsoft.com/office/powerpoint/2010/main" val="521446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539B5-D063-4731-91F3-170D37B5285A}"/>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0130048-9C4D-4E71-A936-E3C6A3B9BEFE}"/>
              </a:ext>
            </a:extLst>
          </p:cNvPr>
          <p:cNvGraphicFramePr>
            <a:graphicFrameLocks noGrp="1"/>
          </p:cNvGraphicFramePr>
          <p:nvPr>
            <p:ph idx="1"/>
            <p:extLst>
              <p:ext uri="{D42A27DB-BD31-4B8C-83A1-F6EECF244321}">
                <p14:modId xmlns:p14="http://schemas.microsoft.com/office/powerpoint/2010/main" val="2846570580"/>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7450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DC5B2-2B12-4B9C-A3E5-6BA1EE7DCD8E}"/>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CEF11D4-6F73-4AFE-9085-CAC8A233241A}"/>
              </a:ext>
            </a:extLst>
          </p:cNvPr>
          <p:cNvGraphicFramePr>
            <a:graphicFrameLocks noGrp="1"/>
          </p:cNvGraphicFramePr>
          <p:nvPr>
            <p:ph idx="1"/>
            <p:extLst>
              <p:ext uri="{D42A27DB-BD31-4B8C-83A1-F6EECF244321}">
                <p14:modId xmlns:p14="http://schemas.microsoft.com/office/powerpoint/2010/main" val="2033073390"/>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9000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3D047-F806-4D5F-89FA-E41CCAC55A94}"/>
              </a:ext>
            </a:extLst>
          </p:cNvPr>
          <p:cNvSpPr>
            <a:spLocks noGrp="1"/>
          </p:cNvSpPr>
          <p:nvPr>
            <p:ph type="title"/>
          </p:nvPr>
        </p:nvSpPr>
        <p:spPr/>
        <p:txBody>
          <a:bodyPr/>
          <a:lstStyle/>
          <a:p>
            <a:r>
              <a:rPr lang="en-US" dirty="0"/>
              <a:t>Group Discussion</a:t>
            </a:r>
          </a:p>
        </p:txBody>
      </p:sp>
      <p:sp>
        <p:nvSpPr>
          <p:cNvPr id="3" name="Content Placeholder 2">
            <a:extLst>
              <a:ext uri="{FF2B5EF4-FFF2-40B4-BE49-F238E27FC236}">
                <a16:creationId xmlns:a16="http://schemas.microsoft.com/office/drawing/2014/main" id="{3E9E2044-43E3-4947-BD82-12007E300B27}"/>
              </a:ext>
            </a:extLst>
          </p:cNvPr>
          <p:cNvSpPr>
            <a:spLocks noGrp="1"/>
          </p:cNvSpPr>
          <p:nvPr>
            <p:ph idx="1"/>
          </p:nvPr>
        </p:nvSpPr>
        <p:spPr/>
        <p:txBody>
          <a:bodyPr/>
          <a:lstStyle/>
          <a:p>
            <a:r>
              <a:rPr lang="en-US" dirty="0"/>
              <a:t>Watch and discuss the content of the video:</a:t>
            </a:r>
          </a:p>
          <a:p>
            <a:pPr lvl="1"/>
            <a:r>
              <a:rPr lang="en-US" dirty="0">
                <a:hlinkClick r:id="rId3"/>
              </a:rPr>
              <a:t>https://www.youtube.com/watch?v=5sKb8IM7veA</a:t>
            </a:r>
            <a:endParaRPr lang="en-US" dirty="0"/>
          </a:p>
        </p:txBody>
      </p:sp>
      <p:pic>
        <p:nvPicPr>
          <p:cNvPr id="5" name="Picture 4">
            <a:hlinkClick r:id="rId3"/>
            <a:extLst>
              <a:ext uri="{FF2B5EF4-FFF2-40B4-BE49-F238E27FC236}">
                <a16:creationId xmlns:a16="http://schemas.microsoft.com/office/drawing/2014/main" id="{6B3ACF31-4EFD-4930-B3C3-EC8EE0A76587}"/>
              </a:ext>
            </a:extLst>
          </p:cNvPr>
          <p:cNvPicPr>
            <a:picLocks noChangeAspect="1"/>
          </p:cNvPicPr>
          <p:nvPr/>
        </p:nvPicPr>
        <p:blipFill>
          <a:blip r:embed="rId4"/>
          <a:stretch>
            <a:fillRect/>
          </a:stretch>
        </p:blipFill>
        <p:spPr>
          <a:xfrm>
            <a:off x="3812937" y="3542848"/>
            <a:ext cx="2686050" cy="1695450"/>
          </a:xfrm>
          <a:prstGeom prst="rect">
            <a:avLst/>
          </a:prstGeom>
        </p:spPr>
      </p:pic>
      <p:pic>
        <p:nvPicPr>
          <p:cNvPr id="4" name="Online Media 3" title="What is contact tracing? Can it help reopen America after coronavirus?">
            <a:hlinkClick r:id="" action="ppaction://media"/>
            <a:extLst>
              <a:ext uri="{FF2B5EF4-FFF2-40B4-BE49-F238E27FC236}">
                <a16:creationId xmlns:a16="http://schemas.microsoft.com/office/drawing/2014/main" id="{038F5D2D-8B2F-44C6-969C-FDCC65F54E54}"/>
              </a:ext>
            </a:extLst>
          </p:cNvPr>
          <p:cNvPicPr>
            <a:picLocks noRot="1" noChangeAspect="1"/>
          </p:cNvPicPr>
          <p:nvPr>
            <a:videoFile r:link="rId1"/>
          </p:nvPr>
        </p:nvPicPr>
        <p:blipFill>
          <a:blip r:embed="rId5"/>
          <a:stretch>
            <a:fillRect/>
          </a:stretch>
        </p:blipFill>
        <p:spPr>
          <a:xfrm>
            <a:off x="0" y="0"/>
            <a:ext cx="12192000" cy="6857999"/>
          </a:xfrm>
          <a:prstGeom prst="rect">
            <a:avLst/>
          </a:prstGeom>
        </p:spPr>
      </p:pic>
    </p:spTree>
    <p:extLst>
      <p:ext uri="{BB962C8B-B14F-4D97-AF65-F5344CB8AC3E}">
        <p14:creationId xmlns:p14="http://schemas.microsoft.com/office/powerpoint/2010/main" val="3031410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539B5-D063-4731-91F3-170D37B5285A}"/>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0130048-9C4D-4E71-A936-E3C6A3B9BEFE}"/>
              </a:ext>
            </a:extLst>
          </p:cNvPr>
          <p:cNvGraphicFramePr>
            <a:graphicFrameLocks noGrp="1"/>
          </p:cNvGraphicFramePr>
          <p:nvPr>
            <p:ph idx="1"/>
            <p:extLst>
              <p:ext uri="{D42A27DB-BD31-4B8C-83A1-F6EECF244321}">
                <p14:modId xmlns:p14="http://schemas.microsoft.com/office/powerpoint/2010/main" val="3857541350"/>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04705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9E090-C957-4DB2-B108-9A4FCAB6E24A}"/>
              </a:ext>
            </a:extLst>
          </p:cNvPr>
          <p:cNvSpPr>
            <a:spLocks noGrp="1"/>
          </p:cNvSpPr>
          <p:nvPr>
            <p:ph type="title"/>
          </p:nvPr>
        </p:nvSpPr>
        <p:spPr/>
        <p:txBody>
          <a:bodyPr/>
          <a:lstStyle/>
          <a:p>
            <a:r>
              <a:rPr lang="en-US" dirty="0"/>
              <a:t>Big Data</a:t>
            </a:r>
          </a:p>
        </p:txBody>
      </p:sp>
      <p:sp>
        <p:nvSpPr>
          <p:cNvPr id="3" name="Content Placeholder 2">
            <a:extLst>
              <a:ext uri="{FF2B5EF4-FFF2-40B4-BE49-F238E27FC236}">
                <a16:creationId xmlns:a16="http://schemas.microsoft.com/office/drawing/2014/main" id="{05199B39-6691-4550-B066-D886ADD7CD13}"/>
              </a:ext>
            </a:extLst>
          </p:cNvPr>
          <p:cNvSpPr>
            <a:spLocks noGrp="1"/>
          </p:cNvSpPr>
          <p:nvPr>
            <p:ph idx="1"/>
          </p:nvPr>
        </p:nvSpPr>
        <p:spPr/>
        <p:txBody>
          <a:bodyPr/>
          <a:lstStyle/>
          <a:p>
            <a:r>
              <a:rPr lang="en-US" b="1" dirty="0"/>
              <a:t>Big data</a:t>
            </a:r>
            <a:r>
              <a:rPr lang="en-US" dirty="0"/>
              <a:t> emphasizes not the amount of data but rather using </a:t>
            </a:r>
            <a:r>
              <a:rPr lang="en-US" b="1" dirty="0"/>
              <a:t>new thinking to interpret the data</a:t>
            </a:r>
            <a:r>
              <a:rPr lang="en-US" dirty="0"/>
              <a:t>, with the help of the Internet</a:t>
            </a:r>
          </a:p>
          <a:p>
            <a:pPr lvl="1"/>
            <a:r>
              <a:rPr lang="en-US" dirty="0"/>
              <a:t>Spotify, an on-demand music providing platform, uses Big Data Analytics, collects data from all its users around the globe, and then uses the analyzed data to give informed music recommendations and suggestions to every individual user.</a:t>
            </a:r>
          </a:p>
          <a:p>
            <a:pPr lvl="1"/>
            <a:r>
              <a:rPr lang="en-US" dirty="0"/>
              <a:t>Amazon Prime that offers, videos, music, and Kindle books in a one-stop shop is also big on using big data.</a:t>
            </a:r>
          </a:p>
          <a:p>
            <a:endParaRPr lang="en-US" dirty="0"/>
          </a:p>
        </p:txBody>
      </p:sp>
    </p:spTree>
    <p:extLst>
      <p:ext uri="{BB962C8B-B14F-4D97-AF65-F5344CB8AC3E}">
        <p14:creationId xmlns:p14="http://schemas.microsoft.com/office/powerpoint/2010/main" val="5843496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5F826-CAB6-4BBD-81F3-F91A7DE24756}"/>
              </a:ext>
            </a:extLst>
          </p:cNvPr>
          <p:cNvSpPr>
            <a:spLocks noGrp="1"/>
          </p:cNvSpPr>
          <p:nvPr>
            <p:ph type="title"/>
          </p:nvPr>
        </p:nvSpPr>
        <p:spPr>
          <a:xfrm>
            <a:off x="0" y="1"/>
            <a:ext cx="10311925" cy="1367327"/>
          </a:xfrm>
        </p:spPr>
        <p:txBody>
          <a:bodyPr wrap="square" anchor="ctr">
            <a:normAutofit/>
          </a:bodyPr>
          <a:lstStyle/>
          <a:p>
            <a:r>
              <a:rPr lang="en-US" dirty="0"/>
              <a:t>Cloud Computing</a:t>
            </a:r>
          </a:p>
        </p:txBody>
      </p:sp>
      <p:pic>
        <p:nvPicPr>
          <p:cNvPr id="5" name="Picture 2" descr="An illustration shows many devices connected to the internet cloud. The devices connected are as follows: a printer; a smart TV; a tablet; a smart phone; a laptop; a desktop computer; a modem; and a server. The devices are connected to the internet cloud with a lightening symbol. The internet cloud contains texts as follows: videos; contacts; games; music; email; websites; schedules; documents; apps; programs; backups; storage; and servers.&#10;">
            <a:extLst>
              <a:ext uri="{FF2B5EF4-FFF2-40B4-BE49-F238E27FC236}">
                <a16:creationId xmlns:a16="http://schemas.microsoft.com/office/drawing/2014/main" id="{56CC0F17-7200-47ED-9295-AA97605B996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6910" y="1732208"/>
            <a:ext cx="5172528" cy="4525962"/>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2">
            <a:extLst>
              <a:ext uri="{FF2B5EF4-FFF2-40B4-BE49-F238E27FC236}">
                <a16:creationId xmlns:a16="http://schemas.microsoft.com/office/drawing/2014/main" id="{EC9F4EC4-CD21-4044-87DA-FF86F350CF4A}"/>
              </a:ext>
            </a:extLst>
          </p:cNvPr>
          <p:cNvSpPr txBox="1">
            <a:spLocks/>
          </p:cNvSpPr>
          <p:nvPr/>
        </p:nvSpPr>
        <p:spPr>
          <a:xfrm>
            <a:off x="6237817" y="1697038"/>
            <a:ext cx="5384800" cy="4525962"/>
          </a:xfrm>
          <a:prstGeom prst="rect">
            <a:avLst/>
          </a:prstGeom>
        </p:spPr>
        <p:txBody>
          <a:bodyPr wrap="square" anchor="t">
            <a:normAutofit fontScale="92500" lnSpcReduction="10000"/>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nSpc>
                <a:spcPct val="90000"/>
              </a:lnSpc>
            </a:pPr>
            <a:r>
              <a:rPr lang="en-US" b="1" kern="0" dirty="0"/>
              <a:t>Cloud computing - </a:t>
            </a:r>
            <a:r>
              <a:rPr lang="en-US" kern="0" dirty="0"/>
              <a:t>an environment that provides resources and services accessed via the Internet</a:t>
            </a:r>
          </a:p>
          <a:p>
            <a:pPr>
              <a:lnSpc>
                <a:spcPct val="90000"/>
              </a:lnSpc>
              <a:defRPr/>
            </a:pPr>
            <a:r>
              <a:rPr lang="en-SG" kern="0" dirty="0"/>
              <a:t>Computing over the Internet</a:t>
            </a:r>
          </a:p>
          <a:p>
            <a:pPr marL="274320" indent="-274320" fontAlgn="auto">
              <a:lnSpc>
                <a:spcPct val="90000"/>
              </a:lnSpc>
              <a:spcAft>
                <a:spcPts val="0"/>
              </a:spcAft>
              <a:defRPr/>
            </a:pPr>
            <a:r>
              <a:rPr lang="en-US" b="1" kern="0" dirty="0"/>
              <a:t> Virtualized </a:t>
            </a:r>
            <a:r>
              <a:rPr lang="en-US" kern="0" dirty="0"/>
              <a:t>Computing Platform</a:t>
            </a:r>
            <a:endParaRPr lang="en-US" b="1" kern="0" dirty="0"/>
          </a:p>
          <a:p>
            <a:pPr marL="274320" indent="-274320" fontAlgn="auto">
              <a:lnSpc>
                <a:spcPct val="90000"/>
              </a:lnSpc>
              <a:spcAft>
                <a:spcPts val="0"/>
              </a:spcAft>
              <a:defRPr/>
            </a:pPr>
            <a:r>
              <a:rPr lang="en-US" b="1" kern="0" dirty="0"/>
              <a:t> Scalable</a:t>
            </a:r>
            <a:r>
              <a:rPr lang="en-US" kern="0" dirty="0"/>
              <a:t> use of computing resources</a:t>
            </a:r>
          </a:p>
          <a:p>
            <a:pPr marL="274320" indent="-274320" fontAlgn="auto">
              <a:lnSpc>
                <a:spcPct val="90000"/>
              </a:lnSpc>
              <a:spcBef>
                <a:spcPts val="1800"/>
              </a:spcBef>
              <a:spcAft>
                <a:spcPts val="0"/>
              </a:spcAft>
              <a:defRPr/>
            </a:pPr>
            <a:r>
              <a:rPr lang="en-US" b="1" kern="0" dirty="0"/>
              <a:t> Pay-per-Use</a:t>
            </a:r>
            <a:r>
              <a:rPr lang="en-US" kern="0" dirty="0"/>
              <a:t> concept</a:t>
            </a:r>
          </a:p>
          <a:p>
            <a:pPr>
              <a:lnSpc>
                <a:spcPct val="90000"/>
              </a:lnSpc>
            </a:pPr>
            <a:endParaRPr lang="en-US" kern="0" dirty="0"/>
          </a:p>
        </p:txBody>
      </p:sp>
    </p:spTree>
    <p:extLst>
      <p:ext uri="{BB962C8B-B14F-4D97-AF65-F5344CB8AC3E}">
        <p14:creationId xmlns:p14="http://schemas.microsoft.com/office/powerpoint/2010/main" val="4400293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7523A-856B-4462-B7BA-FC65D657B16E}"/>
              </a:ext>
            </a:extLst>
          </p:cNvPr>
          <p:cNvSpPr>
            <a:spLocks noGrp="1"/>
          </p:cNvSpPr>
          <p:nvPr>
            <p:ph type="title"/>
          </p:nvPr>
        </p:nvSpPr>
        <p:spPr/>
        <p:txBody>
          <a:bodyPr/>
          <a:lstStyle/>
          <a:p>
            <a:r>
              <a:rPr lang="en-US" dirty="0"/>
              <a:t>Mobile Internet</a:t>
            </a:r>
          </a:p>
        </p:txBody>
      </p:sp>
      <p:sp>
        <p:nvSpPr>
          <p:cNvPr id="3" name="Content Placeholder 2">
            <a:extLst>
              <a:ext uri="{FF2B5EF4-FFF2-40B4-BE49-F238E27FC236}">
                <a16:creationId xmlns:a16="http://schemas.microsoft.com/office/drawing/2014/main" id="{78AF746F-7FFE-47E7-A58F-E16DAA0DEF95}"/>
              </a:ext>
            </a:extLst>
          </p:cNvPr>
          <p:cNvSpPr>
            <a:spLocks noGrp="1"/>
          </p:cNvSpPr>
          <p:nvPr>
            <p:ph idx="1"/>
          </p:nvPr>
        </p:nvSpPr>
        <p:spPr/>
        <p:txBody>
          <a:bodyPr/>
          <a:lstStyle/>
          <a:p>
            <a:r>
              <a:rPr lang="en-US" sz="2800" i="1" dirty="0"/>
              <a:t>If the PC has changed our work style and ways of production, then the </a:t>
            </a:r>
            <a:r>
              <a:rPr lang="en-US" sz="2800" b="1" i="1" dirty="0"/>
              <a:t>mobile Internet is reshaping our lifestyle</a:t>
            </a:r>
            <a:r>
              <a:rPr lang="en-US" sz="2800" i="1" dirty="0"/>
              <a:t>.</a:t>
            </a:r>
          </a:p>
          <a:p>
            <a:pPr lvl="1" algn="r"/>
            <a:r>
              <a:rPr lang="en-US" sz="2400" i="1" dirty="0"/>
              <a:t>Jack Ma, President of Alibaba</a:t>
            </a:r>
          </a:p>
          <a:p>
            <a:endParaRPr lang="en-US" sz="2400" dirty="0"/>
          </a:p>
          <a:p>
            <a:r>
              <a:rPr lang="en-US" sz="2800" dirty="0"/>
              <a:t>When you get lost in an unfamiliar place, Waze on your mobile phone will guide you to your destination</a:t>
            </a:r>
          </a:p>
          <a:p>
            <a:r>
              <a:rPr lang="en-US" sz="2800" dirty="0"/>
              <a:t>Wherever you are, you can browse the news, read a novel, tweet, play games or watch movies on your mobile phone or tablet </a:t>
            </a:r>
          </a:p>
          <a:p>
            <a:r>
              <a:rPr lang="en-US" sz="2800" dirty="0"/>
              <a:t>When you need a taxi, you can use Grab app on your mobile phone to find a taxi nearby</a:t>
            </a:r>
            <a:endParaRPr lang="en-US" sz="2400" dirty="0"/>
          </a:p>
          <a:p>
            <a:endParaRPr lang="en-US" dirty="0"/>
          </a:p>
        </p:txBody>
      </p:sp>
    </p:spTree>
    <p:extLst>
      <p:ext uri="{BB962C8B-B14F-4D97-AF65-F5344CB8AC3E}">
        <p14:creationId xmlns:p14="http://schemas.microsoft.com/office/powerpoint/2010/main" val="6913747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539B5-D063-4731-91F3-170D37B5285A}"/>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0130048-9C4D-4E71-A936-E3C6A3B9BEFE}"/>
              </a:ext>
            </a:extLst>
          </p:cNvPr>
          <p:cNvGraphicFramePr>
            <a:graphicFrameLocks noGrp="1"/>
          </p:cNvGraphicFramePr>
          <p:nvPr>
            <p:ph idx="1"/>
            <p:extLst>
              <p:ext uri="{D42A27DB-BD31-4B8C-83A1-F6EECF244321}">
                <p14:modId xmlns:p14="http://schemas.microsoft.com/office/powerpoint/2010/main" val="2117091359"/>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52663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636FD-0067-4496-92C4-5ED88BD7FD6B}"/>
              </a:ext>
            </a:extLst>
          </p:cNvPr>
          <p:cNvSpPr>
            <a:spLocks noGrp="1"/>
          </p:cNvSpPr>
          <p:nvPr>
            <p:ph type="title"/>
          </p:nvPr>
        </p:nvSpPr>
        <p:spPr/>
        <p:txBody>
          <a:bodyPr/>
          <a:lstStyle/>
          <a:p>
            <a:r>
              <a:rPr lang="en-US" dirty="0"/>
              <a:t>Software-Defined Anything</a:t>
            </a:r>
          </a:p>
        </p:txBody>
      </p:sp>
      <p:sp>
        <p:nvSpPr>
          <p:cNvPr id="3" name="Content Placeholder 2">
            <a:extLst>
              <a:ext uri="{FF2B5EF4-FFF2-40B4-BE49-F238E27FC236}">
                <a16:creationId xmlns:a16="http://schemas.microsoft.com/office/drawing/2014/main" id="{410995C3-6DB3-4F45-9B82-7BF4AE118F6F}"/>
              </a:ext>
            </a:extLst>
          </p:cNvPr>
          <p:cNvSpPr>
            <a:spLocks noGrp="1"/>
          </p:cNvSpPr>
          <p:nvPr>
            <p:ph idx="1"/>
          </p:nvPr>
        </p:nvSpPr>
        <p:spPr>
          <a:xfrm>
            <a:off x="649817" y="1533378"/>
            <a:ext cx="10972800" cy="4689622"/>
          </a:xfrm>
        </p:spPr>
        <p:txBody>
          <a:bodyPr/>
          <a:lstStyle/>
          <a:p>
            <a:r>
              <a:rPr lang="en-US" dirty="0"/>
              <a:t>“Software-defined anything” is identified as one of the “Top 10 Strategic Technology Trends” as a technology with the potential for significant impact on enterprises </a:t>
            </a:r>
          </a:p>
          <a:p>
            <a:r>
              <a:rPr lang="en-US" dirty="0"/>
              <a:t>In an era where young entrepreneurs are keen on disruptive innovation, “software-defined anything” is not merely a concept </a:t>
            </a:r>
            <a:r>
              <a:rPr lang="en-US" u="sng" dirty="0"/>
              <a:t>but a growing trend towards disrupting traditional way of thinking</a:t>
            </a:r>
          </a:p>
          <a:p>
            <a:pPr lvl="1"/>
            <a:r>
              <a:rPr lang="en-US" dirty="0"/>
              <a:t>Examples include: </a:t>
            </a:r>
            <a:r>
              <a:rPr lang="en-US" b="1" dirty="0"/>
              <a:t>Amazon</a:t>
            </a:r>
            <a:r>
              <a:rPr lang="en-US" dirty="0"/>
              <a:t>, the world’s largest bookseller; </a:t>
            </a:r>
            <a:r>
              <a:rPr lang="en-US" b="1" dirty="0"/>
              <a:t>Netflix</a:t>
            </a:r>
            <a:r>
              <a:rPr lang="en-US" dirty="0"/>
              <a:t>, the largest video service by number of subscribers; </a:t>
            </a:r>
            <a:r>
              <a:rPr lang="en-US" b="1" dirty="0"/>
              <a:t>Apple</a:t>
            </a:r>
            <a:r>
              <a:rPr lang="en-US" dirty="0"/>
              <a:t>’s iTunes, one of today’s dominant music companies;</a:t>
            </a:r>
          </a:p>
        </p:txBody>
      </p:sp>
    </p:spTree>
    <p:extLst>
      <p:ext uri="{BB962C8B-B14F-4D97-AF65-F5344CB8AC3E}">
        <p14:creationId xmlns:p14="http://schemas.microsoft.com/office/powerpoint/2010/main" val="39620243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636FD-0067-4496-92C4-5ED88BD7FD6B}"/>
              </a:ext>
            </a:extLst>
          </p:cNvPr>
          <p:cNvSpPr>
            <a:spLocks noGrp="1"/>
          </p:cNvSpPr>
          <p:nvPr>
            <p:ph type="title"/>
          </p:nvPr>
        </p:nvSpPr>
        <p:spPr/>
        <p:txBody>
          <a:bodyPr/>
          <a:lstStyle/>
          <a:p>
            <a:r>
              <a:rPr lang="en-US" dirty="0"/>
              <a:t>Software-Defined Anything</a:t>
            </a:r>
          </a:p>
        </p:txBody>
      </p:sp>
      <p:sp>
        <p:nvSpPr>
          <p:cNvPr id="3" name="Content Placeholder 2">
            <a:extLst>
              <a:ext uri="{FF2B5EF4-FFF2-40B4-BE49-F238E27FC236}">
                <a16:creationId xmlns:a16="http://schemas.microsoft.com/office/drawing/2014/main" id="{410995C3-6DB3-4F45-9B82-7BF4AE118F6F}"/>
              </a:ext>
            </a:extLst>
          </p:cNvPr>
          <p:cNvSpPr>
            <a:spLocks noGrp="1"/>
          </p:cNvSpPr>
          <p:nvPr>
            <p:ph idx="1"/>
          </p:nvPr>
        </p:nvSpPr>
        <p:spPr>
          <a:xfrm>
            <a:off x="649817" y="1533378"/>
            <a:ext cx="10972800" cy="4689622"/>
          </a:xfrm>
        </p:spPr>
        <p:txBody>
          <a:bodyPr/>
          <a:lstStyle/>
          <a:p>
            <a:r>
              <a:rPr lang="en-US" b="0" i="0" dirty="0">
                <a:solidFill>
                  <a:srgbClr val="001C3B"/>
                </a:solidFill>
                <a:effectLst/>
                <a:latin typeface="Google Sans"/>
              </a:rPr>
              <a:t>Software-Defined Anything (</a:t>
            </a:r>
            <a:r>
              <a:rPr lang="en-US" b="0" i="0" dirty="0" err="1">
                <a:solidFill>
                  <a:srgbClr val="001C3B"/>
                </a:solidFill>
                <a:effectLst/>
                <a:latin typeface="Google Sans"/>
              </a:rPr>
              <a:t>SDx</a:t>
            </a:r>
            <a:r>
              <a:rPr lang="en-US" b="0" i="0" dirty="0">
                <a:solidFill>
                  <a:srgbClr val="001C3B"/>
                </a:solidFill>
                <a:effectLst/>
                <a:latin typeface="Google Sans"/>
              </a:rPr>
              <a:t>) is a computing and networking concept that uses software to control hardware infrastructure. </a:t>
            </a:r>
          </a:p>
          <a:p>
            <a:r>
              <a:rPr lang="en-US" b="0" i="0" dirty="0" err="1">
                <a:solidFill>
                  <a:srgbClr val="001C3B"/>
                </a:solidFill>
                <a:effectLst/>
                <a:latin typeface="Google Sans"/>
              </a:rPr>
              <a:t>SDx</a:t>
            </a:r>
            <a:r>
              <a:rPr lang="en-US" b="0" i="0" dirty="0">
                <a:solidFill>
                  <a:srgbClr val="001C3B"/>
                </a:solidFill>
                <a:effectLst/>
                <a:latin typeface="Google Sans"/>
              </a:rPr>
              <a:t> allows for the virtualization of a computer network's technology stack, including storage, security, and the computer network itself.</a:t>
            </a:r>
            <a:endParaRPr lang="en-US" dirty="0"/>
          </a:p>
        </p:txBody>
      </p:sp>
    </p:spTree>
    <p:extLst>
      <p:ext uri="{BB962C8B-B14F-4D97-AF65-F5344CB8AC3E}">
        <p14:creationId xmlns:p14="http://schemas.microsoft.com/office/powerpoint/2010/main" val="427072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539B5-D063-4731-91F3-170D37B5285A}"/>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0130048-9C4D-4E71-A936-E3C6A3B9BEFE}"/>
              </a:ext>
            </a:extLst>
          </p:cNvPr>
          <p:cNvGraphicFramePr>
            <a:graphicFrameLocks noGrp="1"/>
          </p:cNvGraphicFramePr>
          <p:nvPr>
            <p:ph idx="1"/>
            <p:extLst>
              <p:ext uri="{D42A27DB-BD31-4B8C-83A1-F6EECF244321}">
                <p14:modId xmlns:p14="http://schemas.microsoft.com/office/powerpoint/2010/main" val="3457347657"/>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04331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539B5-D063-4731-91F3-170D37B5285A}"/>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sp>
        <p:nvSpPr>
          <p:cNvPr id="4" name="Content Placeholder 3">
            <a:extLst>
              <a:ext uri="{FF2B5EF4-FFF2-40B4-BE49-F238E27FC236}">
                <a16:creationId xmlns:a16="http://schemas.microsoft.com/office/drawing/2014/main" id="{721864E3-8791-7855-10EA-1C49929D95E9}"/>
              </a:ext>
            </a:extLst>
          </p:cNvPr>
          <p:cNvSpPr>
            <a:spLocks noGrp="1"/>
          </p:cNvSpPr>
          <p:nvPr>
            <p:ph idx="1"/>
          </p:nvPr>
        </p:nvSpPr>
        <p:spPr>
          <a:xfrm>
            <a:off x="609600" y="1473518"/>
            <a:ext cx="10972800" cy="4876482"/>
          </a:xfrm>
        </p:spPr>
        <p:txBody>
          <a:bodyPr/>
          <a:lstStyle/>
          <a:p>
            <a:pPr algn="l" fontAlgn="ctr"/>
            <a:r>
              <a:rPr lang="en-US" sz="2800" b="1" i="0" dirty="0">
                <a:solidFill>
                  <a:srgbClr val="191B28"/>
                </a:solidFill>
                <a:effectLst/>
                <a:latin typeface="Google Sans"/>
              </a:rPr>
              <a:t>Outsourcing is a business practice </a:t>
            </a:r>
            <a:r>
              <a:rPr lang="en-US" sz="2800" b="0" i="0" dirty="0">
                <a:solidFill>
                  <a:srgbClr val="191B28"/>
                </a:solidFill>
                <a:effectLst/>
                <a:latin typeface="Google Sans"/>
              </a:rPr>
              <a:t>where a company hires a </a:t>
            </a:r>
            <a:r>
              <a:rPr lang="en-US" sz="2800" b="1" i="0" dirty="0">
                <a:solidFill>
                  <a:srgbClr val="191B28"/>
                </a:solidFill>
                <a:effectLst/>
                <a:latin typeface="Google Sans"/>
              </a:rPr>
              <a:t>third party </a:t>
            </a:r>
            <a:r>
              <a:rPr lang="en-US" sz="2800" b="0" i="0" dirty="0">
                <a:solidFill>
                  <a:srgbClr val="191B28"/>
                </a:solidFill>
                <a:effectLst/>
                <a:latin typeface="Google Sans"/>
              </a:rPr>
              <a:t>to perform tasks, handle operations, or provide services that would otherwise be handled internally. Companies often outsource to: </a:t>
            </a:r>
          </a:p>
          <a:p>
            <a:pPr algn="l" fontAlgn="ctr">
              <a:buFont typeface="Arial" panose="020B0604020202020204" pitchFamily="34" charset="0"/>
              <a:buChar char="•"/>
            </a:pPr>
            <a:r>
              <a:rPr lang="en-US" sz="2800" b="1" i="0" dirty="0">
                <a:solidFill>
                  <a:srgbClr val="191B28"/>
                </a:solidFill>
                <a:effectLst/>
                <a:latin typeface="Google Sans"/>
              </a:rPr>
              <a:t>Reduce costs</a:t>
            </a:r>
            <a:r>
              <a:rPr lang="en-US" sz="2800" b="0" i="0" dirty="0">
                <a:solidFill>
                  <a:srgbClr val="191B28"/>
                </a:solidFill>
                <a:effectLst/>
                <a:latin typeface="Google Sans"/>
              </a:rPr>
              <a:t>: Cut labor costs, including salaries, overhead, equipment, and technology </a:t>
            </a:r>
          </a:p>
          <a:p>
            <a:pPr algn="l" fontAlgn="ctr">
              <a:buFont typeface="Arial" panose="020B0604020202020204" pitchFamily="34" charset="0"/>
              <a:buChar char="•"/>
            </a:pPr>
            <a:r>
              <a:rPr lang="en-US" sz="2800" b="1" i="0" dirty="0">
                <a:solidFill>
                  <a:srgbClr val="191B28"/>
                </a:solidFill>
                <a:effectLst/>
                <a:latin typeface="Google Sans"/>
              </a:rPr>
              <a:t>Improve efficiencies</a:t>
            </a:r>
            <a:r>
              <a:rPr lang="en-US" sz="2800" b="0" i="0" dirty="0">
                <a:solidFill>
                  <a:srgbClr val="191B28"/>
                </a:solidFill>
                <a:effectLst/>
                <a:latin typeface="Google Sans"/>
              </a:rPr>
              <a:t>: Gain speed and access expertise or innovative technologies </a:t>
            </a:r>
          </a:p>
          <a:p>
            <a:pPr algn="l" fontAlgn="ctr">
              <a:buFont typeface="Arial" panose="020B0604020202020204" pitchFamily="34" charset="0"/>
              <a:buChar char="•"/>
            </a:pPr>
            <a:r>
              <a:rPr lang="en-US" sz="2800" b="1" i="0" dirty="0">
                <a:solidFill>
                  <a:srgbClr val="191B28"/>
                </a:solidFill>
                <a:effectLst/>
                <a:latin typeface="Google Sans"/>
              </a:rPr>
              <a:t>Shift resources to critical areas</a:t>
            </a:r>
            <a:r>
              <a:rPr lang="en-US" sz="2800" b="0" i="0" dirty="0">
                <a:solidFill>
                  <a:srgbClr val="191B28"/>
                </a:solidFill>
                <a:effectLst/>
                <a:latin typeface="Google Sans"/>
              </a:rPr>
              <a:t>: Focus on core business activities </a:t>
            </a:r>
          </a:p>
          <a:p>
            <a:pPr algn="l">
              <a:buFont typeface="Arial" panose="020B0604020202020204" pitchFamily="34" charset="0"/>
              <a:buChar char="•"/>
            </a:pPr>
            <a:r>
              <a:rPr lang="en-US" sz="2800" b="1" i="0" dirty="0">
                <a:solidFill>
                  <a:srgbClr val="191B28"/>
                </a:solidFill>
                <a:effectLst/>
                <a:latin typeface="Google Sans"/>
              </a:rPr>
              <a:t>Access regional specialization</a:t>
            </a:r>
            <a:r>
              <a:rPr lang="en-US" sz="2800" b="0" i="0" dirty="0">
                <a:solidFill>
                  <a:srgbClr val="191B28"/>
                </a:solidFill>
                <a:effectLst/>
                <a:latin typeface="Google Sans"/>
              </a:rPr>
              <a:t>: Partner with firms in other countries to access a highly skilled workforce at lower labor rates </a:t>
            </a:r>
          </a:p>
          <a:p>
            <a:endParaRPr lang="en-MY" sz="2800" dirty="0"/>
          </a:p>
        </p:txBody>
      </p:sp>
    </p:spTree>
    <p:extLst>
      <p:ext uri="{BB962C8B-B14F-4D97-AF65-F5344CB8AC3E}">
        <p14:creationId xmlns:p14="http://schemas.microsoft.com/office/powerpoint/2010/main" val="1856502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B5031-634A-4EF5-B430-09ED46F13D0C}"/>
              </a:ext>
            </a:extLst>
          </p:cNvPr>
          <p:cNvSpPr>
            <a:spLocks noGrp="1"/>
          </p:cNvSpPr>
          <p:nvPr>
            <p:ph type="title"/>
          </p:nvPr>
        </p:nvSpPr>
        <p:spPr/>
        <p:txBody>
          <a:bodyPr/>
          <a:lstStyle/>
          <a:p>
            <a:r>
              <a:rPr lang="en-US" dirty="0"/>
              <a:t>Outsourcing and Crowdsourcing</a:t>
            </a:r>
          </a:p>
        </p:txBody>
      </p:sp>
      <p:sp>
        <p:nvSpPr>
          <p:cNvPr id="8" name="Content Placeholder 7">
            <a:extLst>
              <a:ext uri="{FF2B5EF4-FFF2-40B4-BE49-F238E27FC236}">
                <a16:creationId xmlns:a16="http://schemas.microsoft.com/office/drawing/2014/main" id="{E18C28EE-B3F7-4B52-87A0-69D2B8FE622E}"/>
              </a:ext>
            </a:extLst>
          </p:cNvPr>
          <p:cNvSpPr>
            <a:spLocks noGrp="1"/>
          </p:cNvSpPr>
          <p:nvPr>
            <p:ph idx="1"/>
          </p:nvPr>
        </p:nvSpPr>
        <p:spPr>
          <a:xfrm>
            <a:off x="649817" y="1563329"/>
            <a:ext cx="10972800" cy="4659671"/>
          </a:xfrm>
        </p:spPr>
        <p:txBody>
          <a:bodyPr/>
          <a:lstStyle/>
          <a:p>
            <a:pPr marL="285750" indent="-285750">
              <a:buFont typeface="Arial" panose="020B0604020202020204" pitchFamily="34" charset="0"/>
              <a:buChar char="•"/>
            </a:pPr>
            <a:r>
              <a:rPr lang="en-US" sz="2000" dirty="0"/>
              <a:t>The idea behind </a:t>
            </a:r>
            <a:r>
              <a:rPr lang="en-US" sz="2000" b="1" dirty="0"/>
              <a:t>outsourcing</a:t>
            </a:r>
            <a:r>
              <a:rPr lang="en-US" sz="2000" dirty="0"/>
              <a:t> is “focus on what you do best and let others do the rest”</a:t>
            </a:r>
          </a:p>
          <a:p>
            <a:pPr marL="285750" indent="-285750">
              <a:buFont typeface="Arial" panose="020B0604020202020204" pitchFamily="34" charset="0"/>
              <a:buChar char="•"/>
            </a:pPr>
            <a:r>
              <a:rPr lang="en-US" sz="2000" b="1" dirty="0"/>
              <a:t>Crowdsourcing</a:t>
            </a:r>
            <a:r>
              <a:rPr lang="en-US" sz="2000" dirty="0"/>
              <a:t> encourages consumers and users to take charge and pursue their goals </a:t>
            </a:r>
            <a:r>
              <a:rPr lang="en-US" sz="2400" dirty="0"/>
              <a:t>(</a:t>
            </a:r>
            <a:r>
              <a:rPr lang="en-US" sz="1400" b="0" i="0" dirty="0">
                <a:solidFill>
                  <a:srgbClr val="1F1F1F"/>
                </a:solidFill>
                <a:effectLst/>
                <a:latin typeface="Arial" panose="020B0604020202020204" pitchFamily="34" charset="0"/>
              </a:rPr>
              <a:t>obtaining information or input into a task or project by </a:t>
            </a:r>
            <a:r>
              <a:rPr lang="en-US" sz="1400" b="0" i="0" u="none" strike="noStrike" dirty="0">
                <a:solidFill>
                  <a:srgbClr val="1F1F1F"/>
                </a:solidFill>
                <a:effectLst/>
                <a:latin typeface="Arial" panose="020B0604020202020204" pitchFamily="34" charset="0"/>
                <a:hlinkClick r:id="rId2"/>
              </a:rPr>
              <a:t>enlisting</a:t>
            </a:r>
            <a:r>
              <a:rPr lang="en-US" sz="1400" b="0" i="0" dirty="0">
                <a:solidFill>
                  <a:srgbClr val="1F1F1F"/>
                </a:solidFill>
                <a:effectLst/>
                <a:latin typeface="Arial" panose="020B0604020202020204" pitchFamily="34" charset="0"/>
              </a:rPr>
              <a:t> the services of a large number of people, either paid or </a:t>
            </a:r>
            <a:r>
              <a:rPr lang="en-US" sz="1400" b="0" i="0" u="none" strike="noStrike" dirty="0">
                <a:solidFill>
                  <a:srgbClr val="1F1F1F"/>
                </a:solidFill>
                <a:effectLst/>
                <a:latin typeface="Arial" panose="020B0604020202020204" pitchFamily="34" charset="0"/>
                <a:hlinkClick r:id="rId3"/>
              </a:rPr>
              <a:t>unpaid</a:t>
            </a:r>
            <a:r>
              <a:rPr lang="en-US" sz="1400" b="0" i="0" dirty="0">
                <a:solidFill>
                  <a:srgbClr val="1F1F1F"/>
                </a:solidFill>
                <a:effectLst/>
                <a:latin typeface="Arial" panose="020B0604020202020204" pitchFamily="34" charset="0"/>
              </a:rPr>
              <a:t>, typically via the interne</a:t>
            </a:r>
            <a:r>
              <a:rPr lang="en-US" sz="1200" b="0" i="0" dirty="0">
                <a:solidFill>
                  <a:srgbClr val="1F1F1F"/>
                </a:solidFill>
                <a:effectLst/>
                <a:latin typeface="Arial" panose="020B0604020202020204" pitchFamily="34" charset="0"/>
              </a:rPr>
              <a:t>t)</a:t>
            </a:r>
          </a:p>
          <a:p>
            <a:pPr marL="0" indent="0">
              <a:buNone/>
            </a:pPr>
            <a:endParaRPr lang="en-US" sz="2000" dirty="0"/>
          </a:p>
          <a:p>
            <a:endParaRPr lang="en-US" sz="2000" dirty="0"/>
          </a:p>
        </p:txBody>
      </p:sp>
      <p:pic>
        <p:nvPicPr>
          <p:cNvPr id="9" name="Content Placeholder 4">
            <a:extLst>
              <a:ext uri="{FF2B5EF4-FFF2-40B4-BE49-F238E27FC236}">
                <a16:creationId xmlns:a16="http://schemas.microsoft.com/office/drawing/2014/main" id="{92C9BBDA-C1EE-45A3-82F5-152759D049CB}"/>
              </a:ext>
            </a:extLst>
          </p:cNvPr>
          <p:cNvPicPr>
            <a:picLocks noChangeAspect="1"/>
          </p:cNvPicPr>
          <p:nvPr/>
        </p:nvPicPr>
        <p:blipFill>
          <a:blip r:embed="rId4"/>
          <a:stretch>
            <a:fillRect/>
          </a:stretch>
        </p:blipFill>
        <p:spPr bwMode="auto">
          <a:xfrm>
            <a:off x="1185861" y="3159761"/>
            <a:ext cx="9374190" cy="2812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DE75F304-6913-47AA-B58F-8563DB3A7173}"/>
              </a:ext>
            </a:extLst>
          </p:cNvPr>
          <p:cNvSpPr txBox="1"/>
          <p:nvPr/>
        </p:nvSpPr>
        <p:spPr>
          <a:xfrm>
            <a:off x="1185861" y="2806222"/>
            <a:ext cx="6819239" cy="369332"/>
          </a:xfrm>
          <a:prstGeom prst="rect">
            <a:avLst/>
          </a:prstGeom>
          <a:noFill/>
        </p:spPr>
        <p:txBody>
          <a:bodyPr wrap="none" rtlCol="0">
            <a:spAutoFit/>
          </a:bodyPr>
          <a:lstStyle/>
          <a:p>
            <a:r>
              <a:rPr lang="en-US" dirty="0"/>
              <a:t>Table 1: The difference between Outsourcing and Crowdsourcing</a:t>
            </a:r>
          </a:p>
        </p:txBody>
      </p:sp>
    </p:spTree>
    <p:extLst>
      <p:ext uri="{BB962C8B-B14F-4D97-AF65-F5344CB8AC3E}">
        <p14:creationId xmlns:p14="http://schemas.microsoft.com/office/powerpoint/2010/main" val="36166223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5146A-976B-4ABB-91BB-D2271C29EB2D}"/>
              </a:ext>
            </a:extLst>
          </p:cNvPr>
          <p:cNvSpPr>
            <a:spLocks noGrp="1"/>
          </p:cNvSpPr>
          <p:nvPr>
            <p:ph type="title"/>
          </p:nvPr>
        </p:nvSpPr>
        <p:spPr/>
        <p:txBody>
          <a:bodyPr/>
          <a:lstStyle/>
          <a:p>
            <a:r>
              <a:rPr lang="en-US" dirty="0"/>
              <a:t>Outsourcing and Crowdsourcing</a:t>
            </a:r>
          </a:p>
        </p:txBody>
      </p:sp>
      <p:sp>
        <p:nvSpPr>
          <p:cNvPr id="3" name="Content Placeholder 2">
            <a:extLst>
              <a:ext uri="{FF2B5EF4-FFF2-40B4-BE49-F238E27FC236}">
                <a16:creationId xmlns:a16="http://schemas.microsoft.com/office/drawing/2014/main" id="{45B71C37-FD1D-4418-B393-B03247F0B071}"/>
              </a:ext>
            </a:extLst>
          </p:cNvPr>
          <p:cNvSpPr>
            <a:spLocks noGrp="1"/>
          </p:cNvSpPr>
          <p:nvPr>
            <p:ph idx="1"/>
          </p:nvPr>
        </p:nvSpPr>
        <p:spPr/>
        <p:txBody>
          <a:bodyPr/>
          <a:lstStyle/>
          <a:p>
            <a:r>
              <a:rPr lang="en-US" dirty="0"/>
              <a:t>Wreckage searching: When MH370 went missing, </a:t>
            </a:r>
            <a:r>
              <a:rPr lang="en-US" dirty="0" err="1"/>
              <a:t>DigitalGlobe</a:t>
            </a:r>
            <a:r>
              <a:rPr lang="en-US" dirty="0"/>
              <a:t>, an American satellite mapping company, set up </a:t>
            </a:r>
            <a:r>
              <a:rPr lang="en-US" dirty="0" err="1"/>
              <a:t>Tomnod</a:t>
            </a:r>
            <a:r>
              <a:rPr lang="en-US" dirty="0"/>
              <a:t>, a crowd-sourcing initiative, encouraging internet users to scan and tag images of more than 1200 mi2 of ocean to locate the missing plane</a:t>
            </a:r>
          </a:p>
          <a:p>
            <a:r>
              <a:rPr lang="en-US" dirty="0"/>
              <a:t>Mapping: User editors made hundreds of millions of map edits and updated Waze’s map to reflect the changes on the ground</a:t>
            </a:r>
          </a:p>
        </p:txBody>
      </p:sp>
    </p:spTree>
    <p:extLst>
      <p:ext uri="{BB962C8B-B14F-4D97-AF65-F5344CB8AC3E}">
        <p14:creationId xmlns:p14="http://schemas.microsoft.com/office/powerpoint/2010/main" val="3622280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8E0C-D99C-4AA3-A5C9-B64C1D0D4798}"/>
              </a:ext>
            </a:extLst>
          </p:cNvPr>
          <p:cNvSpPr>
            <a:spLocks noGrp="1"/>
          </p:cNvSpPr>
          <p:nvPr>
            <p:ph type="title"/>
          </p:nvPr>
        </p:nvSpPr>
        <p:spPr/>
        <p:txBody>
          <a:bodyPr/>
          <a:lstStyle/>
          <a:p>
            <a:r>
              <a:rPr lang="en-US" dirty="0"/>
              <a:t>Outsourcing and Crowdsourcing</a:t>
            </a:r>
          </a:p>
        </p:txBody>
      </p:sp>
      <p:sp>
        <p:nvSpPr>
          <p:cNvPr id="3" name="Content Placeholder 2">
            <a:extLst>
              <a:ext uri="{FF2B5EF4-FFF2-40B4-BE49-F238E27FC236}">
                <a16:creationId xmlns:a16="http://schemas.microsoft.com/office/drawing/2014/main" id="{FA981066-7CB5-448E-8135-1BE7F0B26175}"/>
              </a:ext>
            </a:extLst>
          </p:cNvPr>
          <p:cNvSpPr>
            <a:spLocks noGrp="1"/>
          </p:cNvSpPr>
          <p:nvPr>
            <p:ph idx="1"/>
          </p:nvPr>
        </p:nvSpPr>
        <p:spPr/>
        <p:txBody>
          <a:bodyPr/>
          <a:lstStyle/>
          <a:p>
            <a:r>
              <a:rPr lang="en-US" sz="2800" dirty="0"/>
              <a:t>Software testing: Applause (formerly </a:t>
            </a:r>
            <a:r>
              <a:rPr lang="en-US" sz="2800" dirty="0" err="1"/>
              <a:t>uTest</a:t>
            </a:r>
            <a:r>
              <a:rPr lang="en-US" sz="2800" dirty="0"/>
              <a:t>), an American venture-funded software and application testing company collaborates with more than 140,000 </a:t>
            </a:r>
            <a:r>
              <a:rPr lang="en-US" sz="2800" dirty="0" err="1"/>
              <a:t>crowdtesters</a:t>
            </a:r>
            <a:r>
              <a:rPr lang="en-US" sz="2800" dirty="0"/>
              <a:t> and debuggers, to remove all the possible bugs in the software applications</a:t>
            </a:r>
          </a:p>
          <a:p>
            <a:r>
              <a:rPr lang="en-US" sz="2800" dirty="0"/>
              <a:t>Knowledge: Wikipedia has over 4 million entries in English, and other standalone Wikis in 282 languages totaled up to 21 million entries, 32 million users and 1.2 billion edits. Wikipedia is ranked among the ten most popular websites on the Internet</a:t>
            </a:r>
          </a:p>
        </p:txBody>
      </p:sp>
    </p:spTree>
    <p:extLst>
      <p:ext uri="{BB962C8B-B14F-4D97-AF65-F5344CB8AC3E}">
        <p14:creationId xmlns:p14="http://schemas.microsoft.com/office/powerpoint/2010/main" val="30030609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539B5-D063-4731-91F3-170D37B5285A}"/>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0130048-9C4D-4E71-A936-E3C6A3B9BEFE}"/>
              </a:ext>
            </a:extLst>
          </p:cNvPr>
          <p:cNvGraphicFramePr>
            <a:graphicFrameLocks noGrp="1"/>
          </p:cNvGraphicFramePr>
          <p:nvPr>
            <p:ph idx="1"/>
            <p:extLst>
              <p:ext uri="{D42A27DB-BD31-4B8C-83A1-F6EECF244321}">
                <p14:modId xmlns:p14="http://schemas.microsoft.com/office/powerpoint/2010/main" val="3150822709"/>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59149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FD73D-3B6F-4F24-A779-510A255A676C}"/>
              </a:ext>
            </a:extLst>
          </p:cNvPr>
          <p:cNvSpPr>
            <a:spLocks noGrp="1"/>
          </p:cNvSpPr>
          <p:nvPr>
            <p:ph type="title"/>
          </p:nvPr>
        </p:nvSpPr>
        <p:spPr/>
        <p:txBody>
          <a:bodyPr/>
          <a:lstStyle/>
          <a:p>
            <a:r>
              <a:rPr lang="en-US" dirty="0"/>
              <a:t>Prosumer Economy</a:t>
            </a:r>
          </a:p>
        </p:txBody>
      </p:sp>
      <p:sp>
        <p:nvSpPr>
          <p:cNvPr id="3" name="Content Placeholder 2">
            <a:extLst>
              <a:ext uri="{FF2B5EF4-FFF2-40B4-BE49-F238E27FC236}">
                <a16:creationId xmlns:a16="http://schemas.microsoft.com/office/drawing/2014/main" id="{C658D411-9A55-4F66-9E91-FCA0305C297C}"/>
              </a:ext>
            </a:extLst>
          </p:cNvPr>
          <p:cNvSpPr>
            <a:spLocks noGrp="1"/>
          </p:cNvSpPr>
          <p:nvPr>
            <p:ph idx="1"/>
          </p:nvPr>
        </p:nvSpPr>
        <p:spPr>
          <a:xfrm>
            <a:off x="649817" y="1397308"/>
            <a:ext cx="6036967" cy="4855672"/>
          </a:xfrm>
        </p:spPr>
        <p:txBody>
          <a:bodyPr/>
          <a:lstStyle/>
          <a:p>
            <a:r>
              <a:rPr lang="en-US" dirty="0"/>
              <a:t>Competition is getting fierce globally</a:t>
            </a:r>
          </a:p>
          <a:p>
            <a:r>
              <a:rPr lang="en-US" dirty="0"/>
              <a:t>Companies are under great pressure to offer more and better products and services at lower costs and higher speed</a:t>
            </a:r>
          </a:p>
          <a:p>
            <a:r>
              <a:rPr lang="en-US" dirty="0"/>
              <a:t>A game change: from </a:t>
            </a:r>
            <a:r>
              <a:rPr lang="en-US" b="1" dirty="0"/>
              <a:t>Supply Chain </a:t>
            </a:r>
            <a:r>
              <a:rPr lang="en-US" dirty="0"/>
              <a:t>to </a:t>
            </a:r>
            <a:r>
              <a:rPr lang="en-US" b="1" dirty="0"/>
              <a:t>Prosumer Economy</a:t>
            </a:r>
          </a:p>
          <a:p>
            <a:pPr lvl="1"/>
            <a:endParaRPr lang="en-US" dirty="0"/>
          </a:p>
        </p:txBody>
      </p:sp>
      <p:pic>
        <p:nvPicPr>
          <p:cNvPr id="7" name="Picture 6">
            <a:extLst>
              <a:ext uri="{FF2B5EF4-FFF2-40B4-BE49-F238E27FC236}">
                <a16:creationId xmlns:a16="http://schemas.microsoft.com/office/drawing/2014/main" id="{A6E2ACE6-E22B-46CC-AD25-EF66E3CBB8C6}"/>
              </a:ext>
            </a:extLst>
          </p:cNvPr>
          <p:cNvPicPr>
            <a:picLocks noChangeAspect="1"/>
          </p:cNvPicPr>
          <p:nvPr/>
        </p:nvPicPr>
        <p:blipFill>
          <a:blip r:embed="rId2"/>
          <a:stretch>
            <a:fillRect/>
          </a:stretch>
        </p:blipFill>
        <p:spPr>
          <a:xfrm>
            <a:off x="6686784" y="1953952"/>
            <a:ext cx="5239564" cy="4269048"/>
          </a:xfrm>
          <a:prstGeom prst="rect">
            <a:avLst/>
          </a:prstGeom>
        </p:spPr>
      </p:pic>
    </p:spTree>
    <p:extLst>
      <p:ext uri="{BB962C8B-B14F-4D97-AF65-F5344CB8AC3E}">
        <p14:creationId xmlns:p14="http://schemas.microsoft.com/office/powerpoint/2010/main" val="12567180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AF503-1262-4558-B321-0C3FED06B2E3}"/>
              </a:ext>
            </a:extLst>
          </p:cNvPr>
          <p:cNvSpPr>
            <a:spLocks noGrp="1"/>
          </p:cNvSpPr>
          <p:nvPr>
            <p:ph type="title"/>
          </p:nvPr>
        </p:nvSpPr>
        <p:spPr/>
        <p:txBody>
          <a:bodyPr/>
          <a:lstStyle/>
          <a:p>
            <a:r>
              <a:rPr lang="en-US" dirty="0"/>
              <a:t>Prosumer Economy</a:t>
            </a:r>
          </a:p>
        </p:txBody>
      </p:sp>
      <p:sp>
        <p:nvSpPr>
          <p:cNvPr id="3" name="Content Placeholder 2">
            <a:extLst>
              <a:ext uri="{FF2B5EF4-FFF2-40B4-BE49-F238E27FC236}">
                <a16:creationId xmlns:a16="http://schemas.microsoft.com/office/drawing/2014/main" id="{811F09B6-1E9C-458B-9B7C-0641F0844E08}"/>
              </a:ext>
            </a:extLst>
          </p:cNvPr>
          <p:cNvSpPr>
            <a:spLocks noGrp="1"/>
          </p:cNvSpPr>
          <p:nvPr>
            <p:ph idx="1"/>
          </p:nvPr>
        </p:nvSpPr>
        <p:spPr>
          <a:xfrm>
            <a:off x="649817" y="1484026"/>
            <a:ext cx="10972800" cy="4738974"/>
          </a:xfrm>
        </p:spPr>
        <p:txBody>
          <a:bodyPr/>
          <a:lstStyle/>
          <a:p>
            <a:r>
              <a:rPr lang="en-US" b="1" dirty="0"/>
              <a:t>Prosumer Economy:</a:t>
            </a:r>
            <a:r>
              <a:rPr lang="en-US" dirty="0"/>
              <a:t> Consumer demand play a leading role reshaped into the demand chain</a:t>
            </a:r>
            <a:endParaRPr lang="en-US" b="1" i="1" dirty="0"/>
          </a:p>
          <a:p>
            <a:pPr lvl="1"/>
            <a:r>
              <a:rPr lang="en-US" dirty="0"/>
              <a:t>The term </a:t>
            </a:r>
            <a:r>
              <a:rPr lang="en-US" b="1" dirty="0" err="1"/>
              <a:t>prosumer</a:t>
            </a:r>
            <a:r>
              <a:rPr lang="en-US" b="1" dirty="0"/>
              <a:t> is</a:t>
            </a:r>
            <a:r>
              <a:rPr lang="en-US" dirty="0"/>
              <a:t> a portmanteau of the words 'provider' and 'consumer‘</a:t>
            </a:r>
          </a:p>
          <a:p>
            <a:pPr lvl="1"/>
            <a:r>
              <a:rPr lang="en-US" dirty="0"/>
              <a:t>A </a:t>
            </a:r>
            <a:r>
              <a:rPr lang="en-US" b="1" dirty="0" err="1"/>
              <a:t>prosumer</a:t>
            </a:r>
            <a:r>
              <a:rPr lang="en-US" b="1" dirty="0"/>
              <a:t> is</a:t>
            </a:r>
            <a:r>
              <a:rPr lang="en-US" dirty="0"/>
              <a:t> an individual who not only consumes but also produces</a:t>
            </a:r>
          </a:p>
          <a:p>
            <a:pPr lvl="1"/>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0052" y="4154232"/>
            <a:ext cx="3970388" cy="2268793"/>
          </a:xfrm>
          <a:prstGeom prst="rect">
            <a:avLst/>
          </a:prstGeom>
        </p:spPr>
      </p:pic>
    </p:spTree>
    <p:extLst>
      <p:ext uri="{BB962C8B-B14F-4D97-AF65-F5344CB8AC3E}">
        <p14:creationId xmlns:p14="http://schemas.microsoft.com/office/powerpoint/2010/main" val="2770019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DC5B2-2B12-4B9C-A3E5-6BA1EE7DCD8E}"/>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CEF11D4-6F73-4AFE-9085-CAC8A233241A}"/>
              </a:ext>
            </a:extLst>
          </p:cNvPr>
          <p:cNvGraphicFramePr>
            <a:graphicFrameLocks noGrp="1"/>
          </p:cNvGraphicFramePr>
          <p:nvPr>
            <p:ph idx="1"/>
            <p:extLst>
              <p:ext uri="{D42A27DB-BD31-4B8C-83A1-F6EECF244321}">
                <p14:modId xmlns:p14="http://schemas.microsoft.com/office/powerpoint/2010/main" val="1647337929"/>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90781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B87D5-DDC1-470C-B515-23AC0E4F439D}"/>
              </a:ext>
            </a:extLst>
          </p:cNvPr>
          <p:cNvSpPr>
            <a:spLocks noGrp="1"/>
          </p:cNvSpPr>
          <p:nvPr>
            <p:ph type="title"/>
          </p:nvPr>
        </p:nvSpPr>
        <p:spPr/>
        <p:txBody>
          <a:bodyPr/>
          <a:lstStyle/>
          <a:p>
            <a:r>
              <a:rPr lang="en-US" dirty="0"/>
              <a:t>Long Tail</a:t>
            </a:r>
          </a:p>
        </p:txBody>
      </p:sp>
      <p:sp>
        <p:nvSpPr>
          <p:cNvPr id="3" name="Content Placeholder 2">
            <a:extLst>
              <a:ext uri="{FF2B5EF4-FFF2-40B4-BE49-F238E27FC236}">
                <a16:creationId xmlns:a16="http://schemas.microsoft.com/office/drawing/2014/main" id="{5C852C85-144B-4781-9477-0806EB85BBB7}"/>
              </a:ext>
            </a:extLst>
          </p:cNvPr>
          <p:cNvSpPr>
            <a:spLocks noGrp="1"/>
          </p:cNvSpPr>
          <p:nvPr>
            <p:ph idx="1"/>
          </p:nvPr>
        </p:nvSpPr>
        <p:spPr>
          <a:xfrm>
            <a:off x="649817" y="1697038"/>
            <a:ext cx="10972800" cy="4785042"/>
          </a:xfrm>
        </p:spPr>
        <p:txBody>
          <a:bodyPr/>
          <a:lstStyle/>
          <a:p>
            <a:pPr marL="0" indent="0">
              <a:buNone/>
            </a:pPr>
            <a:r>
              <a:rPr lang="en-US" i="1" dirty="0"/>
              <a:t>“We can summarize the secrets of creating a prosperous long tail market in two sentences: Provide the customers with all the products; Help me to find it.”</a:t>
            </a:r>
          </a:p>
          <a:p>
            <a:pPr marL="0" indent="0" algn="r">
              <a:buNone/>
            </a:pPr>
            <a:r>
              <a:rPr lang="en-US" dirty="0"/>
              <a:t>—Long Tail Theory</a:t>
            </a:r>
          </a:p>
          <a:p>
            <a:pPr marL="0" indent="0">
              <a:buNone/>
            </a:pPr>
            <a:endParaRPr lang="en-US" sz="2000" dirty="0"/>
          </a:p>
          <a:p>
            <a:r>
              <a:rPr lang="en-US" dirty="0"/>
              <a:t>Companies focus more on achieving </a:t>
            </a:r>
            <a:r>
              <a:rPr lang="en-US" b="1" dirty="0"/>
              <a:t>economies of scale</a:t>
            </a:r>
          </a:p>
          <a:p>
            <a:pPr lvl="1"/>
            <a:r>
              <a:rPr lang="en-US" dirty="0"/>
              <a:t>Average costs decrease with the increase of production</a:t>
            </a:r>
          </a:p>
          <a:p>
            <a:r>
              <a:rPr lang="en-US" dirty="0"/>
              <a:t>A company experiences </a:t>
            </a:r>
            <a:r>
              <a:rPr lang="en-US" b="1" dirty="0"/>
              <a:t>diseconomies of scale </a:t>
            </a:r>
            <a:r>
              <a:rPr lang="en-US" dirty="0"/>
              <a:t>if its profits decrease with expanded production</a:t>
            </a:r>
          </a:p>
        </p:txBody>
      </p:sp>
    </p:spTree>
    <p:extLst>
      <p:ext uri="{BB962C8B-B14F-4D97-AF65-F5344CB8AC3E}">
        <p14:creationId xmlns:p14="http://schemas.microsoft.com/office/powerpoint/2010/main" val="41682899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B87D5-DDC1-470C-B515-23AC0E4F439D}"/>
              </a:ext>
            </a:extLst>
          </p:cNvPr>
          <p:cNvSpPr>
            <a:spLocks noGrp="1"/>
          </p:cNvSpPr>
          <p:nvPr>
            <p:ph type="title"/>
          </p:nvPr>
        </p:nvSpPr>
        <p:spPr/>
        <p:txBody>
          <a:bodyPr/>
          <a:lstStyle/>
          <a:p>
            <a:r>
              <a:rPr lang="en-US" dirty="0"/>
              <a:t>Long Tail</a:t>
            </a:r>
          </a:p>
        </p:txBody>
      </p:sp>
      <p:sp>
        <p:nvSpPr>
          <p:cNvPr id="4" name="Content Placeholder 3">
            <a:extLst>
              <a:ext uri="{FF2B5EF4-FFF2-40B4-BE49-F238E27FC236}">
                <a16:creationId xmlns:a16="http://schemas.microsoft.com/office/drawing/2014/main" id="{FD3863E5-19CD-7B96-A2F9-6DCE07FA2C41}"/>
              </a:ext>
            </a:extLst>
          </p:cNvPr>
          <p:cNvSpPr>
            <a:spLocks noGrp="1"/>
          </p:cNvSpPr>
          <p:nvPr>
            <p:ph idx="1"/>
          </p:nvPr>
        </p:nvSpPr>
        <p:spPr/>
        <p:txBody>
          <a:bodyPr/>
          <a:lstStyle/>
          <a:p>
            <a:r>
              <a:rPr lang="en-US" b="0" i="0" dirty="0">
                <a:solidFill>
                  <a:srgbClr val="1F1F1F"/>
                </a:solidFill>
                <a:effectLst/>
                <a:latin typeface="Google Sans"/>
              </a:rPr>
              <a:t>What Is the Long Tail? The long tail is a business strategy that allows companies to realize significant profits by selling low volumes of hard-to-find items to many customers, instead of only selling large volumes of a reduced number of popular items.</a:t>
            </a:r>
            <a:endParaRPr lang="en-MY" dirty="0"/>
          </a:p>
        </p:txBody>
      </p:sp>
    </p:spTree>
    <p:extLst>
      <p:ext uri="{BB962C8B-B14F-4D97-AF65-F5344CB8AC3E}">
        <p14:creationId xmlns:p14="http://schemas.microsoft.com/office/powerpoint/2010/main" val="18605932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8D54D-683A-4579-85C5-49832BB45582}"/>
              </a:ext>
            </a:extLst>
          </p:cNvPr>
          <p:cNvSpPr>
            <a:spLocks noGrp="1"/>
          </p:cNvSpPr>
          <p:nvPr>
            <p:ph type="title"/>
          </p:nvPr>
        </p:nvSpPr>
        <p:spPr/>
        <p:txBody>
          <a:bodyPr/>
          <a:lstStyle/>
          <a:p>
            <a:r>
              <a:rPr lang="en-US" dirty="0"/>
              <a:t>Long Tail and Economy of Scale</a:t>
            </a:r>
          </a:p>
        </p:txBody>
      </p:sp>
      <p:sp>
        <p:nvSpPr>
          <p:cNvPr id="7" name="Rectangle 6"/>
          <p:cNvSpPr/>
          <p:nvPr/>
        </p:nvSpPr>
        <p:spPr>
          <a:xfrm>
            <a:off x="456142" y="1640699"/>
            <a:ext cx="11239329" cy="5299912"/>
          </a:xfrm>
          <a:prstGeom prst="rect">
            <a:avLst/>
          </a:prstGeom>
        </p:spPr>
        <p:txBody>
          <a:bodyPr wrap="square">
            <a:spAutoFit/>
          </a:bodyPr>
          <a:lstStyle/>
          <a:p>
            <a:pPr marL="457200" indent="-457200">
              <a:buFont typeface="Arial" panose="020B0604020202020204" pitchFamily="34" charset="0"/>
              <a:buChar char="•"/>
            </a:pPr>
            <a:r>
              <a:rPr lang="en-US" sz="3200" dirty="0">
                <a:solidFill>
                  <a:srgbClr val="222222"/>
                </a:solidFill>
                <a:latin typeface="arial" panose="020B0604020202020204" pitchFamily="34" charset="0"/>
              </a:rPr>
              <a:t>Refers to the large number of products that sell in small quantities, as contrasted with the small number of best-selling products</a:t>
            </a:r>
          </a:p>
          <a:p>
            <a:pPr marL="457200" indent="-457200">
              <a:buFont typeface="Arial" panose="020B0604020202020204" pitchFamily="34" charset="0"/>
              <a:buChar char="•"/>
            </a:pPr>
            <a:r>
              <a:rPr lang="en-US" sz="3200" dirty="0"/>
              <a:t>Companies achieve </a:t>
            </a:r>
            <a:r>
              <a:rPr lang="en-US" sz="3200" b="1" dirty="0"/>
              <a:t>economies of scale</a:t>
            </a:r>
            <a:r>
              <a:rPr lang="en-US" sz="3200" dirty="0"/>
              <a:t> by increasing production and lowering costs - costs are spread over a larger number of goods. </a:t>
            </a:r>
            <a:r>
              <a:rPr lang="en-GB" altLang="en-US" sz="2800" dirty="0"/>
              <a:t>Reduction in per unit cost of production when production volume increases e.g.</a:t>
            </a:r>
          </a:p>
          <a:p>
            <a:pPr marL="114300">
              <a:lnSpc>
                <a:spcPct val="90000"/>
              </a:lnSpc>
              <a:defRPr/>
            </a:pPr>
            <a:r>
              <a:rPr lang="en-GB" altLang="en-US" sz="4000" dirty="0"/>
              <a:t>   </a:t>
            </a:r>
            <a:r>
              <a:rPr lang="en-GB" altLang="en-US" sz="2800" dirty="0"/>
              <a:t>Fixed cost of $1000 needed to produce 10 units of Pencil A</a:t>
            </a:r>
          </a:p>
          <a:p>
            <a:pPr marL="1028700" lvl="1" indent="-514350">
              <a:lnSpc>
                <a:spcPct val="90000"/>
              </a:lnSpc>
              <a:buFontTx/>
              <a:buAutoNum type="alphaLcParenR"/>
              <a:defRPr/>
            </a:pPr>
            <a:r>
              <a:rPr lang="en-GB" altLang="en-US" sz="2800" dirty="0"/>
              <a:t>Therefore, Cost = $100 per pencil</a:t>
            </a:r>
            <a:endParaRPr lang="en-US" altLang="en-US" sz="2800" dirty="0"/>
          </a:p>
          <a:p>
            <a:pPr marL="1028700" lvl="1" indent="-514350">
              <a:lnSpc>
                <a:spcPct val="90000"/>
              </a:lnSpc>
              <a:buFontTx/>
              <a:buAutoNum type="alphaLcParenR"/>
              <a:defRPr/>
            </a:pPr>
            <a:r>
              <a:rPr lang="en-GB" altLang="en-US" sz="2800" dirty="0"/>
              <a:t>To produce 50 units of Pencil A, Cost = $20</a:t>
            </a:r>
            <a:endParaRPr lang="en-US" altLang="en-US" sz="2800" dirty="0"/>
          </a:p>
          <a:p>
            <a:pPr marL="457200" indent="-457200">
              <a:buFont typeface="Arial" panose="020B0604020202020204" pitchFamily="34" charset="0"/>
              <a:buChar char="•"/>
            </a:pPr>
            <a:endParaRPr lang="en-US" sz="3200" dirty="0"/>
          </a:p>
        </p:txBody>
      </p:sp>
    </p:spTree>
    <p:extLst>
      <p:ext uri="{BB962C8B-B14F-4D97-AF65-F5344CB8AC3E}">
        <p14:creationId xmlns:p14="http://schemas.microsoft.com/office/powerpoint/2010/main" val="30199268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Title 1">
            <a:extLst>
              <a:ext uri="{FF2B5EF4-FFF2-40B4-BE49-F238E27FC236}">
                <a16:creationId xmlns:a16="http://schemas.microsoft.com/office/drawing/2014/main" id="{7482C5B7-E620-4AF3-B4D7-F3671E75493F}"/>
              </a:ext>
            </a:extLst>
          </p:cNvPr>
          <p:cNvSpPr>
            <a:spLocks noGrp="1"/>
          </p:cNvSpPr>
          <p:nvPr>
            <p:ph type="title"/>
          </p:nvPr>
        </p:nvSpPr>
        <p:spPr>
          <a:xfrm>
            <a:off x="0" y="1"/>
            <a:ext cx="10311925" cy="1367327"/>
          </a:xfrm>
        </p:spPr>
        <p:txBody>
          <a:bodyPr/>
          <a:lstStyle/>
          <a:p>
            <a:endParaRPr lang="en-US"/>
          </a:p>
        </p:txBody>
      </p:sp>
      <p:pic>
        <p:nvPicPr>
          <p:cNvPr id="1026" name="Picture 2" descr="Revenue and production cost for industrial, single-fortified and... |  Download Scientific Diagram">
            <a:extLst>
              <a:ext uri="{FF2B5EF4-FFF2-40B4-BE49-F238E27FC236}">
                <a16:creationId xmlns:a16="http://schemas.microsoft.com/office/drawing/2014/main" id="{078BEAAA-0860-498A-B837-400A1082A82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9817" y="2262462"/>
            <a:ext cx="10972800" cy="3395113"/>
          </a:xfrm>
          <a:prstGeom prst="rect">
            <a:avLst/>
          </a:prstGeom>
          <a:solidFill>
            <a:srgbClr val="FFFFFF"/>
          </a:solidFill>
        </p:spPr>
      </p:pic>
    </p:spTree>
    <p:extLst>
      <p:ext uri="{BB962C8B-B14F-4D97-AF65-F5344CB8AC3E}">
        <p14:creationId xmlns:p14="http://schemas.microsoft.com/office/powerpoint/2010/main" val="8198485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DC5B2-2B12-4B9C-A3E5-6BA1EE7DCD8E}"/>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CEF11D4-6F73-4AFE-9085-CAC8A233241A}"/>
              </a:ext>
            </a:extLst>
          </p:cNvPr>
          <p:cNvGraphicFramePr>
            <a:graphicFrameLocks noGrp="1"/>
          </p:cNvGraphicFramePr>
          <p:nvPr>
            <p:ph idx="1"/>
            <p:extLst>
              <p:ext uri="{D42A27DB-BD31-4B8C-83A1-F6EECF244321}">
                <p14:modId xmlns:p14="http://schemas.microsoft.com/office/powerpoint/2010/main" val="2394136386"/>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576672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21AE5-D557-4E7C-AFF2-3552AED2764F}"/>
              </a:ext>
            </a:extLst>
          </p:cNvPr>
          <p:cNvSpPr>
            <a:spLocks noGrp="1"/>
          </p:cNvSpPr>
          <p:nvPr>
            <p:ph type="title"/>
          </p:nvPr>
        </p:nvSpPr>
        <p:spPr/>
        <p:txBody>
          <a:bodyPr/>
          <a:lstStyle/>
          <a:p>
            <a:r>
              <a:rPr lang="en-US" dirty="0"/>
              <a:t>Digital Finance</a:t>
            </a:r>
          </a:p>
        </p:txBody>
      </p:sp>
      <p:sp>
        <p:nvSpPr>
          <p:cNvPr id="3" name="Content Placeholder 2">
            <a:extLst>
              <a:ext uri="{FF2B5EF4-FFF2-40B4-BE49-F238E27FC236}">
                <a16:creationId xmlns:a16="http://schemas.microsoft.com/office/drawing/2014/main" id="{EE4E9FFA-7B7F-4614-BDC7-4A8F350A46A8}"/>
              </a:ext>
            </a:extLst>
          </p:cNvPr>
          <p:cNvSpPr>
            <a:spLocks noGrp="1"/>
          </p:cNvSpPr>
          <p:nvPr>
            <p:ph idx="1"/>
          </p:nvPr>
        </p:nvSpPr>
        <p:spPr/>
        <p:txBody>
          <a:bodyPr/>
          <a:lstStyle/>
          <a:p>
            <a:r>
              <a:rPr lang="en-US" dirty="0"/>
              <a:t>In traditional payment models, customers can’t gain access to the settlement systems of all banks given the cost and efficiency restrictions</a:t>
            </a:r>
          </a:p>
          <a:p>
            <a:r>
              <a:rPr lang="en-US" dirty="0"/>
              <a:t>Third-party payment companies integrate the gateway interfaces and build a bridge between numerous merchants and banks </a:t>
            </a:r>
          </a:p>
          <a:p>
            <a:pPr lvl="1"/>
            <a:r>
              <a:rPr lang="en-US" dirty="0"/>
              <a:t>PayPal</a:t>
            </a:r>
          </a:p>
          <a:p>
            <a:pPr lvl="1"/>
            <a:r>
              <a:rPr lang="en-US" dirty="0"/>
              <a:t>Alipay</a:t>
            </a:r>
          </a:p>
          <a:p>
            <a:pPr lvl="1"/>
            <a:r>
              <a:rPr lang="en-US" dirty="0"/>
              <a:t>Google Wallet</a:t>
            </a:r>
          </a:p>
          <a:p>
            <a:pPr marL="457200" lvl="1" indent="0">
              <a:buNone/>
            </a:pPr>
            <a:endParaRPr lang="en-US" dirty="0"/>
          </a:p>
        </p:txBody>
      </p:sp>
    </p:spTree>
    <p:extLst>
      <p:ext uri="{BB962C8B-B14F-4D97-AF65-F5344CB8AC3E}">
        <p14:creationId xmlns:p14="http://schemas.microsoft.com/office/powerpoint/2010/main" val="25471229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DC5B2-2B12-4B9C-A3E5-6BA1EE7DCD8E}"/>
              </a:ext>
            </a:extLst>
          </p:cNvPr>
          <p:cNvSpPr>
            <a:spLocks noGrp="1"/>
          </p:cNvSpPr>
          <p:nvPr>
            <p:ph type="title"/>
          </p:nvPr>
        </p:nvSpPr>
        <p:spPr>
          <a:xfrm>
            <a:off x="0" y="1"/>
            <a:ext cx="10311925" cy="1367327"/>
          </a:xfrm>
        </p:spPr>
        <p:txBody>
          <a:bodyPr wrap="square" anchor="ctr">
            <a:normAutofit/>
          </a:bodyPr>
          <a:lstStyle/>
          <a:p>
            <a:r>
              <a:rPr lang="en-US" dirty="0"/>
              <a:t>The Digital Trends</a:t>
            </a:r>
          </a:p>
        </p:txBody>
      </p:sp>
      <p:graphicFrame>
        <p:nvGraphicFramePr>
          <p:cNvPr id="6" name="Content Placeholder 2">
            <a:extLst>
              <a:ext uri="{FF2B5EF4-FFF2-40B4-BE49-F238E27FC236}">
                <a16:creationId xmlns:a16="http://schemas.microsoft.com/office/drawing/2014/main" id="{6CEF11D4-6F73-4AFE-9085-CAC8A233241A}"/>
              </a:ext>
            </a:extLst>
          </p:cNvPr>
          <p:cNvGraphicFramePr>
            <a:graphicFrameLocks noGrp="1"/>
          </p:cNvGraphicFramePr>
          <p:nvPr>
            <p:ph idx="1"/>
            <p:extLst>
              <p:ext uri="{D42A27DB-BD31-4B8C-83A1-F6EECF244321}">
                <p14:modId xmlns:p14="http://schemas.microsoft.com/office/powerpoint/2010/main" val="2707754936"/>
              </p:ext>
            </p:extLst>
          </p:nvPr>
        </p:nvGraphicFramePr>
        <p:xfrm>
          <a:off x="649817"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1016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B7C95-2E4F-4AC8-9FDB-51E9CDAF2057}"/>
              </a:ext>
            </a:extLst>
          </p:cNvPr>
          <p:cNvSpPr>
            <a:spLocks noGrp="1"/>
          </p:cNvSpPr>
          <p:nvPr>
            <p:ph type="title"/>
          </p:nvPr>
        </p:nvSpPr>
        <p:spPr/>
        <p:txBody>
          <a:bodyPr/>
          <a:lstStyle/>
          <a:p>
            <a:r>
              <a:rPr lang="en-US" dirty="0"/>
              <a:t>Collaboration</a:t>
            </a:r>
          </a:p>
        </p:txBody>
      </p:sp>
      <p:sp>
        <p:nvSpPr>
          <p:cNvPr id="3" name="Content Placeholder 2">
            <a:extLst>
              <a:ext uri="{FF2B5EF4-FFF2-40B4-BE49-F238E27FC236}">
                <a16:creationId xmlns:a16="http://schemas.microsoft.com/office/drawing/2014/main" id="{2A501122-2CA8-4253-8A5E-A4ACD749BF2C}"/>
              </a:ext>
            </a:extLst>
          </p:cNvPr>
          <p:cNvSpPr>
            <a:spLocks noGrp="1"/>
          </p:cNvSpPr>
          <p:nvPr>
            <p:ph idx="1"/>
          </p:nvPr>
        </p:nvSpPr>
        <p:spPr/>
        <p:txBody>
          <a:bodyPr/>
          <a:lstStyle/>
          <a:p>
            <a:r>
              <a:rPr lang="en-US" dirty="0"/>
              <a:t>Collaboration: When a group of people come together and contribute their expertise for the benefit of a shared objective, project, or mission. </a:t>
            </a:r>
          </a:p>
          <a:p>
            <a:pPr lvl="1"/>
            <a:r>
              <a:rPr lang="en-US" dirty="0"/>
              <a:t>A photographer working with a designer to create a cover image</a:t>
            </a:r>
          </a:p>
          <a:p>
            <a:pPr lvl="1"/>
            <a:r>
              <a:rPr lang="en-US" dirty="0"/>
              <a:t>A technology department regularly meet with the marketing team to plug away at quarterly goals</a:t>
            </a:r>
          </a:p>
        </p:txBody>
      </p:sp>
    </p:spTree>
    <p:extLst>
      <p:ext uri="{BB962C8B-B14F-4D97-AF65-F5344CB8AC3E}">
        <p14:creationId xmlns:p14="http://schemas.microsoft.com/office/powerpoint/2010/main" val="38904384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F94CB-D3FF-4E75-80AC-A9FDB808562A}"/>
              </a:ext>
            </a:extLst>
          </p:cNvPr>
          <p:cNvSpPr>
            <a:spLocks noGrp="1"/>
          </p:cNvSpPr>
          <p:nvPr>
            <p:ph type="title"/>
          </p:nvPr>
        </p:nvSpPr>
        <p:spPr/>
        <p:txBody>
          <a:bodyPr/>
          <a:lstStyle/>
          <a:p>
            <a:r>
              <a:rPr lang="en-US" dirty="0"/>
              <a:t>Collaboration</a:t>
            </a:r>
          </a:p>
        </p:txBody>
      </p:sp>
      <p:sp>
        <p:nvSpPr>
          <p:cNvPr id="3" name="Content Placeholder 2">
            <a:extLst>
              <a:ext uri="{FF2B5EF4-FFF2-40B4-BE49-F238E27FC236}">
                <a16:creationId xmlns:a16="http://schemas.microsoft.com/office/drawing/2014/main" id="{9E32CCFE-19D4-4D88-B15C-5E0CC3F0B6DB}"/>
              </a:ext>
            </a:extLst>
          </p:cNvPr>
          <p:cNvSpPr>
            <a:spLocks noGrp="1"/>
          </p:cNvSpPr>
          <p:nvPr>
            <p:ph idx="1"/>
          </p:nvPr>
        </p:nvSpPr>
        <p:spPr>
          <a:xfrm>
            <a:off x="649817" y="1367328"/>
            <a:ext cx="10972800" cy="4855672"/>
          </a:xfrm>
        </p:spPr>
        <p:txBody>
          <a:bodyPr/>
          <a:lstStyle/>
          <a:p>
            <a:r>
              <a:rPr lang="en-US" dirty="0"/>
              <a:t>Collaboration Tools:</a:t>
            </a:r>
          </a:p>
          <a:p>
            <a:pPr lvl="1"/>
            <a:r>
              <a:rPr lang="en-US" dirty="0"/>
              <a:t>Google Drive</a:t>
            </a:r>
          </a:p>
          <a:p>
            <a:pPr lvl="1"/>
            <a:r>
              <a:rPr lang="en-US" dirty="0"/>
              <a:t>Google Meet</a:t>
            </a:r>
          </a:p>
          <a:p>
            <a:pPr lvl="1"/>
            <a:r>
              <a:rPr lang="en-US" dirty="0"/>
              <a:t>Skype</a:t>
            </a:r>
          </a:p>
          <a:p>
            <a:pPr lvl="1"/>
            <a:r>
              <a:rPr lang="en-US" dirty="0"/>
              <a:t>GoToMeeting</a:t>
            </a:r>
          </a:p>
          <a:p>
            <a:pPr lvl="1"/>
            <a:r>
              <a:rPr lang="en-US" dirty="0"/>
              <a:t>Microsoft Teams</a:t>
            </a:r>
          </a:p>
          <a:p>
            <a:pPr lvl="1"/>
            <a:r>
              <a:rPr lang="en-US" dirty="0"/>
              <a:t>One Drive</a:t>
            </a:r>
          </a:p>
          <a:p>
            <a:pPr lvl="1"/>
            <a:r>
              <a:rPr lang="en-US" dirty="0"/>
              <a:t>SharePoint</a:t>
            </a:r>
          </a:p>
          <a:p>
            <a:pPr lvl="1"/>
            <a:r>
              <a:rPr lang="en-US" dirty="0"/>
              <a:t>Yammer</a:t>
            </a:r>
          </a:p>
          <a:p>
            <a:pPr lvl="1"/>
            <a:r>
              <a:rPr lang="en-US" dirty="0"/>
              <a:t>Many, many more…</a:t>
            </a:r>
          </a:p>
        </p:txBody>
      </p:sp>
    </p:spTree>
    <p:extLst>
      <p:ext uri="{BB962C8B-B14F-4D97-AF65-F5344CB8AC3E}">
        <p14:creationId xmlns:p14="http://schemas.microsoft.com/office/powerpoint/2010/main" val="14246366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A9CCA-D228-43A1-8B7F-72E9C7CB8CE0}"/>
              </a:ext>
            </a:extLst>
          </p:cNvPr>
          <p:cNvSpPr>
            <a:spLocks noGrp="1"/>
          </p:cNvSpPr>
          <p:nvPr>
            <p:ph type="title"/>
          </p:nvPr>
        </p:nvSpPr>
        <p:spPr/>
        <p:txBody>
          <a:bodyPr/>
          <a:lstStyle/>
          <a:p>
            <a:endParaRPr lang="en-US"/>
          </a:p>
        </p:txBody>
      </p:sp>
      <p:pic>
        <p:nvPicPr>
          <p:cNvPr id="4" name="Online Media 3" title="How China Is Using Artificial Intelligence in Classrooms | WSJ">
            <a:hlinkClick r:id="" action="ppaction://media"/>
            <a:extLst>
              <a:ext uri="{FF2B5EF4-FFF2-40B4-BE49-F238E27FC236}">
                <a16:creationId xmlns:a16="http://schemas.microsoft.com/office/drawing/2014/main" id="{62AB1B78-6577-4924-8BE9-1F705BDB9B7A}"/>
              </a:ext>
            </a:extLst>
          </p:cNvPr>
          <p:cNvPicPr>
            <a:picLocks noGrp="1" noRot="1" noChangeAspect="1"/>
          </p:cNvPicPr>
          <p:nvPr>
            <p:ph idx="1"/>
            <a:videoFile r:link="rId1"/>
          </p:nvPr>
        </p:nvPicPr>
        <p:blipFill>
          <a:blip r:embed="rId3"/>
          <a:stretch>
            <a:fillRect/>
          </a:stretch>
        </p:blipFill>
        <p:spPr>
          <a:xfrm>
            <a:off x="14068" y="14068"/>
            <a:ext cx="5621188" cy="3175982"/>
          </a:xfrm>
          <a:prstGeom prst="rect">
            <a:avLst/>
          </a:prstGeom>
        </p:spPr>
      </p:pic>
    </p:spTree>
    <p:extLst>
      <p:ext uri="{BB962C8B-B14F-4D97-AF65-F5344CB8AC3E}">
        <p14:creationId xmlns:p14="http://schemas.microsoft.com/office/powerpoint/2010/main" val="2303730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CBF6D-E77E-4674-B949-961BB957152D}"/>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71E55D8B-925E-4FE7-94B1-68866C8002A6}"/>
              </a:ext>
            </a:extLst>
          </p:cNvPr>
          <p:cNvSpPr>
            <a:spLocks noGrp="1"/>
          </p:cNvSpPr>
          <p:nvPr>
            <p:ph idx="1"/>
          </p:nvPr>
        </p:nvSpPr>
        <p:spPr>
          <a:xfrm>
            <a:off x="649817" y="1697037"/>
            <a:ext cx="10972800" cy="4831353"/>
          </a:xfrm>
        </p:spPr>
        <p:txBody>
          <a:bodyPr/>
          <a:lstStyle/>
          <a:p>
            <a:r>
              <a:rPr lang="en-US" dirty="0"/>
              <a:t>Digitization of Businesses</a:t>
            </a:r>
          </a:p>
          <a:p>
            <a:r>
              <a:rPr lang="en-US" dirty="0"/>
              <a:t>Digital Trends Affecting the following areas:</a:t>
            </a:r>
          </a:p>
          <a:p>
            <a:pPr lvl="1"/>
            <a:r>
              <a:rPr lang="en-US" dirty="0"/>
              <a:t>Infrastructure</a:t>
            </a:r>
          </a:p>
          <a:p>
            <a:pPr lvl="1"/>
            <a:r>
              <a:rPr lang="en-US" dirty="0"/>
              <a:t>Productivity</a:t>
            </a:r>
          </a:p>
          <a:p>
            <a:pPr lvl="1"/>
            <a:r>
              <a:rPr lang="en-US" dirty="0"/>
              <a:t>Production Organization</a:t>
            </a:r>
          </a:p>
          <a:p>
            <a:pPr lvl="1"/>
            <a:r>
              <a:rPr lang="en-US" dirty="0"/>
              <a:t>Economic Growth</a:t>
            </a:r>
          </a:p>
          <a:p>
            <a:pPr lvl="1"/>
            <a:r>
              <a:rPr lang="en-US" dirty="0"/>
              <a:t>Competitive Landscape</a:t>
            </a:r>
          </a:p>
          <a:p>
            <a:pPr lvl="1"/>
            <a:r>
              <a:rPr lang="en-US" dirty="0"/>
              <a:t>Financial Entities and Technologies</a:t>
            </a:r>
          </a:p>
          <a:p>
            <a:pPr lvl="1"/>
            <a:r>
              <a:rPr lang="en-US" dirty="0"/>
              <a:t>Operation Models</a:t>
            </a:r>
          </a:p>
        </p:txBody>
      </p:sp>
    </p:spTree>
    <p:extLst>
      <p:ext uri="{BB962C8B-B14F-4D97-AF65-F5344CB8AC3E}">
        <p14:creationId xmlns:p14="http://schemas.microsoft.com/office/powerpoint/2010/main" val="4468146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94A81-853A-43F0-A2F6-C57F1AE3AA8B}"/>
              </a:ext>
            </a:extLst>
          </p:cNvPr>
          <p:cNvSpPr>
            <a:spLocks noGrp="1"/>
          </p:cNvSpPr>
          <p:nvPr>
            <p:ph type="title"/>
          </p:nvPr>
        </p:nvSpPr>
        <p:spPr/>
        <p:txBody>
          <a:bodyPr/>
          <a:lstStyle/>
          <a:p>
            <a:r>
              <a:rPr lang="en-SG" altLang="en-US" kern="0" dirty="0"/>
              <a:t>Questions and Answer</a:t>
            </a:r>
            <a:endParaRPr lang="en-US" dirty="0"/>
          </a:p>
        </p:txBody>
      </p:sp>
      <p:sp>
        <p:nvSpPr>
          <p:cNvPr id="5" name="Text Box 2">
            <a:extLst>
              <a:ext uri="{FF2B5EF4-FFF2-40B4-BE49-F238E27FC236}">
                <a16:creationId xmlns:a16="http://schemas.microsoft.com/office/drawing/2014/main" id="{06655399-1AA0-499D-9F83-D25A33D10FB3}"/>
              </a:ext>
            </a:extLst>
          </p:cNvPr>
          <p:cNvSpPr txBox="1">
            <a:spLocks noChangeArrowheads="1"/>
          </p:cNvSpPr>
          <p:nvPr/>
        </p:nvSpPr>
        <p:spPr bwMode="auto">
          <a:xfrm>
            <a:off x="2590800" y="2286000"/>
            <a:ext cx="4968875"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9600" dirty="0"/>
              <a:t>Q &amp; A</a:t>
            </a:r>
          </a:p>
        </p:txBody>
      </p:sp>
    </p:spTree>
    <p:extLst>
      <p:ext uri="{BB962C8B-B14F-4D97-AF65-F5344CB8AC3E}">
        <p14:creationId xmlns:p14="http://schemas.microsoft.com/office/powerpoint/2010/main" val="33991855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2DC4-A488-4E79-B51B-CA576DB11655}"/>
              </a:ext>
            </a:extLst>
          </p:cNvPr>
          <p:cNvSpPr>
            <a:spLocks noGrp="1"/>
          </p:cNvSpPr>
          <p:nvPr>
            <p:ph type="title"/>
          </p:nvPr>
        </p:nvSpPr>
        <p:spPr/>
        <p:txBody>
          <a:bodyPr/>
          <a:lstStyle/>
          <a:p>
            <a:r>
              <a:rPr lang="en-US" dirty="0"/>
              <a:t>Next Lecture</a:t>
            </a:r>
            <a:br>
              <a:rPr lang="en-US" dirty="0"/>
            </a:br>
            <a:endParaRPr lang="en-US" dirty="0"/>
          </a:p>
        </p:txBody>
      </p:sp>
      <p:sp>
        <p:nvSpPr>
          <p:cNvPr id="3" name="Content Placeholder 2">
            <a:extLst>
              <a:ext uri="{FF2B5EF4-FFF2-40B4-BE49-F238E27FC236}">
                <a16:creationId xmlns:a16="http://schemas.microsoft.com/office/drawing/2014/main" id="{FDD2AF34-FA72-4CCE-AF24-76B70A7AF362}"/>
              </a:ext>
            </a:extLst>
          </p:cNvPr>
          <p:cNvSpPr>
            <a:spLocks noGrp="1"/>
          </p:cNvSpPr>
          <p:nvPr>
            <p:ph idx="1"/>
          </p:nvPr>
        </p:nvSpPr>
        <p:spPr/>
        <p:txBody>
          <a:bodyPr/>
          <a:lstStyle/>
          <a:p>
            <a:r>
              <a:rPr lang="en-US" dirty="0"/>
              <a:t>Innovation through Artificial Intelligence</a:t>
            </a:r>
          </a:p>
        </p:txBody>
      </p:sp>
      <p:pic>
        <p:nvPicPr>
          <p:cNvPr id="5" name="Picture 4">
            <a:extLst>
              <a:ext uri="{FF2B5EF4-FFF2-40B4-BE49-F238E27FC236}">
                <a16:creationId xmlns:a16="http://schemas.microsoft.com/office/drawing/2014/main" id="{A3FC1BB4-ECCB-4695-A590-FC5CB18FBD73}"/>
              </a:ext>
            </a:extLst>
          </p:cNvPr>
          <p:cNvPicPr>
            <a:picLocks noChangeAspect="1"/>
          </p:cNvPicPr>
          <p:nvPr/>
        </p:nvPicPr>
        <p:blipFill>
          <a:blip r:embed="rId2"/>
          <a:stretch>
            <a:fillRect/>
          </a:stretch>
        </p:blipFill>
        <p:spPr>
          <a:xfrm>
            <a:off x="3309772" y="2709862"/>
            <a:ext cx="5021428" cy="3713163"/>
          </a:xfrm>
          <a:prstGeom prst="rect">
            <a:avLst/>
          </a:prstGeom>
        </p:spPr>
      </p:pic>
    </p:spTree>
    <p:extLst>
      <p:ext uri="{BB962C8B-B14F-4D97-AF65-F5344CB8AC3E}">
        <p14:creationId xmlns:p14="http://schemas.microsoft.com/office/powerpoint/2010/main" val="77585051"/>
      </p:ext>
    </p:extLst>
  </p:cSld>
  <p:clrMapOvr>
    <a:masterClrMapping/>
  </p:clrMapOvr>
</p:sld>
</file>

<file path=ppt/theme/theme1.xml><?xml version="1.0" encoding="utf-8"?>
<a:theme xmlns:a="http://schemas.openxmlformats.org/drawingml/2006/main" name="UCTI-Template-foundation-level">
  <a:themeElements>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UCTI-Template-foundation-lev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41C6B378645544D9F10C30D9F2BCFB4" ma:contentTypeVersion="9" ma:contentTypeDescription="Create a new document." ma:contentTypeScope="" ma:versionID="3dcaa56ea438123d557e24c465044b3c">
  <xsd:schema xmlns:xsd="http://www.w3.org/2001/XMLSchema" xmlns:xs="http://www.w3.org/2001/XMLSchema" xmlns:p="http://schemas.microsoft.com/office/2006/metadata/properties" xmlns:ns2="6d54a27f-32b3-46ed-801e-110df5e77a46" targetNamespace="http://schemas.microsoft.com/office/2006/metadata/properties" ma:root="true" ma:fieldsID="4208030726db9b86847690f0b0a379ad" ns2:_="">
    <xsd:import namespace="6d54a27f-32b3-46ed-801e-110df5e77a4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AutoKeyPoints" minOccurs="0"/>
                <xsd:element ref="ns2:MediaServiceKeyPoint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54a27f-32b3-46ed-801e-110df5e77a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1771C51-00B8-4172-A11A-9B866DF0E131}">
  <ds:schemaRefs>
    <ds:schemaRef ds:uri="http://schemas.microsoft.com/sharepoint/v3/contenttype/forms"/>
  </ds:schemaRefs>
</ds:datastoreItem>
</file>

<file path=customXml/itemProps2.xml><?xml version="1.0" encoding="utf-8"?>
<ds:datastoreItem xmlns:ds="http://schemas.openxmlformats.org/officeDocument/2006/customXml" ds:itemID="{76E7441C-707E-423D-81EA-AA18286B83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54a27f-32b3-46ed-801e-110df5e77a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208496D-820B-4967-A25B-993BAD963F41}">
  <ds:schemaRefs>
    <ds:schemaRef ds:uri="http://purl.org/dc/elements/1.1/"/>
    <ds:schemaRef ds:uri="http://purl.org/dc/terms/"/>
    <ds:schemaRef ds:uri="http://schemas.microsoft.com/office/2006/metadata/properties"/>
    <ds:schemaRef ds:uri="6d54a27f-32b3-46ed-801e-110df5e77a46"/>
    <ds:schemaRef ds:uri="http://www.w3.org/XML/1998/namespace"/>
    <ds:schemaRef ds:uri="http://schemas.microsoft.com/office/infopath/2007/PartnerControls"/>
    <ds:schemaRef ds:uri="http://schemas.openxmlformats.org/package/2006/metadata/core-properties"/>
    <ds:schemaRef ds:uri="http://schemas.microsoft.com/office/2006/documentManagement/typ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1129</TotalTime>
  <Words>2167</Words>
  <Application>Microsoft Office PowerPoint</Application>
  <PresentationFormat>Widescreen</PresentationFormat>
  <Paragraphs>217</Paragraphs>
  <Slides>47</Slides>
  <Notes>0</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Arial</vt:lpstr>
      <vt:lpstr>Calibri</vt:lpstr>
      <vt:lpstr>Google Sans</vt:lpstr>
      <vt:lpstr>Open Sans</vt:lpstr>
      <vt:lpstr>UCTI-Template-foundation-level</vt:lpstr>
      <vt:lpstr>Digital Thinking and Innovation</vt:lpstr>
      <vt:lpstr>Introduction</vt:lpstr>
      <vt:lpstr>Learning Outcomes for the Lecture</vt:lpstr>
      <vt:lpstr>Content</vt:lpstr>
      <vt:lpstr>Mind Map</vt:lpstr>
      <vt:lpstr>Learning Outcomes for the Lecture</vt:lpstr>
      <vt:lpstr>A Business World Reshaped by Digitization </vt:lpstr>
      <vt:lpstr>A Business World Reshaped by Digitization </vt:lpstr>
      <vt:lpstr>A Business World Reshaped by Digitization</vt:lpstr>
      <vt:lpstr>Kodak: Missing Its Own Moments</vt:lpstr>
      <vt:lpstr>Kodak: Missing Its Own Moments</vt:lpstr>
      <vt:lpstr>Learning Outcomes for the Lecture</vt:lpstr>
      <vt:lpstr>The Ever-Changing Digital Business World</vt:lpstr>
      <vt:lpstr>Case Study</vt:lpstr>
      <vt:lpstr>Learning Outcomes for the Lecture</vt:lpstr>
      <vt:lpstr>The Digital Trends</vt:lpstr>
      <vt:lpstr>The Digital Trends</vt:lpstr>
      <vt:lpstr>Group Discussion</vt:lpstr>
      <vt:lpstr>The Digital Trends</vt:lpstr>
      <vt:lpstr>Big Data</vt:lpstr>
      <vt:lpstr>Cloud Computing</vt:lpstr>
      <vt:lpstr>Mobile Internet</vt:lpstr>
      <vt:lpstr>The Digital Trends</vt:lpstr>
      <vt:lpstr>Software-Defined Anything</vt:lpstr>
      <vt:lpstr>Software-Defined Anything</vt:lpstr>
      <vt:lpstr>The Digital Trends</vt:lpstr>
      <vt:lpstr>The Digital Trends</vt:lpstr>
      <vt:lpstr>Outsourcing and Crowdsourcing</vt:lpstr>
      <vt:lpstr>Outsourcing and Crowdsourcing</vt:lpstr>
      <vt:lpstr>Outsourcing and Crowdsourcing</vt:lpstr>
      <vt:lpstr>The Digital Trends</vt:lpstr>
      <vt:lpstr>Prosumer Economy</vt:lpstr>
      <vt:lpstr>Prosumer Economy</vt:lpstr>
      <vt:lpstr>The Digital Trends</vt:lpstr>
      <vt:lpstr>Long Tail</vt:lpstr>
      <vt:lpstr>Long Tail</vt:lpstr>
      <vt:lpstr>Long Tail and Economy of Scale</vt:lpstr>
      <vt:lpstr>PowerPoint Presentation</vt:lpstr>
      <vt:lpstr>The Digital Trends</vt:lpstr>
      <vt:lpstr>Digital Finance</vt:lpstr>
      <vt:lpstr>The Digital Trends</vt:lpstr>
      <vt:lpstr>Collaboration</vt:lpstr>
      <vt:lpstr>Collaboration</vt:lpstr>
      <vt:lpstr>PowerPoint Presentation</vt:lpstr>
      <vt:lpstr>Summary</vt:lpstr>
      <vt:lpstr>Questions and Answer</vt:lpstr>
      <vt:lpstr>Next Lecture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Thinking and Innovation</dc:title>
  <dc:creator>Rozita Yati Masri</dc:creator>
  <cp:lastModifiedBy>Dr. Safaie Mangir</cp:lastModifiedBy>
  <cp:revision>27</cp:revision>
  <dcterms:created xsi:type="dcterms:W3CDTF">2020-05-10T10:13:35Z</dcterms:created>
  <dcterms:modified xsi:type="dcterms:W3CDTF">2025-09-17T07:12:59Z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0x010100241C6B378645544D9F10C30D9F2BCFB4</vt:lpwstr>
  </property>
</Properties>
</file>