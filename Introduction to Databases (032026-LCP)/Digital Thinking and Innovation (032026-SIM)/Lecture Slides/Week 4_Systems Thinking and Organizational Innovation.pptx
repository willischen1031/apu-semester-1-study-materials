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6"/>
  </p:notesMasterIdLst>
  <p:sldIdLst>
    <p:sldId id="256" r:id="rId5"/>
    <p:sldId id="268" r:id="rId6"/>
    <p:sldId id="269" r:id="rId7"/>
    <p:sldId id="270" r:id="rId8"/>
    <p:sldId id="271" r:id="rId9"/>
    <p:sldId id="305" r:id="rId10"/>
    <p:sldId id="306" r:id="rId11"/>
    <p:sldId id="307" r:id="rId12"/>
    <p:sldId id="308" r:id="rId13"/>
    <p:sldId id="287" r:id="rId14"/>
    <p:sldId id="288" r:id="rId15"/>
    <p:sldId id="289" r:id="rId16"/>
    <p:sldId id="290" r:id="rId17"/>
    <p:sldId id="291" r:id="rId18"/>
    <p:sldId id="292" r:id="rId19"/>
    <p:sldId id="293" r:id="rId20"/>
    <p:sldId id="266" r:id="rId21"/>
    <p:sldId id="294" r:id="rId22"/>
    <p:sldId id="295" r:id="rId23"/>
    <p:sldId id="296" r:id="rId24"/>
    <p:sldId id="297" r:id="rId25"/>
    <p:sldId id="298" r:id="rId26"/>
    <p:sldId id="299" r:id="rId27"/>
    <p:sldId id="300" r:id="rId28"/>
    <p:sldId id="301" r:id="rId29"/>
    <p:sldId id="302" r:id="rId30"/>
    <p:sldId id="303" r:id="rId31"/>
    <p:sldId id="304" r:id="rId32"/>
    <p:sldId id="267" r:id="rId33"/>
    <p:sldId id="272" r:id="rId34"/>
    <p:sldId id="27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BD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FDA34B-D0B6-406E-88DF-749A5E218F63}" v="5" dt="2020-10-11T08:56:39.0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2593" autoAdjust="0"/>
  </p:normalViewPr>
  <p:slideViewPr>
    <p:cSldViewPr snapToGrid="0">
      <p:cViewPr varScale="1">
        <p:scale>
          <a:sx n="52" d="100"/>
          <a:sy n="52" d="100"/>
        </p:scale>
        <p:origin x="10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zita Yati Masri" userId="fb57b885-c824-4da2-946a-d71ef420875c" providerId="ADAL" clId="{17FDA34B-D0B6-406E-88DF-749A5E218F63}"/>
    <pc:docChg chg="modMainMaster">
      <pc:chgData name="Rozita Yati Masri" userId="fb57b885-c824-4da2-946a-d71ef420875c" providerId="ADAL" clId="{17FDA34B-D0B6-406E-88DF-749A5E218F63}" dt="2020-10-11T08:56:39.044" v="5"/>
      <pc:docMkLst>
        <pc:docMk/>
      </pc:docMkLst>
      <pc:sldMasterChg chg="addSp delSp modSp">
        <pc:chgData name="Rozita Yati Masri" userId="fb57b885-c824-4da2-946a-d71ef420875c" providerId="ADAL" clId="{17FDA34B-D0B6-406E-88DF-749A5E218F63}" dt="2020-10-11T08:56:39.044" v="5"/>
        <pc:sldMasterMkLst>
          <pc:docMk/>
          <pc:sldMasterMk cId="717840518" sldId="2147483660"/>
        </pc:sldMasterMkLst>
        <pc:spChg chg="add del">
          <ac:chgData name="Rozita Yati Masri" userId="fb57b885-c824-4da2-946a-d71ef420875c" providerId="ADAL" clId="{17FDA34B-D0B6-406E-88DF-749A5E218F63}" dt="2020-10-11T08:55:53.346" v="1"/>
          <ac:spMkLst>
            <pc:docMk/>
            <pc:sldMasterMk cId="717840518" sldId="2147483660"/>
            <ac:spMk id="3" creationId="{E8E5ADD0-D5EB-4AE0-921F-4195D0B0622B}"/>
          </ac:spMkLst>
        </pc:spChg>
        <pc:spChg chg="add">
          <ac:chgData name="Rozita Yati Masri" userId="fb57b885-c824-4da2-946a-d71ef420875c" providerId="ADAL" clId="{17FDA34B-D0B6-406E-88DF-749A5E218F63}" dt="2020-10-11T08:55:58.124" v="2"/>
          <ac:spMkLst>
            <pc:docMk/>
            <pc:sldMasterMk cId="717840518" sldId="2147483660"/>
            <ac:spMk id="10" creationId="{5677EBFF-9783-4AD9-9831-5EFFD403363A}"/>
          </ac:spMkLst>
        </pc:spChg>
        <pc:spChg chg="add mod">
          <ac:chgData name="Rozita Yati Masri" userId="fb57b885-c824-4da2-946a-d71ef420875c" providerId="ADAL" clId="{17FDA34B-D0B6-406E-88DF-749A5E218F63}" dt="2020-10-11T08:56:39.044" v="5"/>
          <ac:spMkLst>
            <pc:docMk/>
            <pc:sldMasterMk cId="717840518" sldId="2147483660"/>
            <ac:spMk id="11" creationId="{0F604E68-1D6A-4B05-989E-42B01B2226BF}"/>
          </ac:spMkLst>
        </pc:spChg>
        <pc:spChg chg="add mod">
          <ac:chgData name="Rozita Yati Masri" userId="fb57b885-c824-4da2-946a-d71ef420875c" providerId="ADAL" clId="{17FDA34B-D0B6-406E-88DF-749A5E218F63}" dt="2020-10-11T08:56:08.120" v="4" actId="20577"/>
          <ac:spMkLst>
            <pc:docMk/>
            <pc:sldMasterMk cId="717840518" sldId="2147483660"/>
            <ac:spMk id="12" creationId="{804A6199-C2A4-4332-A026-5D4201C6CC99}"/>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DE6FBD-FD2F-4294-A603-1FB3D5D542E9}" type="datetimeFigureOut">
              <a:rPr lang="en-US" smtClean="0"/>
              <a:t>8/15/2025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168EE-D850-451D-9C02-59FCD0054A56}" type="slidenum">
              <a:rPr lang="en-US" smtClean="0"/>
              <a:t>‹#›</a:t>
            </a:fld>
            <a:endParaRPr lang="en-US"/>
          </a:p>
        </p:txBody>
      </p:sp>
    </p:spTree>
    <p:extLst>
      <p:ext uri="{BB962C8B-B14F-4D97-AF65-F5344CB8AC3E}">
        <p14:creationId xmlns:p14="http://schemas.microsoft.com/office/powerpoint/2010/main" val="1552484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19A55E57-38E4-41C7-8154-A8B991DEA4F6}"/>
              </a:ext>
            </a:extLst>
          </p:cNvPr>
          <p:cNvSpPr>
            <a:spLocks noChangeArrowheads="1"/>
          </p:cNvSpPr>
          <p:nvPr/>
        </p:nvSpPr>
        <p:spPr bwMode="auto">
          <a:xfrm>
            <a:off x="0" y="0"/>
            <a:ext cx="12192000" cy="3429000"/>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sz="1800"/>
          </a:p>
        </p:txBody>
      </p:sp>
      <p:pic>
        <p:nvPicPr>
          <p:cNvPr id="5" name="Picture 10" descr="APU Logo_Final_Vertical_V1_HR1 copy.png">
            <a:extLst>
              <a:ext uri="{FF2B5EF4-FFF2-40B4-BE49-F238E27FC236}">
                <a16:creationId xmlns:a16="http://schemas.microsoft.com/office/drawing/2014/main" id="{D82D9B23-9521-4397-A0C7-7D0BE0B0C4F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517" y="2514600"/>
            <a:ext cx="3373968"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2" name="Rectangle 2"/>
          <p:cNvSpPr>
            <a:spLocks noGrp="1" noChangeArrowheads="1"/>
          </p:cNvSpPr>
          <p:nvPr>
            <p:ph type="ctrTitle"/>
          </p:nvPr>
        </p:nvSpPr>
        <p:spPr>
          <a:xfrm>
            <a:off x="3185584" y="1952626"/>
            <a:ext cx="9006416" cy="1470025"/>
          </a:xfrm>
        </p:spPr>
        <p:txBody>
          <a:bodyPr/>
          <a:lstStyle>
            <a:lvl1pPr>
              <a:defRPr/>
            </a:lvl1pPr>
          </a:lstStyle>
          <a:p>
            <a:r>
              <a:rPr lang="en-US"/>
              <a:t>Click to edit Master title style</a:t>
            </a:r>
            <a:endParaRPr lang="en-GB"/>
          </a:p>
        </p:txBody>
      </p:sp>
      <p:sp>
        <p:nvSpPr>
          <p:cNvPr id="87043" name="Rectangle 3"/>
          <p:cNvSpPr>
            <a:spLocks noGrp="1" noChangeArrowheads="1"/>
          </p:cNvSpPr>
          <p:nvPr>
            <p:ph type="subTitle" idx="1"/>
          </p:nvPr>
        </p:nvSpPr>
        <p:spPr>
          <a:xfrm>
            <a:off x="3166533" y="3886200"/>
            <a:ext cx="9025467" cy="1752600"/>
          </a:xfrm>
        </p:spPr>
        <p:txBody>
          <a:bodyPr/>
          <a:lstStyle>
            <a:lvl1pPr marL="0" indent="0" algn="ctr">
              <a:buFontTx/>
              <a:buNone/>
              <a:defRPr/>
            </a:lvl1pPr>
          </a:lstStyle>
          <a:p>
            <a:r>
              <a:rPr lang="en-US"/>
              <a:t>Click to edit Master subtitle style</a:t>
            </a:r>
            <a:endParaRPr lang="en-GB"/>
          </a:p>
        </p:txBody>
      </p:sp>
    </p:spTree>
    <p:extLst>
      <p:ext uri="{BB962C8B-B14F-4D97-AF65-F5344CB8AC3E}">
        <p14:creationId xmlns:p14="http://schemas.microsoft.com/office/powerpoint/2010/main" val="1328361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311925" cy="1367327"/>
          </a:xfrm>
          <a:solidFill>
            <a:srgbClr val="A2FFA3"/>
          </a:solidFill>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C94CCE7B-8C0C-42E3-87DC-DE817FB78B76}"/>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34723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a:extLst>
              <a:ext uri="{FF2B5EF4-FFF2-40B4-BE49-F238E27FC236}">
                <a16:creationId xmlns:a16="http://schemas.microsoft.com/office/drawing/2014/main" id="{B6392066-0EF0-4FF8-93AA-2093B8EDA09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3471153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49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D7A2D113-A871-44A2-B949-2DB5FAFF9E66}"/>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2372881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a:extLst>
              <a:ext uri="{FF2B5EF4-FFF2-40B4-BE49-F238E27FC236}">
                <a16:creationId xmlns:a16="http://schemas.microsoft.com/office/drawing/2014/main" id="{47D21544-1A19-450A-9A54-709EC423BCFE}"/>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26571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D77AD2FE-548C-4C8C-86B4-F659E1B7E94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850485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17C336-48FB-4D30-BD06-54EA5295C452}"/>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354995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3535719-93FB-4BCB-999D-ADC5B6C8FEA1}"/>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220895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E197F50-3179-4421-9233-93FB4F4AE80B}"/>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845223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790899FE-50CE-4592-8241-9731B40B4305}"/>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68065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9417" y="274638"/>
            <a:ext cx="2743200" cy="59483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47700" y="274638"/>
            <a:ext cx="8028517" cy="594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DFB6B087-45F3-4C06-AF9A-3C177988001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929502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74638"/>
            <a:ext cx="9389533" cy="1143000"/>
          </a:xfrm>
        </p:spPr>
        <p:txBody>
          <a:bodyPr/>
          <a:lstStyle/>
          <a:p>
            <a:r>
              <a:rPr lang="en-US"/>
              <a:t>Click to edit Master title style</a:t>
            </a:r>
          </a:p>
        </p:txBody>
      </p:sp>
      <p:sp>
        <p:nvSpPr>
          <p:cNvPr id="3" name="Text Placeholder 2"/>
          <p:cNvSpPr>
            <a:spLocks noGrp="1"/>
          </p:cNvSpPr>
          <p:nvPr>
            <p:ph type="body" sz="half" idx="1"/>
          </p:nvPr>
        </p:nvSpPr>
        <p:spPr>
          <a:xfrm>
            <a:off x="624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2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5A6DC315-7F58-4763-BC2C-AF70BD9B47C6}"/>
              </a:ext>
            </a:extLst>
          </p:cNvPr>
          <p:cNvSpPr>
            <a:spLocks noGrp="1" noChangeArrowheads="1"/>
          </p:cNvSpPr>
          <p:nvPr>
            <p:ph type="ftr" sz="quarter" idx="10"/>
          </p:nvPr>
        </p:nvSpPr>
        <p:spPr>
          <a:ln/>
        </p:spPr>
        <p:txBody>
          <a:bodyPr/>
          <a:lstStyle>
            <a:lvl1pPr>
              <a:defRPr/>
            </a:lvl1pPr>
          </a:lstStyle>
          <a:p>
            <a:pPr>
              <a:defRPr/>
            </a:pPr>
            <a:fld id="{17B7D8E3-266E-47CB-8CC4-A3D79B48A3B5}" type="slidenum">
              <a:rPr lang="en-US" altLang="en-US"/>
              <a:pPr>
                <a:defRPr/>
              </a:pPr>
              <a:t>‹#›</a:t>
            </a:fld>
            <a:endParaRPr lang="en-US" altLang="en-US"/>
          </a:p>
        </p:txBody>
      </p:sp>
    </p:spTree>
    <p:extLst>
      <p:ext uri="{BB962C8B-B14F-4D97-AF65-F5344CB8AC3E}">
        <p14:creationId xmlns:p14="http://schemas.microsoft.com/office/powerpoint/2010/main" val="174847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7" descr="ucti_globe1_transparent_small">
            <a:extLst>
              <a:ext uri="{FF2B5EF4-FFF2-40B4-BE49-F238E27FC236}">
                <a16:creationId xmlns:a16="http://schemas.microsoft.com/office/drawing/2014/main" id="{78D6A39E-0BA3-4626-8EF0-3422758B0867}"/>
              </a:ext>
            </a:extLst>
          </p:cNvPr>
          <p:cNvPicPr>
            <a:picLocks noChangeAspect="1" noChangeArrowheads="1"/>
          </p:cNvPicPr>
          <p:nvPr/>
        </p:nvPicPr>
        <p:blipFill>
          <a:blip r:embed="rId14">
            <a:lum bright="80000" contrast="-90000"/>
            <a:extLst>
              <a:ext uri="{28A0092B-C50C-407E-A947-70E740481C1C}">
                <a14:useLocalDpi xmlns:a14="http://schemas.microsoft.com/office/drawing/2010/main" val="0"/>
              </a:ext>
            </a:extLst>
          </a:blip>
          <a:srcRect/>
          <a:stretch>
            <a:fillRect/>
          </a:stretch>
        </p:blipFill>
        <p:spPr bwMode="auto">
          <a:xfrm>
            <a:off x="-1921934" y="2570164"/>
            <a:ext cx="9609667"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5D889B73-4BC7-4175-8777-89F6049860A0}"/>
              </a:ext>
            </a:extLst>
          </p:cNvPr>
          <p:cNvSpPr>
            <a:spLocks noChangeArrowheads="1"/>
          </p:cNvSpPr>
          <p:nvPr/>
        </p:nvSpPr>
        <p:spPr bwMode="auto">
          <a:xfrm>
            <a:off x="-55034" y="6564768"/>
            <a:ext cx="12192000" cy="236537"/>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GB" sz="1800" dirty="0"/>
          </a:p>
        </p:txBody>
      </p:sp>
      <p:sp>
        <p:nvSpPr>
          <p:cNvPr id="1028" name="Rectangle 4">
            <a:extLst>
              <a:ext uri="{FF2B5EF4-FFF2-40B4-BE49-F238E27FC236}">
                <a16:creationId xmlns:a16="http://schemas.microsoft.com/office/drawing/2014/main" id="{01326838-1107-4D82-B9EC-B2E5D9B1D4B4}"/>
              </a:ext>
            </a:extLst>
          </p:cNvPr>
          <p:cNvSpPr>
            <a:spLocks noGrp="1" noChangeArrowheads="1"/>
          </p:cNvSpPr>
          <p:nvPr>
            <p:ph type="body" idx="1"/>
          </p:nvPr>
        </p:nvSpPr>
        <p:spPr bwMode="auto">
          <a:xfrm>
            <a:off x="649817" y="16970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6">
            <a:extLst>
              <a:ext uri="{FF2B5EF4-FFF2-40B4-BE49-F238E27FC236}">
                <a16:creationId xmlns:a16="http://schemas.microsoft.com/office/drawing/2014/main" id="{3E5B5E28-740F-4CE1-8D47-D46EA3E4FCE8}"/>
              </a:ext>
            </a:extLst>
          </p:cNvPr>
          <p:cNvSpPr>
            <a:spLocks noGrp="1" noChangeArrowheads="1"/>
          </p:cNvSpPr>
          <p:nvPr>
            <p:ph type="title"/>
          </p:nvPr>
        </p:nvSpPr>
        <p:spPr bwMode="auto">
          <a:xfrm>
            <a:off x="647700" y="274638"/>
            <a:ext cx="93895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6024" name="Rectangle 8">
            <a:extLst>
              <a:ext uri="{FF2B5EF4-FFF2-40B4-BE49-F238E27FC236}">
                <a16:creationId xmlns:a16="http://schemas.microsoft.com/office/drawing/2014/main" id="{C50B826F-79B0-4D38-A8FA-4FBA74C95EB1}"/>
              </a:ext>
            </a:extLst>
          </p:cNvPr>
          <p:cNvSpPr>
            <a:spLocks noGrp="1" noChangeArrowheads="1"/>
          </p:cNvSpPr>
          <p:nvPr>
            <p:ph type="ftr" sz="quarter" idx="3"/>
          </p:nvPr>
        </p:nvSpPr>
        <p:spPr bwMode="auto">
          <a:xfrm>
            <a:off x="8331200" y="6623050"/>
            <a:ext cx="38608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800" smtClean="0">
                <a:latin typeface="Calibri" panose="020F0502020204030204" pitchFamily="34" charset="0"/>
                <a:cs typeface="Calibri" panose="020F0502020204030204" pitchFamily="34" charset="0"/>
              </a:defRPr>
            </a:lvl1pPr>
          </a:lstStyle>
          <a:p>
            <a:pPr>
              <a:defRPr/>
            </a:pPr>
            <a:fld id="{8716479A-60E4-42E1-B9D1-F4016DE67B5A}" type="slidenum">
              <a:rPr lang="en-US" altLang="en-US"/>
              <a:pPr>
                <a:defRPr/>
              </a:pPr>
              <a:t>‹#›</a:t>
            </a:fld>
            <a:endParaRPr lang="en-US" altLang="en-US"/>
          </a:p>
        </p:txBody>
      </p:sp>
      <p:sp>
        <p:nvSpPr>
          <p:cNvPr id="1032" name="Rectangle 9">
            <a:extLst>
              <a:ext uri="{FF2B5EF4-FFF2-40B4-BE49-F238E27FC236}">
                <a16:creationId xmlns:a16="http://schemas.microsoft.com/office/drawing/2014/main" id="{9E037968-5E94-4DFF-A255-3B9193204320}"/>
              </a:ext>
            </a:extLst>
          </p:cNvPr>
          <p:cNvSpPr>
            <a:spLocks noChangeArrowheads="1"/>
          </p:cNvSpPr>
          <p:nvPr/>
        </p:nvSpPr>
        <p:spPr bwMode="auto">
          <a:xfrm>
            <a:off x="4233333" y="6597650"/>
            <a:ext cx="3615267" cy="260350"/>
          </a:xfrm>
          <a:prstGeom prst="rect">
            <a:avLst/>
          </a:prstGeom>
          <a:no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GB" sz="8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0" descr="APU Logo Final-medium.jpg">
            <a:extLst>
              <a:ext uri="{FF2B5EF4-FFF2-40B4-BE49-F238E27FC236}">
                <a16:creationId xmlns:a16="http://schemas.microsoft.com/office/drawing/2014/main" id="{3A5908B1-49F6-461B-A3D4-C9A0E65D1248}"/>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10172701" y="1"/>
            <a:ext cx="20193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a:extLst>
              <a:ext uri="{FF2B5EF4-FFF2-40B4-BE49-F238E27FC236}">
                <a16:creationId xmlns:a16="http://schemas.microsoft.com/office/drawing/2014/main" id="{5677EBFF-9783-4AD9-9831-5EFFD403363A}"/>
              </a:ext>
            </a:extLst>
          </p:cNvPr>
          <p:cNvSpPr>
            <a:spLocks noChangeArrowheads="1"/>
          </p:cNvSpPr>
          <p:nvPr userDrawn="1"/>
        </p:nvSpPr>
        <p:spPr bwMode="auto">
          <a:xfrm>
            <a:off x="0" y="6597650"/>
            <a:ext cx="2711450" cy="260350"/>
          </a:xfrm>
          <a:prstGeom prst="rect">
            <a:avLst/>
          </a:prstGeom>
          <a:noFill/>
          <a:ln w="9525">
            <a:noFill/>
            <a:miter lim="800000"/>
            <a:headEnd/>
            <a:tailEnd/>
          </a:ln>
          <a:effectLst/>
        </p:spPr>
        <p:txBody>
          <a:bodyPr/>
          <a:lstStyle/>
          <a:p>
            <a:pPr>
              <a:defRPr/>
            </a:pPr>
            <a:r>
              <a:rPr lang="en-GB" sz="1000" dirty="0">
                <a:latin typeface="Calibri" pitchFamily="34" charset="0"/>
                <a:cs typeface="Calibri" pitchFamily="34" charset="0"/>
              </a:rPr>
              <a:t>CT109-3-1 Digital Thinking and Innovation</a:t>
            </a:r>
          </a:p>
        </p:txBody>
      </p:sp>
      <p:sp>
        <p:nvSpPr>
          <p:cNvPr id="11" name="Rectangle 10">
            <a:extLst>
              <a:ext uri="{FF2B5EF4-FFF2-40B4-BE49-F238E27FC236}">
                <a16:creationId xmlns:a16="http://schemas.microsoft.com/office/drawing/2014/main" id="{0F604E68-1D6A-4B05-989E-42B01B2226BF}"/>
              </a:ext>
            </a:extLst>
          </p:cNvPr>
          <p:cNvSpPr>
            <a:spLocks noChangeArrowheads="1"/>
          </p:cNvSpPr>
          <p:nvPr userDrawn="1"/>
        </p:nvSpPr>
        <p:spPr bwMode="auto">
          <a:xfrm>
            <a:off x="4624979" y="6597650"/>
            <a:ext cx="3134360" cy="270510"/>
          </a:xfrm>
          <a:prstGeom prst="rect">
            <a:avLst/>
          </a:prstGeom>
          <a:noFill/>
          <a:ln w="9525">
            <a:noFill/>
            <a:miter lim="800000"/>
            <a:headEnd/>
            <a:tailEnd/>
          </a:ln>
          <a:effectLst/>
        </p:spPr>
        <p:txBody>
          <a:bodyPr/>
          <a:lstStyle/>
          <a:p>
            <a:pPr algn="ctr">
              <a:defRPr/>
            </a:pPr>
            <a:r>
              <a:rPr lang="en-US" sz="1000" dirty="0">
                <a:latin typeface="Calibri" pitchFamily="34" charset="0"/>
                <a:cs typeface="Calibri" pitchFamily="34" charset="0"/>
              </a:rPr>
              <a:t>Systems Thinking and Organizational Innovation</a:t>
            </a:r>
          </a:p>
        </p:txBody>
      </p:sp>
      <p:sp>
        <p:nvSpPr>
          <p:cNvPr id="12" name="Rectangle 11">
            <a:extLst>
              <a:ext uri="{FF2B5EF4-FFF2-40B4-BE49-F238E27FC236}">
                <a16:creationId xmlns:a16="http://schemas.microsoft.com/office/drawing/2014/main" id="{804A6199-C2A4-4332-A026-5D4201C6CC99}"/>
              </a:ext>
            </a:extLst>
          </p:cNvPr>
          <p:cNvSpPr>
            <a:spLocks noChangeArrowheads="1"/>
          </p:cNvSpPr>
          <p:nvPr userDrawn="1"/>
        </p:nvSpPr>
        <p:spPr bwMode="auto">
          <a:xfrm>
            <a:off x="9457835" y="6607810"/>
            <a:ext cx="2711450" cy="260350"/>
          </a:xfrm>
          <a:prstGeom prst="rect">
            <a:avLst/>
          </a:prstGeom>
          <a:noFill/>
          <a:ln w="9525">
            <a:noFill/>
            <a:miter lim="800000"/>
            <a:headEnd/>
            <a:tailEnd/>
          </a:ln>
          <a:effectLst/>
        </p:spPr>
        <p:txBody>
          <a:bodyPr/>
          <a:lstStyle/>
          <a:p>
            <a:pPr algn="r">
              <a:defRPr/>
            </a:pPr>
            <a:r>
              <a:rPr lang="en-GB" sz="1000" dirty="0">
                <a:latin typeface="Calibri" pitchFamily="34" charset="0"/>
                <a:cs typeface="Calibri" pitchFamily="34" charset="0"/>
              </a:rPr>
              <a:t>Slide </a:t>
            </a:r>
            <a:fld id="{DECA9CF0-005F-441B-BAB5-56B8212B3760}" type="slidenum">
              <a:rPr lang="en-GB" sz="1000" smtClean="0">
                <a:latin typeface="Calibri" pitchFamily="34" charset="0"/>
                <a:cs typeface="Calibri" pitchFamily="34" charset="0"/>
              </a:rPr>
              <a:pPr algn="r">
                <a:defRPr/>
              </a:pPr>
              <a:t>‹#›</a:t>
            </a:fld>
            <a:r>
              <a:rPr lang="en-GB" sz="1000" dirty="0">
                <a:latin typeface="Calibri" pitchFamily="34" charset="0"/>
                <a:cs typeface="Calibri" pitchFamily="34" charset="0"/>
              </a:rPr>
              <a:t> out of 27</a:t>
            </a:r>
          </a:p>
        </p:txBody>
      </p:sp>
    </p:spTree>
    <p:extLst>
      <p:ext uri="{BB962C8B-B14F-4D97-AF65-F5344CB8AC3E}">
        <p14:creationId xmlns:p14="http://schemas.microsoft.com/office/powerpoint/2010/main" val="717840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youtube.com/watch?v=GPW0j2Bo_eY"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2033-E616-4689-8B30-032E753181F7}"/>
              </a:ext>
            </a:extLst>
          </p:cNvPr>
          <p:cNvSpPr>
            <a:spLocks noGrp="1"/>
          </p:cNvSpPr>
          <p:nvPr>
            <p:ph type="ctrTitle"/>
          </p:nvPr>
        </p:nvSpPr>
        <p:spPr/>
        <p:txBody>
          <a:bodyPr/>
          <a:lstStyle/>
          <a:p>
            <a:r>
              <a:rPr lang="en-US" dirty="0"/>
              <a:t>Digital Thinking and Innovation</a:t>
            </a:r>
          </a:p>
        </p:txBody>
      </p:sp>
      <p:sp>
        <p:nvSpPr>
          <p:cNvPr id="3" name="Subtitle 2">
            <a:extLst>
              <a:ext uri="{FF2B5EF4-FFF2-40B4-BE49-F238E27FC236}">
                <a16:creationId xmlns:a16="http://schemas.microsoft.com/office/drawing/2014/main" id="{EA5624DE-0F9F-4A4F-8533-D7F4AD4E9C42}"/>
              </a:ext>
            </a:extLst>
          </p:cNvPr>
          <p:cNvSpPr>
            <a:spLocks noGrp="1"/>
          </p:cNvSpPr>
          <p:nvPr>
            <p:ph type="subTitle" idx="1"/>
          </p:nvPr>
        </p:nvSpPr>
        <p:spPr/>
        <p:txBody>
          <a:bodyPr/>
          <a:lstStyle/>
          <a:p>
            <a:r>
              <a:rPr lang="en-US" dirty="0"/>
              <a:t>Systems Thinking and Organizational Innovation</a:t>
            </a:r>
          </a:p>
        </p:txBody>
      </p:sp>
    </p:spTree>
    <p:extLst>
      <p:ext uri="{BB962C8B-B14F-4D97-AF65-F5344CB8AC3E}">
        <p14:creationId xmlns:p14="http://schemas.microsoft.com/office/powerpoint/2010/main" val="1680535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7FD2-3BC9-4D69-A5CA-55E909379DE4}"/>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A81EA78-3F9D-4EBF-BBC6-460FCCBF5F84}"/>
              </a:ext>
            </a:extLst>
          </p:cNvPr>
          <p:cNvSpPr>
            <a:spLocks noGrp="1"/>
          </p:cNvSpPr>
          <p:nvPr>
            <p:ph idx="1"/>
          </p:nvPr>
        </p:nvSpPr>
        <p:spPr/>
        <p:txBody>
          <a:bodyPr/>
          <a:lstStyle/>
          <a:p>
            <a:pPr marL="0" indent="0">
              <a:buNone/>
            </a:pPr>
            <a:r>
              <a:rPr lang="en-US" dirty="0"/>
              <a:t>This topic discusses about system thinking and where it leads today’s organizations on the changing ground.</a:t>
            </a:r>
          </a:p>
        </p:txBody>
      </p:sp>
      <p:pic>
        <p:nvPicPr>
          <p:cNvPr id="5" name="Picture 4">
            <a:extLst>
              <a:ext uri="{FF2B5EF4-FFF2-40B4-BE49-F238E27FC236}">
                <a16:creationId xmlns:a16="http://schemas.microsoft.com/office/drawing/2014/main" id="{D4BF2EA6-57C4-402A-9685-CF2D53878E0A}"/>
              </a:ext>
            </a:extLst>
          </p:cNvPr>
          <p:cNvPicPr>
            <a:picLocks noChangeAspect="1"/>
          </p:cNvPicPr>
          <p:nvPr/>
        </p:nvPicPr>
        <p:blipFill>
          <a:blip r:embed="rId2"/>
          <a:stretch>
            <a:fillRect/>
          </a:stretch>
        </p:blipFill>
        <p:spPr>
          <a:xfrm>
            <a:off x="6193367" y="3089275"/>
            <a:ext cx="5429250" cy="3333750"/>
          </a:xfrm>
          <a:prstGeom prst="rect">
            <a:avLst/>
          </a:prstGeom>
        </p:spPr>
      </p:pic>
    </p:spTree>
    <p:extLst>
      <p:ext uri="{BB962C8B-B14F-4D97-AF65-F5344CB8AC3E}">
        <p14:creationId xmlns:p14="http://schemas.microsoft.com/office/powerpoint/2010/main" val="3430751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dirty="0"/>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Explain system thinking</a:t>
            </a:r>
          </a:p>
          <a:p>
            <a:pPr lvl="1"/>
            <a:r>
              <a:rPr lang="en-US" altLang="en-US" dirty="0"/>
              <a:t>Determine the characteristics of a system</a:t>
            </a:r>
          </a:p>
          <a:p>
            <a:pPr lvl="1"/>
            <a:r>
              <a:rPr lang="en-US" altLang="en-US" dirty="0"/>
              <a:t>Discuss how system thinking can shape the future of today’s organization</a:t>
            </a:r>
          </a:p>
        </p:txBody>
      </p:sp>
    </p:spTree>
    <p:extLst>
      <p:ext uri="{BB962C8B-B14F-4D97-AF65-F5344CB8AC3E}">
        <p14:creationId xmlns:p14="http://schemas.microsoft.com/office/powerpoint/2010/main" val="2358772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F062-B23F-44E2-9B0F-C4D4FC40830E}"/>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6DE95035-1134-4319-BC7F-D0D92E8E7607}"/>
              </a:ext>
            </a:extLst>
          </p:cNvPr>
          <p:cNvSpPr>
            <a:spLocks noGrp="1"/>
          </p:cNvSpPr>
          <p:nvPr>
            <p:ph idx="1"/>
          </p:nvPr>
        </p:nvSpPr>
        <p:spPr/>
        <p:txBody>
          <a:bodyPr/>
          <a:lstStyle/>
          <a:p>
            <a:r>
              <a:rPr lang="en-US" dirty="0"/>
              <a:t>Systems Thinking</a:t>
            </a:r>
          </a:p>
          <a:p>
            <a:r>
              <a:rPr lang="en-US" dirty="0"/>
              <a:t>Basic Characteristics of a System</a:t>
            </a:r>
          </a:p>
          <a:p>
            <a:r>
              <a:rPr lang="en-US" dirty="0"/>
              <a:t>Systems Thinking for Today’s Organizations</a:t>
            </a:r>
          </a:p>
          <a:p>
            <a:r>
              <a:rPr lang="en-US" dirty="0"/>
              <a:t>Unlocking the Sustainable Development Goals</a:t>
            </a:r>
          </a:p>
          <a:p>
            <a:endParaRPr lang="en-US" dirty="0"/>
          </a:p>
        </p:txBody>
      </p:sp>
    </p:spTree>
    <p:extLst>
      <p:ext uri="{BB962C8B-B14F-4D97-AF65-F5344CB8AC3E}">
        <p14:creationId xmlns:p14="http://schemas.microsoft.com/office/powerpoint/2010/main" val="1153307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DE481BA-8336-4B81-A977-71281F263108}"/>
              </a:ext>
            </a:extLst>
          </p:cNvPr>
          <p:cNvSpPr>
            <a:spLocks noGrp="1"/>
          </p:cNvSpPr>
          <p:nvPr>
            <p:ph type="title"/>
          </p:nvPr>
        </p:nvSpPr>
        <p:spPr>
          <a:xfrm>
            <a:off x="0" y="1"/>
            <a:ext cx="10311925" cy="1367327"/>
          </a:xfrm>
        </p:spPr>
        <p:txBody>
          <a:bodyPr wrap="square" anchor="ctr">
            <a:normAutofit/>
          </a:bodyPr>
          <a:lstStyle/>
          <a:p>
            <a:r>
              <a:rPr lang="en-US" dirty="0"/>
              <a:t>Mind Map</a:t>
            </a:r>
          </a:p>
        </p:txBody>
      </p:sp>
      <p:pic>
        <p:nvPicPr>
          <p:cNvPr id="3" name="Picture 2">
            <a:extLst>
              <a:ext uri="{FF2B5EF4-FFF2-40B4-BE49-F238E27FC236}">
                <a16:creationId xmlns:a16="http://schemas.microsoft.com/office/drawing/2014/main" id="{4658FBC4-48B7-479A-9CE1-2A1FFE5841F2}"/>
              </a:ext>
            </a:extLst>
          </p:cNvPr>
          <p:cNvPicPr>
            <a:picLocks noChangeAspect="1"/>
          </p:cNvPicPr>
          <p:nvPr/>
        </p:nvPicPr>
        <p:blipFill>
          <a:blip r:embed="rId2"/>
          <a:stretch>
            <a:fillRect/>
          </a:stretch>
        </p:blipFill>
        <p:spPr>
          <a:xfrm>
            <a:off x="320756" y="2185260"/>
            <a:ext cx="11451389" cy="2696705"/>
          </a:xfrm>
          <a:prstGeom prst="rect">
            <a:avLst/>
          </a:prstGeom>
          <a:noFill/>
        </p:spPr>
      </p:pic>
    </p:spTree>
    <p:extLst>
      <p:ext uri="{BB962C8B-B14F-4D97-AF65-F5344CB8AC3E}">
        <p14:creationId xmlns:p14="http://schemas.microsoft.com/office/powerpoint/2010/main" val="400094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2A586-90D3-EE2D-48DE-742BF9251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70330-B175-657F-FA0E-295737BC92A6}"/>
              </a:ext>
            </a:extLst>
          </p:cNvPr>
          <p:cNvSpPr>
            <a:spLocks noGrp="1"/>
          </p:cNvSpPr>
          <p:nvPr>
            <p:ph type="title"/>
          </p:nvPr>
        </p:nvSpPr>
        <p:spPr/>
        <p:txBody>
          <a:bodyPr/>
          <a:lstStyle/>
          <a:p>
            <a:r>
              <a:rPr lang="en-US" dirty="0"/>
              <a:t>Introduction</a:t>
            </a:r>
          </a:p>
        </p:txBody>
      </p:sp>
      <p:sp>
        <p:nvSpPr>
          <p:cNvPr id="10" name="TextBox 9">
            <a:extLst>
              <a:ext uri="{FF2B5EF4-FFF2-40B4-BE49-F238E27FC236}">
                <a16:creationId xmlns:a16="http://schemas.microsoft.com/office/drawing/2014/main" id="{E84938E6-F7CD-02DE-78C7-F64BAD77D3DC}"/>
              </a:ext>
            </a:extLst>
          </p:cNvPr>
          <p:cNvSpPr txBox="1"/>
          <p:nvPr/>
        </p:nvSpPr>
        <p:spPr>
          <a:xfrm>
            <a:off x="1625019" y="2090172"/>
            <a:ext cx="7061886" cy="3539430"/>
          </a:xfrm>
          <a:prstGeom prst="rect">
            <a:avLst/>
          </a:prstGeom>
          <a:noFill/>
        </p:spPr>
        <p:txBody>
          <a:bodyPr wrap="square">
            <a:spAutoFit/>
          </a:bodyPr>
          <a:lstStyle/>
          <a:p>
            <a:pPr algn="just"/>
            <a:r>
              <a:rPr lang="en-US" sz="2800" b="1" dirty="0">
                <a:latin typeface="Open Sans"/>
              </a:rPr>
              <a:t>What is Culture?</a:t>
            </a:r>
          </a:p>
          <a:p>
            <a:pPr algn="just"/>
            <a:endParaRPr lang="en-US" sz="2800" b="1" dirty="0">
              <a:latin typeface="Open Sans"/>
            </a:endParaRPr>
          </a:p>
          <a:p>
            <a:pPr algn="just"/>
            <a:r>
              <a:rPr lang="en-US" sz="2800" b="1" dirty="0">
                <a:latin typeface="Open Sans"/>
              </a:rPr>
              <a:t>Define/Describe Culture?</a:t>
            </a:r>
            <a:endParaRPr lang="en-US" sz="2800" b="1" dirty="0"/>
          </a:p>
          <a:p>
            <a:pPr algn="just"/>
            <a:endParaRPr lang="en-US" sz="2800" b="1" dirty="0"/>
          </a:p>
          <a:p>
            <a:pPr algn="just"/>
            <a:r>
              <a:rPr lang="en-US" sz="2800" b="1" dirty="0">
                <a:latin typeface="Open Sans"/>
              </a:rPr>
              <a:t>Define/Describe/Cultural change ?</a:t>
            </a:r>
          </a:p>
          <a:p>
            <a:pPr algn="just"/>
            <a:endParaRPr lang="en-US" sz="2800" b="1" dirty="0">
              <a:latin typeface="Open Sans"/>
            </a:endParaRPr>
          </a:p>
          <a:p>
            <a:pPr algn="just"/>
            <a:r>
              <a:rPr lang="en-US" sz="2800" b="1" dirty="0">
                <a:latin typeface="Open Sans"/>
              </a:rPr>
              <a:t>Describe ‘Digital Dependency’?</a:t>
            </a:r>
            <a:endParaRPr lang="en-US" sz="2800" b="1" dirty="0"/>
          </a:p>
          <a:p>
            <a:pPr algn="just"/>
            <a:endParaRPr lang="en-US" sz="2800" b="1" dirty="0"/>
          </a:p>
        </p:txBody>
      </p:sp>
    </p:spTree>
    <p:extLst>
      <p:ext uri="{BB962C8B-B14F-4D97-AF65-F5344CB8AC3E}">
        <p14:creationId xmlns:p14="http://schemas.microsoft.com/office/powerpoint/2010/main" val="3072279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17BCE-2E80-D845-6C84-11FE2B3A8F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330A5-1C76-B7AB-CFBB-817D1F0E5FED}"/>
              </a:ext>
            </a:extLst>
          </p:cNvPr>
          <p:cNvSpPr>
            <a:spLocks noGrp="1"/>
          </p:cNvSpPr>
          <p:nvPr>
            <p:ph type="title"/>
          </p:nvPr>
        </p:nvSpPr>
        <p:spPr/>
        <p:txBody>
          <a:bodyPr/>
          <a:lstStyle/>
          <a:p>
            <a:r>
              <a:rPr lang="en-US" dirty="0"/>
              <a:t>Introduction</a:t>
            </a:r>
          </a:p>
        </p:txBody>
      </p:sp>
      <p:sp>
        <p:nvSpPr>
          <p:cNvPr id="9" name="TextBox 8">
            <a:extLst>
              <a:ext uri="{FF2B5EF4-FFF2-40B4-BE49-F238E27FC236}">
                <a16:creationId xmlns:a16="http://schemas.microsoft.com/office/drawing/2014/main" id="{FB81A2E8-A5EF-44F4-83FD-810E41CB3B52}"/>
              </a:ext>
            </a:extLst>
          </p:cNvPr>
          <p:cNvSpPr txBox="1"/>
          <p:nvPr/>
        </p:nvSpPr>
        <p:spPr>
          <a:xfrm>
            <a:off x="481914" y="4981483"/>
            <a:ext cx="11145794" cy="1631216"/>
          </a:xfrm>
          <a:prstGeom prst="rect">
            <a:avLst/>
          </a:prstGeom>
          <a:noFill/>
        </p:spPr>
        <p:txBody>
          <a:bodyPr wrap="square">
            <a:spAutoFit/>
          </a:bodyPr>
          <a:lstStyle/>
          <a:p>
            <a:pPr algn="just"/>
            <a:r>
              <a:rPr lang="en-US" sz="2000" b="1" dirty="0">
                <a:latin typeface="Open Sans"/>
              </a:rPr>
              <a:t>Define/Describe/Cultural change ?</a:t>
            </a:r>
          </a:p>
          <a:p>
            <a:pPr algn="just"/>
            <a:endParaRPr lang="en-US" sz="2000" b="1" dirty="0">
              <a:latin typeface="Open Sans"/>
            </a:endParaRPr>
          </a:p>
          <a:p>
            <a:pPr algn="just"/>
            <a:r>
              <a:rPr lang="en-US" sz="2000" b="1" dirty="0">
                <a:latin typeface="Open Sans"/>
              </a:rPr>
              <a:t>Cultural change can occur from within through </a:t>
            </a:r>
            <a:r>
              <a:rPr lang="en-US" sz="2000" b="1" dirty="0">
                <a:highlight>
                  <a:srgbClr val="FFFF00"/>
                </a:highlight>
                <a:latin typeface="Open Sans"/>
              </a:rPr>
              <a:t>new philosophical ideas or technological advancement.</a:t>
            </a:r>
            <a:endParaRPr lang="en-US" sz="2000" b="1" dirty="0">
              <a:highlight>
                <a:srgbClr val="FFFF00"/>
              </a:highlight>
            </a:endParaRPr>
          </a:p>
          <a:p>
            <a:pPr algn="just"/>
            <a:endParaRPr lang="en-US" sz="2000" b="1" dirty="0"/>
          </a:p>
        </p:txBody>
      </p:sp>
      <p:sp>
        <p:nvSpPr>
          <p:cNvPr id="10" name="TextBox 9">
            <a:extLst>
              <a:ext uri="{FF2B5EF4-FFF2-40B4-BE49-F238E27FC236}">
                <a16:creationId xmlns:a16="http://schemas.microsoft.com/office/drawing/2014/main" id="{9417191A-C232-6C67-7F9D-BD323BDA1FB9}"/>
              </a:ext>
            </a:extLst>
          </p:cNvPr>
          <p:cNvSpPr txBox="1"/>
          <p:nvPr/>
        </p:nvSpPr>
        <p:spPr>
          <a:xfrm>
            <a:off x="481914" y="1691851"/>
            <a:ext cx="11145794" cy="1323439"/>
          </a:xfrm>
          <a:prstGeom prst="rect">
            <a:avLst/>
          </a:prstGeom>
          <a:noFill/>
        </p:spPr>
        <p:txBody>
          <a:bodyPr wrap="square">
            <a:spAutoFit/>
          </a:bodyPr>
          <a:lstStyle/>
          <a:p>
            <a:pPr algn="just"/>
            <a:r>
              <a:rPr lang="en-US" sz="2000" b="1" dirty="0">
                <a:latin typeface="Open Sans"/>
              </a:rPr>
              <a:t>What is Culture?</a:t>
            </a:r>
          </a:p>
          <a:p>
            <a:pPr algn="just"/>
            <a:endParaRPr lang="en-US" sz="2000" b="1" dirty="0">
              <a:latin typeface="Open Sans"/>
            </a:endParaRPr>
          </a:p>
          <a:p>
            <a:pPr algn="just"/>
            <a:r>
              <a:rPr lang="en-US" sz="2000" b="1" dirty="0">
                <a:highlight>
                  <a:srgbClr val="FFFF00"/>
                </a:highlight>
              </a:rPr>
              <a:t>Symbolic acceptance </a:t>
            </a:r>
            <a:r>
              <a:rPr lang="en-US" sz="2000" dirty="0"/>
              <a:t>of communication and way of life by the community.</a:t>
            </a:r>
          </a:p>
          <a:p>
            <a:pPr algn="just"/>
            <a:endParaRPr lang="en-US" sz="2000" b="1" dirty="0"/>
          </a:p>
        </p:txBody>
      </p:sp>
      <p:sp>
        <p:nvSpPr>
          <p:cNvPr id="11" name="TextBox 10">
            <a:extLst>
              <a:ext uri="{FF2B5EF4-FFF2-40B4-BE49-F238E27FC236}">
                <a16:creationId xmlns:a16="http://schemas.microsoft.com/office/drawing/2014/main" id="{2E4514F2-21C0-D7FF-3388-3394F090416A}"/>
              </a:ext>
            </a:extLst>
          </p:cNvPr>
          <p:cNvSpPr txBox="1"/>
          <p:nvPr/>
        </p:nvSpPr>
        <p:spPr>
          <a:xfrm>
            <a:off x="481914" y="2993179"/>
            <a:ext cx="11145794" cy="1631216"/>
          </a:xfrm>
          <a:prstGeom prst="rect">
            <a:avLst/>
          </a:prstGeom>
          <a:noFill/>
        </p:spPr>
        <p:txBody>
          <a:bodyPr wrap="square">
            <a:spAutoFit/>
          </a:bodyPr>
          <a:lstStyle/>
          <a:p>
            <a:pPr algn="just"/>
            <a:r>
              <a:rPr lang="en-US" sz="2000" b="1" dirty="0">
                <a:latin typeface="Open Sans"/>
              </a:rPr>
              <a:t>Define/Describe Culture?</a:t>
            </a:r>
          </a:p>
          <a:p>
            <a:pPr algn="just"/>
            <a:endParaRPr lang="en-US" sz="2000" b="1" dirty="0">
              <a:latin typeface="Open Sans"/>
            </a:endParaRPr>
          </a:p>
          <a:p>
            <a:pPr algn="just"/>
            <a:r>
              <a:rPr lang="en-US" sz="2000" b="1" dirty="0">
                <a:highlight>
                  <a:srgbClr val="FFFF00"/>
                </a:highlight>
              </a:rPr>
              <a:t>A way of life of a group of people– </a:t>
            </a:r>
            <a:r>
              <a:rPr lang="en-US" sz="2000" b="1" dirty="0"/>
              <a:t>the behaviors, beliefs and values that they accept without thinking much about them, and that are passed along by communication and imitation from one generation to the next. </a:t>
            </a:r>
          </a:p>
        </p:txBody>
      </p:sp>
    </p:spTree>
    <p:extLst>
      <p:ext uri="{BB962C8B-B14F-4D97-AF65-F5344CB8AC3E}">
        <p14:creationId xmlns:p14="http://schemas.microsoft.com/office/powerpoint/2010/main" val="3356317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983BC-A8E2-A0F7-A5CF-102C51B36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5473D8-1ADE-5D2A-0FF1-66A779E69872}"/>
              </a:ext>
            </a:extLst>
          </p:cNvPr>
          <p:cNvSpPr>
            <a:spLocks noGrp="1"/>
          </p:cNvSpPr>
          <p:nvPr>
            <p:ph type="title"/>
          </p:nvPr>
        </p:nvSpPr>
        <p:spPr/>
        <p:txBody>
          <a:bodyPr/>
          <a:lstStyle/>
          <a:p>
            <a:r>
              <a:rPr lang="en-US" dirty="0"/>
              <a:t>Introduction</a:t>
            </a:r>
          </a:p>
        </p:txBody>
      </p:sp>
      <p:sp>
        <p:nvSpPr>
          <p:cNvPr id="10" name="TextBox 9">
            <a:extLst>
              <a:ext uri="{FF2B5EF4-FFF2-40B4-BE49-F238E27FC236}">
                <a16:creationId xmlns:a16="http://schemas.microsoft.com/office/drawing/2014/main" id="{66CACEAC-216A-EBAC-7194-1F81EBA98FF1}"/>
              </a:ext>
            </a:extLst>
          </p:cNvPr>
          <p:cNvSpPr txBox="1"/>
          <p:nvPr/>
        </p:nvSpPr>
        <p:spPr>
          <a:xfrm>
            <a:off x="1335612" y="3429000"/>
            <a:ext cx="9520776" cy="769441"/>
          </a:xfrm>
          <a:prstGeom prst="rect">
            <a:avLst/>
          </a:prstGeom>
          <a:noFill/>
        </p:spPr>
        <p:txBody>
          <a:bodyPr wrap="square">
            <a:spAutoFit/>
          </a:bodyPr>
          <a:lstStyle/>
          <a:p>
            <a:pPr algn="just"/>
            <a:r>
              <a:rPr lang="en-US" sz="4400" b="1" dirty="0">
                <a:latin typeface="Open Sans"/>
              </a:rPr>
              <a:t>Describe ‘Digital Dependency’?</a:t>
            </a:r>
            <a:endParaRPr lang="en-US" sz="4400" b="1" dirty="0"/>
          </a:p>
        </p:txBody>
      </p:sp>
    </p:spTree>
    <p:extLst>
      <p:ext uri="{BB962C8B-B14F-4D97-AF65-F5344CB8AC3E}">
        <p14:creationId xmlns:p14="http://schemas.microsoft.com/office/powerpoint/2010/main" val="2723625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22E7B-2F3F-A635-3066-5664498F2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A902E-67F4-D3B3-3E55-A09787C325BB}"/>
              </a:ext>
            </a:extLst>
          </p:cNvPr>
          <p:cNvSpPr>
            <a:spLocks noGrp="1"/>
          </p:cNvSpPr>
          <p:nvPr>
            <p:ph type="title"/>
          </p:nvPr>
        </p:nvSpPr>
        <p:spPr/>
        <p:txBody>
          <a:bodyPr/>
          <a:lstStyle/>
          <a:p>
            <a:r>
              <a:rPr lang="en-US" dirty="0"/>
              <a:t>Introduction</a:t>
            </a:r>
          </a:p>
        </p:txBody>
      </p:sp>
      <p:sp>
        <p:nvSpPr>
          <p:cNvPr id="10" name="TextBox 9">
            <a:extLst>
              <a:ext uri="{FF2B5EF4-FFF2-40B4-BE49-F238E27FC236}">
                <a16:creationId xmlns:a16="http://schemas.microsoft.com/office/drawing/2014/main" id="{612A4F02-D692-5CD2-B20E-F4449C7177F5}"/>
              </a:ext>
            </a:extLst>
          </p:cNvPr>
          <p:cNvSpPr txBox="1"/>
          <p:nvPr/>
        </p:nvSpPr>
        <p:spPr>
          <a:xfrm>
            <a:off x="444843" y="2090172"/>
            <a:ext cx="11195222" cy="2554545"/>
          </a:xfrm>
          <a:prstGeom prst="rect">
            <a:avLst/>
          </a:prstGeom>
          <a:noFill/>
        </p:spPr>
        <p:txBody>
          <a:bodyPr wrap="square">
            <a:spAutoFit/>
          </a:bodyPr>
          <a:lstStyle/>
          <a:p>
            <a:pPr algn="just"/>
            <a:r>
              <a:rPr lang="en-US" sz="4400" b="1" dirty="0">
                <a:latin typeface="Open Sans"/>
              </a:rPr>
              <a:t>Describe ‘Digital Dependency’?</a:t>
            </a:r>
          </a:p>
          <a:p>
            <a:pPr algn="just"/>
            <a:endParaRPr lang="en-US" sz="2800" b="1" dirty="0">
              <a:latin typeface="Open Sans"/>
            </a:endParaRPr>
          </a:p>
          <a:p>
            <a:pPr algn="just"/>
            <a:r>
              <a:rPr lang="en-US" sz="4400" dirty="0"/>
              <a:t>The </a:t>
            </a:r>
            <a:r>
              <a:rPr lang="en-US" sz="4400" b="1" dirty="0">
                <a:highlight>
                  <a:srgbClr val="FFFF00"/>
                </a:highlight>
              </a:rPr>
              <a:t>overuse</a:t>
            </a:r>
            <a:r>
              <a:rPr lang="en-US" sz="4400" dirty="0"/>
              <a:t> of the internet or electronics to the point that one's daily life is affected.</a:t>
            </a:r>
            <a:endParaRPr lang="en-US" sz="2800" b="1" dirty="0"/>
          </a:p>
        </p:txBody>
      </p:sp>
    </p:spTree>
    <p:extLst>
      <p:ext uri="{BB962C8B-B14F-4D97-AF65-F5344CB8AC3E}">
        <p14:creationId xmlns:p14="http://schemas.microsoft.com/office/powerpoint/2010/main" val="874460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4EF74-1096-4B3E-96C6-7BC0E6967843}"/>
              </a:ext>
            </a:extLst>
          </p:cNvPr>
          <p:cNvSpPr>
            <a:spLocks noGrp="1"/>
          </p:cNvSpPr>
          <p:nvPr>
            <p:ph type="title"/>
          </p:nvPr>
        </p:nvSpPr>
        <p:spPr/>
        <p:txBody>
          <a:bodyPr/>
          <a:lstStyle/>
          <a:p>
            <a:r>
              <a:rPr lang="en-US" dirty="0"/>
              <a:t>Systems Thinking</a:t>
            </a:r>
          </a:p>
        </p:txBody>
      </p:sp>
      <p:sp>
        <p:nvSpPr>
          <p:cNvPr id="3" name="Content Placeholder 2">
            <a:extLst>
              <a:ext uri="{FF2B5EF4-FFF2-40B4-BE49-F238E27FC236}">
                <a16:creationId xmlns:a16="http://schemas.microsoft.com/office/drawing/2014/main" id="{EA51D304-6644-4047-BF9F-BBE06A1DE62B}"/>
              </a:ext>
            </a:extLst>
          </p:cNvPr>
          <p:cNvSpPr>
            <a:spLocks noGrp="1"/>
          </p:cNvSpPr>
          <p:nvPr>
            <p:ph idx="1"/>
          </p:nvPr>
        </p:nvSpPr>
        <p:spPr/>
        <p:txBody>
          <a:bodyPr/>
          <a:lstStyle/>
          <a:p>
            <a:r>
              <a:rPr lang="en-US" b="1" i="0" dirty="0">
                <a:solidFill>
                  <a:srgbClr val="333333"/>
                </a:solidFill>
                <a:effectLst/>
                <a:latin typeface="Arial" panose="020B0604020202020204" pitchFamily="34" charset="0"/>
              </a:rPr>
              <a:t>Systems thinking </a:t>
            </a:r>
            <a:r>
              <a:rPr lang="en-US" b="0" i="0" dirty="0">
                <a:solidFill>
                  <a:srgbClr val="333333"/>
                </a:solidFill>
                <a:effectLst/>
                <a:latin typeface="Arial" panose="020B0604020202020204" pitchFamily="34" charset="0"/>
              </a:rPr>
              <a:t>is an approach to </a:t>
            </a:r>
            <a:r>
              <a:rPr lang="en-US" b="0" i="0" dirty="0">
                <a:solidFill>
                  <a:schemeClr val="accent2">
                    <a:lumMod val="75000"/>
                  </a:schemeClr>
                </a:solidFill>
                <a:effectLst/>
                <a:latin typeface="Arial" panose="020B0604020202020204" pitchFamily="34" charset="0"/>
              </a:rPr>
              <a:t>integration</a:t>
            </a:r>
            <a:r>
              <a:rPr lang="en-US" b="0" i="0" dirty="0">
                <a:solidFill>
                  <a:srgbClr val="333333"/>
                </a:solidFill>
                <a:effectLst/>
                <a:latin typeface="Arial" panose="020B0604020202020204" pitchFamily="34" charset="0"/>
              </a:rPr>
              <a:t> that is based on the belief that the </a:t>
            </a:r>
            <a:r>
              <a:rPr lang="en-US" b="0" i="0" dirty="0">
                <a:solidFill>
                  <a:schemeClr val="accent2">
                    <a:lumMod val="75000"/>
                  </a:schemeClr>
                </a:solidFill>
                <a:effectLst/>
                <a:latin typeface="Arial" panose="020B0604020202020204" pitchFamily="34" charset="0"/>
              </a:rPr>
              <a:t>component parts of a system will act differently when isolated </a:t>
            </a:r>
            <a:r>
              <a:rPr lang="en-US" b="0" i="0" dirty="0">
                <a:solidFill>
                  <a:srgbClr val="333333"/>
                </a:solidFill>
                <a:effectLst/>
                <a:latin typeface="Arial" panose="020B0604020202020204" pitchFamily="34" charset="0"/>
              </a:rPr>
              <a:t>from the system’s environment or other parts of the system.</a:t>
            </a:r>
          </a:p>
          <a:p>
            <a:r>
              <a:rPr lang="en-US" b="0" i="0" dirty="0">
                <a:solidFill>
                  <a:srgbClr val="333333"/>
                </a:solidFill>
                <a:effectLst/>
                <a:latin typeface="Arial" panose="020B0604020202020204" pitchFamily="34" charset="0"/>
              </a:rPr>
              <a:t>Systems thinking concerns an understanding of a system by </a:t>
            </a:r>
            <a:r>
              <a:rPr lang="en-US" b="0" i="0" dirty="0">
                <a:solidFill>
                  <a:schemeClr val="accent2">
                    <a:lumMod val="75000"/>
                  </a:schemeClr>
                </a:solidFill>
                <a:effectLst/>
                <a:latin typeface="Arial" panose="020B0604020202020204" pitchFamily="34" charset="0"/>
              </a:rPr>
              <a:t>examining the linkages and interactions between the elements </a:t>
            </a:r>
            <a:r>
              <a:rPr lang="en-US" b="0" i="0" dirty="0">
                <a:solidFill>
                  <a:srgbClr val="333333"/>
                </a:solidFill>
                <a:effectLst/>
                <a:latin typeface="Arial" panose="020B0604020202020204" pitchFamily="34" charset="0"/>
              </a:rPr>
              <a:t>that comprise the whole of the system.</a:t>
            </a:r>
            <a:endParaRPr lang="en-US" dirty="0"/>
          </a:p>
        </p:txBody>
      </p:sp>
    </p:spTree>
    <p:extLst>
      <p:ext uri="{BB962C8B-B14F-4D97-AF65-F5344CB8AC3E}">
        <p14:creationId xmlns:p14="http://schemas.microsoft.com/office/powerpoint/2010/main" val="3786683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FCC6D-4268-460C-BF67-1DD8F6210AD9}"/>
              </a:ext>
            </a:extLst>
          </p:cNvPr>
          <p:cNvSpPr>
            <a:spLocks noGrp="1"/>
          </p:cNvSpPr>
          <p:nvPr>
            <p:ph type="title"/>
          </p:nvPr>
        </p:nvSpPr>
        <p:spPr/>
        <p:txBody>
          <a:bodyPr/>
          <a:lstStyle/>
          <a:p>
            <a:r>
              <a:rPr lang="en-US" dirty="0"/>
              <a:t>Systems Thinking</a:t>
            </a:r>
          </a:p>
        </p:txBody>
      </p:sp>
      <p:sp>
        <p:nvSpPr>
          <p:cNvPr id="3" name="Content Placeholder 2">
            <a:extLst>
              <a:ext uri="{FF2B5EF4-FFF2-40B4-BE49-F238E27FC236}">
                <a16:creationId xmlns:a16="http://schemas.microsoft.com/office/drawing/2014/main" id="{557FD26E-867F-4217-9525-D62B9C0D436C}"/>
              </a:ext>
            </a:extLst>
          </p:cNvPr>
          <p:cNvSpPr>
            <a:spLocks noGrp="1"/>
          </p:cNvSpPr>
          <p:nvPr>
            <p:ph idx="1"/>
          </p:nvPr>
        </p:nvSpPr>
        <p:spPr/>
        <p:txBody>
          <a:bodyPr/>
          <a:lstStyle/>
          <a:p>
            <a:r>
              <a:rPr lang="en-US" dirty="0"/>
              <a:t>Systems thinking is </a:t>
            </a:r>
            <a:r>
              <a:rPr lang="en-US" b="1" dirty="0"/>
              <a:t>not</a:t>
            </a:r>
            <a:r>
              <a:rPr lang="en-US" dirty="0"/>
              <a:t> analysis</a:t>
            </a:r>
          </a:p>
          <a:p>
            <a:pPr lvl="1"/>
            <a:r>
              <a:rPr lang="en-US" dirty="0"/>
              <a:t>Where the best way to understand something is to break it down into bite-size, manageable pieces</a:t>
            </a:r>
          </a:p>
          <a:p>
            <a:r>
              <a:rPr lang="en-US" dirty="0"/>
              <a:t>The problem arises when we use analysis </a:t>
            </a:r>
            <a:r>
              <a:rPr lang="en-US" i="1" dirty="0"/>
              <a:t>mindlessly, </a:t>
            </a:r>
            <a:r>
              <a:rPr lang="en-US" dirty="0"/>
              <a:t>assuming: </a:t>
            </a:r>
          </a:p>
          <a:p>
            <a:pPr lvl="1"/>
            <a:r>
              <a:rPr lang="en-US" dirty="0"/>
              <a:t>The world stands still as we study it</a:t>
            </a:r>
          </a:p>
          <a:p>
            <a:pPr lvl="1"/>
            <a:r>
              <a:rPr lang="en-US" dirty="0"/>
              <a:t>Puzzling situations will stand still while we break them into their component pieces</a:t>
            </a:r>
          </a:p>
          <a:p>
            <a:pPr lvl="1"/>
            <a:r>
              <a:rPr lang="en-US" dirty="0"/>
              <a:t>The relationships between the pieces aren’t important. </a:t>
            </a:r>
          </a:p>
        </p:txBody>
      </p:sp>
    </p:spTree>
    <p:extLst>
      <p:ext uri="{BB962C8B-B14F-4D97-AF65-F5344CB8AC3E}">
        <p14:creationId xmlns:p14="http://schemas.microsoft.com/office/powerpoint/2010/main" val="3718237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EE89-9A25-47F6-A68F-EBE32DBE494B}"/>
              </a:ext>
            </a:extLst>
          </p:cNvPr>
          <p:cNvSpPr>
            <a:spLocks noGrp="1"/>
          </p:cNvSpPr>
          <p:nvPr>
            <p:ph type="title"/>
          </p:nvPr>
        </p:nvSpPr>
        <p:spPr/>
        <p:txBody>
          <a:bodyPr/>
          <a:lstStyle/>
          <a:p>
            <a:r>
              <a:rPr lang="en-US" dirty="0"/>
              <a:t>Systems Thinking</a:t>
            </a:r>
          </a:p>
        </p:txBody>
      </p:sp>
      <p:sp>
        <p:nvSpPr>
          <p:cNvPr id="3" name="Content Placeholder 2">
            <a:extLst>
              <a:ext uri="{FF2B5EF4-FFF2-40B4-BE49-F238E27FC236}">
                <a16:creationId xmlns:a16="http://schemas.microsoft.com/office/drawing/2014/main" id="{D5384E1E-89F7-4C86-AACF-00D33E44BCF1}"/>
              </a:ext>
            </a:extLst>
          </p:cNvPr>
          <p:cNvSpPr>
            <a:spLocks noGrp="1"/>
          </p:cNvSpPr>
          <p:nvPr>
            <p:ph idx="1"/>
          </p:nvPr>
        </p:nvSpPr>
        <p:spPr/>
        <p:txBody>
          <a:bodyPr/>
          <a:lstStyle/>
          <a:p>
            <a:r>
              <a:rPr lang="en-US" dirty="0"/>
              <a:t>Analysis therefore gives us a </a:t>
            </a:r>
            <a:r>
              <a:rPr lang="en-US" b="1" dirty="0">
                <a:highlight>
                  <a:srgbClr val="FFFF00"/>
                </a:highlight>
              </a:rPr>
              <a:t>limited understanding </a:t>
            </a:r>
            <a:r>
              <a:rPr lang="en-US" dirty="0"/>
              <a:t>of reality</a:t>
            </a:r>
          </a:p>
          <a:p>
            <a:r>
              <a:rPr lang="en-US" dirty="0"/>
              <a:t>Complementing analytical thinking with system thinking to help us expand our understanding</a:t>
            </a:r>
          </a:p>
          <a:p>
            <a:pPr lvl="1"/>
            <a:r>
              <a:rPr lang="en-US" dirty="0"/>
              <a:t>See the world around us in terms of </a:t>
            </a:r>
            <a:r>
              <a:rPr lang="en-US" b="1" dirty="0">
                <a:highlight>
                  <a:srgbClr val="FFFF00"/>
                </a:highlight>
              </a:rPr>
              <a:t>wholes</a:t>
            </a:r>
            <a:r>
              <a:rPr lang="en-US" dirty="0"/>
              <a:t>, rather than as single events, or “snapshots” of life;</a:t>
            </a:r>
          </a:p>
          <a:p>
            <a:pPr lvl="1"/>
            <a:r>
              <a:rPr lang="en-US" dirty="0"/>
              <a:t>See and sense how the parts of systems </a:t>
            </a:r>
            <a:r>
              <a:rPr lang="en-US" b="1" dirty="0">
                <a:highlight>
                  <a:srgbClr val="FFFF00"/>
                </a:highlight>
              </a:rPr>
              <a:t>work together</a:t>
            </a:r>
            <a:r>
              <a:rPr lang="en-US" dirty="0"/>
              <a:t>, rather than just see the parts as a collection of unrelated pieces;</a:t>
            </a:r>
          </a:p>
        </p:txBody>
      </p:sp>
    </p:spTree>
    <p:extLst>
      <p:ext uri="{BB962C8B-B14F-4D97-AF65-F5344CB8AC3E}">
        <p14:creationId xmlns:p14="http://schemas.microsoft.com/office/powerpoint/2010/main" val="275565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EE89-9A25-47F6-A68F-EBE32DBE494B}"/>
              </a:ext>
            </a:extLst>
          </p:cNvPr>
          <p:cNvSpPr>
            <a:spLocks noGrp="1"/>
          </p:cNvSpPr>
          <p:nvPr>
            <p:ph type="title"/>
          </p:nvPr>
        </p:nvSpPr>
        <p:spPr/>
        <p:txBody>
          <a:bodyPr/>
          <a:lstStyle/>
          <a:p>
            <a:r>
              <a:rPr lang="en-US" dirty="0"/>
              <a:t>Systems Thinking</a:t>
            </a:r>
          </a:p>
        </p:txBody>
      </p:sp>
      <p:sp>
        <p:nvSpPr>
          <p:cNvPr id="3" name="Content Placeholder 2">
            <a:extLst>
              <a:ext uri="{FF2B5EF4-FFF2-40B4-BE49-F238E27FC236}">
                <a16:creationId xmlns:a16="http://schemas.microsoft.com/office/drawing/2014/main" id="{D5384E1E-89F7-4C86-AACF-00D33E44BCF1}"/>
              </a:ext>
            </a:extLst>
          </p:cNvPr>
          <p:cNvSpPr>
            <a:spLocks noGrp="1"/>
          </p:cNvSpPr>
          <p:nvPr>
            <p:ph idx="1"/>
          </p:nvPr>
        </p:nvSpPr>
        <p:spPr/>
        <p:txBody>
          <a:bodyPr/>
          <a:lstStyle/>
          <a:p>
            <a:pPr lvl="1"/>
            <a:r>
              <a:rPr lang="en-US" dirty="0"/>
              <a:t>See how the </a:t>
            </a:r>
            <a:r>
              <a:rPr lang="en-US" b="1" dirty="0">
                <a:highlight>
                  <a:srgbClr val="FFFF00"/>
                </a:highlight>
              </a:rPr>
              <a:t>relationships</a:t>
            </a:r>
            <a:r>
              <a:rPr lang="en-US" dirty="0"/>
              <a:t> between the elements in a system </a:t>
            </a:r>
            <a:r>
              <a:rPr lang="en-US" b="1" dirty="0">
                <a:highlight>
                  <a:srgbClr val="FFFF00"/>
                </a:highlight>
              </a:rPr>
              <a:t>influence the patterns </a:t>
            </a:r>
            <a:r>
              <a:rPr lang="en-US" dirty="0"/>
              <a:t>of behavior and events to which we react;</a:t>
            </a:r>
          </a:p>
          <a:p>
            <a:pPr lvl="1"/>
            <a:r>
              <a:rPr lang="en-US" dirty="0"/>
              <a:t>Understand that life is always </a:t>
            </a:r>
            <a:r>
              <a:rPr lang="en-US" b="1" dirty="0">
                <a:highlight>
                  <a:srgbClr val="FFFF00"/>
                </a:highlight>
              </a:rPr>
              <a:t>moving and changing</a:t>
            </a:r>
            <a:r>
              <a:rPr lang="en-US" dirty="0"/>
              <a:t>, rather than static;</a:t>
            </a:r>
          </a:p>
          <a:p>
            <a:pPr lvl="1"/>
            <a:r>
              <a:rPr lang="en-US" dirty="0"/>
              <a:t>Understand how </a:t>
            </a:r>
            <a:r>
              <a:rPr lang="en-US" b="1" dirty="0">
                <a:highlight>
                  <a:srgbClr val="FFFF00"/>
                </a:highlight>
              </a:rPr>
              <a:t>one event can influence another</a:t>
            </a:r>
            <a:r>
              <a:rPr lang="en-US" dirty="0"/>
              <a:t>—even if the second event occurs a long time after the first, and “far away” from the first;</a:t>
            </a:r>
          </a:p>
          <a:p>
            <a:pPr lvl="1"/>
            <a:r>
              <a:rPr lang="en-US" dirty="0"/>
              <a:t>Know that what we see happening around us depends on where we are </a:t>
            </a:r>
            <a:r>
              <a:rPr lang="en-US" b="1" dirty="0">
                <a:highlight>
                  <a:srgbClr val="FFFF00"/>
                </a:highlight>
              </a:rPr>
              <a:t>in the system</a:t>
            </a:r>
            <a:r>
              <a:rPr lang="en-US" dirty="0"/>
              <a:t>;</a:t>
            </a:r>
          </a:p>
        </p:txBody>
      </p:sp>
    </p:spTree>
    <p:extLst>
      <p:ext uri="{BB962C8B-B14F-4D97-AF65-F5344CB8AC3E}">
        <p14:creationId xmlns:p14="http://schemas.microsoft.com/office/powerpoint/2010/main" val="394722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EE89-9A25-47F6-A68F-EBE32DBE494B}"/>
              </a:ext>
            </a:extLst>
          </p:cNvPr>
          <p:cNvSpPr>
            <a:spLocks noGrp="1"/>
          </p:cNvSpPr>
          <p:nvPr>
            <p:ph type="title"/>
          </p:nvPr>
        </p:nvSpPr>
        <p:spPr/>
        <p:txBody>
          <a:bodyPr/>
          <a:lstStyle/>
          <a:p>
            <a:r>
              <a:rPr lang="en-US" dirty="0"/>
              <a:t>Systems Thinking</a:t>
            </a:r>
          </a:p>
        </p:txBody>
      </p:sp>
      <p:sp>
        <p:nvSpPr>
          <p:cNvPr id="3" name="Content Placeholder 2">
            <a:extLst>
              <a:ext uri="{FF2B5EF4-FFF2-40B4-BE49-F238E27FC236}">
                <a16:creationId xmlns:a16="http://schemas.microsoft.com/office/drawing/2014/main" id="{D5384E1E-89F7-4C86-AACF-00D33E44BCF1}"/>
              </a:ext>
            </a:extLst>
          </p:cNvPr>
          <p:cNvSpPr>
            <a:spLocks noGrp="1"/>
          </p:cNvSpPr>
          <p:nvPr>
            <p:ph idx="1"/>
          </p:nvPr>
        </p:nvSpPr>
        <p:spPr>
          <a:xfrm>
            <a:off x="0" y="1419203"/>
            <a:ext cx="11574267" cy="4525962"/>
          </a:xfrm>
        </p:spPr>
        <p:txBody>
          <a:bodyPr/>
          <a:lstStyle/>
          <a:p>
            <a:pPr lvl="1"/>
            <a:r>
              <a:rPr lang="en-US" dirty="0"/>
              <a:t>Challenge our own </a:t>
            </a:r>
            <a:r>
              <a:rPr lang="en-US" b="1" dirty="0">
                <a:highlight>
                  <a:srgbClr val="FFFF00"/>
                </a:highlight>
              </a:rPr>
              <a:t>assumptions</a:t>
            </a:r>
            <a:r>
              <a:rPr lang="en-US" dirty="0"/>
              <a:t> about how the world works (our mental models)—and become aware of how they limit us;</a:t>
            </a:r>
          </a:p>
          <a:p>
            <a:pPr lvl="1"/>
            <a:r>
              <a:rPr lang="en-US" dirty="0"/>
              <a:t>Think about both the long-term and the short-term </a:t>
            </a:r>
            <a:r>
              <a:rPr lang="en-US" b="1" dirty="0">
                <a:highlight>
                  <a:srgbClr val="FFFF00"/>
                </a:highlight>
              </a:rPr>
              <a:t>impact </a:t>
            </a:r>
            <a:r>
              <a:rPr lang="en-US" dirty="0"/>
              <a:t>of our and others’ actions;</a:t>
            </a:r>
          </a:p>
          <a:p>
            <a:pPr lvl="1"/>
            <a:r>
              <a:rPr lang="en-US" dirty="0"/>
              <a:t>Ask </a:t>
            </a:r>
            <a:r>
              <a:rPr lang="en-US" b="1" dirty="0">
                <a:highlight>
                  <a:srgbClr val="FFFF00"/>
                </a:highlight>
              </a:rPr>
              <a:t>probing questions </a:t>
            </a:r>
            <a:r>
              <a:rPr lang="en-US" dirty="0"/>
              <a:t>when things don’t turn out the way we planned.</a:t>
            </a:r>
          </a:p>
          <a:p>
            <a:pPr lvl="1"/>
            <a:r>
              <a:rPr lang="en-US" b="1" dirty="0">
                <a:solidFill>
                  <a:schemeClr val="accent6"/>
                </a:solidFill>
              </a:rPr>
              <a:t>In short: Systems thinking</a:t>
            </a:r>
            <a:r>
              <a:rPr lang="en-US" dirty="0">
                <a:solidFill>
                  <a:schemeClr val="accent6"/>
                </a:solidFill>
              </a:rPr>
              <a:t> is a powerful approach to understand the nature of why situations </a:t>
            </a:r>
            <a:r>
              <a:rPr lang="en-US" b="1" dirty="0">
                <a:solidFill>
                  <a:schemeClr val="accent6"/>
                </a:solidFill>
              </a:rPr>
              <a:t>are</a:t>
            </a:r>
            <a:r>
              <a:rPr lang="en-US" dirty="0">
                <a:solidFill>
                  <a:schemeClr val="accent6"/>
                </a:solidFill>
              </a:rPr>
              <a:t> the way they </a:t>
            </a:r>
            <a:r>
              <a:rPr lang="en-US" b="1" dirty="0">
                <a:solidFill>
                  <a:schemeClr val="accent6"/>
                </a:solidFill>
              </a:rPr>
              <a:t>are AND </a:t>
            </a:r>
            <a:r>
              <a:rPr lang="en-US" dirty="0">
                <a:solidFill>
                  <a:schemeClr val="accent6"/>
                </a:solidFill>
              </a:rPr>
              <a:t>how to go improve results</a:t>
            </a:r>
          </a:p>
          <a:p>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9038" y="5119336"/>
            <a:ext cx="1932962" cy="1311653"/>
          </a:xfrm>
          <a:prstGeom prst="rect">
            <a:avLst/>
          </a:prstGeom>
        </p:spPr>
      </p:pic>
    </p:spTree>
    <p:extLst>
      <p:ext uri="{BB962C8B-B14F-4D97-AF65-F5344CB8AC3E}">
        <p14:creationId xmlns:p14="http://schemas.microsoft.com/office/powerpoint/2010/main" val="2704151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214DD-8B2F-4BCB-A473-BB6339823C19}"/>
              </a:ext>
            </a:extLst>
          </p:cNvPr>
          <p:cNvSpPr>
            <a:spLocks noGrp="1"/>
          </p:cNvSpPr>
          <p:nvPr>
            <p:ph type="title"/>
          </p:nvPr>
        </p:nvSpPr>
        <p:spPr/>
        <p:txBody>
          <a:bodyPr/>
          <a:lstStyle/>
          <a:p>
            <a:r>
              <a:rPr lang="en-US" dirty="0"/>
              <a:t>“Surviving” Skill</a:t>
            </a:r>
          </a:p>
        </p:txBody>
      </p:sp>
      <p:sp>
        <p:nvSpPr>
          <p:cNvPr id="3" name="Content Placeholder 2">
            <a:extLst>
              <a:ext uri="{FF2B5EF4-FFF2-40B4-BE49-F238E27FC236}">
                <a16:creationId xmlns:a16="http://schemas.microsoft.com/office/drawing/2014/main" id="{E7F00D62-7B4B-4A6B-9501-42E04C626BED}"/>
              </a:ext>
            </a:extLst>
          </p:cNvPr>
          <p:cNvSpPr>
            <a:spLocks noGrp="1"/>
          </p:cNvSpPr>
          <p:nvPr>
            <p:ph idx="1"/>
          </p:nvPr>
        </p:nvSpPr>
        <p:spPr/>
        <p:txBody>
          <a:bodyPr/>
          <a:lstStyle/>
          <a:p>
            <a:r>
              <a:rPr lang="en-US" dirty="0"/>
              <a:t>We </a:t>
            </a:r>
            <a:r>
              <a:rPr lang="en-US" dirty="0">
                <a:solidFill>
                  <a:schemeClr val="accent2">
                    <a:lumMod val="75000"/>
                  </a:schemeClr>
                </a:solidFill>
              </a:rPr>
              <a:t>try to make sense </a:t>
            </a:r>
            <a:r>
              <a:rPr lang="en-US" dirty="0"/>
              <a:t>of the phenomena we perceive around us and our environment</a:t>
            </a:r>
          </a:p>
          <a:p>
            <a:r>
              <a:rPr lang="en-US" dirty="0"/>
              <a:t>We then use our explanations </a:t>
            </a:r>
            <a:r>
              <a:rPr lang="en-US" dirty="0">
                <a:solidFill>
                  <a:schemeClr val="accent2">
                    <a:lumMod val="75000"/>
                  </a:schemeClr>
                </a:solidFill>
              </a:rPr>
              <a:t>to predict </a:t>
            </a:r>
            <a:r>
              <a:rPr lang="en-US" dirty="0"/>
              <a:t>what may happen in the future</a:t>
            </a:r>
          </a:p>
          <a:p>
            <a:r>
              <a:rPr lang="en-US" dirty="0"/>
              <a:t>Yet our explanations often contain </a:t>
            </a:r>
            <a:r>
              <a:rPr lang="en-US" dirty="0">
                <a:solidFill>
                  <a:schemeClr val="accent2">
                    <a:lumMod val="75000"/>
                  </a:schemeClr>
                </a:solidFill>
              </a:rPr>
              <a:t>misconceptions</a:t>
            </a:r>
            <a:r>
              <a:rPr lang="en-US" dirty="0"/>
              <a:t> about causes and outcomes and </a:t>
            </a:r>
            <a:r>
              <a:rPr lang="en-US" dirty="0">
                <a:solidFill>
                  <a:schemeClr val="accent2">
                    <a:lumMod val="75000"/>
                  </a:schemeClr>
                </a:solidFill>
              </a:rPr>
              <a:t>incomplete</a:t>
            </a:r>
            <a:r>
              <a:rPr lang="en-US" dirty="0"/>
              <a:t> or overly simple assumptions about how the world works</a:t>
            </a:r>
          </a:p>
          <a:p>
            <a:r>
              <a:rPr lang="en-US" dirty="0"/>
              <a:t>When this happens, we </a:t>
            </a:r>
            <a:r>
              <a:rPr lang="en-US" dirty="0">
                <a:solidFill>
                  <a:schemeClr val="accent2">
                    <a:lumMod val="75000"/>
                  </a:schemeClr>
                </a:solidFill>
              </a:rPr>
              <a:t>struggle</a:t>
            </a:r>
            <a:r>
              <a:rPr lang="en-US" dirty="0"/>
              <a:t> again and again with what seem like the </a:t>
            </a:r>
            <a:r>
              <a:rPr lang="en-US" dirty="0">
                <a:solidFill>
                  <a:schemeClr val="accent2">
                    <a:lumMod val="75000"/>
                  </a:schemeClr>
                </a:solidFill>
              </a:rPr>
              <a:t>same problems </a:t>
            </a:r>
          </a:p>
          <a:p>
            <a:endParaRPr lang="en-US" dirty="0"/>
          </a:p>
          <a:p>
            <a:endParaRPr lang="en-US" dirty="0"/>
          </a:p>
          <a:p>
            <a:endParaRPr lang="en-US" dirty="0"/>
          </a:p>
        </p:txBody>
      </p:sp>
    </p:spTree>
    <p:extLst>
      <p:ext uri="{BB962C8B-B14F-4D97-AF65-F5344CB8AC3E}">
        <p14:creationId xmlns:p14="http://schemas.microsoft.com/office/powerpoint/2010/main" val="1462296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35D9A-521A-4005-846E-10AC13198CDA}"/>
              </a:ext>
            </a:extLst>
          </p:cNvPr>
          <p:cNvSpPr>
            <a:spLocks noGrp="1"/>
          </p:cNvSpPr>
          <p:nvPr>
            <p:ph type="title"/>
          </p:nvPr>
        </p:nvSpPr>
        <p:spPr/>
        <p:txBody>
          <a:bodyPr/>
          <a:lstStyle/>
          <a:p>
            <a:r>
              <a:rPr lang="en-US" dirty="0"/>
              <a:t>“Surviving” Skill</a:t>
            </a:r>
          </a:p>
        </p:txBody>
      </p:sp>
      <p:sp>
        <p:nvSpPr>
          <p:cNvPr id="3" name="Content Placeholder 2">
            <a:extLst>
              <a:ext uri="{FF2B5EF4-FFF2-40B4-BE49-F238E27FC236}">
                <a16:creationId xmlns:a16="http://schemas.microsoft.com/office/drawing/2014/main" id="{76B99A8E-140B-49E2-9CFB-7896137F045D}"/>
              </a:ext>
            </a:extLst>
          </p:cNvPr>
          <p:cNvSpPr>
            <a:spLocks noGrp="1"/>
          </p:cNvSpPr>
          <p:nvPr>
            <p:ph idx="1"/>
          </p:nvPr>
        </p:nvSpPr>
        <p:spPr/>
        <p:txBody>
          <a:bodyPr/>
          <a:lstStyle/>
          <a:p>
            <a:r>
              <a:rPr lang="en-US" dirty="0"/>
              <a:t>We </a:t>
            </a:r>
            <a:r>
              <a:rPr lang="en-US" dirty="0">
                <a:solidFill>
                  <a:schemeClr val="accent2">
                    <a:lumMod val="75000"/>
                  </a:schemeClr>
                </a:solidFill>
              </a:rPr>
              <a:t>take actions </a:t>
            </a:r>
            <a:r>
              <a:rPr lang="en-US" dirty="0"/>
              <a:t>that we think will </a:t>
            </a:r>
            <a:r>
              <a:rPr lang="en-US" dirty="0">
                <a:solidFill>
                  <a:schemeClr val="accent2">
                    <a:lumMod val="75000"/>
                  </a:schemeClr>
                </a:solidFill>
              </a:rPr>
              <a:t>address</a:t>
            </a:r>
            <a:r>
              <a:rPr lang="en-US" dirty="0"/>
              <a:t> fundamental problems, but often they never do, or they actually make the </a:t>
            </a:r>
            <a:r>
              <a:rPr lang="en-US" dirty="0">
                <a:solidFill>
                  <a:schemeClr val="accent2">
                    <a:lumMod val="75000"/>
                  </a:schemeClr>
                </a:solidFill>
              </a:rPr>
              <a:t>original problem </a:t>
            </a:r>
            <a:r>
              <a:rPr lang="en-US" dirty="0"/>
              <a:t>worse. </a:t>
            </a:r>
          </a:p>
          <a:p>
            <a:endParaRPr lang="en-US" dirty="0"/>
          </a:p>
          <a:p>
            <a:r>
              <a:rPr lang="en-US" b="1" dirty="0"/>
              <a:t>How do we get off this problem-solving treadmill?</a:t>
            </a:r>
          </a:p>
          <a:p>
            <a:pPr lvl="1"/>
            <a:r>
              <a:rPr lang="en-US" dirty="0"/>
              <a:t>Systems thinking can help</a:t>
            </a:r>
          </a:p>
          <a:p>
            <a:pPr lvl="1"/>
            <a:endParaRPr lang="en-US" dirty="0"/>
          </a:p>
        </p:txBody>
      </p:sp>
    </p:spTree>
    <p:extLst>
      <p:ext uri="{BB962C8B-B14F-4D97-AF65-F5344CB8AC3E}">
        <p14:creationId xmlns:p14="http://schemas.microsoft.com/office/powerpoint/2010/main" val="3544834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D047-F806-4D5F-89FA-E41CCAC55A94}"/>
              </a:ext>
            </a:extLst>
          </p:cNvPr>
          <p:cNvSpPr>
            <a:spLocks noGrp="1"/>
          </p:cNvSpPr>
          <p:nvPr>
            <p:ph type="title"/>
          </p:nvPr>
        </p:nvSpPr>
        <p:spPr/>
        <p:txBody>
          <a:bodyPr/>
          <a:lstStyle/>
          <a:p>
            <a:r>
              <a:rPr lang="en-US" dirty="0"/>
              <a:t>Group Discussion</a:t>
            </a:r>
          </a:p>
        </p:txBody>
      </p:sp>
      <p:sp>
        <p:nvSpPr>
          <p:cNvPr id="3" name="Content Placeholder 2">
            <a:extLst>
              <a:ext uri="{FF2B5EF4-FFF2-40B4-BE49-F238E27FC236}">
                <a16:creationId xmlns:a16="http://schemas.microsoft.com/office/drawing/2014/main" id="{3E9E2044-43E3-4947-BD82-12007E300B27}"/>
              </a:ext>
            </a:extLst>
          </p:cNvPr>
          <p:cNvSpPr>
            <a:spLocks noGrp="1"/>
          </p:cNvSpPr>
          <p:nvPr>
            <p:ph idx="1"/>
          </p:nvPr>
        </p:nvSpPr>
        <p:spPr/>
        <p:txBody>
          <a:bodyPr/>
          <a:lstStyle/>
          <a:p>
            <a:r>
              <a:rPr lang="en-US" dirty="0"/>
              <a:t>Watch and discuss the content of the video:</a:t>
            </a:r>
          </a:p>
          <a:p>
            <a:pPr lvl="1"/>
            <a:r>
              <a:rPr lang="en-US" dirty="0">
                <a:hlinkClick r:id="rId2"/>
              </a:rPr>
              <a:t>https://www.youtube.com/watch?v=GPW0j2Bo_eY</a:t>
            </a:r>
            <a:endParaRPr lang="en-US" dirty="0"/>
          </a:p>
        </p:txBody>
      </p:sp>
      <p:pic>
        <p:nvPicPr>
          <p:cNvPr id="5" name="Picture 4">
            <a:hlinkClick r:id="rId2"/>
            <a:extLst>
              <a:ext uri="{FF2B5EF4-FFF2-40B4-BE49-F238E27FC236}">
                <a16:creationId xmlns:a16="http://schemas.microsoft.com/office/drawing/2014/main" id="{6B3ACF31-4EFD-4930-B3C3-EC8EE0A76587}"/>
              </a:ext>
            </a:extLst>
          </p:cNvPr>
          <p:cNvPicPr>
            <a:picLocks noChangeAspect="1"/>
          </p:cNvPicPr>
          <p:nvPr/>
        </p:nvPicPr>
        <p:blipFill>
          <a:blip r:embed="rId3"/>
          <a:stretch>
            <a:fillRect/>
          </a:stretch>
        </p:blipFill>
        <p:spPr>
          <a:xfrm>
            <a:off x="3812937" y="3542848"/>
            <a:ext cx="2686050" cy="1695450"/>
          </a:xfrm>
          <a:prstGeom prst="rect">
            <a:avLst/>
          </a:prstGeom>
        </p:spPr>
      </p:pic>
    </p:spTree>
    <p:extLst>
      <p:ext uri="{BB962C8B-B14F-4D97-AF65-F5344CB8AC3E}">
        <p14:creationId xmlns:p14="http://schemas.microsoft.com/office/powerpoint/2010/main" val="2859373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6DB4A-AE8C-4966-AF43-5649824B49F3}"/>
              </a:ext>
            </a:extLst>
          </p:cNvPr>
          <p:cNvSpPr>
            <a:spLocks noGrp="1"/>
          </p:cNvSpPr>
          <p:nvPr>
            <p:ph type="title"/>
          </p:nvPr>
        </p:nvSpPr>
        <p:spPr/>
        <p:txBody>
          <a:bodyPr/>
          <a:lstStyle/>
          <a:p>
            <a:r>
              <a:rPr lang="en-US" dirty="0"/>
              <a:t>Basic Characteristics of a System</a:t>
            </a:r>
          </a:p>
        </p:txBody>
      </p:sp>
      <p:sp>
        <p:nvSpPr>
          <p:cNvPr id="3" name="Content Placeholder 2">
            <a:extLst>
              <a:ext uri="{FF2B5EF4-FFF2-40B4-BE49-F238E27FC236}">
                <a16:creationId xmlns:a16="http://schemas.microsoft.com/office/drawing/2014/main" id="{005FA1D5-634D-47C3-B221-A27E0DCB1D4B}"/>
              </a:ext>
            </a:extLst>
          </p:cNvPr>
          <p:cNvSpPr>
            <a:spLocks noGrp="1"/>
          </p:cNvSpPr>
          <p:nvPr>
            <p:ph idx="1"/>
          </p:nvPr>
        </p:nvSpPr>
        <p:spPr/>
        <p:txBody>
          <a:bodyPr/>
          <a:lstStyle/>
          <a:p>
            <a:r>
              <a:rPr lang="en-US" dirty="0"/>
              <a:t>The following five questions can get you started to understand the basic characteristic of a system:</a:t>
            </a:r>
          </a:p>
          <a:p>
            <a:pPr marL="971550" lvl="1" indent="-514350">
              <a:buFont typeface="+mj-lt"/>
              <a:buAutoNum type="arabicPeriod"/>
            </a:pPr>
            <a:r>
              <a:rPr lang="en-US" dirty="0"/>
              <a:t>Is it a heap or a system?</a:t>
            </a:r>
          </a:p>
          <a:p>
            <a:pPr marL="971550" lvl="1" indent="-514350">
              <a:buFont typeface="+mj-lt"/>
              <a:buAutoNum type="arabicPeriod"/>
            </a:pPr>
            <a:r>
              <a:rPr lang="en-US" dirty="0"/>
              <a:t>Is the whole greater than the sum of its parts?</a:t>
            </a:r>
          </a:p>
          <a:p>
            <a:pPr marL="971550" lvl="1" indent="-514350">
              <a:buFont typeface="+mj-lt"/>
              <a:buAutoNum type="arabicPeriod"/>
            </a:pPr>
            <a:r>
              <a:rPr lang="en-US" dirty="0"/>
              <a:t>What is the purpose?</a:t>
            </a:r>
          </a:p>
          <a:p>
            <a:pPr marL="971550" lvl="1" indent="-514350">
              <a:buFont typeface="+mj-lt"/>
              <a:buAutoNum type="arabicPeriod"/>
            </a:pPr>
            <a:r>
              <a:rPr lang="en-US" dirty="0"/>
              <a:t>Are the causes and effects shaped like a circle?</a:t>
            </a:r>
          </a:p>
          <a:p>
            <a:pPr marL="971550" lvl="1" indent="-514350">
              <a:buFont typeface="+mj-lt"/>
              <a:buAutoNum type="arabicPeriod"/>
            </a:pPr>
            <a:r>
              <a:rPr lang="en-US" dirty="0"/>
              <a:t>Are we experiencing déjà vu?</a:t>
            </a:r>
          </a:p>
          <a:p>
            <a:pPr lvl="1"/>
            <a:endParaRPr lang="en-US" dirty="0"/>
          </a:p>
          <a:p>
            <a:endParaRPr lang="en-US" dirty="0"/>
          </a:p>
        </p:txBody>
      </p:sp>
    </p:spTree>
    <p:extLst>
      <p:ext uri="{BB962C8B-B14F-4D97-AF65-F5344CB8AC3E}">
        <p14:creationId xmlns:p14="http://schemas.microsoft.com/office/powerpoint/2010/main" val="3411674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61149-F68D-4B53-8556-E4ACFF4BA77F}"/>
              </a:ext>
            </a:extLst>
          </p:cNvPr>
          <p:cNvSpPr>
            <a:spLocks noGrp="1"/>
          </p:cNvSpPr>
          <p:nvPr>
            <p:ph type="title"/>
          </p:nvPr>
        </p:nvSpPr>
        <p:spPr/>
        <p:txBody>
          <a:bodyPr/>
          <a:lstStyle/>
          <a:p>
            <a:r>
              <a:rPr lang="en-US" dirty="0"/>
              <a:t>1. Is It a Heap or a System?</a:t>
            </a:r>
          </a:p>
        </p:txBody>
      </p:sp>
      <p:sp>
        <p:nvSpPr>
          <p:cNvPr id="3" name="Content Placeholder 2">
            <a:extLst>
              <a:ext uri="{FF2B5EF4-FFF2-40B4-BE49-F238E27FC236}">
                <a16:creationId xmlns:a16="http://schemas.microsoft.com/office/drawing/2014/main" id="{612B3B55-3F7E-4F04-9167-8DA9C328D728}"/>
              </a:ext>
            </a:extLst>
          </p:cNvPr>
          <p:cNvSpPr>
            <a:spLocks noGrp="1"/>
          </p:cNvSpPr>
          <p:nvPr>
            <p:ph idx="1"/>
          </p:nvPr>
        </p:nvSpPr>
        <p:spPr>
          <a:xfrm>
            <a:off x="649817" y="2625497"/>
            <a:ext cx="5343020" cy="4525962"/>
          </a:xfrm>
        </p:spPr>
        <p:txBody>
          <a:bodyPr/>
          <a:lstStyle/>
          <a:p>
            <a:pPr>
              <a:buFont typeface="Wingdings" panose="05000000000000000000" pitchFamily="2" charset="2"/>
              <a:buChar char="Ø"/>
            </a:pPr>
            <a:r>
              <a:rPr lang="en-US" sz="2800" dirty="0"/>
              <a:t>With a </a:t>
            </a:r>
            <a:r>
              <a:rPr lang="en-US" sz="2800" dirty="0">
                <a:solidFill>
                  <a:schemeClr val="accent2">
                    <a:lumMod val="75000"/>
                  </a:schemeClr>
                </a:solidFill>
              </a:rPr>
              <a:t>heap</a:t>
            </a:r>
            <a:r>
              <a:rPr lang="en-US" sz="2800" dirty="0"/>
              <a:t>, nothing changes if you take away or add parts. </a:t>
            </a:r>
          </a:p>
          <a:p>
            <a:pPr>
              <a:buFont typeface="Wingdings" panose="05000000000000000000" pitchFamily="2" charset="2"/>
              <a:buChar char="Ø"/>
            </a:pPr>
            <a:r>
              <a:rPr lang="en-US" sz="2800" dirty="0"/>
              <a:t>For instance, imagine that you have a bowl of nuts. What happens if you remove all the cashews or add hazel- nuts? Answer: You still have just a bowl of nuts.</a:t>
            </a:r>
          </a:p>
        </p:txBody>
      </p:sp>
      <p:sp>
        <p:nvSpPr>
          <p:cNvPr id="5" name="Content Placeholder 2">
            <a:extLst>
              <a:ext uri="{FF2B5EF4-FFF2-40B4-BE49-F238E27FC236}">
                <a16:creationId xmlns:a16="http://schemas.microsoft.com/office/drawing/2014/main" id="{4A3476CC-3235-4B21-9022-52EA25704762}"/>
              </a:ext>
            </a:extLst>
          </p:cNvPr>
          <p:cNvSpPr txBox="1">
            <a:spLocks/>
          </p:cNvSpPr>
          <p:nvPr/>
        </p:nvSpPr>
        <p:spPr bwMode="auto">
          <a:xfrm>
            <a:off x="6323786" y="2632067"/>
            <a:ext cx="534302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Font typeface="Wingdings" panose="05000000000000000000" pitchFamily="2" charset="2"/>
              <a:buChar char="Ø"/>
            </a:pPr>
            <a:r>
              <a:rPr lang="en-US" sz="2800" kern="0" dirty="0"/>
              <a:t>With a </a:t>
            </a:r>
            <a:r>
              <a:rPr lang="en-US" sz="2800" kern="0" dirty="0">
                <a:solidFill>
                  <a:schemeClr val="accent2">
                    <a:lumMod val="75000"/>
                  </a:schemeClr>
                </a:solidFill>
              </a:rPr>
              <a:t>system</a:t>
            </a:r>
            <a:r>
              <a:rPr lang="en-US" sz="2800" kern="0" dirty="0"/>
              <a:t>, things definitely change if you take away or add parts. </a:t>
            </a:r>
          </a:p>
          <a:p>
            <a:pPr>
              <a:buFont typeface="Wingdings" panose="05000000000000000000" pitchFamily="2" charset="2"/>
              <a:buChar char="Ø"/>
            </a:pPr>
            <a:r>
              <a:rPr lang="en-US" sz="2800" kern="0" dirty="0"/>
              <a:t>For example, suppose you removed the battery from your car. The car wouldn’t start! A car is an example of a mechanical system. </a:t>
            </a:r>
          </a:p>
        </p:txBody>
      </p:sp>
      <p:sp>
        <p:nvSpPr>
          <p:cNvPr id="6" name="Content Placeholder 2">
            <a:extLst>
              <a:ext uri="{FF2B5EF4-FFF2-40B4-BE49-F238E27FC236}">
                <a16:creationId xmlns:a16="http://schemas.microsoft.com/office/drawing/2014/main" id="{550DDD4F-0AD0-4B4D-ACD2-90CA53F402BE}"/>
              </a:ext>
            </a:extLst>
          </p:cNvPr>
          <p:cNvSpPr txBox="1">
            <a:spLocks/>
          </p:cNvSpPr>
          <p:nvPr/>
        </p:nvSpPr>
        <p:spPr bwMode="auto">
          <a:xfrm>
            <a:off x="649817" y="1697038"/>
            <a:ext cx="10972800" cy="80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kern="0" dirty="0"/>
              <a:t>Both heap and system consist of two or more parts.</a:t>
            </a:r>
          </a:p>
          <a:p>
            <a:endParaRPr lang="en-US" kern="0" dirty="0"/>
          </a:p>
        </p:txBody>
      </p:sp>
      <p:cxnSp>
        <p:nvCxnSpPr>
          <p:cNvPr id="10" name="Straight Connector 9">
            <a:extLst>
              <a:ext uri="{FF2B5EF4-FFF2-40B4-BE49-F238E27FC236}">
                <a16:creationId xmlns:a16="http://schemas.microsoft.com/office/drawing/2014/main" id="{00A38A76-6833-4919-BE3B-0A5B811BDFB0}"/>
              </a:ext>
            </a:extLst>
          </p:cNvPr>
          <p:cNvCxnSpPr/>
          <p:nvPr/>
        </p:nvCxnSpPr>
        <p:spPr bwMode="auto">
          <a:xfrm>
            <a:off x="6096000" y="2632067"/>
            <a:ext cx="0" cy="3628056"/>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45487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0CF2F-E41F-4A99-9184-847F703A1AFA}"/>
              </a:ext>
            </a:extLst>
          </p:cNvPr>
          <p:cNvSpPr>
            <a:spLocks noGrp="1"/>
          </p:cNvSpPr>
          <p:nvPr>
            <p:ph type="title"/>
          </p:nvPr>
        </p:nvSpPr>
        <p:spPr/>
        <p:txBody>
          <a:bodyPr/>
          <a:lstStyle/>
          <a:p>
            <a:r>
              <a:rPr lang="en-US" dirty="0"/>
              <a:t>2. Is the Whole Greater Than the Sum of Its Parts?</a:t>
            </a:r>
          </a:p>
        </p:txBody>
      </p:sp>
      <p:sp>
        <p:nvSpPr>
          <p:cNvPr id="3" name="Content Placeholder 2">
            <a:extLst>
              <a:ext uri="{FF2B5EF4-FFF2-40B4-BE49-F238E27FC236}">
                <a16:creationId xmlns:a16="http://schemas.microsoft.com/office/drawing/2014/main" id="{8495E931-9F46-4551-9050-F41A8311B053}"/>
              </a:ext>
            </a:extLst>
          </p:cNvPr>
          <p:cNvSpPr>
            <a:spLocks noGrp="1"/>
          </p:cNvSpPr>
          <p:nvPr>
            <p:ph idx="1"/>
          </p:nvPr>
        </p:nvSpPr>
        <p:spPr/>
        <p:txBody>
          <a:bodyPr/>
          <a:lstStyle/>
          <a:p>
            <a:r>
              <a:rPr lang="en-US" dirty="0"/>
              <a:t>In systems thinking, this means that the many interactions among the parts in a system give rise to qualities or properties that you just can’t measure merely by adding up those parts</a:t>
            </a:r>
          </a:p>
          <a:p>
            <a:r>
              <a:rPr lang="en-US" dirty="0"/>
              <a:t>Example: </a:t>
            </a:r>
          </a:p>
          <a:p>
            <a:pPr lvl="1"/>
            <a:r>
              <a:rPr lang="en-US" dirty="0"/>
              <a:t>For anyone who has played team sports, it echoes the T.E.A.M. acronym—Together, Everyone Achieves More</a:t>
            </a:r>
          </a:p>
          <a:p>
            <a:pPr lvl="1"/>
            <a:endParaRPr lang="en-US" dirty="0"/>
          </a:p>
          <a:p>
            <a:pPr lvl="1"/>
            <a:endParaRPr lang="en-US" dirty="0"/>
          </a:p>
        </p:txBody>
      </p:sp>
    </p:spTree>
    <p:extLst>
      <p:ext uri="{BB962C8B-B14F-4D97-AF65-F5344CB8AC3E}">
        <p14:creationId xmlns:p14="http://schemas.microsoft.com/office/powerpoint/2010/main" val="1967513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A51F5-9315-4E76-811A-7E558642F2DF}"/>
              </a:ext>
            </a:extLst>
          </p:cNvPr>
          <p:cNvSpPr>
            <a:spLocks noGrp="1"/>
          </p:cNvSpPr>
          <p:nvPr>
            <p:ph type="title"/>
          </p:nvPr>
        </p:nvSpPr>
        <p:spPr/>
        <p:txBody>
          <a:bodyPr/>
          <a:lstStyle/>
          <a:p>
            <a:r>
              <a:rPr lang="en-US" dirty="0"/>
              <a:t>2. Is the Whole Greater Than the Sum of Its Parts?</a:t>
            </a:r>
          </a:p>
        </p:txBody>
      </p:sp>
      <p:sp>
        <p:nvSpPr>
          <p:cNvPr id="3" name="Content Placeholder 2">
            <a:extLst>
              <a:ext uri="{FF2B5EF4-FFF2-40B4-BE49-F238E27FC236}">
                <a16:creationId xmlns:a16="http://schemas.microsoft.com/office/drawing/2014/main" id="{F57C85BE-C5EA-427E-A122-9E1A9F85E5C6}"/>
              </a:ext>
            </a:extLst>
          </p:cNvPr>
          <p:cNvSpPr>
            <a:spLocks noGrp="1"/>
          </p:cNvSpPr>
          <p:nvPr>
            <p:ph idx="1"/>
          </p:nvPr>
        </p:nvSpPr>
        <p:spPr>
          <a:xfrm>
            <a:off x="649817" y="1507524"/>
            <a:ext cx="10972800" cy="5053914"/>
          </a:xfrm>
        </p:spPr>
        <p:txBody>
          <a:bodyPr/>
          <a:lstStyle/>
          <a:p>
            <a:r>
              <a:rPr lang="en-US" dirty="0"/>
              <a:t>Another Example:</a:t>
            </a:r>
          </a:p>
          <a:p>
            <a:pPr lvl="1"/>
            <a:r>
              <a:rPr lang="en-US" dirty="0"/>
              <a:t>Assume you completely took the car apart. </a:t>
            </a:r>
          </a:p>
          <a:p>
            <a:pPr lvl="1"/>
            <a:r>
              <a:rPr lang="en-US" dirty="0"/>
              <a:t>If you weighed all the pieces and added up the numbers, you’d know how much the entire car weighs when it’s assembled correctly. </a:t>
            </a:r>
          </a:p>
          <a:p>
            <a:pPr lvl="1"/>
            <a:r>
              <a:rPr lang="en-US" dirty="0"/>
              <a:t>But you wouldn’t know how fast the car goes or how comfortable a ride you’d have on a bumpy road. Speed and comfort are created by the interactions of the car’s parts and thus are “greater than the sum” of all the car’s separate parts.</a:t>
            </a:r>
          </a:p>
          <a:p>
            <a:pPr lvl="1"/>
            <a:r>
              <a:rPr lang="en-US" dirty="0"/>
              <a:t>Speed and comfort are the </a:t>
            </a:r>
            <a:r>
              <a:rPr lang="en-US" dirty="0">
                <a:solidFill>
                  <a:schemeClr val="accent2">
                    <a:lumMod val="75000"/>
                  </a:schemeClr>
                </a:solidFill>
                <a:highlight>
                  <a:srgbClr val="FFFF00"/>
                </a:highlight>
              </a:rPr>
              <a:t>emergent properties</a:t>
            </a:r>
          </a:p>
        </p:txBody>
      </p:sp>
    </p:spTree>
    <p:extLst>
      <p:ext uri="{BB962C8B-B14F-4D97-AF65-F5344CB8AC3E}">
        <p14:creationId xmlns:p14="http://schemas.microsoft.com/office/powerpoint/2010/main" val="3463572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E6847-2391-4EB6-AFB9-9359981FF87E}"/>
              </a:ext>
            </a:extLst>
          </p:cNvPr>
          <p:cNvSpPr>
            <a:spLocks noGrp="1"/>
          </p:cNvSpPr>
          <p:nvPr>
            <p:ph type="title"/>
          </p:nvPr>
        </p:nvSpPr>
        <p:spPr/>
        <p:txBody>
          <a:bodyPr/>
          <a:lstStyle/>
          <a:p>
            <a:r>
              <a:rPr lang="en-US" dirty="0"/>
              <a:t>3. What is the Purpose?</a:t>
            </a:r>
          </a:p>
        </p:txBody>
      </p:sp>
      <p:sp>
        <p:nvSpPr>
          <p:cNvPr id="3" name="Content Placeholder 2">
            <a:extLst>
              <a:ext uri="{FF2B5EF4-FFF2-40B4-BE49-F238E27FC236}">
                <a16:creationId xmlns:a16="http://schemas.microsoft.com/office/drawing/2014/main" id="{B4EF2D86-929E-4A23-8F5E-652AFC0C7EB0}"/>
              </a:ext>
            </a:extLst>
          </p:cNvPr>
          <p:cNvSpPr>
            <a:spLocks noGrp="1"/>
          </p:cNvSpPr>
          <p:nvPr>
            <p:ph idx="1"/>
          </p:nvPr>
        </p:nvSpPr>
        <p:spPr/>
        <p:txBody>
          <a:bodyPr/>
          <a:lstStyle/>
          <a:p>
            <a:r>
              <a:rPr lang="en-US" dirty="0"/>
              <a:t>Most systems have a distinct “point,” or purpose in relationship to the larger system in which they are embedded. </a:t>
            </a:r>
          </a:p>
          <a:p>
            <a:r>
              <a:rPr lang="en-US" dirty="0"/>
              <a:t>In many social systems, we see subsystems whose purposes can conflict sometimes.  </a:t>
            </a:r>
            <a:r>
              <a:rPr lang="en-US" dirty="0">
                <a:solidFill>
                  <a:schemeClr val="accent2">
                    <a:lumMod val="75000"/>
                  </a:schemeClr>
                </a:solidFill>
              </a:rPr>
              <a:t>Example:</a:t>
            </a:r>
            <a:r>
              <a:rPr lang="en-US" dirty="0"/>
              <a:t> teacher sometimes be at cross-purposes with the guidance department, or with the administration.</a:t>
            </a:r>
          </a:p>
        </p:txBody>
      </p:sp>
    </p:spTree>
    <p:extLst>
      <p:ext uri="{BB962C8B-B14F-4D97-AF65-F5344CB8AC3E}">
        <p14:creationId xmlns:p14="http://schemas.microsoft.com/office/powerpoint/2010/main" val="2982531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BC42B-E2D7-46DE-862E-FA870AAA7700}"/>
              </a:ext>
            </a:extLst>
          </p:cNvPr>
          <p:cNvSpPr>
            <a:spLocks noGrp="1"/>
          </p:cNvSpPr>
          <p:nvPr>
            <p:ph type="title"/>
          </p:nvPr>
        </p:nvSpPr>
        <p:spPr/>
        <p:txBody>
          <a:bodyPr/>
          <a:lstStyle/>
          <a:p>
            <a:r>
              <a:rPr lang="en-US" dirty="0"/>
              <a:t>3. What is the Purpose?</a:t>
            </a:r>
          </a:p>
        </p:txBody>
      </p:sp>
      <p:sp>
        <p:nvSpPr>
          <p:cNvPr id="3" name="Content Placeholder 2">
            <a:extLst>
              <a:ext uri="{FF2B5EF4-FFF2-40B4-BE49-F238E27FC236}">
                <a16:creationId xmlns:a16="http://schemas.microsoft.com/office/drawing/2014/main" id="{5B811107-8E85-4A06-A7FF-67838968D12D}"/>
              </a:ext>
            </a:extLst>
          </p:cNvPr>
          <p:cNvSpPr>
            <a:spLocks noGrp="1"/>
          </p:cNvSpPr>
          <p:nvPr>
            <p:ph idx="1"/>
          </p:nvPr>
        </p:nvSpPr>
        <p:spPr/>
        <p:txBody>
          <a:bodyPr/>
          <a:lstStyle/>
          <a:p>
            <a:r>
              <a:rPr lang="en-US" dirty="0"/>
              <a:t>We often forget to ask this: “</a:t>
            </a:r>
            <a:r>
              <a:rPr lang="en-US" dirty="0">
                <a:solidFill>
                  <a:schemeClr val="accent2">
                    <a:lumMod val="75000"/>
                  </a:schemeClr>
                </a:solidFill>
              </a:rPr>
              <a:t>What is the purpose of this system?</a:t>
            </a:r>
            <a:r>
              <a:rPr lang="en-US" dirty="0"/>
              <a:t>” </a:t>
            </a:r>
          </a:p>
          <a:p>
            <a:r>
              <a:rPr lang="en-US" dirty="0"/>
              <a:t>By </a:t>
            </a:r>
            <a:r>
              <a:rPr lang="en-US" dirty="0">
                <a:solidFill>
                  <a:schemeClr val="accent2">
                    <a:lumMod val="75000"/>
                  </a:schemeClr>
                </a:solidFill>
              </a:rPr>
              <a:t>understanding</a:t>
            </a:r>
            <a:r>
              <a:rPr lang="en-US" dirty="0"/>
              <a:t> the various and sometimes conflicting </a:t>
            </a:r>
            <a:r>
              <a:rPr lang="en-US" dirty="0">
                <a:solidFill>
                  <a:schemeClr val="accent2">
                    <a:lumMod val="75000"/>
                  </a:schemeClr>
                </a:solidFill>
              </a:rPr>
              <a:t>purposes</a:t>
            </a:r>
            <a:r>
              <a:rPr lang="en-US" dirty="0"/>
              <a:t> within a system, you can begin gaining </a:t>
            </a:r>
            <a:r>
              <a:rPr lang="en-US" dirty="0">
                <a:solidFill>
                  <a:schemeClr val="accent2">
                    <a:lumMod val="75000"/>
                  </a:schemeClr>
                </a:solidFill>
              </a:rPr>
              <a:t>insight</a:t>
            </a:r>
            <a:r>
              <a:rPr lang="en-US" dirty="0"/>
              <a:t> into why the system functions as it does, and how you might help it function better. </a:t>
            </a:r>
          </a:p>
          <a:p>
            <a:r>
              <a:rPr lang="en-US" dirty="0">
                <a:solidFill>
                  <a:schemeClr val="accent2">
                    <a:lumMod val="75000"/>
                  </a:schemeClr>
                </a:solidFill>
              </a:rPr>
              <a:t>Back to previous example:</a:t>
            </a:r>
            <a:r>
              <a:rPr lang="en-US" dirty="0"/>
              <a:t> Regular meetings between teachers and school administrators might help them clear up conflicts.</a:t>
            </a:r>
          </a:p>
        </p:txBody>
      </p:sp>
    </p:spTree>
    <p:extLst>
      <p:ext uri="{BB962C8B-B14F-4D97-AF65-F5344CB8AC3E}">
        <p14:creationId xmlns:p14="http://schemas.microsoft.com/office/powerpoint/2010/main" val="3400751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B54D7-05A7-4ED1-B71E-7DF913D6B88C}"/>
              </a:ext>
            </a:extLst>
          </p:cNvPr>
          <p:cNvSpPr>
            <a:spLocks noGrp="1"/>
          </p:cNvSpPr>
          <p:nvPr>
            <p:ph type="title"/>
          </p:nvPr>
        </p:nvSpPr>
        <p:spPr/>
        <p:txBody>
          <a:bodyPr/>
          <a:lstStyle/>
          <a:p>
            <a:r>
              <a:rPr lang="en-US" dirty="0"/>
              <a:t>4. Are the Causes and Effects Shaped Like a Circle?</a:t>
            </a:r>
          </a:p>
        </p:txBody>
      </p:sp>
      <p:sp>
        <p:nvSpPr>
          <p:cNvPr id="3" name="Content Placeholder 2">
            <a:extLst>
              <a:ext uri="{FF2B5EF4-FFF2-40B4-BE49-F238E27FC236}">
                <a16:creationId xmlns:a16="http://schemas.microsoft.com/office/drawing/2014/main" id="{A3232973-799E-41C7-BABE-851EE26E3296}"/>
              </a:ext>
            </a:extLst>
          </p:cNvPr>
          <p:cNvSpPr>
            <a:spLocks noGrp="1"/>
          </p:cNvSpPr>
          <p:nvPr>
            <p:ph idx="1"/>
          </p:nvPr>
        </p:nvSpPr>
        <p:spPr>
          <a:xfrm>
            <a:off x="649817" y="1697038"/>
            <a:ext cx="6463905" cy="4525962"/>
          </a:xfrm>
        </p:spPr>
        <p:txBody>
          <a:bodyPr/>
          <a:lstStyle/>
          <a:p>
            <a:r>
              <a:rPr lang="en-US" dirty="0"/>
              <a:t>Systems thinkers’ notion of causality: feedback loops. </a:t>
            </a:r>
          </a:p>
          <a:p>
            <a:r>
              <a:rPr lang="en-US" dirty="0"/>
              <a:t>The simplest way to think of these is to imagine that one event causes another event, and that second event comes back around to influence that first cause. It’s like this: A causes B, B causes C, and C causes A. </a:t>
            </a:r>
          </a:p>
        </p:txBody>
      </p:sp>
      <p:pic>
        <p:nvPicPr>
          <p:cNvPr id="5" name="Picture 4">
            <a:extLst>
              <a:ext uri="{FF2B5EF4-FFF2-40B4-BE49-F238E27FC236}">
                <a16:creationId xmlns:a16="http://schemas.microsoft.com/office/drawing/2014/main" id="{8D0C427A-8FA4-46EB-BA0E-0DDFFE1FD291}"/>
              </a:ext>
            </a:extLst>
          </p:cNvPr>
          <p:cNvPicPr>
            <a:picLocks noChangeAspect="1"/>
          </p:cNvPicPr>
          <p:nvPr/>
        </p:nvPicPr>
        <p:blipFill>
          <a:blip r:embed="rId2"/>
          <a:stretch>
            <a:fillRect/>
          </a:stretch>
        </p:blipFill>
        <p:spPr>
          <a:xfrm>
            <a:off x="7875889" y="2042235"/>
            <a:ext cx="3546362" cy="3546362"/>
          </a:xfrm>
          <a:prstGeom prst="rect">
            <a:avLst/>
          </a:prstGeom>
        </p:spPr>
      </p:pic>
    </p:spTree>
    <p:extLst>
      <p:ext uri="{BB962C8B-B14F-4D97-AF65-F5344CB8AC3E}">
        <p14:creationId xmlns:p14="http://schemas.microsoft.com/office/powerpoint/2010/main" val="4020634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6D9AF-D433-48B0-8B0A-B5403F1E3BB3}"/>
              </a:ext>
            </a:extLst>
          </p:cNvPr>
          <p:cNvSpPr>
            <a:spLocks noGrp="1"/>
          </p:cNvSpPr>
          <p:nvPr>
            <p:ph type="title"/>
          </p:nvPr>
        </p:nvSpPr>
        <p:spPr/>
        <p:txBody>
          <a:bodyPr/>
          <a:lstStyle/>
          <a:p>
            <a:r>
              <a:rPr lang="en-US" dirty="0"/>
              <a:t>5. Are We Experiencing Déjà Vu?</a:t>
            </a:r>
          </a:p>
        </p:txBody>
      </p:sp>
      <p:sp>
        <p:nvSpPr>
          <p:cNvPr id="3" name="Content Placeholder 2">
            <a:extLst>
              <a:ext uri="{FF2B5EF4-FFF2-40B4-BE49-F238E27FC236}">
                <a16:creationId xmlns:a16="http://schemas.microsoft.com/office/drawing/2014/main" id="{3365E7BE-1915-495F-A38F-81B317A38D68}"/>
              </a:ext>
            </a:extLst>
          </p:cNvPr>
          <p:cNvSpPr>
            <a:spLocks noGrp="1"/>
          </p:cNvSpPr>
          <p:nvPr>
            <p:ph idx="1"/>
          </p:nvPr>
        </p:nvSpPr>
        <p:spPr>
          <a:xfrm>
            <a:off x="649817" y="1533378"/>
            <a:ext cx="10972800" cy="3792384"/>
          </a:xfrm>
        </p:spPr>
        <p:txBody>
          <a:bodyPr/>
          <a:lstStyle/>
          <a:p>
            <a:r>
              <a:rPr lang="en-US" dirty="0"/>
              <a:t>Another interesting thing about systems is that they tend to behave in similar ways in very different kinds of settings. </a:t>
            </a:r>
          </a:p>
          <a:p>
            <a:pPr lvl="1"/>
            <a:r>
              <a:rPr lang="en-US" sz="2600" dirty="0"/>
              <a:t>For instance, one bully insults another, who then comes back with an even more inflammatory retort. The next thing you know, someone throws a punch—and an all-out brawl erupts. </a:t>
            </a:r>
          </a:p>
          <a:p>
            <a:pPr lvl="1"/>
            <a:r>
              <a:rPr lang="en-US" sz="2600" dirty="0"/>
              <a:t>Now think of companies competing in the business world. One draws more customers by slashing prices. Its main competitor, concerned about being left behind, slashes its prices even more—prompting the first company to try to offer even lower prices. </a:t>
            </a:r>
          </a:p>
        </p:txBody>
      </p:sp>
    </p:spTree>
    <p:extLst>
      <p:ext uri="{BB962C8B-B14F-4D97-AF65-F5344CB8AC3E}">
        <p14:creationId xmlns:p14="http://schemas.microsoft.com/office/powerpoint/2010/main" val="1554031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B70F7-FE8C-4C60-A476-A5ED813B924C}"/>
              </a:ext>
            </a:extLst>
          </p:cNvPr>
          <p:cNvSpPr>
            <a:spLocks noGrp="1"/>
          </p:cNvSpPr>
          <p:nvPr>
            <p:ph type="title"/>
          </p:nvPr>
        </p:nvSpPr>
        <p:spPr/>
        <p:txBody>
          <a:bodyPr/>
          <a:lstStyle/>
          <a:p>
            <a:r>
              <a:rPr lang="en-US" dirty="0"/>
              <a:t>5. Are We Experiencing Déjà Vu?</a:t>
            </a:r>
          </a:p>
        </p:txBody>
      </p:sp>
      <p:sp>
        <p:nvSpPr>
          <p:cNvPr id="3" name="Content Placeholder 2">
            <a:extLst>
              <a:ext uri="{FF2B5EF4-FFF2-40B4-BE49-F238E27FC236}">
                <a16:creationId xmlns:a16="http://schemas.microsoft.com/office/drawing/2014/main" id="{BCC217BC-3B66-4E0E-B473-6798F00E8FBC}"/>
              </a:ext>
            </a:extLst>
          </p:cNvPr>
          <p:cNvSpPr>
            <a:spLocks noGrp="1"/>
          </p:cNvSpPr>
          <p:nvPr>
            <p:ph idx="1"/>
          </p:nvPr>
        </p:nvSpPr>
        <p:spPr/>
        <p:txBody>
          <a:bodyPr/>
          <a:lstStyle/>
          <a:p>
            <a:r>
              <a:rPr lang="en-US" dirty="0"/>
              <a:t>Even though the two situations look very different on the surface, both involve a build-up, or an escalation, of tensions or competitiveness.</a:t>
            </a:r>
          </a:p>
          <a:p>
            <a:r>
              <a:rPr lang="en-US" dirty="0"/>
              <a:t>Systems thinkers have identified a whole set of common “stories” like this, which they call “</a:t>
            </a:r>
            <a:r>
              <a:rPr lang="en-US" dirty="0">
                <a:solidFill>
                  <a:schemeClr val="accent2">
                    <a:lumMod val="75000"/>
                  </a:schemeClr>
                </a:solidFill>
              </a:rPr>
              <a:t>systems archetypes</a:t>
            </a:r>
            <a:r>
              <a:rPr lang="en-US" dirty="0"/>
              <a:t>”</a:t>
            </a:r>
          </a:p>
        </p:txBody>
      </p:sp>
    </p:spTree>
    <p:extLst>
      <p:ext uri="{BB962C8B-B14F-4D97-AF65-F5344CB8AC3E}">
        <p14:creationId xmlns:p14="http://schemas.microsoft.com/office/powerpoint/2010/main" val="3766877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DBE9-9911-4483-BF7F-957D1D59DB75}"/>
              </a:ext>
            </a:extLst>
          </p:cNvPr>
          <p:cNvSpPr>
            <a:spLocks noGrp="1"/>
          </p:cNvSpPr>
          <p:nvPr>
            <p:ph type="title"/>
          </p:nvPr>
        </p:nvSpPr>
        <p:spPr/>
        <p:txBody>
          <a:bodyPr/>
          <a:lstStyle/>
          <a:p>
            <a:r>
              <a:rPr lang="en-US" dirty="0"/>
              <a:t>Systems Thinking for Today’s Organizations</a:t>
            </a:r>
          </a:p>
        </p:txBody>
      </p:sp>
      <p:sp>
        <p:nvSpPr>
          <p:cNvPr id="3" name="Content Placeholder 2">
            <a:extLst>
              <a:ext uri="{FF2B5EF4-FFF2-40B4-BE49-F238E27FC236}">
                <a16:creationId xmlns:a16="http://schemas.microsoft.com/office/drawing/2014/main" id="{976B45DB-59E1-4935-A707-E8CD06783DFB}"/>
              </a:ext>
            </a:extLst>
          </p:cNvPr>
          <p:cNvSpPr>
            <a:spLocks noGrp="1"/>
          </p:cNvSpPr>
          <p:nvPr>
            <p:ph idx="1"/>
          </p:nvPr>
        </p:nvSpPr>
        <p:spPr>
          <a:xfrm>
            <a:off x="-1" y="1367327"/>
            <a:ext cx="11999495" cy="5091345"/>
          </a:xfrm>
        </p:spPr>
        <p:txBody>
          <a:bodyPr/>
          <a:lstStyle/>
          <a:p>
            <a:r>
              <a:rPr lang="en-US" sz="2800" dirty="0"/>
              <a:t>Systems thinking encourages practitioners to </a:t>
            </a:r>
            <a:r>
              <a:rPr lang="en-US" sz="2800" b="1" dirty="0">
                <a:highlight>
                  <a:srgbClr val="FFFF00"/>
                </a:highlight>
              </a:rPr>
              <a:t>understand and </a:t>
            </a:r>
            <a:r>
              <a:rPr lang="en-US" sz="2800" b="1" dirty="0" err="1">
                <a:highlight>
                  <a:srgbClr val="FFFF00"/>
                </a:highlight>
              </a:rPr>
              <a:t>analyse</a:t>
            </a:r>
            <a:r>
              <a:rPr lang="en-US" sz="2800" b="1" dirty="0">
                <a:highlight>
                  <a:srgbClr val="FFFF00"/>
                </a:highlight>
              </a:rPr>
              <a:t> </a:t>
            </a:r>
            <a:r>
              <a:rPr lang="en-US" sz="2800" dirty="0"/>
              <a:t>the contexts within which they operate</a:t>
            </a:r>
          </a:p>
          <a:p>
            <a:pPr lvl="1"/>
            <a:r>
              <a:rPr lang="en-US" sz="2400" dirty="0"/>
              <a:t>Allowing to design </a:t>
            </a:r>
            <a:r>
              <a:rPr lang="en-US" sz="2400" dirty="0" err="1"/>
              <a:t>programmes</a:t>
            </a:r>
            <a:r>
              <a:rPr lang="en-US" sz="2400" dirty="0"/>
              <a:t> as conditions on the ground change</a:t>
            </a:r>
          </a:p>
          <a:p>
            <a:r>
              <a:rPr lang="en-US" sz="2800" dirty="0"/>
              <a:t>Helps practitioners bring together different stakeholders, especially with radically different backgrounds and perspectives </a:t>
            </a:r>
          </a:p>
          <a:p>
            <a:pPr lvl="1"/>
            <a:r>
              <a:rPr lang="en-US" sz="2400" dirty="0"/>
              <a:t>Easy to identify problems, increasing </a:t>
            </a:r>
            <a:r>
              <a:rPr lang="en-US" sz="2400" b="1" dirty="0">
                <a:highlight>
                  <a:srgbClr val="FFFF00"/>
                </a:highlight>
              </a:rPr>
              <a:t>transformational change</a:t>
            </a:r>
          </a:p>
          <a:p>
            <a:r>
              <a:rPr lang="en-US" sz="2800" dirty="0"/>
              <a:t>Benefits are: </a:t>
            </a:r>
          </a:p>
          <a:p>
            <a:pPr lvl="1"/>
            <a:r>
              <a:rPr lang="en-US" sz="2400" dirty="0"/>
              <a:t>explore new business opportunities</a:t>
            </a:r>
          </a:p>
          <a:p>
            <a:pPr lvl="1"/>
            <a:r>
              <a:rPr lang="en-US" sz="2400" dirty="0"/>
              <a:t>create compelling vision of the future </a:t>
            </a:r>
          </a:p>
          <a:p>
            <a:pPr lvl="1"/>
            <a:r>
              <a:rPr lang="en-US" sz="2400" dirty="0"/>
              <a:t>understand the complex human factors associated with change </a:t>
            </a:r>
          </a:p>
          <a:p>
            <a:pPr lvl="1"/>
            <a:r>
              <a:rPr lang="en-US" sz="2400" dirty="0"/>
              <a:t>re-design broken systems.</a:t>
            </a:r>
          </a:p>
          <a:p>
            <a:pPr lvl="1"/>
            <a:endParaRPr lang="en-US" sz="2400" dirty="0"/>
          </a:p>
        </p:txBody>
      </p:sp>
    </p:spTree>
    <p:extLst>
      <p:ext uri="{BB962C8B-B14F-4D97-AF65-F5344CB8AC3E}">
        <p14:creationId xmlns:p14="http://schemas.microsoft.com/office/powerpoint/2010/main" val="1065299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4F6C5-4600-4AA5-88DD-B52CF2C36D52}"/>
              </a:ext>
            </a:extLst>
          </p:cNvPr>
          <p:cNvSpPr>
            <a:spLocks noGrp="1"/>
          </p:cNvSpPr>
          <p:nvPr>
            <p:ph type="title"/>
          </p:nvPr>
        </p:nvSpPr>
        <p:spPr/>
        <p:txBody>
          <a:bodyPr/>
          <a:lstStyle/>
          <a:p>
            <a:r>
              <a:rPr lang="en-US" dirty="0"/>
              <a:t>Unlocking the Sustainable Development Goals</a:t>
            </a:r>
          </a:p>
        </p:txBody>
      </p:sp>
      <p:sp>
        <p:nvSpPr>
          <p:cNvPr id="3" name="Content Placeholder 2">
            <a:extLst>
              <a:ext uri="{FF2B5EF4-FFF2-40B4-BE49-F238E27FC236}">
                <a16:creationId xmlns:a16="http://schemas.microsoft.com/office/drawing/2014/main" id="{6EE2C5F4-5EF3-4655-BCA5-CE76ED86213C}"/>
              </a:ext>
            </a:extLst>
          </p:cNvPr>
          <p:cNvSpPr>
            <a:spLocks noGrp="1"/>
          </p:cNvSpPr>
          <p:nvPr>
            <p:ph idx="1"/>
          </p:nvPr>
        </p:nvSpPr>
        <p:spPr/>
        <p:txBody>
          <a:bodyPr/>
          <a:lstStyle/>
          <a:p>
            <a:r>
              <a:rPr lang="en-US" dirty="0"/>
              <a:t>For organizations rising to the challenge, that means operating on three levels:</a:t>
            </a:r>
          </a:p>
          <a:p>
            <a:pPr lvl="1"/>
            <a:r>
              <a:rPr lang="en-US" dirty="0"/>
              <a:t>Level 1: Joined-up efforts on individual goals</a:t>
            </a:r>
          </a:p>
          <a:p>
            <a:pPr lvl="2"/>
            <a:r>
              <a:rPr lang="en-US" dirty="0"/>
              <a:t>If you want to fast, go alone; if you want to go further, go together</a:t>
            </a:r>
          </a:p>
          <a:p>
            <a:pPr lvl="1"/>
            <a:r>
              <a:rPr lang="en-US" dirty="0"/>
              <a:t>Level 2: A ‘network set’ of goals</a:t>
            </a:r>
          </a:p>
          <a:p>
            <a:pPr lvl="2"/>
            <a:r>
              <a:rPr lang="en-US" dirty="0"/>
              <a:t>Looking at the inter-relationships between all the goals	</a:t>
            </a:r>
          </a:p>
          <a:p>
            <a:pPr lvl="1"/>
            <a:r>
              <a:rPr lang="en-US" dirty="0"/>
              <a:t>Level 3: The ‘how’ of sustainable development</a:t>
            </a:r>
          </a:p>
          <a:p>
            <a:pPr lvl="2"/>
            <a:r>
              <a:rPr lang="en-US" dirty="0"/>
              <a:t>Delivering the goals in a way that models the characteristics we need for a sustainable society</a:t>
            </a:r>
          </a:p>
        </p:txBody>
      </p:sp>
    </p:spTree>
    <p:extLst>
      <p:ext uri="{BB962C8B-B14F-4D97-AF65-F5344CB8AC3E}">
        <p14:creationId xmlns:p14="http://schemas.microsoft.com/office/powerpoint/2010/main" val="533037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BF6D-E77E-4674-B949-961BB957152D}"/>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1E55D8B-925E-4FE7-94B1-68866C8002A6}"/>
              </a:ext>
            </a:extLst>
          </p:cNvPr>
          <p:cNvSpPr>
            <a:spLocks noGrp="1"/>
          </p:cNvSpPr>
          <p:nvPr>
            <p:ph idx="1"/>
          </p:nvPr>
        </p:nvSpPr>
        <p:spPr/>
        <p:txBody>
          <a:bodyPr/>
          <a:lstStyle/>
          <a:p>
            <a:r>
              <a:rPr lang="en-US" dirty="0"/>
              <a:t>System Thinking</a:t>
            </a:r>
          </a:p>
          <a:p>
            <a:r>
              <a:rPr lang="en-US" dirty="0"/>
              <a:t>Basic Characteristics of a System</a:t>
            </a:r>
          </a:p>
          <a:p>
            <a:r>
              <a:rPr lang="en-US" dirty="0"/>
              <a:t>Systems Thinking for Today’s Organizations</a:t>
            </a:r>
          </a:p>
          <a:p>
            <a:r>
              <a:rPr lang="en-US" dirty="0"/>
              <a:t>Unlocking the Sustainable Development Goals</a:t>
            </a:r>
          </a:p>
          <a:p>
            <a:endParaRPr lang="en-US" dirty="0"/>
          </a:p>
          <a:p>
            <a:endParaRPr lang="en-US" dirty="0"/>
          </a:p>
        </p:txBody>
      </p:sp>
    </p:spTree>
    <p:extLst>
      <p:ext uri="{BB962C8B-B14F-4D97-AF65-F5344CB8AC3E}">
        <p14:creationId xmlns:p14="http://schemas.microsoft.com/office/powerpoint/2010/main" val="446814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4A81-853A-43F0-A2F6-C57F1AE3AA8B}"/>
              </a:ext>
            </a:extLst>
          </p:cNvPr>
          <p:cNvSpPr>
            <a:spLocks noGrp="1"/>
          </p:cNvSpPr>
          <p:nvPr>
            <p:ph type="title"/>
          </p:nvPr>
        </p:nvSpPr>
        <p:spPr/>
        <p:txBody>
          <a:bodyPr/>
          <a:lstStyle/>
          <a:p>
            <a:r>
              <a:rPr lang="en-SG" altLang="en-US" kern="0" dirty="0"/>
              <a:t>Questions and Answer</a:t>
            </a:r>
            <a:endParaRPr lang="en-US" dirty="0"/>
          </a:p>
        </p:txBody>
      </p:sp>
      <p:sp>
        <p:nvSpPr>
          <p:cNvPr id="5" name="Text Box 2">
            <a:extLst>
              <a:ext uri="{FF2B5EF4-FFF2-40B4-BE49-F238E27FC236}">
                <a16:creationId xmlns:a16="http://schemas.microsoft.com/office/drawing/2014/main" id="{06655399-1AA0-499D-9F83-D25A33D10FB3}"/>
              </a:ext>
            </a:extLst>
          </p:cNvPr>
          <p:cNvSpPr txBox="1">
            <a:spLocks noChangeArrowheads="1"/>
          </p:cNvSpPr>
          <p:nvPr/>
        </p:nvSpPr>
        <p:spPr bwMode="auto">
          <a:xfrm>
            <a:off x="2590800" y="2286000"/>
            <a:ext cx="49688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dirty="0"/>
              <a:t>Q &amp; A</a:t>
            </a:r>
          </a:p>
        </p:txBody>
      </p:sp>
    </p:spTree>
    <p:extLst>
      <p:ext uri="{BB962C8B-B14F-4D97-AF65-F5344CB8AC3E}">
        <p14:creationId xmlns:p14="http://schemas.microsoft.com/office/powerpoint/2010/main" val="33991855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2DC4-A488-4E79-B51B-CA576DB11655}"/>
              </a:ext>
            </a:extLst>
          </p:cNvPr>
          <p:cNvSpPr>
            <a:spLocks noGrp="1"/>
          </p:cNvSpPr>
          <p:nvPr>
            <p:ph type="title"/>
          </p:nvPr>
        </p:nvSpPr>
        <p:spPr/>
        <p:txBody>
          <a:bodyPr/>
          <a:lstStyle/>
          <a:p>
            <a:r>
              <a:rPr lang="en-US" dirty="0"/>
              <a:t>Next Lecture</a:t>
            </a:r>
          </a:p>
        </p:txBody>
      </p:sp>
      <p:sp>
        <p:nvSpPr>
          <p:cNvPr id="3" name="Content Placeholder 2">
            <a:extLst>
              <a:ext uri="{FF2B5EF4-FFF2-40B4-BE49-F238E27FC236}">
                <a16:creationId xmlns:a16="http://schemas.microsoft.com/office/drawing/2014/main" id="{FDD2AF34-FA72-4CCE-AF24-76B70A7AF362}"/>
              </a:ext>
            </a:extLst>
          </p:cNvPr>
          <p:cNvSpPr>
            <a:spLocks noGrp="1"/>
          </p:cNvSpPr>
          <p:nvPr>
            <p:ph idx="1"/>
          </p:nvPr>
        </p:nvSpPr>
        <p:spPr/>
        <p:txBody>
          <a:bodyPr/>
          <a:lstStyle/>
          <a:p>
            <a:r>
              <a:rPr lang="de-DE" dirty="0"/>
              <a:t>Innovation in Digital Trends</a:t>
            </a:r>
            <a:endParaRPr lang="en-US" dirty="0"/>
          </a:p>
        </p:txBody>
      </p:sp>
      <p:pic>
        <p:nvPicPr>
          <p:cNvPr id="5" name="Picture 4">
            <a:extLst>
              <a:ext uri="{FF2B5EF4-FFF2-40B4-BE49-F238E27FC236}">
                <a16:creationId xmlns:a16="http://schemas.microsoft.com/office/drawing/2014/main" id="{A332AE66-4765-4A46-A5CB-DF63DAA4A430}"/>
              </a:ext>
            </a:extLst>
          </p:cNvPr>
          <p:cNvPicPr>
            <a:picLocks noChangeAspect="1"/>
          </p:cNvPicPr>
          <p:nvPr/>
        </p:nvPicPr>
        <p:blipFill>
          <a:blip r:embed="rId2"/>
          <a:stretch>
            <a:fillRect/>
          </a:stretch>
        </p:blipFill>
        <p:spPr>
          <a:xfrm>
            <a:off x="2185259" y="2377984"/>
            <a:ext cx="6954685" cy="3611087"/>
          </a:xfrm>
          <a:prstGeom prst="rect">
            <a:avLst/>
          </a:prstGeom>
        </p:spPr>
      </p:pic>
    </p:spTree>
    <p:extLst>
      <p:ext uri="{BB962C8B-B14F-4D97-AF65-F5344CB8AC3E}">
        <p14:creationId xmlns:p14="http://schemas.microsoft.com/office/powerpoint/2010/main" val="77585051"/>
      </p:ext>
    </p:extLst>
  </p:cSld>
  <p:clrMapOvr>
    <a:masterClrMapping/>
  </p:clrMapOvr>
</p:sld>
</file>

<file path=ppt/theme/theme1.xml><?xml version="1.0" encoding="utf-8"?>
<a:theme xmlns:a="http://schemas.openxmlformats.org/drawingml/2006/main" name="UCTI-Template-foundation-level">
  <a:themeElements>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CTI-Template-foundation-lev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1C6B378645544D9F10C30D9F2BCFB4" ma:contentTypeVersion="9" ma:contentTypeDescription="Create a new document." ma:contentTypeScope="" ma:versionID="3dcaa56ea438123d557e24c465044b3c">
  <xsd:schema xmlns:xsd="http://www.w3.org/2001/XMLSchema" xmlns:xs="http://www.w3.org/2001/XMLSchema" xmlns:p="http://schemas.microsoft.com/office/2006/metadata/properties" xmlns:ns2="6d54a27f-32b3-46ed-801e-110df5e77a46" targetNamespace="http://schemas.microsoft.com/office/2006/metadata/properties" ma:root="true" ma:fieldsID="4208030726db9b86847690f0b0a379ad" ns2:_="">
    <xsd:import namespace="6d54a27f-32b3-46ed-801e-110df5e77a4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AutoKeyPoints" minOccurs="0"/>
                <xsd:element ref="ns2:MediaServiceKeyPoint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54a27f-32b3-46ed-801e-110df5e77a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BA9030-D1CF-4058-AC41-93BC6953FA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54a27f-32b3-46ed-801e-110df5e77a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58D1BB5-1053-4DB6-A397-EFBCF358B3A5}">
  <ds:schemaRefs>
    <ds:schemaRef ds:uri="http://purl.org/dc/elements/1.1/"/>
    <ds:schemaRef ds:uri="http://schemas.openxmlformats.org/package/2006/metadata/core-properties"/>
    <ds:schemaRef ds:uri="6d54a27f-32b3-46ed-801e-110df5e77a46"/>
    <ds:schemaRef ds:uri="http://schemas.microsoft.com/office/2006/documentManagement/types"/>
    <ds:schemaRef ds:uri="http://schemas.microsoft.com/office/infopath/2007/PartnerControls"/>
    <ds:schemaRef ds:uri="http://purl.org/dc/terms/"/>
    <ds:schemaRef ds:uri="http://purl.org/dc/dcmitype/"/>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C6D9D175-9A1E-43FC-BD3C-98E48194CCB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2042</TotalTime>
  <Words>1642</Words>
  <Application>Microsoft Office PowerPoint</Application>
  <PresentationFormat>Widescreen</PresentationFormat>
  <Paragraphs>145</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Open Sans</vt:lpstr>
      <vt:lpstr>Wingdings</vt:lpstr>
      <vt:lpstr>UCTI-Template-foundation-level</vt:lpstr>
      <vt:lpstr>Digital Thinking and Innovation</vt:lpstr>
      <vt:lpstr>Introduction</vt:lpstr>
      <vt:lpstr>Learning Outcomes for the Lecture</vt:lpstr>
      <vt:lpstr>Content</vt:lpstr>
      <vt:lpstr>Mind Map</vt:lpstr>
      <vt:lpstr>Introduction</vt:lpstr>
      <vt:lpstr>Introduction</vt:lpstr>
      <vt:lpstr>Introduction</vt:lpstr>
      <vt:lpstr>Introduction</vt:lpstr>
      <vt:lpstr>Systems Thinking</vt:lpstr>
      <vt:lpstr>Systems Thinking</vt:lpstr>
      <vt:lpstr>Systems Thinking</vt:lpstr>
      <vt:lpstr>Systems Thinking</vt:lpstr>
      <vt:lpstr>Systems Thinking</vt:lpstr>
      <vt:lpstr>“Surviving” Skill</vt:lpstr>
      <vt:lpstr>“Surviving” Skill</vt:lpstr>
      <vt:lpstr>Group Discussion</vt:lpstr>
      <vt:lpstr>Basic Characteristics of a System</vt:lpstr>
      <vt:lpstr>1. Is It a Heap or a System?</vt:lpstr>
      <vt:lpstr>2. Is the Whole Greater Than the Sum of Its Parts?</vt:lpstr>
      <vt:lpstr>2. Is the Whole Greater Than the Sum of Its Parts?</vt:lpstr>
      <vt:lpstr>3. What is the Purpose?</vt:lpstr>
      <vt:lpstr>3. What is the Purpose?</vt:lpstr>
      <vt:lpstr>4. Are the Causes and Effects Shaped Like a Circle?</vt:lpstr>
      <vt:lpstr>5. Are We Experiencing Déjà Vu?</vt:lpstr>
      <vt:lpstr>5. Are We Experiencing Déjà Vu?</vt:lpstr>
      <vt:lpstr>Systems Thinking for Today’s Organizations</vt:lpstr>
      <vt:lpstr>Unlocking the Sustainable Development Goals</vt:lpstr>
      <vt:lpstr>Summary</vt:lpstr>
      <vt:lpstr>Questions and Answer</vt:lpstr>
      <vt:lpstr>Next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Thinking and Innovation</dc:title>
  <dc:creator>Rozita Yati Masri</dc:creator>
  <cp:lastModifiedBy>Dr. Safaie Mangir</cp:lastModifiedBy>
  <cp:revision>8</cp:revision>
  <dcterms:created xsi:type="dcterms:W3CDTF">2020-09-17T06:36:21Z</dcterms:created>
  <dcterms:modified xsi:type="dcterms:W3CDTF">2025-08-15T03:10:52Z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0x010100241C6B378645544D9F10C30D9F2BCFB4</vt:lpwstr>
  </property>
</Properties>
</file>