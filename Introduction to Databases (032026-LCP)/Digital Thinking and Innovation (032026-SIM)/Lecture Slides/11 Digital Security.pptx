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3"/>
  </p:sldMasterIdLst>
  <p:notesMasterIdLst>
    <p:notesMasterId r:id="rId39"/>
  </p:notesMasterIdLst>
  <p:handoutMasterIdLst>
    <p:handoutMasterId r:id="rId40"/>
  </p:handoutMasterIdLst>
  <p:sldIdLst>
    <p:sldId id="256" r:id="rId4"/>
    <p:sldId id="260" r:id="rId5"/>
    <p:sldId id="292" r:id="rId6"/>
    <p:sldId id="259" r:id="rId7"/>
    <p:sldId id="300" r:id="rId8"/>
    <p:sldId id="301" r:id="rId9"/>
    <p:sldId id="303" r:id="rId10"/>
    <p:sldId id="267" r:id="rId11"/>
    <p:sldId id="268" r:id="rId12"/>
    <p:sldId id="302" r:id="rId13"/>
    <p:sldId id="294" r:id="rId14"/>
    <p:sldId id="297" r:id="rId15"/>
    <p:sldId id="298" r:id="rId16"/>
    <p:sldId id="269" r:id="rId17"/>
    <p:sldId id="296" r:id="rId18"/>
    <p:sldId id="271" r:id="rId19"/>
    <p:sldId id="272" r:id="rId20"/>
    <p:sldId id="273" r:id="rId21"/>
    <p:sldId id="275" r:id="rId22"/>
    <p:sldId id="309" r:id="rId23"/>
    <p:sldId id="276" r:id="rId24"/>
    <p:sldId id="277" r:id="rId25"/>
    <p:sldId id="304" r:id="rId26"/>
    <p:sldId id="280" r:id="rId27"/>
    <p:sldId id="281" r:id="rId28"/>
    <p:sldId id="282" r:id="rId29"/>
    <p:sldId id="288" r:id="rId30"/>
    <p:sldId id="286" r:id="rId31"/>
    <p:sldId id="266" r:id="rId32"/>
    <p:sldId id="299" r:id="rId33"/>
    <p:sldId id="305" r:id="rId34"/>
    <p:sldId id="307" r:id="rId35"/>
    <p:sldId id="308" r:id="rId36"/>
    <p:sldId id="264" r:id="rId37"/>
    <p:sldId id="265" r:id="rId38"/>
  </p:sldIdLst>
  <p:sldSz cx="9144000" cy="6858000" type="screen4x3"/>
  <p:notesSz cx="6807200" cy="99393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05" autoAdjust="0"/>
    <p:restoredTop sz="92650" autoAdjust="0"/>
  </p:normalViewPr>
  <p:slideViewPr>
    <p:cSldViewPr>
      <p:cViewPr varScale="1">
        <p:scale>
          <a:sx n="57" d="100"/>
          <a:sy n="57" d="100"/>
        </p:scale>
        <p:origin x="121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584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7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4.xml"/><Relationship Id="rId3" Type="http://schemas.openxmlformats.org/officeDocument/2006/relationships/slide" Target="slides/slide18.xml"/><Relationship Id="rId7" Type="http://schemas.openxmlformats.org/officeDocument/2006/relationships/slide" Target="slides/slide22.xml"/><Relationship Id="rId12" Type="http://schemas.openxmlformats.org/officeDocument/2006/relationships/slide" Target="slides/slide28.xml"/><Relationship Id="rId2" Type="http://schemas.openxmlformats.org/officeDocument/2006/relationships/slide" Target="slides/slide17.xml"/><Relationship Id="rId1" Type="http://schemas.openxmlformats.org/officeDocument/2006/relationships/slide" Target="slides/slide16.xml"/><Relationship Id="rId6" Type="http://schemas.openxmlformats.org/officeDocument/2006/relationships/slide" Target="slides/slide21.xml"/><Relationship Id="rId11" Type="http://schemas.openxmlformats.org/officeDocument/2006/relationships/slide" Target="slides/slide27.xml"/><Relationship Id="rId5" Type="http://schemas.openxmlformats.org/officeDocument/2006/relationships/slide" Target="slides/slide20.xml"/><Relationship Id="rId10" Type="http://schemas.openxmlformats.org/officeDocument/2006/relationships/slide" Target="slides/slide26.xml"/><Relationship Id="rId4" Type="http://schemas.openxmlformats.org/officeDocument/2006/relationships/slide" Target="slides/slide19.xml"/><Relationship Id="rId9" Type="http://schemas.openxmlformats.org/officeDocument/2006/relationships/slide" Target="slides/slide25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CB766E-259A-4EB3-A977-28C0647E97A8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4E90FBCA-295E-4AF7-A89B-28C34DCD3DDA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Digital Security</a:t>
          </a:r>
          <a:endParaRPr lang="en-MY" dirty="0">
            <a:solidFill>
              <a:schemeClr val="tx1"/>
            </a:solidFill>
          </a:endParaRPr>
        </a:p>
      </dgm:t>
    </dgm:pt>
    <dgm:pt modelId="{DBA40122-6895-4E9A-AB0A-90CC821EF531}" type="parTrans" cxnId="{F6052039-CEDD-4658-8A61-82604F166D2D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063EDE7B-47F3-40CC-BDCD-9E60797F4123}" type="sibTrans" cxnId="{F6052039-CEDD-4658-8A61-82604F166D2D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D43617A9-2081-4D86-A876-B0E8163BC27D}">
      <dgm:prSet phldrT="[Text]"/>
      <dgm:spPr/>
      <dgm:t>
        <a:bodyPr/>
        <a:lstStyle/>
        <a:p>
          <a:r>
            <a:rPr lang="en-US" altLang="en-US" dirty="0">
              <a:solidFill>
                <a:schemeClr val="tx1"/>
              </a:solidFill>
            </a:rPr>
            <a:t>System Failure</a:t>
          </a:r>
          <a:endParaRPr lang="en-MY" dirty="0">
            <a:solidFill>
              <a:schemeClr val="tx1"/>
            </a:solidFill>
          </a:endParaRPr>
        </a:p>
      </dgm:t>
    </dgm:pt>
    <dgm:pt modelId="{E69D8634-0AD8-41FE-8F06-9FFC26CC78B5}" type="parTrans" cxnId="{79B347B1-B07D-46D2-A1A2-93A42733E8E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5C14DF48-5FAB-4638-B6E3-042B662D4FBF}" type="sibTrans" cxnId="{79B347B1-B07D-46D2-A1A2-93A42733E8E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4C88F8FA-4418-4690-8431-C78C191C5025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Malware</a:t>
          </a:r>
          <a:endParaRPr lang="en-MY" dirty="0">
            <a:solidFill>
              <a:schemeClr val="tx1"/>
            </a:solidFill>
          </a:endParaRPr>
        </a:p>
      </dgm:t>
    </dgm:pt>
    <dgm:pt modelId="{25B9B311-5F75-4634-9D93-91C91C140AD4}" type="parTrans" cxnId="{75E8DB40-5FCE-4798-BCCF-2F67442F85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4D55B6D7-3B76-493F-9272-B105E0F58C17}" type="sibTrans" cxnId="{75E8DB40-5FCE-4798-BCCF-2F67442F85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5F43E5E1-7BAF-4CDE-B093-FFD0247E049F}">
      <dgm:prSet phldrT="[Text]"/>
      <dgm:spPr/>
      <dgm:t>
        <a:bodyPr/>
        <a:lstStyle/>
        <a:p>
          <a:r>
            <a:rPr lang="en-GB" altLang="en-US" dirty="0">
              <a:solidFill>
                <a:schemeClr val="tx1"/>
              </a:solidFill>
            </a:rPr>
            <a:t>Digital Signature</a:t>
          </a:r>
          <a:endParaRPr lang="en-MY" dirty="0">
            <a:solidFill>
              <a:schemeClr val="tx1"/>
            </a:solidFill>
          </a:endParaRPr>
        </a:p>
      </dgm:t>
    </dgm:pt>
    <dgm:pt modelId="{18AE9B21-6A84-433C-A37C-69C78EA16329}" type="parTrans" cxnId="{97F0C3C8-C86F-4683-BA3C-764F73C537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CC86A455-E9F1-4D9A-B1FB-D8055D63F6AD}" type="sibTrans" cxnId="{97F0C3C8-C86F-4683-BA3C-764F73C537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BC2FEDFD-FA14-43B6-94B0-356B94B390BE}">
      <dgm:prSet/>
      <dgm:spPr/>
      <dgm:t>
        <a:bodyPr/>
        <a:lstStyle/>
        <a:p>
          <a:r>
            <a:rPr lang="en-US" altLang="en-US" dirty="0">
              <a:solidFill>
                <a:schemeClr val="tx1"/>
              </a:solidFill>
            </a:rPr>
            <a:t>Types of Digital Security Risks</a:t>
          </a:r>
        </a:p>
      </dgm:t>
    </dgm:pt>
    <dgm:pt modelId="{54A58B62-4073-44DD-A117-C046AFFF4A15}" type="parTrans" cxnId="{B1826D89-AF82-49C8-AB1C-DD50F28AFA9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063FC524-28AD-4E74-9B50-59D6BB2E2C09}" type="sibTrans" cxnId="{B1826D89-AF82-49C8-AB1C-DD50F28AFA9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CA1A9FB5-59B9-4360-9A78-DA21A499FA53}" type="pres">
      <dgm:prSet presAssocID="{B1CB766E-259A-4EB3-A977-28C0647E97A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5FC504C-C9CA-471E-81A6-BED7663672D9}" type="pres">
      <dgm:prSet presAssocID="{4E90FBCA-295E-4AF7-A89B-28C34DCD3DDA}" presName="singleCycle" presStyleCnt="0"/>
      <dgm:spPr/>
    </dgm:pt>
    <dgm:pt modelId="{59F22751-4BD6-4B4E-ACD2-C5F95C6E0BC7}" type="pres">
      <dgm:prSet presAssocID="{4E90FBCA-295E-4AF7-A89B-28C34DCD3DDA}" presName="singleCenter" presStyleLbl="node1" presStyleIdx="0" presStyleCnt="5" custScaleX="191863">
        <dgm:presLayoutVars>
          <dgm:chMax val="7"/>
          <dgm:chPref val="7"/>
        </dgm:presLayoutVars>
      </dgm:prSet>
      <dgm:spPr/>
    </dgm:pt>
    <dgm:pt modelId="{2E7F6B21-5DFB-4F7E-9D5D-E81E35DEEE7F}" type="pres">
      <dgm:prSet presAssocID="{E69D8634-0AD8-41FE-8F06-9FFC26CC78B5}" presName="Name56" presStyleLbl="parChTrans1D2" presStyleIdx="0" presStyleCnt="4"/>
      <dgm:spPr/>
    </dgm:pt>
    <dgm:pt modelId="{86A8F647-875F-4B73-AAFE-084385EC6135}" type="pres">
      <dgm:prSet presAssocID="{D43617A9-2081-4D86-A876-B0E8163BC27D}" presName="text0" presStyleLbl="node1" presStyleIdx="1" presStyleCnt="5" custScaleX="394671">
        <dgm:presLayoutVars>
          <dgm:bulletEnabled val="1"/>
        </dgm:presLayoutVars>
      </dgm:prSet>
      <dgm:spPr/>
    </dgm:pt>
    <dgm:pt modelId="{250C7E91-6600-4821-A97E-B6280D18ED1C}" type="pres">
      <dgm:prSet presAssocID="{54A58B62-4073-44DD-A117-C046AFFF4A15}" presName="Name56" presStyleLbl="parChTrans1D2" presStyleIdx="1" presStyleCnt="4"/>
      <dgm:spPr/>
    </dgm:pt>
    <dgm:pt modelId="{928C1CBC-17F6-4D49-983B-28CBFBCA997C}" type="pres">
      <dgm:prSet presAssocID="{BC2FEDFD-FA14-43B6-94B0-356B94B390BE}" presName="text0" presStyleLbl="node1" presStyleIdx="2" presStyleCnt="5" custScaleX="236980" custRadScaleRad="193597" custRadScaleInc="513">
        <dgm:presLayoutVars>
          <dgm:bulletEnabled val="1"/>
        </dgm:presLayoutVars>
      </dgm:prSet>
      <dgm:spPr/>
    </dgm:pt>
    <dgm:pt modelId="{056C2F29-DA5E-4CB5-B77C-06227FFA72F0}" type="pres">
      <dgm:prSet presAssocID="{25B9B311-5F75-4634-9D93-91C91C140AD4}" presName="Name56" presStyleLbl="parChTrans1D2" presStyleIdx="2" presStyleCnt="4"/>
      <dgm:spPr/>
    </dgm:pt>
    <dgm:pt modelId="{DE7507D5-DAC1-4121-B49A-167EF5A10EF5}" type="pres">
      <dgm:prSet presAssocID="{4C88F8FA-4418-4690-8431-C78C191C5025}" presName="text0" presStyleLbl="node1" presStyleIdx="3" presStyleCnt="5" custScaleX="376073">
        <dgm:presLayoutVars>
          <dgm:bulletEnabled val="1"/>
        </dgm:presLayoutVars>
      </dgm:prSet>
      <dgm:spPr/>
    </dgm:pt>
    <dgm:pt modelId="{B20FD146-996C-4C04-9BDB-8C41BA6E990D}" type="pres">
      <dgm:prSet presAssocID="{18AE9B21-6A84-433C-A37C-69C78EA16329}" presName="Name56" presStyleLbl="parChTrans1D2" presStyleIdx="3" presStyleCnt="4"/>
      <dgm:spPr/>
    </dgm:pt>
    <dgm:pt modelId="{2C09D61B-AFBE-4100-87D4-9AF76A6FC01E}" type="pres">
      <dgm:prSet presAssocID="{5F43E5E1-7BAF-4CDE-B093-FFD0247E049F}" presName="text0" presStyleLbl="node1" presStyleIdx="4" presStyleCnt="5" custScaleX="193021" custRadScaleRad="176479" custRadScaleInc="-2814">
        <dgm:presLayoutVars>
          <dgm:bulletEnabled val="1"/>
        </dgm:presLayoutVars>
      </dgm:prSet>
      <dgm:spPr/>
    </dgm:pt>
  </dgm:ptLst>
  <dgm:cxnLst>
    <dgm:cxn modelId="{3FBCF60F-A869-423E-BABD-578D40E52C67}" type="presOf" srcId="{18AE9B21-6A84-433C-A37C-69C78EA16329}" destId="{B20FD146-996C-4C04-9BDB-8C41BA6E990D}" srcOrd="0" destOrd="0" presId="urn:microsoft.com/office/officeart/2008/layout/RadialCluster"/>
    <dgm:cxn modelId="{52EF0D30-7D84-470D-B986-DB4909B13ADD}" type="presOf" srcId="{4C88F8FA-4418-4690-8431-C78C191C5025}" destId="{DE7507D5-DAC1-4121-B49A-167EF5A10EF5}" srcOrd="0" destOrd="0" presId="urn:microsoft.com/office/officeart/2008/layout/RadialCluster"/>
    <dgm:cxn modelId="{F6052039-CEDD-4658-8A61-82604F166D2D}" srcId="{B1CB766E-259A-4EB3-A977-28C0647E97A8}" destId="{4E90FBCA-295E-4AF7-A89B-28C34DCD3DDA}" srcOrd="0" destOrd="0" parTransId="{DBA40122-6895-4E9A-AB0A-90CC821EF531}" sibTransId="{063EDE7B-47F3-40CC-BDCD-9E60797F4123}"/>
    <dgm:cxn modelId="{75E8DB40-5FCE-4798-BCCF-2F67442F85BE}" srcId="{4E90FBCA-295E-4AF7-A89B-28C34DCD3DDA}" destId="{4C88F8FA-4418-4690-8431-C78C191C5025}" srcOrd="2" destOrd="0" parTransId="{25B9B311-5F75-4634-9D93-91C91C140AD4}" sibTransId="{4D55B6D7-3B76-493F-9272-B105E0F58C17}"/>
    <dgm:cxn modelId="{ECCE5C41-2752-4F8D-9F46-284D2C3D001D}" type="presOf" srcId="{B1CB766E-259A-4EB3-A977-28C0647E97A8}" destId="{CA1A9FB5-59B9-4360-9A78-DA21A499FA53}" srcOrd="0" destOrd="0" presId="urn:microsoft.com/office/officeart/2008/layout/RadialCluster"/>
    <dgm:cxn modelId="{C8F93568-EBA6-41C2-94A8-59798E76EAA7}" type="presOf" srcId="{54A58B62-4073-44DD-A117-C046AFFF4A15}" destId="{250C7E91-6600-4821-A97E-B6280D18ED1C}" srcOrd="0" destOrd="0" presId="urn:microsoft.com/office/officeart/2008/layout/RadialCluster"/>
    <dgm:cxn modelId="{CF29F76D-81AD-4083-B138-518441BD618C}" type="presOf" srcId="{E69D8634-0AD8-41FE-8F06-9FFC26CC78B5}" destId="{2E7F6B21-5DFB-4F7E-9D5D-E81E35DEEE7F}" srcOrd="0" destOrd="0" presId="urn:microsoft.com/office/officeart/2008/layout/RadialCluster"/>
    <dgm:cxn modelId="{4E5AB17A-DE9A-4997-92F8-BFCB0097C05E}" type="presOf" srcId="{5F43E5E1-7BAF-4CDE-B093-FFD0247E049F}" destId="{2C09D61B-AFBE-4100-87D4-9AF76A6FC01E}" srcOrd="0" destOrd="0" presId="urn:microsoft.com/office/officeart/2008/layout/RadialCluster"/>
    <dgm:cxn modelId="{1E17897C-9377-4622-AA3F-716DD246570D}" type="presOf" srcId="{25B9B311-5F75-4634-9D93-91C91C140AD4}" destId="{056C2F29-DA5E-4CB5-B77C-06227FFA72F0}" srcOrd="0" destOrd="0" presId="urn:microsoft.com/office/officeart/2008/layout/RadialCluster"/>
    <dgm:cxn modelId="{DC7AE180-B6A0-4C5B-9441-4D9203FF0365}" type="presOf" srcId="{D43617A9-2081-4D86-A876-B0E8163BC27D}" destId="{86A8F647-875F-4B73-AAFE-084385EC6135}" srcOrd="0" destOrd="0" presId="urn:microsoft.com/office/officeart/2008/layout/RadialCluster"/>
    <dgm:cxn modelId="{B1826D89-AF82-49C8-AB1C-DD50F28AFA90}" srcId="{4E90FBCA-295E-4AF7-A89B-28C34DCD3DDA}" destId="{BC2FEDFD-FA14-43B6-94B0-356B94B390BE}" srcOrd="1" destOrd="0" parTransId="{54A58B62-4073-44DD-A117-C046AFFF4A15}" sibTransId="{063FC524-28AD-4E74-9B50-59D6BB2E2C09}"/>
    <dgm:cxn modelId="{C613E9AC-DEE8-453F-8AF9-556D023D4F2F}" type="presOf" srcId="{4E90FBCA-295E-4AF7-A89B-28C34DCD3DDA}" destId="{59F22751-4BD6-4B4E-ACD2-C5F95C6E0BC7}" srcOrd="0" destOrd="0" presId="urn:microsoft.com/office/officeart/2008/layout/RadialCluster"/>
    <dgm:cxn modelId="{79B347B1-B07D-46D2-A1A2-93A42733E8E0}" srcId="{4E90FBCA-295E-4AF7-A89B-28C34DCD3DDA}" destId="{D43617A9-2081-4D86-A876-B0E8163BC27D}" srcOrd="0" destOrd="0" parTransId="{E69D8634-0AD8-41FE-8F06-9FFC26CC78B5}" sibTransId="{5C14DF48-5FAB-4638-B6E3-042B662D4FBF}"/>
    <dgm:cxn modelId="{CF49B9B2-B0C5-44A7-84CC-EF3E20858600}" type="presOf" srcId="{BC2FEDFD-FA14-43B6-94B0-356B94B390BE}" destId="{928C1CBC-17F6-4D49-983B-28CBFBCA997C}" srcOrd="0" destOrd="0" presId="urn:microsoft.com/office/officeart/2008/layout/RadialCluster"/>
    <dgm:cxn modelId="{97F0C3C8-C86F-4683-BA3C-764F73C537BE}" srcId="{4E90FBCA-295E-4AF7-A89B-28C34DCD3DDA}" destId="{5F43E5E1-7BAF-4CDE-B093-FFD0247E049F}" srcOrd="3" destOrd="0" parTransId="{18AE9B21-6A84-433C-A37C-69C78EA16329}" sibTransId="{CC86A455-E9F1-4D9A-B1FB-D8055D63F6AD}"/>
    <dgm:cxn modelId="{282A73DA-C9C3-4D3F-B73F-4211FD2FEB71}" type="presParOf" srcId="{CA1A9FB5-59B9-4360-9A78-DA21A499FA53}" destId="{35FC504C-C9CA-471E-81A6-BED7663672D9}" srcOrd="0" destOrd="0" presId="urn:microsoft.com/office/officeart/2008/layout/RadialCluster"/>
    <dgm:cxn modelId="{2D7F2B23-CF7A-4CD7-81CE-4108F6D69553}" type="presParOf" srcId="{35FC504C-C9CA-471E-81A6-BED7663672D9}" destId="{59F22751-4BD6-4B4E-ACD2-C5F95C6E0BC7}" srcOrd="0" destOrd="0" presId="urn:microsoft.com/office/officeart/2008/layout/RadialCluster"/>
    <dgm:cxn modelId="{ECAA2BE1-15B1-4C1A-BBC8-C6A336009486}" type="presParOf" srcId="{35FC504C-C9CA-471E-81A6-BED7663672D9}" destId="{2E7F6B21-5DFB-4F7E-9D5D-E81E35DEEE7F}" srcOrd="1" destOrd="0" presId="urn:microsoft.com/office/officeart/2008/layout/RadialCluster"/>
    <dgm:cxn modelId="{D2B16C49-FA6C-4AA3-8196-EF19ECACBF99}" type="presParOf" srcId="{35FC504C-C9CA-471E-81A6-BED7663672D9}" destId="{86A8F647-875F-4B73-AAFE-084385EC6135}" srcOrd="2" destOrd="0" presId="urn:microsoft.com/office/officeart/2008/layout/RadialCluster"/>
    <dgm:cxn modelId="{2BC530E7-90FD-4D17-94C5-8346B2A3023C}" type="presParOf" srcId="{35FC504C-C9CA-471E-81A6-BED7663672D9}" destId="{250C7E91-6600-4821-A97E-B6280D18ED1C}" srcOrd="3" destOrd="0" presId="urn:microsoft.com/office/officeart/2008/layout/RadialCluster"/>
    <dgm:cxn modelId="{28074BE3-ED03-44C5-BD27-7DEC4A5E2C7F}" type="presParOf" srcId="{35FC504C-C9CA-471E-81A6-BED7663672D9}" destId="{928C1CBC-17F6-4D49-983B-28CBFBCA997C}" srcOrd="4" destOrd="0" presId="urn:microsoft.com/office/officeart/2008/layout/RadialCluster"/>
    <dgm:cxn modelId="{55CFBA66-02CE-4C52-8E2F-519047A49643}" type="presParOf" srcId="{35FC504C-C9CA-471E-81A6-BED7663672D9}" destId="{056C2F29-DA5E-4CB5-B77C-06227FFA72F0}" srcOrd="5" destOrd="0" presId="urn:microsoft.com/office/officeart/2008/layout/RadialCluster"/>
    <dgm:cxn modelId="{B6FA21E0-075D-4E61-91DC-7C7B1F143C1E}" type="presParOf" srcId="{35FC504C-C9CA-471E-81A6-BED7663672D9}" destId="{DE7507D5-DAC1-4121-B49A-167EF5A10EF5}" srcOrd="6" destOrd="0" presId="urn:microsoft.com/office/officeart/2008/layout/RadialCluster"/>
    <dgm:cxn modelId="{447A36E8-4788-44B1-9F7E-A68DC0ABE022}" type="presParOf" srcId="{35FC504C-C9CA-471E-81A6-BED7663672D9}" destId="{B20FD146-996C-4C04-9BDB-8C41BA6E990D}" srcOrd="7" destOrd="0" presId="urn:microsoft.com/office/officeart/2008/layout/RadialCluster"/>
    <dgm:cxn modelId="{77084C87-136F-4EE8-8154-FC6C47F21142}" type="presParOf" srcId="{35FC504C-C9CA-471E-81A6-BED7663672D9}" destId="{2C09D61B-AFBE-4100-87D4-9AF76A6FC01E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41474D-946E-407C-8C4A-59E00FC15DD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632622-69E0-4175-B694-4340086D5D91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Uses information to detect if </a:t>
          </a:r>
          <a:br>
            <a:rPr lang="en-US" sz="2000" b="1" dirty="0">
              <a:solidFill>
                <a:schemeClr val="tx1"/>
              </a:solidFill>
            </a:rPr>
          </a:br>
          <a:r>
            <a:rPr lang="en-US" sz="2000" b="1" dirty="0">
              <a:solidFill>
                <a:schemeClr val="tx1"/>
              </a:solidFill>
            </a:rPr>
            <a:t>virus has tampered any files</a:t>
          </a:r>
        </a:p>
      </dgm:t>
    </dgm:pt>
    <dgm:pt modelId="{8E99FA03-B10D-4E50-BE11-CA18ABA0B0FD}" type="parTrans" cxnId="{3830C06E-D91A-4146-9D0A-83826C18C42E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BFF3915B-F1FD-4FB9-91D3-005C14002AF4}" type="sibTrans" cxnId="{3830C06E-D91A-4146-9D0A-83826C18C42E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E3975260-6AB3-4735-AD5C-45F45928057E}" type="pres">
      <dgm:prSet presAssocID="{0F41474D-946E-407C-8C4A-59E00FC15DDB}" presName="linearFlow" presStyleCnt="0">
        <dgm:presLayoutVars>
          <dgm:dir/>
          <dgm:resizeHandles val="exact"/>
        </dgm:presLayoutVars>
      </dgm:prSet>
      <dgm:spPr/>
    </dgm:pt>
    <dgm:pt modelId="{71015EC1-B3A2-4BF1-A3A7-469B17E44BD7}" type="pres">
      <dgm:prSet presAssocID="{F6632622-69E0-4175-B694-4340086D5D91}" presName="composite" presStyleCnt="0"/>
      <dgm:spPr/>
    </dgm:pt>
    <dgm:pt modelId="{74C0D7C5-711B-4EBC-9777-2DE7D0B586AE}" type="pres">
      <dgm:prSet presAssocID="{F6632622-69E0-4175-B694-4340086D5D91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F4F95744-E455-402A-B665-DA699B69DBF8}" type="pres">
      <dgm:prSet presAssocID="{F6632622-69E0-4175-B694-4340086D5D91}" presName="txShp" presStyleLbl="node1" presStyleIdx="0" presStyleCnt="1">
        <dgm:presLayoutVars>
          <dgm:bulletEnabled val="1"/>
        </dgm:presLayoutVars>
      </dgm:prSet>
      <dgm:spPr/>
    </dgm:pt>
  </dgm:ptLst>
  <dgm:cxnLst>
    <dgm:cxn modelId="{BDED4041-77B2-4341-9B19-55BE693719D0}" type="presOf" srcId="{F6632622-69E0-4175-B694-4340086D5D91}" destId="{F4F95744-E455-402A-B665-DA699B69DBF8}" srcOrd="0" destOrd="0" presId="urn:microsoft.com/office/officeart/2005/8/layout/vList3"/>
    <dgm:cxn modelId="{3830C06E-D91A-4146-9D0A-83826C18C42E}" srcId="{0F41474D-946E-407C-8C4A-59E00FC15DDB}" destId="{F6632622-69E0-4175-B694-4340086D5D91}" srcOrd="0" destOrd="0" parTransId="{8E99FA03-B10D-4E50-BE11-CA18ABA0B0FD}" sibTransId="{BFF3915B-F1FD-4FB9-91D3-005C14002AF4}"/>
    <dgm:cxn modelId="{2C282FA9-3D2D-4511-9BDB-39FF737D3B3E}" type="presOf" srcId="{0F41474D-946E-407C-8C4A-59E00FC15DDB}" destId="{E3975260-6AB3-4735-AD5C-45F45928057E}" srcOrd="0" destOrd="0" presId="urn:microsoft.com/office/officeart/2005/8/layout/vList3"/>
    <dgm:cxn modelId="{3817377D-5A3C-4274-AA6E-5FC9E014C1CE}" type="presParOf" srcId="{E3975260-6AB3-4735-AD5C-45F45928057E}" destId="{71015EC1-B3A2-4BF1-A3A7-469B17E44BD7}" srcOrd="0" destOrd="0" presId="urn:microsoft.com/office/officeart/2005/8/layout/vList3"/>
    <dgm:cxn modelId="{2A216AD3-DA49-401B-A139-F1178FA9FE72}" type="presParOf" srcId="{71015EC1-B3A2-4BF1-A3A7-469B17E44BD7}" destId="{74C0D7C5-711B-4EBC-9777-2DE7D0B586AE}" srcOrd="0" destOrd="0" presId="urn:microsoft.com/office/officeart/2005/8/layout/vList3"/>
    <dgm:cxn modelId="{CEF63308-9FDB-4DE3-A3E3-0AA6D7BE6A0E}" type="presParOf" srcId="{71015EC1-B3A2-4BF1-A3A7-469B17E44BD7}" destId="{F4F95744-E455-402A-B665-DA699B69DBF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41474D-946E-407C-8C4A-59E00FC15DD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3D5CE0-1856-4382-A5C4-9E806DB29E15}">
      <dgm:prSet custT="1"/>
      <dgm:spPr/>
      <dgm:t>
        <a:bodyPr/>
        <a:lstStyle/>
        <a:p>
          <a:pPr rtl="0"/>
          <a:r>
            <a:rPr lang="en-US" sz="1800" b="1" dirty="0">
              <a:solidFill>
                <a:schemeClr val="tx1"/>
              </a:solidFill>
            </a:rPr>
            <a:t>Records information about the </a:t>
          </a:r>
        </a:p>
        <a:p>
          <a:pPr rtl="0"/>
          <a:r>
            <a:rPr lang="en-US" sz="1800" b="1" dirty="0">
              <a:solidFill>
                <a:schemeClr val="tx1"/>
              </a:solidFill>
            </a:rPr>
            <a:t>files such as file size and </a:t>
          </a:r>
          <a:br>
            <a:rPr lang="en-US" sz="1800" b="1" dirty="0">
              <a:solidFill>
                <a:schemeClr val="tx1"/>
              </a:solidFill>
            </a:rPr>
          </a:br>
          <a:r>
            <a:rPr lang="en-US" sz="1800" b="1" dirty="0">
              <a:solidFill>
                <a:schemeClr val="tx1"/>
              </a:solidFill>
            </a:rPr>
            <a:t>creation</a:t>
          </a:r>
        </a:p>
      </dgm:t>
    </dgm:pt>
    <dgm:pt modelId="{0F49A70E-C2B5-4641-9437-38DDCDD14640}" type="parTrans" cxnId="{6F454917-38F2-4575-B9F0-58E0F35C6E9E}">
      <dgm:prSet/>
      <dgm:spPr/>
      <dgm:t>
        <a:bodyPr/>
        <a:lstStyle/>
        <a:p>
          <a:endParaRPr lang="en-US"/>
        </a:p>
      </dgm:t>
    </dgm:pt>
    <dgm:pt modelId="{30E2EFCB-EAB9-486F-ABF2-3890C6F92F7B}" type="sibTrans" cxnId="{6F454917-38F2-4575-B9F0-58E0F35C6E9E}">
      <dgm:prSet/>
      <dgm:spPr/>
      <dgm:t>
        <a:bodyPr/>
        <a:lstStyle/>
        <a:p>
          <a:endParaRPr lang="en-US"/>
        </a:p>
      </dgm:t>
    </dgm:pt>
    <dgm:pt modelId="{E3975260-6AB3-4735-AD5C-45F45928057E}" type="pres">
      <dgm:prSet presAssocID="{0F41474D-946E-407C-8C4A-59E00FC15DDB}" presName="linearFlow" presStyleCnt="0">
        <dgm:presLayoutVars>
          <dgm:dir/>
          <dgm:resizeHandles val="exact"/>
        </dgm:presLayoutVars>
      </dgm:prSet>
      <dgm:spPr/>
    </dgm:pt>
    <dgm:pt modelId="{EE0F1A9A-54B6-4183-B0DC-209EFE44434E}" type="pres">
      <dgm:prSet presAssocID="{483D5CE0-1856-4382-A5C4-9E806DB29E15}" presName="composite" presStyleCnt="0"/>
      <dgm:spPr/>
    </dgm:pt>
    <dgm:pt modelId="{2274333C-AB0B-40AA-9155-AB65D7EC6DA4}" type="pres">
      <dgm:prSet presAssocID="{483D5CE0-1856-4382-A5C4-9E806DB29E15}" presName="imgShp" presStyleLbl="fgImgPlace1" presStyleIdx="0" presStyleCnt="1" custScaleX="9871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</dgm:spPr>
    </dgm:pt>
    <dgm:pt modelId="{3FFFAF9E-77AF-4A9F-A613-4A2AECE9A72E}" type="pres">
      <dgm:prSet presAssocID="{483D5CE0-1856-4382-A5C4-9E806DB29E15}" presName="txShp" presStyleLbl="node1" presStyleIdx="0" presStyleCnt="1" custScaleX="137503" custLinFactNeighborX="-10882" custLinFactNeighborY="-16250">
        <dgm:presLayoutVars>
          <dgm:bulletEnabled val="1"/>
        </dgm:presLayoutVars>
      </dgm:prSet>
      <dgm:spPr/>
    </dgm:pt>
  </dgm:ptLst>
  <dgm:cxnLst>
    <dgm:cxn modelId="{6F454917-38F2-4575-B9F0-58E0F35C6E9E}" srcId="{0F41474D-946E-407C-8C4A-59E00FC15DDB}" destId="{483D5CE0-1856-4382-A5C4-9E806DB29E15}" srcOrd="0" destOrd="0" parTransId="{0F49A70E-C2B5-4641-9437-38DDCDD14640}" sibTransId="{30E2EFCB-EAB9-486F-ABF2-3890C6F92F7B}"/>
    <dgm:cxn modelId="{FAA8AA1C-4BF3-4D3E-8D4A-89A2173FFBC7}" type="presOf" srcId="{0F41474D-946E-407C-8C4A-59E00FC15DDB}" destId="{E3975260-6AB3-4735-AD5C-45F45928057E}" srcOrd="0" destOrd="0" presId="urn:microsoft.com/office/officeart/2005/8/layout/vList3"/>
    <dgm:cxn modelId="{9C82F0EA-4351-488A-BC98-678149F213AB}" type="presOf" srcId="{483D5CE0-1856-4382-A5C4-9E806DB29E15}" destId="{3FFFAF9E-77AF-4A9F-A613-4A2AECE9A72E}" srcOrd="0" destOrd="0" presId="urn:microsoft.com/office/officeart/2005/8/layout/vList3"/>
    <dgm:cxn modelId="{FAA5691C-C99A-4C21-984A-AC2E46B4A53E}" type="presParOf" srcId="{E3975260-6AB3-4735-AD5C-45F45928057E}" destId="{EE0F1A9A-54B6-4183-B0DC-209EFE44434E}" srcOrd="0" destOrd="0" presId="urn:microsoft.com/office/officeart/2005/8/layout/vList3"/>
    <dgm:cxn modelId="{3E3D1429-4D08-4C35-95DC-8D2CFAA4D806}" type="presParOf" srcId="{EE0F1A9A-54B6-4183-B0DC-209EFE44434E}" destId="{2274333C-AB0B-40AA-9155-AB65D7EC6DA4}" srcOrd="0" destOrd="0" presId="urn:microsoft.com/office/officeart/2005/8/layout/vList3"/>
    <dgm:cxn modelId="{57BD6CDF-9FF8-48B9-8420-B1CE0F6D7643}" type="presParOf" srcId="{EE0F1A9A-54B6-4183-B0DC-209EFE44434E}" destId="{3FFFAF9E-77AF-4A9F-A613-4A2AECE9A72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41474D-946E-407C-8C4A-59E00FC15DD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3D5CE0-1856-4382-A5C4-9E806DB29E15}">
      <dgm:prSet custT="1"/>
      <dgm:spPr/>
      <dgm:t>
        <a:bodyPr/>
        <a:lstStyle/>
        <a:p>
          <a:pPr rtl="0"/>
          <a:r>
            <a:rPr lang="en-US" sz="1800" b="1" dirty="0">
              <a:solidFill>
                <a:schemeClr val="tx1"/>
              </a:solidFill>
            </a:rPr>
            <a:t>Attempts to remove any detected </a:t>
          </a:r>
          <a:br>
            <a:rPr lang="en-US" sz="1800" b="1" dirty="0">
              <a:solidFill>
                <a:schemeClr val="tx1"/>
              </a:solidFill>
            </a:rPr>
          </a:br>
          <a:r>
            <a:rPr lang="en-US" sz="1800" b="1" dirty="0">
              <a:solidFill>
                <a:schemeClr val="tx1"/>
              </a:solidFill>
            </a:rPr>
            <a:t>virus</a:t>
          </a:r>
        </a:p>
      </dgm:t>
    </dgm:pt>
    <dgm:pt modelId="{0F49A70E-C2B5-4641-9437-38DDCDD14640}" type="parTrans" cxnId="{6F454917-38F2-4575-B9F0-58E0F35C6E9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0E2EFCB-EAB9-486F-ABF2-3890C6F92F7B}" type="sibTrans" cxnId="{6F454917-38F2-4575-B9F0-58E0F35C6E9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3975260-6AB3-4735-AD5C-45F45928057E}" type="pres">
      <dgm:prSet presAssocID="{0F41474D-946E-407C-8C4A-59E00FC15DDB}" presName="linearFlow" presStyleCnt="0">
        <dgm:presLayoutVars>
          <dgm:dir/>
          <dgm:resizeHandles val="exact"/>
        </dgm:presLayoutVars>
      </dgm:prSet>
      <dgm:spPr/>
    </dgm:pt>
    <dgm:pt modelId="{EE0F1A9A-54B6-4183-B0DC-209EFE44434E}" type="pres">
      <dgm:prSet presAssocID="{483D5CE0-1856-4382-A5C4-9E806DB29E15}" presName="composite" presStyleCnt="0"/>
      <dgm:spPr/>
    </dgm:pt>
    <dgm:pt modelId="{2274333C-AB0B-40AA-9155-AB65D7EC6DA4}" type="pres">
      <dgm:prSet presAssocID="{483D5CE0-1856-4382-A5C4-9E806DB29E15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FFAF9E-77AF-4A9F-A613-4A2AECE9A72E}" type="pres">
      <dgm:prSet presAssocID="{483D5CE0-1856-4382-A5C4-9E806DB29E15}" presName="txShp" presStyleLbl="node1" presStyleIdx="0" presStyleCnt="1" custScaleX="107637" custLinFactNeighborX="8590">
        <dgm:presLayoutVars>
          <dgm:bulletEnabled val="1"/>
        </dgm:presLayoutVars>
      </dgm:prSet>
      <dgm:spPr/>
    </dgm:pt>
  </dgm:ptLst>
  <dgm:cxnLst>
    <dgm:cxn modelId="{6F454917-38F2-4575-B9F0-58E0F35C6E9E}" srcId="{0F41474D-946E-407C-8C4A-59E00FC15DDB}" destId="{483D5CE0-1856-4382-A5C4-9E806DB29E15}" srcOrd="0" destOrd="0" parTransId="{0F49A70E-C2B5-4641-9437-38DDCDD14640}" sibTransId="{30E2EFCB-EAB9-486F-ABF2-3890C6F92F7B}"/>
    <dgm:cxn modelId="{9AB53143-3554-4E14-A918-EDDDC7C8F5B6}" type="presOf" srcId="{0F41474D-946E-407C-8C4A-59E00FC15DDB}" destId="{E3975260-6AB3-4735-AD5C-45F45928057E}" srcOrd="0" destOrd="0" presId="urn:microsoft.com/office/officeart/2005/8/layout/vList3"/>
    <dgm:cxn modelId="{C406EC91-45A4-42DA-BCE6-BFB7D4EAF991}" type="presOf" srcId="{483D5CE0-1856-4382-A5C4-9E806DB29E15}" destId="{3FFFAF9E-77AF-4A9F-A613-4A2AECE9A72E}" srcOrd="0" destOrd="0" presId="urn:microsoft.com/office/officeart/2005/8/layout/vList3"/>
    <dgm:cxn modelId="{8161E5E1-FFEA-4EC8-96B9-857E2365856A}" type="presParOf" srcId="{E3975260-6AB3-4735-AD5C-45F45928057E}" destId="{EE0F1A9A-54B6-4183-B0DC-209EFE44434E}" srcOrd="0" destOrd="0" presId="urn:microsoft.com/office/officeart/2005/8/layout/vList3"/>
    <dgm:cxn modelId="{AE0B1B97-8B71-42A6-9D04-C12A6C43293B}" type="presParOf" srcId="{EE0F1A9A-54B6-4183-B0DC-209EFE44434E}" destId="{2274333C-AB0B-40AA-9155-AB65D7EC6DA4}" srcOrd="0" destOrd="0" presId="urn:microsoft.com/office/officeart/2005/8/layout/vList3"/>
    <dgm:cxn modelId="{27740FAA-766D-459F-8ED6-00490BCBAAE8}" type="presParOf" srcId="{EE0F1A9A-54B6-4183-B0DC-209EFE44434E}" destId="{3FFFAF9E-77AF-4A9F-A613-4A2AECE9A72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41474D-946E-407C-8C4A-59E00FC15DD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3D5CE0-1856-4382-A5C4-9E806DB29E15}">
      <dgm:prSet custT="1"/>
      <dgm:spPr/>
      <dgm:t>
        <a:bodyPr/>
        <a:lstStyle/>
        <a:p>
          <a:pPr rtl="0"/>
          <a:r>
            <a:rPr lang="en-US" sz="1800" b="1" dirty="0">
              <a:solidFill>
                <a:schemeClr val="tx1"/>
              </a:solidFill>
            </a:rPr>
            <a:t>Quarantines infected files that it cannot </a:t>
          </a:r>
          <a:br>
            <a:rPr lang="en-US" sz="1800" b="1" dirty="0">
              <a:solidFill>
                <a:schemeClr val="tx1"/>
              </a:solidFill>
            </a:rPr>
          </a:br>
          <a:r>
            <a:rPr lang="en-US" sz="1800" b="1" dirty="0">
              <a:solidFill>
                <a:schemeClr val="tx1"/>
              </a:solidFill>
            </a:rPr>
            <a:t>remove</a:t>
          </a:r>
          <a:endParaRPr lang="en-US" sz="1800" dirty="0">
            <a:solidFill>
              <a:schemeClr val="tx1"/>
            </a:solidFill>
          </a:endParaRPr>
        </a:p>
      </dgm:t>
    </dgm:pt>
    <dgm:pt modelId="{0F49A70E-C2B5-4641-9437-38DDCDD14640}" type="parTrans" cxnId="{6F454917-38F2-4575-B9F0-58E0F35C6E9E}">
      <dgm:prSet/>
      <dgm:spPr/>
      <dgm:t>
        <a:bodyPr/>
        <a:lstStyle/>
        <a:p>
          <a:endParaRPr lang="en-US"/>
        </a:p>
      </dgm:t>
    </dgm:pt>
    <dgm:pt modelId="{30E2EFCB-EAB9-486F-ABF2-3890C6F92F7B}" type="sibTrans" cxnId="{6F454917-38F2-4575-B9F0-58E0F35C6E9E}">
      <dgm:prSet/>
      <dgm:spPr/>
      <dgm:t>
        <a:bodyPr/>
        <a:lstStyle/>
        <a:p>
          <a:endParaRPr lang="en-US"/>
        </a:p>
      </dgm:t>
    </dgm:pt>
    <dgm:pt modelId="{E3975260-6AB3-4735-AD5C-45F45928057E}" type="pres">
      <dgm:prSet presAssocID="{0F41474D-946E-407C-8C4A-59E00FC15DDB}" presName="linearFlow" presStyleCnt="0">
        <dgm:presLayoutVars>
          <dgm:dir/>
          <dgm:resizeHandles val="exact"/>
        </dgm:presLayoutVars>
      </dgm:prSet>
      <dgm:spPr/>
    </dgm:pt>
    <dgm:pt modelId="{EE0F1A9A-54B6-4183-B0DC-209EFE44434E}" type="pres">
      <dgm:prSet presAssocID="{483D5CE0-1856-4382-A5C4-9E806DB29E15}" presName="composite" presStyleCnt="0"/>
      <dgm:spPr/>
    </dgm:pt>
    <dgm:pt modelId="{2274333C-AB0B-40AA-9155-AB65D7EC6DA4}" type="pres">
      <dgm:prSet presAssocID="{483D5CE0-1856-4382-A5C4-9E806DB29E15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3FFFAF9E-77AF-4A9F-A613-4A2AECE9A72E}" type="pres">
      <dgm:prSet presAssocID="{483D5CE0-1856-4382-A5C4-9E806DB29E15}" presName="txShp" presStyleLbl="node1" presStyleIdx="0" presStyleCnt="1" custScaleX="128132" custLinFactNeighborX="6290" custLinFactNeighborY="-49">
        <dgm:presLayoutVars>
          <dgm:bulletEnabled val="1"/>
        </dgm:presLayoutVars>
      </dgm:prSet>
      <dgm:spPr/>
    </dgm:pt>
  </dgm:ptLst>
  <dgm:cxnLst>
    <dgm:cxn modelId="{6F454917-38F2-4575-B9F0-58E0F35C6E9E}" srcId="{0F41474D-946E-407C-8C4A-59E00FC15DDB}" destId="{483D5CE0-1856-4382-A5C4-9E806DB29E15}" srcOrd="0" destOrd="0" parTransId="{0F49A70E-C2B5-4641-9437-38DDCDD14640}" sibTransId="{30E2EFCB-EAB9-486F-ABF2-3890C6F92F7B}"/>
    <dgm:cxn modelId="{4066F436-2B90-4976-94F6-7E394B6EB841}" type="presOf" srcId="{483D5CE0-1856-4382-A5C4-9E806DB29E15}" destId="{3FFFAF9E-77AF-4A9F-A613-4A2AECE9A72E}" srcOrd="0" destOrd="0" presId="urn:microsoft.com/office/officeart/2005/8/layout/vList3"/>
    <dgm:cxn modelId="{86A51B7C-2E44-414E-9AC8-D986E26DDB77}" type="presOf" srcId="{0F41474D-946E-407C-8C4A-59E00FC15DDB}" destId="{E3975260-6AB3-4735-AD5C-45F45928057E}" srcOrd="0" destOrd="0" presId="urn:microsoft.com/office/officeart/2005/8/layout/vList3"/>
    <dgm:cxn modelId="{DB7811A7-C8A7-42A4-832E-CCD8DF5FE02C}" type="presParOf" srcId="{E3975260-6AB3-4735-AD5C-45F45928057E}" destId="{EE0F1A9A-54B6-4183-B0DC-209EFE44434E}" srcOrd="0" destOrd="0" presId="urn:microsoft.com/office/officeart/2005/8/layout/vList3"/>
    <dgm:cxn modelId="{7245AA42-F8B1-4EA6-B558-6E9E7FA99B11}" type="presParOf" srcId="{EE0F1A9A-54B6-4183-B0DC-209EFE44434E}" destId="{2274333C-AB0B-40AA-9155-AB65D7EC6DA4}" srcOrd="0" destOrd="0" presId="urn:microsoft.com/office/officeart/2005/8/layout/vList3"/>
    <dgm:cxn modelId="{5574B17D-9855-4C8B-99CF-D5323A776AF2}" type="presParOf" srcId="{EE0F1A9A-54B6-4183-B0DC-209EFE44434E}" destId="{3FFFAF9E-77AF-4A9F-A613-4A2AECE9A72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F41474D-946E-407C-8C4A-59E00FC15DD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3D5CE0-1856-4382-A5C4-9E806DB29E15}">
      <dgm:prSet custT="1"/>
      <dgm:spPr/>
      <dgm:t>
        <a:bodyPr/>
        <a:lstStyle/>
        <a:p>
          <a:pPr rtl="0"/>
          <a:r>
            <a:rPr kumimoji="1" lang="en-US" sz="2000" b="1" dirty="0">
              <a:solidFill>
                <a:schemeClr val="tx1"/>
              </a:solidFill>
            </a:rPr>
            <a:t>Keeps files in separate </a:t>
          </a:r>
          <a:br>
            <a:rPr kumimoji="1" lang="en-US" sz="2000" b="1" dirty="0">
              <a:solidFill>
                <a:schemeClr val="tx1"/>
              </a:solidFill>
            </a:rPr>
          </a:br>
          <a:r>
            <a:rPr kumimoji="1" lang="en-US" sz="2000" b="1" dirty="0">
              <a:solidFill>
                <a:schemeClr val="tx1"/>
              </a:solidFill>
            </a:rPr>
            <a:t>area of hard disk</a:t>
          </a:r>
          <a:endParaRPr lang="en-US" sz="2000" dirty="0">
            <a:solidFill>
              <a:schemeClr val="tx1"/>
            </a:solidFill>
          </a:endParaRPr>
        </a:p>
      </dgm:t>
    </dgm:pt>
    <dgm:pt modelId="{0F49A70E-C2B5-4641-9437-38DDCDD14640}" type="parTrans" cxnId="{6F454917-38F2-4575-B9F0-58E0F35C6E9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0E2EFCB-EAB9-486F-ABF2-3890C6F92F7B}" type="sibTrans" cxnId="{6F454917-38F2-4575-B9F0-58E0F35C6E9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3975260-6AB3-4735-AD5C-45F45928057E}" type="pres">
      <dgm:prSet presAssocID="{0F41474D-946E-407C-8C4A-59E00FC15DDB}" presName="linearFlow" presStyleCnt="0">
        <dgm:presLayoutVars>
          <dgm:dir/>
          <dgm:resizeHandles val="exact"/>
        </dgm:presLayoutVars>
      </dgm:prSet>
      <dgm:spPr/>
    </dgm:pt>
    <dgm:pt modelId="{EE0F1A9A-54B6-4183-B0DC-209EFE44434E}" type="pres">
      <dgm:prSet presAssocID="{483D5CE0-1856-4382-A5C4-9E806DB29E15}" presName="composite" presStyleCnt="0"/>
      <dgm:spPr/>
    </dgm:pt>
    <dgm:pt modelId="{2274333C-AB0B-40AA-9155-AB65D7EC6DA4}" type="pres">
      <dgm:prSet presAssocID="{483D5CE0-1856-4382-A5C4-9E806DB29E15}" presName="imgShp" presStyleLbl="fgImgPlace1" presStyleIdx="0" presStyleCnt="1" custScaleX="15171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6000" r="-56000"/>
          </a:stretch>
        </a:blipFill>
      </dgm:spPr>
    </dgm:pt>
    <dgm:pt modelId="{3FFFAF9E-77AF-4A9F-A613-4A2AECE9A72E}" type="pres">
      <dgm:prSet presAssocID="{483D5CE0-1856-4382-A5C4-9E806DB29E15}" presName="txShp" presStyleLbl="node1" presStyleIdx="0" presStyleCnt="1" custLinFactNeighborX="8297">
        <dgm:presLayoutVars>
          <dgm:bulletEnabled val="1"/>
        </dgm:presLayoutVars>
      </dgm:prSet>
      <dgm:spPr/>
    </dgm:pt>
  </dgm:ptLst>
  <dgm:cxnLst>
    <dgm:cxn modelId="{6F454917-38F2-4575-B9F0-58E0F35C6E9E}" srcId="{0F41474D-946E-407C-8C4A-59E00FC15DDB}" destId="{483D5CE0-1856-4382-A5C4-9E806DB29E15}" srcOrd="0" destOrd="0" parTransId="{0F49A70E-C2B5-4641-9437-38DDCDD14640}" sibTransId="{30E2EFCB-EAB9-486F-ABF2-3890C6F92F7B}"/>
    <dgm:cxn modelId="{CFD32498-1BCF-4443-8D3A-D5DFA2AB38E5}" type="presOf" srcId="{483D5CE0-1856-4382-A5C4-9E806DB29E15}" destId="{3FFFAF9E-77AF-4A9F-A613-4A2AECE9A72E}" srcOrd="0" destOrd="0" presId="urn:microsoft.com/office/officeart/2005/8/layout/vList3"/>
    <dgm:cxn modelId="{056118D0-C00E-4BD0-B261-C24115039406}" type="presOf" srcId="{0F41474D-946E-407C-8C4A-59E00FC15DDB}" destId="{E3975260-6AB3-4735-AD5C-45F45928057E}" srcOrd="0" destOrd="0" presId="urn:microsoft.com/office/officeart/2005/8/layout/vList3"/>
    <dgm:cxn modelId="{69BBE3FF-60BE-48CD-A492-BCD3A37DDA63}" type="presParOf" srcId="{E3975260-6AB3-4735-AD5C-45F45928057E}" destId="{EE0F1A9A-54B6-4183-B0DC-209EFE44434E}" srcOrd="0" destOrd="0" presId="urn:microsoft.com/office/officeart/2005/8/layout/vList3"/>
    <dgm:cxn modelId="{D65DCBC0-259C-4EE0-871B-CC2DAE036D4B}" type="presParOf" srcId="{EE0F1A9A-54B6-4183-B0DC-209EFE44434E}" destId="{2274333C-AB0B-40AA-9155-AB65D7EC6DA4}" srcOrd="0" destOrd="0" presId="urn:microsoft.com/office/officeart/2005/8/layout/vList3"/>
    <dgm:cxn modelId="{BFFA5D88-BBB5-4B7F-A944-1FA758D9AEA2}" type="presParOf" srcId="{EE0F1A9A-54B6-4183-B0DC-209EFE44434E}" destId="{3FFFAF9E-77AF-4A9F-A613-4A2AECE9A72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22751-4BD6-4B4E-ACD2-C5F95C6E0BC7}">
      <dsp:nvSpPr>
        <dsp:cNvPr id="0" name=""/>
        <dsp:cNvSpPr/>
      </dsp:nvSpPr>
      <dsp:spPr>
        <a:xfrm>
          <a:off x="2875985" y="1657378"/>
          <a:ext cx="2725625" cy="1420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500" kern="1200" dirty="0">
              <a:solidFill>
                <a:schemeClr val="tx1"/>
              </a:solidFill>
            </a:rPr>
            <a:t>Digital Security</a:t>
          </a:r>
          <a:endParaRPr lang="en-MY" sz="3500" kern="1200" dirty="0">
            <a:solidFill>
              <a:schemeClr val="tx1"/>
            </a:solidFill>
          </a:endParaRPr>
        </a:p>
      </dsp:txBody>
      <dsp:txXfrm>
        <a:off x="2945333" y="1726726"/>
        <a:ext cx="2586929" cy="1281914"/>
      </dsp:txXfrm>
    </dsp:sp>
    <dsp:sp modelId="{2E7F6B21-5DFB-4F7E-9D5D-E81E35DEEE7F}">
      <dsp:nvSpPr>
        <dsp:cNvPr id="0" name=""/>
        <dsp:cNvSpPr/>
      </dsp:nvSpPr>
      <dsp:spPr>
        <a:xfrm rot="16200000">
          <a:off x="3886217" y="1304797"/>
          <a:ext cx="7051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0516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A8F647-875F-4B73-AAFE-084385EC6135}">
      <dsp:nvSpPr>
        <dsp:cNvPr id="0" name=""/>
        <dsp:cNvSpPr/>
      </dsp:nvSpPr>
      <dsp:spPr>
        <a:xfrm>
          <a:off x="2360541" y="406"/>
          <a:ext cx="3756513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500" kern="1200" dirty="0">
              <a:solidFill>
                <a:schemeClr val="tx1"/>
              </a:solidFill>
            </a:rPr>
            <a:t>System Failure</a:t>
          </a:r>
          <a:endParaRPr lang="en-MY" sz="3500" kern="1200" dirty="0">
            <a:solidFill>
              <a:schemeClr val="tx1"/>
            </a:solidFill>
          </a:endParaRPr>
        </a:p>
      </dsp:txBody>
      <dsp:txXfrm>
        <a:off x="2407004" y="46869"/>
        <a:ext cx="3663587" cy="858882"/>
      </dsp:txXfrm>
    </dsp:sp>
    <dsp:sp modelId="{250C7E91-6600-4821-A97E-B6280D18ED1C}">
      <dsp:nvSpPr>
        <dsp:cNvPr id="0" name=""/>
        <dsp:cNvSpPr/>
      </dsp:nvSpPr>
      <dsp:spPr>
        <a:xfrm rot="15275">
          <a:off x="5601607" y="2375582"/>
          <a:ext cx="8295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29599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8C1CBC-17F6-4D49-983B-28CBFBCA997C}">
      <dsp:nvSpPr>
        <dsp:cNvPr id="0" name=""/>
        <dsp:cNvSpPr/>
      </dsp:nvSpPr>
      <dsp:spPr>
        <a:xfrm>
          <a:off x="6431203" y="1906532"/>
          <a:ext cx="2255596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300" kern="1200" dirty="0">
              <a:solidFill>
                <a:schemeClr val="tx1"/>
              </a:solidFill>
            </a:rPr>
            <a:t>Types of Digital Security Risks</a:t>
          </a:r>
        </a:p>
      </dsp:txBody>
      <dsp:txXfrm>
        <a:off x="6477666" y="1952995"/>
        <a:ext cx="2162670" cy="858882"/>
      </dsp:txXfrm>
    </dsp:sp>
    <dsp:sp modelId="{056C2F29-DA5E-4CB5-B77C-06227FFA72F0}">
      <dsp:nvSpPr>
        <dsp:cNvPr id="0" name=""/>
        <dsp:cNvSpPr/>
      </dsp:nvSpPr>
      <dsp:spPr>
        <a:xfrm rot="5400000">
          <a:off x="3886217" y="3430570"/>
          <a:ext cx="7051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0516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507D5-DAC1-4121-B49A-167EF5A10EF5}">
      <dsp:nvSpPr>
        <dsp:cNvPr id="0" name=""/>
        <dsp:cNvSpPr/>
      </dsp:nvSpPr>
      <dsp:spPr>
        <a:xfrm>
          <a:off x="2449050" y="3783152"/>
          <a:ext cx="3579496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500" kern="1200" dirty="0">
              <a:solidFill>
                <a:schemeClr val="tx1"/>
              </a:solidFill>
            </a:rPr>
            <a:t>Malware</a:t>
          </a:r>
          <a:endParaRPr lang="en-MY" sz="3500" kern="1200" dirty="0">
            <a:solidFill>
              <a:schemeClr val="tx1"/>
            </a:solidFill>
          </a:endParaRPr>
        </a:p>
      </dsp:txBody>
      <dsp:txXfrm>
        <a:off x="2495513" y="3829615"/>
        <a:ext cx="3486570" cy="858882"/>
      </dsp:txXfrm>
    </dsp:sp>
    <dsp:sp modelId="{B20FD146-996C-4C04-9BDB-8C41BA6E990D}">
      <dsp:nvSpPr>
        <dsp:cNvPr id="0" name=""/>
        <dsp:cNvSpPr/>
      </dsp:nvSpPr>
      <dsp:spPr>
        <a:xfrm rot="10723636">
          <a:off x="1837063" y="2409500"/>
          <a:ext cx="103905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39050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9D61B-AFBE-4100-87D4-9AF76A6FC01E}">
      <dsp:nvSpPr>
        <dsp:cNvPr id="0" name=""/>
        <dsp:cNvSpPr/>
      </dsp:nvSpPr>
      <dsp:spPr>
        <a:xfrm>
          <a:off x="0" y="1965544"/>
          <a:ext cx="1837191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700" kern="1200" dirty="0">
              <a:solidFill>
                <a:schemeClr val="tx1"/>
              </a:solidFill>
            </a:rPr>
            <a:t>Digital Signature</a:t>
          </a:r>
          <a:endParaRPr lang="en-MY" sz="2700" kern="1200" dirty="0">
            <a:solidFill>
              <a:schemeClr val="tx1"/>
            </a:solidFill>
          </a:endParaRPr>
        </a:p>
      </dsp:txBody>
      <dsp:txXfrm>
        <a:off x="46463" y="2012007"/>
        <a:ext cx="1744265" cy="8588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95744-E455-402A-B665-DA699B69DBF8}">
      <dsp:nvSpPr>
        <dsp:cNvPr id="0" name=""/>
        <dsp:cNvSpPr/>
      </dsp:nvSpPr>
      <dsp:spPr>
        <a:xfrm rot="10800000">
          <a:off x="1609290" y="0"/>
          <a:ext cx="5472684" cy="923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16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Uses information to detect if </a:t>
          </a:r>
          <a:br>
            <a:rPr lang="en-US" sz="2000" b="1" kern="1200" dirty="0">
              <a:solidFill>
                <a:schemeClr val="tx1"/>
              </a:solidFill>
            </a:rPr>
          </a:br>
          <a:r>
            <a:rPr lang="en-US" sz="2000" b="1" kern="1200" dirty="0">
              <a:solidFill>
                <a:schemeClr val="tx1"/>
              </a:solidFill>
            </a:rPr>
            <a:t>virus has tampered any files</a:t>
          </a:r>
        </a:p>
      </dsp:txBody>
      <dsp:txXfrm rot="10800000">
        <a:off x="1840122" y="0"/>
        <a:ext cx="5241852" cy="923330"/>
      </dsp:txXfrm>
    </dsp:sp>
    <dsp:sp modelId="{74C0D7C5-711B-4EBC-9777-2DE7D0B586AE}">
      <dsp:nvSpPr>
        <dsp:cNvPr id="0" name=""/>
        <dsp:cNvSpPr/>
      </dsp:nvSpPr>
      <dsp:spPr>
        <a:xfrm>
          <a:off x="1147625" y="0"/>
          <a:ext cx="923330" cy="92333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FAF9E-77AF-4A9F-A613-4A2AECE9A72E}">
      <dsp:nvSpPr>
        <dsp:cNvPr id="0" name=""/>
        <dsp:cNvSpPr/>
      </dsp:nvSpPr>
      <dsp:spPr>
        <a:xfrm rot="10800000">
          <a:off x="0" y="0"/>
          <a:ext cx="6863174" cy="114300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03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Records information about the </a:t>
          </a:r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files such as file size and </a:t>
          </a:r>
          <a:br>
            <a:rPr lang="en-US" sz="1800" b="1" kern="1200" dirty="0">
              <a:solidFill>
                <a:schemeClr val="tx1"/>
              </a:solidFill>
            </a:rPr>
          </a:br>
          <a:r>
            <a:rPr lang="en-US" sz="1800" b="1" kern="1200" dirty="0">
              <a:solidFill>
                <a:schemeClr val="tx1"/>
              </a:solidFill>
            </a:rPr>
            <a:t>creation</a:t>
          </a:r>
        </a:p>
      </dsp:txBody>
      <dsp:txXfrm rot="10800000">
        <a:off x="285750" y="0"/>
        <a:ext cx="6577424" cy="1143000"/>
      </dsp:txXfrm>
    </dsp:sp>
    <dsp:sp modelId="{2274333C-AB0B-40AA-9155-AB65D7EC6DA4}">
      <dsp:nvSpPr>
        <dsp:cNvPr id="0" name=""/>
        <dsp:cNvSpPr/>
      </dsp:nvSpPr>
      <dsp:spPr>
        <a:xfrm>
          <a:off x="693065" y="0"/>
          <a:ext cx="1128278" cy="114300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FAF9E-77AF-4A9F-A613-4A2AECE9A72E}">
      <dsp:nvSpPr>
        <dsp:cNvPr id="0" name=""/>
        <dsp:cNvSpPr/>
      </dsp:nvSpPr>
      <dsp:spPr>
        <a:xfrm rot="10800000">
          <a:off x="1581151" y="0"/>
          <a:ext cx="5181575" cy="923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163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Attempts to remove any detected </a:t>
          </a:r>
          <a:br>
            <a:rPr lang="en-US" sz="1800" b="1" kern="1200" dirty="0">
              <a:solidFill>
                <a:schemeClr val="tx1"/>
              </a:solidFill>
            </a:rPr>
          </a:br>
          <a:r>
            <a:rPr lang="en-US" sz="1800" b="1" kern="1200" dirty="0">
              <a:solidFill>
                <a:schemeClr val="tx1"/>
              </a:solidFill>
            </a:rPr>
            <a:t>virus</a:t>
          </a:r>
        </a:p>
      </dsp:txBody>
      <dsp:txXfrm rot="10800000">
        <a:off x="1811983" y="0"/>
        <a:ext cx="4950743" cy="923330"/>
      </dsp:txXfrm>
    </dsp:sp>
    <dsp:sp modelId="{2274333C-AB0B-40AA-9155-AB65D7EC6DA4}">
      <dsp:nvSpPr>
        <dsp:cNvPr id="0" name=""/>
        <dsp:cNvSpPr/>
      </dsp:nvSpPr>
      <dsp:spPr>
        <a:xfrm>
          <a:off x="889789" y="0"/>
          <a:ext cx="923330" cy="92333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FAF9E-77AF-4A9F-A613-4A2AECE9A72E}">
      <dsp:nvSpPr>
        <dsp:cNvPr id="0" name=""/>
        <dsp:cNvSpPr/>
      </dsp:nvSpPr>
      <dsp:spPr>
        <a:xfrm rot="10800000">
          <a:off x="838200" y="0"/>
          <a:ext cx="6168191" cy="923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163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Quarantines infected files that it cannot </a:t>
          </a:r>
          <a:br>
            <a:rPr lang="en-US" sz="1800" b="1" kern="1200" dirty="0">
              <a:solidFill>
                <a:schemeClr val="tx1"/>
              </a:solidFill>
            </a:rPr>
          </a:br>
          <a:r>
            <a:rPr lang="en-US" sz="1800" b="1" kern="1200" dirty="0">
              <a:solidFill>
                <a:schemeClr val="tx1"/>
              </a:solidFill>
            </a:rPr>
            <a:t>remove</a:t>
          </a:r>
          <a:endParaRPr lang="en-US" sz="1800" kern="1200" dirty="0">
            <a:solidFill>
              <a:schemeClr val="tx1"/>
            </a:solidFill>
          </a:endParaRPr>
        </a:p>
      </dsp:txBody>
      <dsp:txXfrm rot="10800000">
        <a:off x="1069032" y="0"/>
        <a:ext cx="5937359" cy="923330"/>
      </dsp:txXfrm>
    </dsp:sp>
    <dsp:sp modelId="{2274333C-AB0B-40AA-9155-AB65D7EC6DA4}">
      <dsp:nvSpPr>
        <dsp:cNvPr id="0" name=""/>
        <dsp:cNvSpPr/>
      </dsp:nvSpPr>
      <dsp:spPr>
        <a:xfrm>
          <a:off x="750867" y="0"/>
          <a:ext cx="923330" cy="92333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FAF9E-77AF-4A9F-A613-4A2AECE9A72E}">
      <dsp:nvSpPr>
        <dsp:cNvPr id="0" name=""/>
        <dsp:cNvSpPr/>
      </dsp:nvSpPr>
      <dsp:spPr>
        <a:xfrm rot="10800000">
          <a:off x="1962152" y="0"/>
          <a:ext cx="4813935" cy="923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163" tIns="76200" rIns="14224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000" b="1" kern="1200" dirty="0">
              <a:solidFill>
                <a:schemeClr val="tx1"/>
              </a:solidFill>
            </a:rPr>
            <a:t>Keeps files in separate </a:t>
          </a:r>
          <a:br>
            <a:rPr kumimoji="1" lang="en-US" sz="2000" b="1" kern="1200" dirty="0">
              <a:solidFill>
                <a:schemeClr val="tx1"/>
              </a:solidFill>
            </a:rPr>
          </a:br>
          <a:r>
            <a:rPr kumimoji="1" lang="en-US" sz="2000" b="1" kern="1200" dirty="0">
              <a:solidFill>
                <a:schemeClr val="tx1"/>
              </a:solidFill>
            </a:rPr>
            <a:t>area of hard disk</a:t>
          </a:r>
          <a:endParaRPr lang="en-US" sz="2000" kern="1200" dirty="0">
            <a:solidFill>
              <a:schemeClr val="tx1"/>
            </a:solidFill>
          </a:endParaRPr>
        </a:p>
      </dsp:txBody>
      <dsp:txXfrm rot="10800000">
        <a:off x="2192984" y="0"/>
        <a:ext cx="4583103" cy="923330"/>
      </dsp:txXfrm>
    </dsp:sp>
    <dsp:sp modelId="{2274333C-AB0B-40AA-9155-AB65D7EC6DA4}">
      <dsp:nvSpPr>
        <dsp:cNvPr id="0" name=""/>
        <dsp:cNvSpPr/>
      </dsp:nvSpPr>
      <dsp:spPr>
        <a:xfrm>
          <a:off x="862324" y="0"/>
          <a:ext cx="1400830" cy="92333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6000" r="-5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9C2813-57B6-40A8-A927-C3AE5A0667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6888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3E2228-2D1E-4F3E-BE0A-0CFB9581C8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51163" cy="496888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78DF247-B22E-4092-9108-21ED20BBCA5D}" type="datetimeFigureOut">
              <a:rPr lang="en-MY"/>
              <a:pPr>
                <a:defRPr/>
              </a:pPr>
              <a:t>22/8/2025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10243-0B35-47DA-ADBE-6EE643AD38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51163" cy="49688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8387E-741C-4C25-8876-44EFBAD345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51163" cy="496887"/>
          </a:xfrm>
          <a:prstGeom prst="rect">
            <a:avLst/>
          </a:prstGeom>
        </p:spPr>
        <p:txBody>
          <a:bodyPr vert="horz" wrap="square" lIns="91842" tIns="45921" rIns="91842" bIns="4592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46B8377-DB1B-4F1E-BE98-55C0EA05D0B2}" type="slidenum">
              <a:rPr lang="en-MY" altLang="en-US"/>
              <a:pPr/>
              <a:t>‹#›</a:t>
            </a:fld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9E926D-0B2A-4507-AE2D-553CF213A5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6888"/>
          </a:xfrm>
          <a:prstGeom prst="rect">
            <a:avLst/>
          </a:prstGeom>
        </p:spPr>
        <p:txBody>
          <a:bodyPr vert="horz" lIns="92798" tIns="46398" rIns="92798" bIns="46398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3CB74-7632-4380-9BCD-CE49E8CA42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51163" cy="496888"/>
          </a:xfrm>
          <a:prstGeom prst="rect">
            <a:avLst/>
          </a:prstGeom>
        </p:spPr>
        <p:txBody>
          <a:bodyPr vert="horz" lIns="92798" tIns="46398" rIns="92798" bIns="46398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B4F9DE3A-869C-432E-9F72-612C44115A61}" type="datetimeFigureOut">
              <a:rPr lang="en-MY"/>
              <a:pPr>
                <a:defRPr/>
              </a:pPr>
              <a:t>22/8/2025</a:t>
            </a:fld>
            <a:endParaRPr lang="en-MY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C0BE5A0-7256-45FA-BA9C-7FFD0F2C1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98" tIns="46398" rIns="92798" bIns="46398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96FED07-EA49-4CDF-ABED-271F939A5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721225"/>
            <a:ext cx="5441950" cy="4471988"/>
          </a:xfrm>
          <a:prstGeom prst="rect">
            <a:avLst/>
          </a:prstGeom>
        </p:spPr>
        <p:txBody>
          <a:bodyPr vert="horz" lIns="92798" tIns="46398" rIns="92798" bIns="46398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24652-1801-4E7E-BDC8-CDA8C89EDA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51163" cy="496887"/>
          </a:xfrm>
          <a:prstGeom prst="rect">
            <a:avLst/>
          </a:prstGeom>
        </p:spPr>
        <p:txBody>
          <a:bodyPr vert="horz" lIns="92798" tIns="46398" rIns="92798" bIns="46398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54E2C-3374-4254-BA7A-78BD47F59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51163" cy="496887"/>
          </a:xfrm>
          <a:prstGeom prst="rect">
            <a:avLst/>
          </a:prstGeom>
        </p:spPr>
        <p:txBody>
          <a:bodyPr vert="horz" wrap="square" lIns="92798" tIns="46398" rIns="92798" bIns="4639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F6C4A73-A6F0-4737-A66A-46EB0F33A83D}" type="slidenum">
              <a:rPr lang="en-MY" altLang="en-US"/>
              <a:pPr/>
              <a:t>‹#›</a:t>
            </a:fld>
            <a:endParaRPr lang="en-MY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C4A73-A6F0-4737-A66A-46EB0F33A83D}" type="slidenum">
              <a:rPr lang="en-MY" altLang="en-US" smtClean="0"/>
              <a:pPr/>
              <a:t>20</a:t>
            </a:fld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181328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341171EC-E8CF-41EF-84AB-FC922107AC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92B34ED9-07CC-4A73-8F9F-65E5E49240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MY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05DDC11F-A16D-447A-B8D9-AE6C4B714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2475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887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224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8597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4317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037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757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1477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DB998B-81C5-4B68-B914-FD967FAD24D5}" type="slidenum">
              <a:rPr lang="en-MY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MY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43E0A519-0753-49B1-8E58-213F0C99A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/>
          </a:p>
        </p:txBody>
      </p:sp>
      <p:pic>
        <p:nvPicPr>
          <p:cNvPr id="5" name="Picture 10" descr="APU Logo_Final_Vertical_V1_HR1 copy.png">
            <a:extLst>
              <a:ext uri="{FF2B5EF4-FFF2-40B4-BE49-F238E27FC236}">
                <a16:creationId xmlns:a16="http://schemas.microsoft.com/office/drawing/2014/main" id="{F5E9CF32-0CBA-4D53-B081-04BF1DBC5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73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86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>
            <a:extLst>
              <a:ext uri="{FF2B5EF4-FFF2-40B4-BE49-F238E27FC236}">
                <a16:creationId xmlns:a16="http://schemas.microsoft.com/office/drawing/2014/main" id="{2CB2D066-919E-4DAA-8D25-CF421DBE2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C4CE581A-9CF7-4ECD-B7D4-CAC7D95BB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GB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9D329F-A713-44F0-8EE7-A2A4CFD76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AF0500A1-58F5-42E6-8301-4D7434C1E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274680D2-9311-48A9-920F-DABD1A790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5943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CT109-3-1				                                    </a:t>
            </a:r>
            <a:r>
              <a:rPr lang="en-US" altLang="en-US" sz="800" dirty="0"/>
              <a:t>Digital Security</a:t>
            </a:r>
            <a:endParaRPr lang="en-GB" altLang="en-US" sz="800" dirty="0"/>
          </a:p>
          <a:p>
            <a:pPr eaLnBrk="1" hangingPunct="1">
              <a:defRPr/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1" name="Picture 10" descr="APU Logo Final-medium.jpg">
            <a:extLst>
              <a:ext uri="{FF2B5EF4-FFF2-40B4-BE49-F238E27FC236}">
                <a16:creationId xmlns:a16="http://schemas.microsoft.com/office/drawing/2014/main" id="{8172480D-FC80-43DE-9878-DFA7A36B80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Box 1">
            <a:extLst>
              <a:ext uri="{FF2B5EF4-FFF2-40B4-BE49-F238E27FC236}">
                <a16:creationId xmlns:a16="http://schemas.microsoft.com/office/drawing/2014/main" id="{85A121A4-4416-42F9-A331-D654B3374C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0" y="6669088"/>
            <a:ext cx="2286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MY" altLang="en-US" sz="800"/>
              <a:t>                                             Slide </a:t>
            </a:r>
            <a:fld id="{758E101D-8ED8-4433-A82D-26A2DB25CDC0}" type="slidenum">
              <a:rPr lang="en-MY" altLang="en-US" sz="800"/>
              <a:pPr/>
              <a:t>‹#›</a:t>
            </a:fld>
            <a:r>
              <a:rPr lang="en-MY" altLang="en-US" sz="800"/>
              <a:t> of 28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79" r:id="rId2"/>
  </p:sldLayoutIdLst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26" Type="http://schemas.microsoft.com/office/2007/relationships/diagramDrawing" Target="../diagrams/drawing6.xml"/><Relationship Id="rId3" Type="http://schemas.openxmlformats.org/officeDocument/2006/relationships/diagramLayout" Target="../diagrams/layout2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5" Type="http://schemas.openxmlformats.org/officeDocument/2006/relationships/diagramColors" Target="../diagrams/colors6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24" Type="http://schemas.openxmlformats.org/officeDocument/2006/relationships/diagramQuickStyle" Target="../diagrams/quickStyle6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23" Type="http://schemas.openxmlformats.org/officeDocument/2006/relationships/diagramLayout" Target="../diagrams/layout6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Relationship Id="rId22" Type="http://schemas.openxmlformats.org/officeDocument/2006/relationships/diagramData" Target="../diagrams/data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FBCA92-5180-4B3C-96A6-174B6218DF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806575"/>
            <a:ext cx="8534400" cy="1470025"/>
          </a:xfrm>
        </p:spPr>
        <p:txBody>
          <a:bodyPr/>
          <a:lstStyle/>
          <a:p>
            <a:pPr algn="r" eaLnBrk="1" hangingPunct="1"/>
            <a:r>
              <a:rPr lang="en-US" altLang="en-US"/>
              <a:t>Digital Thinking and Innovation</a:t>
            </a:r>
            <a:br>
              <a:rPr lang="en-US" altLang="en-US"/>
            </a:br>
            <a:r>
              <a:rPr lang="en-US" altLang="en-US" sz="1600"/>
              <a:t>CT109-3-1</a:t>
            </a:r>
            <a:br>
              <a:rPr lang="en-US" altLang="en-US" sz="1600"/>
            </a:br>
            <a:r>
              <a:rPr lang="en-US" altLang="en-US" sz="1200"/>
              <a:t>VD1</a:t>
            </a:r>
            <a:endParaRPr lang="en-GB" altLang="en-US" sz="12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38E2B48-91B4-4D55-85F9-7860595D4A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616700" cy="685800"/>
          </a:xfrm>
        </p:spPr>
        <p:txBody>
          <a:bodyPr/>
          <a:lstStyle/>
          <a:p>
            <a:pPr algn="r" eaLnBrk="1" hangingPunct="1"/>
            <a:r>
              <a:rPr lang="en-US" altLang="en-US"/>
              <a:t>Digital Security</a:t>
            </a: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FEAF6E-3FC1-4322-B85C-BC8A62EB450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E0F5CC-0178-4078-9F84-80C333FC47D8}"/>
              </a:ext>
            </a:extLst>
          </p:cNvPr>
          <p:cNvSpPr txBox="1">
            <a:spLocks/>
          </p:cNvSpPr>
          <p:nvPr/>
        </p:nvSpPr>
        <p:spPr>
          <a:xfrm>
            <a:off x="304800" y="1752600"/>
            <a:ext cx="6629400" cy="144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kern="0" dirty="0"/>
              <a:t>This topic introduces digital security and the preventive methods </a:t>
            </a:r>
          </a:p>
        </p:txBody>
      </p:sp>
      <p:pic>
        <p:nvPicPr>
          <p:cNvPr id="6148" name="Picture 6" descr="Image result for digital security">
            <a:extLst>
              <a:ext uri="{FF2B5EF4-FFF2-40B4-BE49-F238E27FC236}">
                <a16:creationId xmlns:a16="http://schemas.microsoft.com/office/drawing/2014/main" id="{E92AAD8C-75D5-457D-87AF-5B532DA85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854450"/>
            <a:ext cx="3565525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64073E35-151C-475D-9B0F-DE9DC2017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At the end of this section you will be able to:</a:t>
            </a:r>
          </a:p>
          <a:p>
            <a:r>
              <a:rPr lang="en-US" altLang="en-US" sz="2400"/>
              <a:t>Define digital security risks and types of Malware</a:t>
            </a:r>
          </a:p>
          <a:p>
            <a:r>
              <a:rPr lang="en-US" altLang="en-US" sz="2400"/>
              <a:t>Describe types of Internet and network attacks and explain ways to safeguard against these attacks</a:t>
            </a:r>
          </a:p>
          <a:p>
            <a:r>
              <a:rPr lang="en-US" altLang="en-US" sz="2400"/>
              <a:t>Describe digital signatures and digital certificates</a:t>
            </a:r>
          </a:p>
          <a:p>
            <a:pPr>
              <a:buFontTx/>
              <a:buNone/>
            </a:pPr>
            <a:endParaRPr lang="en-US" altLang="en-US" sz="24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273366-F1FB-48B3-A0BF-D57AEFC09F7C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8" descr="Image result for digital security">
            <a:extLst>
              <a:ext uri="{FF2B5EF4-FFF2-40B4-BE49-F238E27FC236}">
                <a16:creationId xmlns:a16="http://schemas.microsoft.com/office/drawing/2014/main" id="{A9846DBD-7641-4719-A7D9-7DAEB4389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5" y="4267200"/>
            <a:ext cx="475138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:a16="http://schemas.microsoft.com/office/drawing/2014/main" id="{CBA64D17-F6CD-4618-B91F-6B629C60C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AADB35FE-8578-449E-A1C7-444921770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44000"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en-US" sz="2800" dirty="0"/>
              <a:t>Types of Digital Security Risks</a:t>
            </a:r>
          </a:p>
          <a:p>
            <a:pPr marL="144000"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en-US" sz="2800" dirty="0"/>
              <a:t>Computer Crime, Cybercrime</a:t>
            </a:r>
          </a:p>
          <a:p>
            <a:pPr marL="144000"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en-US" sz="2800" dirty="0"/>
              <a:t>Malware</a:t>
            </a:r>
          </a:p>
          <a:p>
            <a:pPr marL="144000"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en-US" sz="2800" dirty="0"/>
              <a:t>System Failure</a:t>
            </a:r>
          </a:p>
          <a:p>
            <a:pPr marL="144000"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GB" altLang="en-US" sz="2800" dirty="0"/>
              <a:t>Digital Signature</a:t>
            </a:r>
            <a:endParaRPr lang="en-US" altLang="en-US" sz="2800" dirty="0"/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3048A6-D3A3-4681-8643-1FF41E680E13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Content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  <p:bldP spid="92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:a16="http://schemas.microsoft.com/office/drawing/2014/main" id="{298CBD04-6AC7-4B7E-8F52-27A58BE7D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414A3CD7-2723-4402-8947-365482770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630362"/>
            <a:ext cx="8274050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 dirty="0"/>
              <a:t>Digital Security Risks</a:t>
            </a:r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 dirty="0"/>
              <a:t>Computer Crime, Cybercrime</a:t>
            </a:r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 dirty="0"/>
              <a:t>Malware</a:t>
            </a:r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 dirty="0"/>
              <a:t>System Failure</a:t>
            </a:r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r>
              <a:rPr lang="en-GB" altLang="en-US" sz="2800" dirty="0"/>
              <a:t>Digital Signature</a:t>
            </a:r>
            <a:endParaRPr lang="en-US" altLang="en-US" sz="2800" dirty="0"/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9738E40-F163-47DF-A44D-D7D5A2C9A0E9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SG" sz="3600" b="1" kern="0" dirty="0"/>
              <a:t>Key Terms</a:t>
            </a:r>
            <a:endParaRPr lang="en-MY" sz="3600" b="1" kern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  <p:bldP spid="922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137901B-884F-4E3B-A8FB-EC1EEAE17A4B}"/>
              </a:ext>
            </a:extLst>
          </p:cNvPr>
          <p:cNvGraphicFramePr/>
          <p:nvPr/>
        </p:nvGraphicFramePr>
        <p:xfrm>
          <a:off x="228600" y="1524000"/>
          <a:ext cx="8686800" cy="4735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7FF82212-E118-440F-B846-7005043E5D59}"/>
              </a:ext>
            </a:extLst>
          </p:cNvPr>
          <p:cNvSpPr txBox="1">
            <a:spLocks/>
          </p:cNvSpPr>
          <p:nvPr/>
        </p:nvSpPr>
        <p:spPr bwMode="auto">
          <a:xfrm>
            <a:off x="15875" y="0"/>
            <a:ext cx="77343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SG" sz="3600" b="1" kern="0" dirty="0"/>
              <a:t>Mind Map</a:t>
            </a:r>
            <a:endParaRPr lang="en-MY" sz="3600" b="1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64073E35-151C-475D-9B0F-DE9DC2017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At the end of this section you will be able to:</a:t>
            </a:r>
          </a:p>
          <a:p>
            <a:r>
              <a:rPr lang="en-US" altLang="en-US" sz="2400" dirty="0">
                <a:highlight>
                  <a:srgbClr val="FFFF00"/>
                </a:highlight>
              </a:rPr>
              <a:t>Define digital security risks and types of Malware</a:t>
            </a:r>
          </a:p>
          <a:p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Describe types of Internet and network attacks and explain ways to safeguard against these attacks</a:t>
            </a:r>
          </a:p>
          <a:p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Describe digital signatures and digital certificates</a:t>
            </a:r>
          </a:p>
          <a:p>
            <a:pPr>
              <a:buFontTx/>
              <a:buNone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273366-F1FB-48B3-A0BF-D57AEFC09F7C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8" descr="Image result for digital security">
            <a:extLst>
              <a:ext uri="{FF2B5EF4-FFF2-40B4-BE49-F238E27FC236}">
                <a16:creationId xmlns:a16="http://schemas.microsoft.com/office/drawing/2014/main" id="{A9846DBD-7641-4719-A7D9-7DAEB4389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5" y="4267200"/>
            <a:ext cx="475138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764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F2635C6C-DEDD-44C2-BB3A-14AA0DB9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045742D5-386D-4DF7-95FC-686716552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9199"/>
            <a:ext cx="874395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953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 dirty="0"/>
              <a:t>Digital Security Risk</a:t>
            </a:r>
            <a:r>
              <a:rPr lang="en-US" altLang="en-US" sz="2800" dirty="0"/>
              <a:t> - </a:t>
            </a:r>
            <a:r>
              <a:rPr lang="en-US" altLang="en-US" sz="2800" dirty="0">
                <a:highlight>
                  <a:srgbClr val="FFFF00"/>
                </a:highlight>
              </a:rPr>
              <a:t>an event </a:t>
            </a:r>
            <a:r>
              <a:rPr lang="en-US" altLang="en-US" sz="2800" dirty="0"/>
              <a:t>that could cause </a:t>
            </a:r>
            <a:r>
              <a:rPr lang="en-US" altLang="en-US" sz="2800" dirty="0">
                <a:highlight>
                  <a:srgbClr val="FFFF00"/>
                </a:highlight>
              </a:rPr>
              <a:t>loss of or damage </a:t>
            </a:r>
            <a:r>
              <a:rPr lang="en-US" altLang="en-US" sz="2800" dirty="0"/>
              <a:t>to a computer or mobile device hardware, software, data, information or processing capability</a:t>
            </a:r>
          </a:p>
          <a:p>
            <a:r>
              <a:rPr lang="en-US" altLang="en-US" sz="2800" b="1" dirty="0"/>
              <a:t>Computer Crime - </a:t>
            </a:r>
            <a:r>
              <a:rPr lang="en-US" altLang="en-US" sz="2800" dirty="0"/>
              <a:t>any </a:t>
            </a:r>
            <a:r>
              <a:rPr lang="en-US" altLang="en-US" sz="2800" dirty="0">
                <a:highlight>
                  <a:srgbClr val="FFFF00"/>
                </a:highlight>
              </a:rPr>
              <a:t>illegal act </a:t>
            </a:r>
            <a:r>
              <a:rPr lang="en-US" altLang="en-US" sz="2800" dirty="0"/>
              <a:t>involving the use of a computer or related devices</a:t>
            </a:r>
          </a:p>
          <a:p>
            <a:pPr>
              <a:spcBef>
                <a:spcPct val="0"/>
              </a:spcBef>
            </a:pPr>
            <a:r>
              <a:rPr lang="en-US" altLang="en-US" sz="2800" b="1" dirty="0"/>
              <a:t>Cybercrime</a:t>
            </a:r>
            <a:r>
              <a:rPr lang="en-US" altLang="en-US" sz="2800" dirty="0"/>
              <a:t> – online or Internet-based </a:t>
            </a:r>
            <a:r>
              <a:rPr lang="en-US" altLang="en-US" sz="2800" dirty="0">
                <a:highlight>
                  <a:srgbClr val="FFFF00"/>
                </a:highlight>
              </a:rPr>
              <a:t>illegal act</a:t>
            </a:r>
          </a:p>
          <a:p>
            <a:pPr>
              <a:spcBef>
                <a:spcPct val="0"/>
              </a:spcBef>
            </a:pPr>
            <a:r>
              <a:rPr lang="en-US" altLang="en-US" sz="2800" dirty="0"/>
              <a:t>Information transmitted over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2800" dirty="0"/>
              <a:t>networks has a </a:t>
            </a:r>
            <a:r>
              <a:rPr lang="en-US" altLang="en-US" sz="2800" dirty="0">
                <a:highlight>
                  <a:srgbClr val="FFFF00"/>
                </a:highlight>
              </a:rPr>
              <a:t>higher 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2800" dirty="0"/>
              <a:t>degree of security risk than 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2800" dirty="0"/>
              <a:t>information kept in 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2800" dirty="0"/>
              <a:t>organizations</a:t>
            </a:r>
          </a:p>
          <a:p>
            <a:pPr>
              <a:spcBef>
                <a:spcPct val="0"/>
              </a:spcBef>
            </a:pPr>
            <a:endParaRPr lang="en-US" altLang="en-US" sz="2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2FFC40-BFEA-4493-8DED-3F3A0D1C467E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600" b="1" dirty="0"/>
              <a:t>Digital Security Risk</a:t>
            </a:r>
            <a:endParaRPr lang="en-MY" sz="3600" b="1" kern="0" dirty="0"/>
          </a:p>
        </p:txBody>
      </p:sp>
      <p:pic>
        <p:nvPicPr>
          <p:cNvPr id="11269" name="Picture 7" descr="19 Alarming Cybercrime Statistics For 2019 - IT Supply Chain">
            <a:extLst>
              <a:ext uri="{FF2B5EF4-FFF2-40B4-BE49-F238E27FC236}">
                <a16:creationId xmlns:a16="http://schemas.microsoft.com/office/drawing/2014/main" id="{E242814B-657B-4C99-9A5D-39BB75385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89213"/>
            <a:ext cx="3260725" cy="207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 autoUpdateAnimBg="0"/>
      <p:bldP spid="215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">
            <a:extLst>
              <a:ext uri="{FF2B5EF4-FFF2-40B4-BE49-F238E27FC236}">
                <a16:creationId xmlns:a16="http://schemas.microsoft.com/office/drawing/2014/main" id="{235655C0-59CB-473C-8A7B-1A5F30B90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1430338"/>
            <a:ext cx="2465387" cy="26670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91440" rIns="0" bIns="0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Times New Roman" charset="0"/>
              </a:rPr>
              <a:t>Virus</a:t>
            </a:r>
            <a:r>
              <a:rPr kumimoji="1" lang="en-US" altLang="en-US" sz="3200" b="1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kumimoji="1" lang="en-US" altLang="en-US" sz="3200" b="1" dirty="0">
                <a:solidFill>
                  <a:schemeClr val="bg1"/>
                </a:solidFill>
                <a:latin typeface="Times New Roman" charset="0"/>
              </a:rPr>
              <a:t>is a potentially damaging </a:t>
            </a:r>
            <a:br>
              <a:rPr kumimoji="1" lang="en-US" altLang="en-US" sz="32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3200" b="1" dirty="0">
                <a:solidFill>
                  <a:schemeClr val="bg1"/>
                </a:solidFill>
                <a:latin typeface="Times New Roman" charset="0"/>
              </a:rPr>
              <a:t>computer </a:t>
            </a:r>
            <a:br>
              <a:rPr kumimoji="1" lang="en-US" altLang="en-US" sz="32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3200" b="1" dirty="0">
                <a:solidFill>
                  <a:schemeClr val="bg1"/>
                </a:solidFill>
                <a:latin typeface="Times New Roman" charset="0"/>
              </a:rPr>
              <a:t>program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96AA956-5477-4488-9429-BD49525BA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1430338"/>
            <a:ext cx="2011363" cy="512286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tIns="91440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Monotype Sorts" pitchFamily="2" charset="2"/>
              <a:buNone/>
              <a:defRPr/>
            </a:pPr>
            <a:r>
              <a:rPr kumimoji="1"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Times New Roman" charset="0"/>
              </a:rPr>
              <a:t>Worm</a:t>
            </a:r>
            <a:r>
              <a:rPr kumimoji="1" lang="en-US" altLang="en-US" sz="2800" b="1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copies </a:t>
            </a:r>
            <a:b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itself repeatedly, using up </a:t>
            </a:r>
            <a:b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resources </a:t>
            </a:r>
            <a:b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and possibly shutting down computer or network</a:t>
            </a:r>
          </a:p>
          <a:p>
            <a:pPr lvl="1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altLang="en-US" sz="2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2F781B-D788-45C5-B463-349A6010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1430338"/>
            <a:ext cx="2187575" cy="3065462"/>
          </a:xfrm>
          <a:prstGeom prst="rect">
            <a:avLst/>
          </a:prstGeom>
          <a:solidFill>
            <a:srgbClr val="8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0"/>
          <a:lstStyle/>
          <a:p>
            <a:pPr algn="ctr">
              <a:spcBef>
                <a:spcPct val="20000"/>
              </a:spcBef>
              <a:buClr>
                <a:schemeClr val="accent1"/>
              </a:buClr>
              <a:buSzPct val="80000"/>
              <a:buFont typeface="Monotype Sorts" pitchFamily="2" charset="2"/>
              <a:buNone/>
              <a:defRPr/>
            </a:pPr>
            <a:r>
              <a:rPr kumimoji="1"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Times New Roman" charset="0"/>
              </a:rPr>
              <a:t>Trojan Horse </a:t>
            </a: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hides within </a:t>
            </a:r>
            <a:b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or looks like legitimate program until triggered</a:t>
            </a:r>
          </a:p>
          <a:p>
            <a:pPr algn="ctr">
              <a:defRPr/>
            </a:pPr>
            <a:endParaRPr kumimoji="1" lang="en-US" altLang="en-US" sz="2800" b="1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AE98E241-E3D0-468F-A734-C8436AC05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5138" y="1430338"/>
            <a:ext cx="2239962" cy="5122862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91440" rIns="0" bIns="0"/>
          <a:lstStyle/>
          <a:p>
            <a:pPr algn="ctr">
              <a:spcBef>
                <a:spcPct val="20000"/>
              </a:spcBef>
              <a:buClr>
                <a:srgbClr val="D94439"/>
              </a:buClr>
              <a:buFont typeface="Wingdings" pitchFamily="2" charset="2"/>
              <a:buNone/>
              <a:defRPr/>
            </a:pPr>
            <a:r>
              <a:rPr kumimoji="1" lang="en-US" altLang="en-US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Times New Roman" charset="0"/>
              </a:rPr>
              <a:t>Payload</a:t>
            </a:r>
            <a:r>
              <a:rPr kumimoji="1" lang="en-US" altLang="en-US" sz="2600" b="1" dirty="0">
                <a:solidFill>
                  <a:srgbClr val="000000"/>
                </a:solidFill>
                <a:latin typeface="Times New Roman" charset="0"/>
              </a:rPr>
              <a:t> </a:t>
            </a:r>
            <a:br>
              <a:rPr kumimoji="1" lang="en-US" altLang="en-US" sz="2600" b="1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altLang="en-US" sz="2600" b="1" dirty="0">
                <a:solidFill>
                  <a:schemeClr val="bg1"/>
                </a:solidFill>
                <a:latin typeface="Times New Roman" charset="0"/>
              </a:rPr>
              <a:t>(destructive </a:t>
            </a:r>
            <a:br>
              <a:rPr kumimoji="1" lang="en-US" altLang="en-US" sz="26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600" b="1" dirty="0">
                <a:solidFill>
                  <a:schemeClr val="bg1"/>
                </a:solidFill>
                <a:latin typeface="Times New Roman" charset="0"/>
              </a:rPr>
              <a:t>event) that is delivered when </a:t>
            </a:r>
            <a:br>
              <a:rPr kumimoji="1" lang="en-US" altLang="en-US" sz="26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600" b="1" dirty="0">
                <a:solidFill>
                  <a:schemeClr val="bg1"/>
                </a:solidFill>
                <a:latin typeface="Times New Roman" charset="0"/>
              </a:rPr>
              <a:t>you open file, run infected program or boot computer with infected disk </a:t>
            </a:r>
            <a:br>
              <a:rPr kumimoji="1" lang="en-US" altLang="en-US" sz="26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600" b="1" dirty="0">
                <a:solidFill>
                  <a:schemeClr val="bg1"/>
                </a:solidFill>
                <a:latin typeface="Times New Roman" charset="0"/>
              </a:rPr>
              <a:t>in disk drive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BC9D8161-4152-4019-A56D-BDA0493D1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4097338"/>
            <a:ext cx="2728913" cy="1797050"/>
          </a:xfrm>
          <a:prstGeom prst="ellipse">
            <a:avLst/>
          </a:prstGeom>
          <a:solidFill>
            <a:srgbClr val="BC2F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800">
                <a:latin typeface="Times New Roman" panose="02020603050405020304" pitchFamily="18" charset="0"/>
              </a:rPr>
              <a:t>Can spread and damage files</a:t>
            </a:r>
          </a:p>
        </p:txBody>
      </p:sp>
      <p:sp>
        <p:nvSpPr>
          <p:cNvPr id="10" name="Oval 16">
            <a:extLst>
              <a:ext uri="{FF2B5EF4-FFF2-40B4-BE49-F238E27FC236}">
                <a16:creationId xmlns:a16="http://schemas.microsoft.com/office/drawing/2014/main" id="{F6401515-C357-4EB6-B612-C1719EC1F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4514850"/>
            <a:ext cx="2257425" cy="203835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>
                <a:latin typeface="Times New Roman" panose="02020603050405020304" pitchFamily="18" charset="0"/>
              </a:rPr>
              <a:t>Does not replicate itself on other computers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3AC8326-3EEA-4DAD-8FA5-501A14B0E5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Malicious Software (Malware)</a:t>
            </a:r>
            <a:endParaRPr lang="en-MY" altLang="en-US" b="1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nimBg="1" autoUpdateAnimBg="0"/>
      <p:bldP spid="1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64073E35-151C-475D-9B0F-DE9DC2017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At the end of this section you will be able to:</a:t>
            </a:r>
          </a:p>
          <a:p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Define digital security risks and types of Malware</a:t>
            </a:r>
          </a:p>
          <a:p>
            <a:r>
              <a:rPr lang="en-US" altLang="en-US" sz="2400" dirty="0">
                <a:highlight>
                  <a:srgbClr val="FFFF00"/>
                </a:highlight>
              </a:rPr>
              <a:t>Describe types of Internet and network attacks and explain ways to safeguard against these attacks</a:t>
            </a:r>
          </a:p>
          <a:p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Describe digital signatures and digital certificates</a:t>
            </a:r>
          </a:p>
          <a:p>
            <a:pPr>
              <a:buFontTx/>
              <a:buNone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273366-F1FB-48B3-A0BF-D57AEFC09F7C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8" descr="Image result for digital security">
            <a:extLst>
              <a:ext uri="{FF2B5EF4-FFF2-40B4-BE49-F238E27FC236}">
                <a16:creationId xmlns:a16="http://schemas.microsoft.com/office/drawing/2014/main" id="{A9846DBD-7641-4719-A7D9-7DAEB4389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5" y="4267200"/>
            <a:ext cx="475138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54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AE9CD81-68A1-4A4C-A9F0-3DC07F0E4397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600" b="1" dirty="0"/>
          </a:p>
          <a:p>
            <a:pPr algn="ctr">
              <a:defRPr/>
            </a:pPr>
            <a:r>
              <a:rPr lang="en-US" sz="3600" b="1" dirty="0"/>
              <a:t>Internet and Network Attacks</a:t>
            </a:r>
            <a:endParaRPr lang="en-MY" sz="3600" b="1" kern="0" dirty="0"/>
          </a:p>
          <a:p>
            <a:pPr algn="ctr">
              <a:defRPr/>
            </a:pPr>
            <a:endParaRPr lang="en-MY" sz="3600" b="1" kern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B46B4B-6925-4AFC-A322-7723839FD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548669"/>
              </p:ext>
            </p:extLst>
          </p:nvPr>
        </p:nvGraphicFramePr>
        <p:xfrm>
          <a:off x="0" y="1112838"/>
          <a:ext cx="9144000" cy="551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0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771">
                <a:tc>
                  <a:txBody>
                    <a:bodyPr/>
                    <a:lstStyle/>
                    <a:p>
                      <a:r>
                        <a:rPr lang="en-US" sz="1800" b="1" u="none" strike="noStrike" kern="1200" baseline="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Type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>
                    <a:solidFill>
                      <a:srgbClr val="8A28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u="none" strike="noStrike" kern="1200" baseline="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>
                    <a:solidFill>
                      <a:srgbClr val="8A28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210">
                <a:tc>
                  <a:txBody>
                    <a:bodyPr/>
                    <a:lstStyle/>
                    <a:p>
                      <a:r>
                        <a:rPr lang="en-US" sz="1600" b="1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Adware</a:t>
                      </a:r>
                      <a:endParaRPr lang="en-US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 program that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displays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 an online advertisement in a banner, pop-up window, or pop-under window on webpages, email messages, or other Internet services.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210">
                <a:tc>
                  <a:txBody>
                    <a:bodyPr/>
                    <a:lstStyle/>
                    <a:p>
                      <a:r>
                        <a:rPr lang="en-US" sz="1400" b="1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Ransomware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 program that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blocks or limits 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access to a computer, phone, or file until the user pays a specified amount of money.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210">
                <a:tc>
                  <a:txBody>
                    <a:bodyPr/>
                    <a:lstStyle/>
                    <a:p>
                      <a:r>
                        <a:rPr lang="en-US" sz="1600" b="1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Rootkit</a:t>
                      </a:r>
                      <a:endParaRPr lang="en-US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 program that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hides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 in a computer or mobile device and allows someone from a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remote location 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to take full control of the computer or device.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0089">
                <a:tc>
                  <a:txBody>
                    <a:bodyPr/>
                    <a:lstStyle/>
                    <a:p>
                      <a:r>
                        <a:rPr lang="en-US" sz="1600" b="1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Spyware</a:t>
                      </a:r>
                      <a:endParaRPr lang="en-US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 program placed on a computer or mobile device without the user’s knowledge that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secretly collects 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information about the user and then communicates the information it collects to</a:t>
                      </a:r>
                    </a:p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some outside source while the user is online.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210">
                <a:tc>
                  <a:txBody>
                    <a:bodyPr/>
                    <a:lstStyle/>
                    <a:p>
                      <a:r>
                        <a:rPr lang="en-US" sz="1600" b="1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Trojan Horse</a:t>
                      </a:r>
                      <a:endParaRPr lang="en-US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 program that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hides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 within or looks like a legitimate program. Unlike a virus or worm, a </a:t>
                      </a:r>
                      <a:r>
                        <a:rPr lang="en-US" sz="1600" u="none" strike="noStrike" kern="1200" baseline="0" dirty="0" err="1">
                          <a:latin typeface="Arial" pitchFamily="34" charset="0"/>
                          <a:cs typeface="Arial" pitchFamily="34" charset="0"/>
                        </a:rPr>
                        <a:t>trojan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 horse does not replicate itself to other computers or devices.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r>
                        <a:rPr lang="en-US" sz="1600" b="1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Virus</a:t>
                      </a:r>
                      <a:endParaRPr lang="en-US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 potentially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damaging 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program that affects, or infects, a computer or mobile device negatively by altering the way the computer or device works without the user’s knowledge or permission.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5210">
                <a:tc>
                  <a:txBody>
                    <a:bodyPr/>
                    <a:lstStyle/>
                    <a:p>
                      <a:r>
                        <a:rPr lang="en-US" sz="1600" b="1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Worm</a:t>
                      </a:r>
                      <a:endParaRPr lang="en-US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A program that </a:t>
                      </a:r>
                      <a:r>
                        <a:rPr lang="en-US" sz="1600" u="none" strike="noStrike" kern="1200" baseline="0" dirty="0">
                          <a:highlight>
                            <a:srgbClr val="FFFF00"/>
                          </a:highlight>
                          <a:latin typeface="Arial" pitchFamily="34" charset="0"/>
                          <a:cs typeface="Arial" pitchFamily="34" charset="0"/>
                        </a:rPr>
                        <a:t>copies itself repeatedly</a:t>
                      </a:r>
                      <a:r>
                        <a:rPr lang="en-US" sz="1600" u="none" strike="noStrike" kern="1200" baseline="0" dirty="0">
                          <a:latin typeface="Arial" pitchFamily="34" charset="0"/>
                          <a:cs typeface="Arial" pitchFamily="34" charset="0"/>
                        </a:rPr>
                        <a:t>, for example in memory or on a network, using up resources and possibly shutting down the computer, device, or network.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5186E68-8EB9-43F3-B033-DB419511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1447800"/>
            <a:ext cx="90678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b="1" dirty="0"/>
              <a:t>Botnet</a:t>
            </a:r>
            <a:r>
              <a:rPr lang="en-US" altLang="en-US" sz="2400" dirty="0"/>
              <a:t> - group of compromised computers or mobile devices connected to a network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b="1" dirty="0"/>
              <a:t>Zombie PC </a:t>
            </a:r>
            <a:r>
              <a:rPr lang="en-US" altLang="en-US" sz="2400" dirty="0"/>
              <a:t>- compromised computer or device 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b="1" dirty="0"/>
              <a:t>Denial of service attack (DoS)</a:t>
            </a:r>
            <a:r>
              <a:rPr lang="en-US" altLang="en-US" sz="2400" dirty="0"/>
              <a:t> - disrupts computer     access to an Internet service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b="1" dirty="0"/>
              <a:t>Distributed DoS  attack (DDoS attack) </a:t>
            </a:r>
            <a:r>
              <a:rPr lang="en-US" altLang="en-US" sz="2400" dirty="0"/>
              <a:t>– larger   scale of a DoS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b="1" dirty="0"/>
              <a:t>Backdoor </a:t>
            </a:r>
            <a:r>
              <a:rPr lang="en-US" altLang="en-US" sz="2400" dirty="0"/>
              <a:t>- program or set of instructions in a program that allow users to bypass security controls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11C312-6E40-46E7-B18A-2A3545B1AB64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600" b="1" dirty="0"/>
          </a:p>
          <a:p>
            <a:pPr algn="ctr">
              <a:defRPr/>
            </a:pPr>
            <a:r>
              <a:rPr lang="en-US" sz="3600" b="1" dirty="0"/>
              <a:t>Internet and Network Attacks</a:t>
            </a:r>
            <a:endParaRPr lang="en-MY" sz="3600" b="1" kern="0" dirty="0"/>
          </a:p>
          <a:p>
            <a:pPr algn="ctr">
              <a:defRPr/>
            </a:pPr>
            <a:endParaRPr lang="en-MY" sz="3600" b="1" kern="0" dirty="0"/>
          </a:p>
        </p:txBody>
      </p:sp>
      <p:pic>
        <p:nvPicPr>
          <p:cNvPr id="14340" name="Picture 5" descr="What is a Botnet and How Does it Work?">
            <a:extLst>
              <a:ext uri="{FF2B5EF4-FFF2-40B4-BE49-F238E27FC236}">
                <a16:creationId xmlns:a16="http://schemas.microsoft.com/office/drawing/2014/main" id="{7CC8783E-F817-44F5-AD3B-6CEA03FBD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661" y="4988720"/>
            <a:ext cx="4196339" cy="168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F1EEA2-41F6-49CC-AA87-26CB0F9DFFB1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600" b="1" dirty="0"/>
          </a:p>
          <a:p>
            <a:pPr algn="ctr">
              <a:defRPr/>
            </a:pPr>
            <a:r>
              <a:rPr lang="en-US" sz="3600" b="1" dirty="0"/>
              <a:t>Internet and Network Attacks</a:t>
            </a:r>
            <a:endParaRPr lang="en-MY" sz="3600" b="1" kern="0" dirty="0"/>
          </a:p>
          <a:p>
            <a:pPr algn="ctr">
              <a:defRPr/>
            </a:pPr>
            <a:endParaRPr lang="en-MY" sz="3600" b="1" kern="0" dirty="0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72C1B9B-9886-434B-BD0D-4FC6D86D3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15364" name="Text Box 6">
            <a:extLst>
              <a:ext uri="{FF2B5EF4-FFF2-40B4-BE49-F238E27FC236}">
                <a16:creationId xmlns:a16="http://schemas.microsoft.com/office/drawing/2014/main" id="{70F8BC50-3508-4242-AD8B-E3FFD2E45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6400800"/>
            <a:ext cx="1549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200">
                <a:solidFill>
                  <a:srgbClr val="33197F"/>
                </a:solidFill>
                <a:latin typeface="Arial Narrow" panose="020B0606020202030204" pitchFamily="34" charset="0"/>
              </a:rPr>
              <a:t>p. 587</a:t>
            </a:r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76974BA2-FE37-4990-91A3-F43DDEB6B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6925" y="4114800"/>
            <a:ext cx="4537075" cy="2422525"/>
          </a:xfrm>
          <a:prstGeom prst="rect">
            <a:avLst/>
          </a:prstGeom>
          <a:solidFill>
            <a:srgbClr val="0099CC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0099CC"/>
            </a:extrusionClr>
            <a:contourClr>
              <a:srgbClr val="00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accent1"/>
              </a:buClr>
              <a:buSzPct val="80000"/>
              <a:buFont typeface="Monotype Sorts" pitchFamily="2" charset="2"/>
              <a:buNone/>
            </a:pPr>
            <a:r>
              <a:rPr kumimoji="1" lang="en-US" altLang="en-US" sz="2400" b="1">
                <a:solidFill>
                  <a:srgbClr val="FFFF99"/>
                </a:solidFill>
                <a:latin typeface="Times New Roman" panose="02020603050405020304" pitchFamily="18" charset="0"/>
              </a:rPr>
              <a:t>Computer Emergency </a:t>
            </a:r>
            <a:br>
              <a:rPr kumimoji="1" lang="en-US" altLang="en-US" sz="2400" b="1">
                <a:solidFill>
                  <a:srgbClr val="FFFF99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>
                <a:solidFill>
                  <a:srgbClr val="FFFF99"/>
                </a:solidFill>
                <a:latin typeface="Times New Roman" panose="02020603050405020304" pitchFamily="18" charset="0"/>
              </a:rPr>
              <a:t>Response Team Coordination Center (CERT/CC)</a:t>
            </a:r>
            <a:r>
              <a:rPr kumimoji="1"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en-US" sz="2400" b="1">
                <a:solidFill>
                  <a:srgbClr val="FFFFCC"/>
                </a:solidFill>
                <a:latin typeface="Times New Roman" panose="02020603050405020304" pitchFamily="18" charset="0"/>
              </a:rPr>
              <a:t>assists </a:t>
            </a:r>
            <a:br>
              <a:rPr kumimoji="1" lang="en-US" altLang="en-US" sz="2400" b="1">
                <a:solidFill>
                  <a:srgbClr val="FFFFCC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>
                <a:solidFill>
                  <a:srgbClr val="FFFFCC"/>
                </a:solidFill>
                <a:latin typeface="Times New Roman" panose="02020603050405020304" pitchFamily="18" charset="0"/>
              </a:rPr>
              <a:t>with DDoS attacks</a:t>
            </a: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5739F078-BDB0-4005-B793-2B34FEAA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525" y="1358900"/>
            <a:ext cx="4562475" cy="2755900"/>
          </a:xfrm>
          <a:prstGeom prst="rect">
            <a:avLst/>
          </a:prstGeom>
          <a:solidFill>
            <a:srgbClr val="808000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808000"/>
            </a:extrusionClr>
            <a:contourClr>
              <a:srgbClr val="808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accent1"/>
              </a:buClr>
              <a:buSzPct val="80000"/>
              <a:buFont typeface="Monotype Sorts" pitchFamily="2" charset="2"/>
              <a:buNone/>
            </a:pPr>
            <a:r>
              <a:rPr kumimoji="1" lang="en-US" altLang="en-US" sz="2400" b="1">
                <a:solidFill>
                  <a:srgbClr val="FFFFCC"/>
                </a:solidFill>
                <a:latin typeface="Times New Roman" panose="02020603050405020304" pitchFamily="18" charset="0"/>
              </a:rPr>
              <a:t>Hacker uses unsuspecting computer, called </a:t>
            </a:r>
            <a:r>
              <a:rPr kumimoji="1" lang="en-US" altLang="en-US" sz="2400" b="1">
                <a:solidFill>
                  <a:srgbClr val="FFFF99"/>
                </a:solidFill>
                <a:latin typeface="Times New Roman" panose="02020603050405020304" pitchFamily="18" charset="0"/>
              </a:rPr>
              <a:t>zombie,</a:t>
            </a:r>
            <a:r>
              <a:rPr kumimoji="1" lang="en-US" altLang="en-US" sz="2400" b="1">
                <a:solidFill>
                  <a:srgbClr val="FFFFCC"/>
                </a:solidFill>
                <a:latin typeface="Times New Roman" panose="02020603050405020304" pitchFamily="18" charset="0"/>
              </a:rPr>
              <a:t> to send an influx of confusing data messages to execute attack on other systems</a:t>
            </a:r>
          </a:p>
        </p:txBody>
      </p:sp>
      <p:sp>
        <p:nvSpPr>
          <p:cNvPr id="12" name="Rectangle 28">
            <a:extLst>
              <a:ext uri="{FF2B5EF4-FFF2-40B4-BE49-F238E27FC236}">
                <a16:creationId xmlns:a16="http://schemas.microsoft.com/office/drawing/2014/main" id="{E463FCAA-9068-4BD6-A330-B776D2E6C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3733800"/>
            <a:ext cx="4403725" cy="2803525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accent1"/>
              </a:buClr>
              <a:buSzPct val="80000"/>
              <a:buFont typeface="Monotype Sorts" pitchFamily="2" charset="2"/>
              <a:buNone/>
            </a:pPr>
            <a:r>
              <a:rPr kumimoji="1" lang="en-US" altLang="en-US" sz="2400" b="1">
                <a:solidFill>
                  <a:srgbClr val="FFFF99"/>
                </a:solidFill>
                <a:latin typeface="Times New Roman" panose="02020603050405020304" pitchFamily="18" charset="0"/>
              </a:rPr>
              <a:t>Distributed DoS (DDoS) attack</a:t>
            </a:r>
            <a:r>
              <a:rPr kumimoji="1"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en-US" sz="2400" b="1">
                <a:solidFill>
                  <a:srgbClr val="FFFFCC"/>
                </a:solidFill>
                <a:latin typeface="Times New Roman" panose="02020603050405020304" pitchFamily="18" charset="0"/>
              </a:rPr>
              <a:t>is more devastating, extensive in which multiple computers attack multiple networks. Websites that have been affected: Yahoo! eBay, Amazon.com, CNN.com</a:t>
            </a: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8A0499BF-9DA6-46F4-B924-05D3CD5B7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1355725"/>
            <a:ext cx="4429125" cy="2378075"/>
          </a:xfrm>
          <a:prstGeom prst="rect">
            <a:avLst/>
          </a:prstGeom>
          <a:solidFill>
            <a:srgbClr val="993366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93366"/>
            </a:extrusionClr>
            <a:contourClr>
              <a:srgbClr val="9933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accent1"/>
              </a:buClr>
              <a:buSzPct val="80000"/>
              <a:buFont typeface="Monotype Sorts" pitchFamily="2" charset="2"/>
              <a:buNone/>
            </a:pPr>
            <a:r>
              <a:rPr kumimoji="1" lang="en-US" altLang="en-US" sz="24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DoS attack</a:t>
            </a:r>
          </a:p>
          <a:p>
            <a:pPr algn="ctr">
              <a:buClr>
                <a:schemeClr val="accent1"/>
              </a:buClr>
              <a:buSzPct val="80000"/>
              <a:buFont typeface="Monotype Sorts" pitchFamily="2" charset="2"/>
              <a:buNone/>
            </a:pPr>
            <a:r>
              <a:rPr kumimoji="1" lang="en-US" altLang="en-US" sz="24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An assault to disrupt computer access to the Internet e.g. Web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10" grpId="0" animBg="1" autoUpdateAnimBg="0"/>
      <p:bldP spid="11" grpId="0" animBg="1" autoUpdateAnimBg="0"/>
      <p:bldP spid="12" grpId="0" animBg="1" autoUpdateAnimBg="0"/>
      <p:bldP spid="1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8A10900F-8A62-41D1-ADE3-E3C3B5A0F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71575"/>
            <a:ext cx="2743200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D9443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1600" b="1" dirty="0">
                <a:highlight>
                  <a:srgbClr val="FFFF00"/>
                </a:highlight>
                <a:latin typeface="Arial (W1)" pitchFamily="34" charset="0"/>
              </a:rPr>
              <a:t>Step 1.  </a:t>
            </a:r>
            <a:r>
              <a:rPr kumimoji="1" lang="en-US" altLang="en-US" sz="1800" dirty="0">
                <a:latin typeface="Times New Roman" panose="02020603050405020304" pitchFamily="18" charset="0"/>
              </a:rPr>
              <a:t>Unscrupulous programmers create a virus program.  They hide the virus in a Word document and attach the Word document to an e-mail message.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DEA84913-815D-4B6E-9655-42D5B2FC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371600"/>
            <a:ext cx="24384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D9443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1800" b="1" dirty="0">
                <a:highlight>
                  <a:srgbClr val="FFFF00"/>
                </a:highlight>
                <a:latin typeface="Arial (W1)" pitchFamily="34" charset="0"/>
              </a:rPr>
              <a:t>Step 2</a:t>
            </a:r>
            <a:r>
              <a:rPr kumimoji="1" lang="en-US" altLang="en-US" sz="1800" dirty="0">
                <a:highlight>
                  <a:srgbClr val="FFFF00"/>
                </a:highlight>
                <a:latin typeface="Arial (W1)" pitchFamily="34" charset="0"/>
              </a:rPr>
              <a:t>.  </a:t>
            </a:r>
            <a:r>
              <a:rPr kumimoji="1" lang="en-US" altLang="en-US" sz="1800" dirty="0">
                <a:latin typeface="Times New Roman" panose="02020603050405020304" pitchFamily="18" charset="0"/>
              </a:rPr>
              <a:t>They use the Internet to send the e-mail message to thousands of users around the world.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BD0EC165-378C-450F-A827-590014371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816350"/>
            <a:ext cx="2743200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D9443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1600" b="1" dirty="0">
                <a:highlight>
                  <a:srgbClr val="FFFF00"/>
                </a:highlight>
                <a:latin typeface="Arial (W1)" pitchFamily="34" charset="0"/>
              </a:rPr>
              <a:t>Step 3b</a:t>
            </a:r>
            <a:r>
              <a:rPr kumimoji="1" lang="en-US" altLang="en-US" sz="1600" dirty="0">
                <a:highlight>
                  <a:srgbClr val="FFFF00"/>
                </a:highlight>
                <a:latin typeface="Arial (W1)" pitchFamily="34" charset="0"/>
              </a:rPr>
              <a:t>.  </a:t>
            </a:r>
            <a:r>
              <a:rPr kumimoji="1" lang="en-US" altLang="en-US" sz="1600" dirty="0">
                <a:latin typeface="Arial (W1)" pitchFamily="34" charset="0"/>
              </a:rPr>
              <a:t>U</a:t>
            </a:r>
            <a:r>
              <a:rPr kumimoji="1" lang="en-US" altLang="en-US" sz="1800" dirty="0">
                <a:latin typeface="Times New Roman" panose="02020603050405020304" pitchFamily="18" charset="0"/>
              </a:rPr>
              <a:t>sers who do not recognize the name of the sender of the e-mail message do not open the </a:t>
            </a:r>
            <a:br>
              <a:rPr kumimoji="1" lang="en-US" altLang="en-US" sz="1800" dirty="0">
                <a:latin typeface="Times New Roman" panose="02020603050405020304" pitchFamily="18" charset="0"/>
              </a:rPr>
            </a:br>
            <a:r>
              <a:rPr kumimoji="1" lang="en-US" altLang="en-US" sz="1800" dirty="0">
                <a:latin typeface="Times New Roman" panose="02020603050405020304" pitchFamily="18" charset="0"/>
              </a:rPr>
              <a:t>e-mail message.  Instead they delete the e-mail message. These users’ computers are not infected with the virus.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A057DDA0-8904-4D7B-B231-6702444D0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" y="3836988"/>
            <a:ext cx="1981200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D9443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1800" b="1" dirty="0">
                <a:highlight>
                  <a:srgbClr val="FFFF00"/>
                </a:highlight>
                <a:latin typeface="Arial (W1)" pitchFamily="34" charset="0"/>
              </a:rPr>
              <a:t>Step 3a.  </a:t>
            </a:r>
            <a:r>
              <a:rPr kumimoji="1" lang="en-US" altLang="en-US" sz="2000" dirty="0">
                <a:latin typeface="Times New Roman" panose="02020603050405020304" pitchFamily="18" charset="0"/>
              </a:rPr>
              <a:t>Some users open the attachment and their computers become infected with the virus.</a:t>
            </a:r>
          </a:p>
        </p:txBody>
      </p:sp>
      <p:pic>
        <p:nvPicPr>
          <p:cNvPr id="19" name="Picture 15" descr="Fig11-0002a">
            <a:extLst>
              <a:ext uri="{FF2B5EF4-FFF2-40B4-BE49-F238E27FC236}">
                <a16:creationId xmlns:a16="http://schemas.microsoft.com/office/drawing/2014/main" id="{B470DF87-13C7-4B04-A31B-8A17BAB41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38" y="1371600"/>
            <a:ext cx="3878262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6" descr="Fig11-0002b">
            <a:extLst>
              <a:ext uri="{FF2B5EF4-FFF2-40B4-BE49-F238E27FC236}">
                <a16:creationId xmlns:a16="http://schemas.microsoft.com/office/drawing/2014/main" id="{8B357B5D-F993-4EF8-A094-75B12F6A7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962400"/>
            <a:ext cx="2057400" cy="239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7" descr="Fig11-0002c">
            <a:extLst>
              <a:ext uri="{FF2B5EF4-FFF2-40B4-BE49-F238E27FC236}">
                <a16:creationId xmlns:a16="http://schemas.microsoft.com/office/drawing/2014/main" id="{23D1DE43-39DB-4E9B-A2E1-474592156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049713"/>
            <a:ext cx="2209800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AutoShape 18">
            <a:extLst>
              <a:ext uri="{FF2B5EF4-FFF2-40B4-BE49-F238E27FC236}">
                <a16:creationId xmlns:a16="http://schemas.microsoft.com/office/drawing/2014/main" id="{4E5D4526-88D8-4068-9780-F2AA916F8BD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55169" y="3101181"/>
            <a:ext cx="833438" cy="63817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981"/>
                  <a:pt x="14031" y="5636"/>
                  <a:pt x="11221" y="5416"/>
                </a:cubicBezTo>
                <a:lnTo>
                  <a:pt x="11643" y="32"/>
                </a:lnTo>
                <a:cubicBezTo>
                  <a:pt x="17263" y="473"/>
                  <a:pt x="21599" y="5162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D9443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02920" bIns="0" anchor="ctr"/>
          <a:lstStyle/>
          <a:p>
            <a:endParaRPr lang="en-US"/>
          </a:p>
        </p:txBody>
      </p:sp>
      <p:sp>
        <p:nvSpPr>
          <p:cNvPr id="23" name="AutoShape 19">
            <a:extLst>
              <a:ext uri="{FF2B5EF4-FFF2-40B4-BE49-F238E27FC236}">
                <a16:creationId xmlns:a16="http://schemas.microsoft.com/office/drawing/2014/main" id="{E1F292C1-BC27-45E9-8DEB-5D217F168F90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196557" y="3029744"/>
            <a:ext cx="833437" cy="63817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981"/>
                  <a:pt x="14031" y="5636"/>
                  <a:pt x="11221" y="5416"/>
                </a:cubicBezTo>
                <a:lnTo>
                  <a:pt x="11643" y="32"/>
                </a:lnTo>
                <a:cubicBezTo>
                  <a:pt x="17263" y="473"/>
                  <a:pt x="21599" y="5162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D9443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02920" bIns="0" anchor="ctr"/>
          <a:lstStyle/>
          <a:p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E4C1BFF-68B3-4C09-996C-601FA111DB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Attack with Virus</a:t>
            </a:r>
            <a:endParaRPr lang="en-MY" altLang="en-US" b="1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17" grpId="0" autoUpdateAnimBg="0"/>
      <p:bldP spid="1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1">
            <a:extLst>
              <a:ext uri="{FF2B5EF4-FFF2-40B4-BE49-F238E27FC236}">
                <a16:creationId xmlns:a16="http://schemas.microsoft.com/office/drawing/2014/main" id="{37B750CA-D4D5-4347-88F0-C4240D49B42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47CC6E-CCCD-41CC-B84D-2C8F60B4FC5A}" type="slidenum">
              <a:rPr lang="en-GB" altLang="en-US" sz="800">
                <a:cs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800">
              <a:cs typeface="Calibri" panose="020F0502020204030204" pitchFamily="34" charset="0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7DAE64E1-9E48-4511-A7CF-F09013A8C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D6E153EA-46F9-4D51-AEBB-0BAA8413A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1243013"/>
            <a:ext cx="91440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latin typeface="Arial Unicode MS" pitchFamily="34" charset="-128"/>
              </a:rPr>
              <a:t>Macro virus </a:t>
            </a:r>
            <a:r>
              <a:rPr lang="en-US" altLang="en-US" sz="2800" dirty="0">
                <a:latin typeface="Arial Unicode MS" pitchFamily="34" charset="-128"/>
              </a:rPr>
              <a:t>– malicious code written in word programs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/>
              <a:t>Protection - 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F2E04FBC-517A-48C6-B2D1-E4D2A7713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2438400"/>
            <a:ext cx="8585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28650" indent="-5143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kumimoji="1" lang="en-US" altLang="en-US" sz="2600" dirty="0">
                <a:solidFill>
                  <a:srgbClr val="000000"/>
                </a:solidFill>
              </a:rPr>
              <a:t>Set macro </a:t>
            </a:r>
            <a:r>
              <a:rPr kumimoji="1" lang="en-US" altLang="en-US" sz="2600" dirty="0">
                <a:solidFill>
                  <a:srgbClr val="000000"/>
                </a:solidFill>
                <a:highlight>
                  <a:srgbClr val="FFFF00"/>
                </a:highlight>
              </a:rPr>
              <a:t>security level </a:t>
            </a:r>
            <a:r>
              <a:rPr kumimoji="1" lang="en-US" altLang="en-US" sz="2600" dirty="0">
                <a:solidFill>
                  <a:srgbClr val="000000"/>
                </a:solidFill>
              </a:rPr>
              <a:t>in applications that allow you to write macros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368B62D1-A749-4F0F-9CAC-655DB2FCC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3352800"/>
            <a:ext cx="5792787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28650" indent="-5143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715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5000"/>
              </a:spcBef>
              <a:buClr>
                <a:schemeClr val="tx1"/>
              </a:buClr>
              <a:buSzPct val="75000"/>
              <a:buFontTx/>
              <a:buAutoNum type="arabicPeriod" startAt="2"/>
            </a:pPr>
            <a:r>
              <a:rPr kumimoji="1" lang="en-US" altLang="en-US" sz="2600" dirty="0">
                <a:solidFill>
                  <a:srgbClr val="000000"/>
                </a:solidFill>
              </a:rPr>
              <a:t>At </a:t>
            </a:r>
            <a:r>
              <a:rPr kumimoji="1" lang="en-US" altLang="en-US" sz="2600" dirty="0">
                <a:solidFill>
                  <a:srgbClr val="000000"/>
                </a:solidFill>
                <a:highlight>
                  <a:srgbClr val="FFFF00"/>
                </a:highlight>
              </a:rPr>
              <a:t>medium security level </a:t>
            </a:r>
            <a:r>
              <a:rPr kumimoji="1" lang="en-US" altLang="en-US" sz="2600" dirty="0">
                <a:solidFill>
                  <a:srgbClr val="000000"/>
                </a:solidFill>
              </a:rPr>
              <a:t>warning displays that a document contains macro</a:t>
            </a:r>
          </a:p>
          <a:p>
            <a:pPr>
              <a:lnSpc>
                <a:spcPct val="90000"/>
              </a:lnSpc>
              <a:spcBef>
                <a:spcPct val="5000"/>
              </a:spcBef>
              <a:buClr>
                <a:schemeClr val="tx1"/>
              </a:buClr>
              <a:buSzPct val="75000"/>
            </a:pPr>
            <a:r>
              <a:rPr kumimoji="1" lang="en-US" altLang="en-US" dirty="0">
                <a:solidFill>
                  <a:srgbClr val="CC0000"/>
                </a:solidFill>
              </a:rPr>
              <a:t> </a:t>
            </a:r>
            <a:r>
              <a:rPr kumimoji="1" lang="en-US" altLang="en-US" sz="2800" b="1" dirty="0"/>
              <a:t>Macros</a:t>
            </a:r>
            <a:r>
              <a:rPr kumimoji="1" lang="en-US" altLang="en-US" sz="2800" dirty="0"/>
              <a:t> - </a:t>
            </a:r>
            <a:r>
              <a:rPr kumimoji="1" lang="en-US" altLang="en-US" sz="2800" dirty="0">
                <a:solidFill>
                  <a:srgbClr val="000000"/>
                </a:solidFill>
              </a:rPr>
              <a:t>instructions saved in an application, such as word processing or spreadsheet program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2C22154-D341-471A-9DBA-D233D45EDD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Macro Virus</a:t>
            </a:r>
            <a:endParaRPr lang="en-MY" altLang="en-US" b="1" kern="0" dirty="0"/>
          </a:p>
        </p:txBody>
      </p:sp>
      <p:pic>
        <p:nvPicPr>
          <p:cNvPr id="17416" name="Picture 10" descr="What Is a Macro Virus and How to Prevent It on Windows 10?">
            <a:extLst>
              <a:ext uri="{FF2B5EF4-FFF2-40B4-BE49-F238E27FC236}">
                <a16:creationId xmlns:a16="http://schemas.microsoft.com/office/drawing/2014/main" id="{0CC6C973-A1BF-4ABF-9521-79BD0DC9E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357" y="4495800"/>
            <a:ext cx="3104406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16" grpId="0" build="p" bldLvl="5" autoUpdateAnimBg="0" advAuto="1000"/>
      <p:bldP spid="17" grpId="0" build="p" bldLvl="3" autoUpdateAnimBg="0" advAuto="4000"/>
      <p:bldP spid="18" grpId="0" build="p" bldLvl="3" autoUpdateAnimBg="0" advAuto="40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A9DC1911-F76C-4E33-B6B4-A01B01192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C128D715-0116-454D-B4AC-C53B31278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1524000"/>
            <a:ext cx="8594725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SG" altLang="en-US" dirty="0"/>
              <a:t>Antivirus software was originally developed to </a:t>
            </a:r>
            <a:r>
              <a:rPr lang="en-SG" altLang="en-US" dirty="0">
                <a:highlight>
                  <a:srgbClr val="FFFF00"/>
                </a:highlight>
              </a:rPr>
              <a:t>detect and remove </a:t>
            </a:r>
            <a:r>
              <a:rPr lang="en-SG" altLang="en-US" dirty="0"/>
              <a:t>computer viruses</a:t>
            </a: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</a:rPr>
              <a:t>Also protects against worms and Trojan horses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F8444-8DA0-497B-982F-06C84C13ED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Antivirus</a:t>
            </a:r>
            <a:endParaRPr lang="en-MY" altLang="en-US" b="1" kern="0" dirty="0"/>
          </a:p>
        </p:txBody>
      </p:sp>
      <p:sp>
        <p:nvSpPr>
          <p:cNvPr id="18437" name="AutoShape 7" descr="Best antivirus for Mac 2020: Get the best protection from viruses ...">
            <a:extLst>
              <a:ext uri="{FF2B5EF4-FFF2-40B4-BE49-F238E27FC236}">
                <a16:creationId xmlns:a16="http://schemas.microsoft.com/office/drawing/2014/main" id="{EF02F556-C134-49EA-9C0C-2BC15D7AAD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MY" altLang="en-US" sz="1800"/>
          </a:p>
        </p:txBody>
      </p:sp>
      <p:sp>
        <p:nvSpPr>
          <p:cNvPr id="18438" name="AutoShape 9" descr="Best antivirus for Mac 2020: Get the best protection from viruses ...">
            <a:extLst>
              <a:ext uri="{FF2B5EF4-FFF2-40B4-BE49-F238E27FC236}">
                <a16:creationId xmlns:a16="http://schemas.microsoft.com/office/drawing/2014/main" id="{847E1616-8F07-44F7-A999-E074A01209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MY" altLang="en-US" sz="1800"/>
          </a:p>
        </p:txBody>
      </p:sp>
      <p:pic>
        <p:nvPicPr>
          <p:cNvPr id="18439" name="Picture 10">
            <a:extLst>
              <a:ext uri="{FF2B5EF4-FFF2-40B4-BE49-F238E27FC236}">
                <a16:creationId xmlns:a16="http://schemas.microsoft.com/office/drawing/2014/main" id="{98DCB44B-EFEB-4E7A-B62A-6F9501A47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0" y="3200400"/>
            <a:ext cx="4454525" cy="317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Fig11-0005">
            <a:extLst>
              <a:ext uri="{FF2B5EF4-FFF2-40B4-BE49-F238E27FC236}">
                <a16:creationId xmlns:a16="http://schemas.microsoft.com/office/drawing/2014/main" id="{BB033897-62C1-4BBF-B83E-8F29E4FE0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795" y="3179762"/>
            <a:ext cx="3219450" cy="3200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6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25611" grpId="0" build="p" bldLvl="2" autoUpdateAnimBg="0" advAuto="300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5" name="Rectangle 11">
            <a:extLst>
              <a:ext uri="{FF2B5EF4-FFF2-40B4-BE49-F238E27FC236}">
                <a16:creationId xmlns:a16="http://schemas.microsoft.com/office/drawing/2014/main" id="{FDD02BC2-025C-4A3D-888B-60C1F3E79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" y="1243013"/>
            <a:ext cx="5334000" cy="409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</a:rPr>
              <a:t>Specific </a:t>
            </a:r>
            <a:r>
              <a:rPr kumimoji="1" lang="en-US" altLang="en-US" b="1" dirty="0">
                <a:solidFill>
                  <a:srgbClr val="000000"/>
                </a:solidFill>
                <a:highlight>
                  <a:srgbClr val="FFFF00"/>
                </a:highlight>
              </a:rPr>
              <a:t>pattern</a:t>
            </a:r>
            <a:r>
              <a:rPr kumimoji="1" lang="en-US" altLang="en-US" dirty="0">
                <a:solidFill>
                  <a:srgbClr val="000000"/>
                </a:solidFill>
              </a:rPr>
              <a:t> of virus code</a:t>
            </a: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SG" altLang="en-US" dirty="0">
                <a:solidFill>
                  <a:schemeClr val="tx2"/>
                </a:solidFill>
              </a:rPr>
              <a:t>The </a:t>
            </a:r>
            <a:r>
              <a:rPr lang="en-SG" altLang="en-US" b="1" dirty="0">
                <a:solidFill>
                  <a:schemeClr val="tx2"/>
                </a:solidFill>
                <a:highlight>
                  <a:srgbClr val="FFFF00"/>
                </a:highlight>
              </a:rPr>
              <a:t>binary pattern </a:t>
            </a:r>
            <a:r>
              <a:rPr lang="en-SG" altLang="en-US" dirty="0">
                <a:solidFill>
                  <a:schemeClr val="tx2"/>
                </a:solidFill>
              </a:rPr>
              <a:t>of the machine code of a particular </a:t>
            </a:r>
            <a:r>
              <a:rPr lang="en-SG" altLang="en-US" b="1" dirty="0">
                <a:solidFill>
                  <a:schemeClr val="tx2"/>
                </a:solidFill>
              </a:rPr>
              <a:t>virus</a:t>
            </a:r>
            <a:endParaRPr kumimoji="1" lang="en-US" altLang="en-US" dirty="0">
              <a:solidFill>
                <a:schemeClr val="tx2"/>
              </a:solidFill>
            </a:endParaRP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</a:rPr>
              <a:t>Also called </a:t>
            </a:r>
            <a:r>
              <a:rPr kumimoji="1" lang="en-US" altLang="en-US" dirty="0">
                <a:solidFill>
                  <a:schemeClr val="tx2"/>
                </a:solidFill>
                <a:highlight>
                  <a:srgbClr val="FFFF00"/>
                </a:highlight>
              </a:rPr>
              <a:t>virus definition</a:t>
            </a: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</a:rPr>
              <a:t>Antivirus programs look for </a:t>
            </a:r>
            <a:r>
              <a:rPr kumimoji="1" lang="en-US" altLang="en-US" dirty="0">
                <a:solidFill>
                  <a:srgbClr val="000000"/>
                </a:solidFill>
                <a:highlight>
                  <a:srgbClr val="FFFF00"/>
                </a:highlight>
              </a:rPr>
              <a:t>virus signatures </a:t>
            </a:r>
            <a:r>
              <a:rPr kumimoji="1" lang="en-US" altLang="en-US" dirty="0">
                <a:solidFill>
                  <a:srgbClr val="000000"/>
                </a:solidFill>
              </a:rPr>
              <a:t>to </a:t>
            </a:r>
            <a:r>
              <a:rPr lang="en-SG" altLang="en-US" dirty="0"/>
              <a:t>identify the presence of a virus</a:t>
            </a:r>
            <a:endParaRPr kumimoji="1" lang="en-US" altLang="en-US" dirty="0">
              <a:solidFill>
                <a:srgbClr val="000000"/>
              </a:solidFill>
            </a:endParaRP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endParaRPr kumimoji="1" lang="en-US" altLang="en-US" dirty="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922276-7C22-440B-84F3-7156CB5FD07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Virus Signature</a:t>
            </a:r>
            <a:endParaRPr lang="en-MY" altLang="en-US" b="1" kern="0" dirty="0"/>
          </a:p>
        </p:txBody>
      </p:sp>
      <p:pic>
        <p:nvPicPr>
          <p:cNvPr id="19460" name="Picture 1">
            <a:extLst>
              <a:ext uri="{FF2B5EF4-FFF2-40B4-BE49-F238E27FC236}">
                <a16:creationId xmlns:a16="http://schemas.microsoft.com/office/drawing/2014/main" id="{89572BB4-7D0D-44FD-AD58-949354FA5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0" y="2386013"/>
            <a:ext cx="33972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5" grpId="0" build="p" bldLvl="3" autoUpdateAnimBg="0" advAuto="300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Rectangle 9">
            <a:extLst>
              <a:ext uri="{FF2B5EF4-FFF2-40B4-BE49-F238E27FC236}">
                <a16:creationId xmlns:a16="http://schemas.microsoft.com/office/drawing/2014/main" id="{75132A60-123A-445D-90BB-5E7F12EF2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1214438"/>
            <a:ext cx="8686800" cy="111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27125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98625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193925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689225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1464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6036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0608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5180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800">
              <a:latin typeface="Arial Unicode MS" pitchFamily="34" charset="-128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3C96885-22A4-453E-BFF2-E939ACCF3E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/>
              <a:t>How Antivirus I</a:t>
            </a:r>
            <a:r>
              <a:rPr lang="en-US" altLang="en-US" dirty="0">
                <a:solidFill>
                  <a:schemeClr val="tx1"/>
                </a:solidFill>
              </a:rPr>
              <a:t>noculates</a:t>
            </a:r>
            <a:endParaRPr lang="en-MY" altLang="en-US" b="1" kern="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5035AA2-6FA9-4A4B-B8CE-70E421D5EB20}"/>
              </a:ext>
            </a:extLst>
          </p:cNvPr>
          <p:cNvGraphicFramePr/>
          <p:nvPr/>
        </p:nvGraphicFramePr>
        <p:xfrm>
          <a:off x="381000" y="1410295"/>
          <a:ext cx="8229600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473F6049-1D79-4790-8E42-B3EEA548ED66}"/>
              </a:ext>
            </a:extLst>
          </p:cNvPr>
          <p:cNvGraphicFramePr/>
          <p:nvPr/>
        </p:nvGraphicFramePr>
        <p:xfrm>
          <a:off x="647700" y="2405063"/>
          <a:ext cx="75057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169CDFD3-36C9-4FF3-B2B8-211E649765E9}"/>
              </a:ext>
            </a:extLst>
          </p:cNvPr>
          <p:cNvGraphicFramePr/>
          <p:nvPr/>
        </p:nvGraphicFramePr>
        <p:xfrm>
          <a:off x="781050" y="3657600"/>
          <a:ext cx="7239000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0B83019E-EE82-4F55-A8EF-4981125D5EF8}"/>
              </a:ext>
            </a:extLst>
          </p:cNvPr>
          <p:cNvGraphicFramePr/>
          <p:nvPr/>
        </p:nvGraphicFramePr>
        <p:xfrm>
          <a:off x="609600" y="4724400"/>
          <a:ext cx="7239000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EA5C712E-8064-4813-B6EA-3D113D023B12}"/>
              </a:ext>
            </a:extLst>
          </p:cNvPr>
          <p:cNvGraphicFramePr/>
          <p:nvPr/>
        </p:nvGraphicFramePr>
        <p:xfrm>
          <a:off x="781050" y="5715000"/>
          <a:ext cx="7239000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7" grpId="0" build="p" bldLvl="5" autoUpdateAnimBg="0" advAuto="100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AutoShape 6">
            <a:extLst>
              <a:ext uri="{FF2B5EF4-FFF2-40B4-BE49-F238E27FC236}">
                <a16:creationId xmlns:a16="http://schemas.microsoft.com/office/drawing/2014/main" id="{07B86864-304E-4C4D-BD1F-4802BCB60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383088"/>
            <a:ext cx="3886200" cy="2179637"/>
          </a:xfrm>
          <a:prstGeom prst="parallelogram">
            <a:avLst>
              <a:gd name="adj" fmla="val 48379"/>
            </a:avLst>
          </a:prstGeom>
          <a:solidFill>
            <a:srgbClr val="9894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1.Install a personal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firewall </a:t>
            </a: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program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2. Scan all </a:t>
            </a:r>
            <a:r>
              <a:rPr kumimoji="1" lang="en-US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removable</a:t>
            </a: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media</a:t>
            </a:r>
          </a:p>
        </p:txBody>
      </p:sp>
      <p:sp>
        <p:nvSpPr>
          <p:cNvPr id="29703" name="AutoShape 7">
            <a:extLst>
              <a:ext uri="{FF2B5EF4-FFF2-40B4-BE49-F238E27FC236}">
                <a16:creationId xmlns:a16="http://schemas.microsoft.com/office/drawing/2014/main" id="{36C33CF6-BCF0-45B6-9896-8801CB297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3200" y="3841750"/>
            <a:ext cx="4164013" cy="2720975"/>
          </a:xfrm>
          <a:prstGeom prst="parallelogram">
            <a:avLst>
              <a:gd name="adj" fmla="val 48503"/>
            </a:avLst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If the antivirus     program flags an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e-mail </a:t>
            </a:r>
            <a:r>
              <a:rPr kumimoji="1" lang="en-US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attachment</a:t>
            </a:r>
            <a:r>
              <a:rPr kumimoji="1" lang="en-US" altLang="en-US" sz="24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br>
              <a:rPr kumimoji="1" lang="en-US" altLang="en-US" sz="24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as infected, delete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the attachment immediately</a:t>
            </a:r>
          </a:p>
        </p:txBody>
      </p:sp>
      <p:sp>
        <p:nvSpPr>
          <p:cNvPr id="29704" name="AutoShape 8">
            <a:extLst>
              <a:ext uri="{FF2B5EF4-FFF2-40B4-BE49-F238E27FC236}">
                <a16:creationId xmlns:a16="http://schemas.microsoft.com/office/drawing/2014/main" id="{7F494E90-1D52-4DDB-AA2D-2427C0599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0313"/>
            <a:ext cx="3870325" cy="2446337"/>
          </a:xfrm>
          <a:prstGeom prst="parallelogram">
            <a:avLst>
              <a:gd name="adj" fmla="val 48466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1. Never start a computer with a </a:t>
            </a:r>
            <a:r>
              <a:rPr kumimoji="1" lang="en-US" altLang="en-US" sz="20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removable </a:t>
            </a:r>
            <a:r>
              <a:rPr kumimoji="1"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media.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2. Set the macro security in programs so you can enable or disable macros</a:t>
            </a:r>
          </a:p>
        </p:txBody>
      </p:sp>
      <p:sp>
        <p:nvSpPr>
          <p:cNvPr id="29705" name="AutoShape 9">
            <a:extLst>
              <a:ext uri="{FF2B5EF4-FFF2-40B4-BE49-F238E27FC236}">
                <a16:creationId xmlns:a16="http://schemas.microsoft.com/office/drawing/2014/main" id="{AD863687-1A8C-46AB-9B2E-AAB87BF3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274763"/>
            <a:ext cx="4067175" cy="3108325"/>
          </a:xfrm>
          <a:prstGeom prst="parallelogram">
            <a:avLst>
              <a:gd name="adj" fmla="val 48517"/>
            </a:avLst>
          </a:prstGeom>
          <a:solidFill>
            <a:srgbClr val="0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Never open  </a:t>
            </a: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e-mail attachment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unless it is from a trusted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source</a:t>
            </a:r>
          </a:p>
        </p:txBody>
      </p:sp>
      <p:sp>
        <p:nvSpPr>
          <p:cNvPr id="29706" name="AutoShape 10">
            <a:extLst>
              <a:ext uri="{FF2B5EF4-FFF2-40B4-BE49-F238E27FC236}">
                <a16:creationId xmlns:a16="http://schemas.microsoft.com/office/drawing/2014/main" id="{24735022-BD73-4BCF-9107-33825FC79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28725"/>
            <a:ext cx="4448175" cy="2552700"/>
          </a:xfrm>
          <a:prstGeom prst="parallelogram">
            <a:avLst>
              <a:gd name="adj" fmla="val 48484"/>
            </a:avLst>
          </a:prstGeom>
          <a:solidFill>
            <a:srgbClr val="00A5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AutoNum type="arabicPeriod"/>
            </a:pPr>
            <a:r>
              <a:rPr kumimoji="1"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Install an </a:t>
            </a:r>
            <a:r>
              <a:rPr kumimoji="1" lang="en-US" altLang="en-US" sz="20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antivirus</a:t>
            </a:r>
            <a:r>
              <a:rPr kumimoji="1" lang="en-US" altLang="en-US" sz="20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kumimoji="1"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program on all of your computers</a:t>
            </a:r>
          </a:p>
          <a:p>
            <a:pPr algn="ctr">
              <a:spcBef>
                <a:spcPct val="0"/>
              </a:spcBef>
              <a:buFontTx/>
              <a:buAutoNum type="arabicPeriod"/>
            </a:pPr>
            <a:r>
              <a:rPr kumimoji="1"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Set the macro security to enable or disable macros</a:t>
            </a:r>
          </a:p>
        </p:txBody>
      </p:sp>
      <p:sp>
        <p:nvSpPr>
          <p:cNvPr id="29707" name="AutoShape 11">
            <a:extLst>
              <a:ext uri="{FF2B5EF4-FFF2-40B4-BE49-F238E27FC236}">
                <a16:creationId xmlns:a16="http://schemas.microsoft.com/office/drawing/2014/main" id="{3860246C-B701-45B4-8D9B-848A61F57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913188"/>
            <a:ext cx="3810000" cy="2679700"/>
          </a:xfrm>
          <a:prstGeom prst="parallelogram">
            <a:avLst>
              <a:gd name="adj" fmla="val 48486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Check</a:t>
            </a: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all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downloaded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programs for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viruses, worms,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or Trojan horses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1480AB1-74BA-48BA-A593-04CBA9DC4FE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Preventive Measures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 autoUpdateAnimBg="0"/>
      <p:bldP spid="29703" grpId="0" animBg="1" autoUpdateAnimBg="0"/>
      <p:bldP spid="29704" grpId="0" animBg="1" autoUpdateAnimBg="0"/>
      <p:bldP spid="29705" grpId="0" animBg="1" autoUpdateAnimBg="0"/>
      <p:bldP spid="29706" grpId="0" animBg="1" autoUpdateAnimBg="0"/>
      <p:bldP spid="29707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8D5B-1A45-FCE7-ED61-5144377E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46D7107-4100-EAB5-B2CF-9DA6FA0E587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Recaps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D3FAE-1D21-E40F-011A-4F71FFB004F5}"/>
              </a:ext>
            </a:extLst>
          </p:cNvPr>
          <p:cNvSpPr txBox="1"/>
          <p:nvPr/>
        </p:nvSpPr>
        <p:spPr>
          <a:xfrm>
            <a:off x="637814" y="2438400"/>
            <a:ext cx="786837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PLEASE DO QUIZ NO 1 – DIGITAL SECURITY</a:t>
            </a:r>
          </a:p>
          <a:p>
            <a:endParaRPr lang="en-US" sz="2800" b="1" dirty="0">
              <a:highlight>
                <a:srgbClr val="FFFF00"/>
              </a:highlight>
            </a:endParaRPr>
          </a:p>
          <a:p>
            <a:r>
              <a:rPr lang="en-US" sz="2800" b="1" dirty="0">
                <a:highlight>
                  <a:srgbClr val="FFFF00"/>
                </a:highlight>
              </a:rPr>
              <a:t>[Go to Moodle, click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“Formative Assessment” folder, then click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“Quiz No 1 – Digital Security” link</a:t>
            </a:r>
            <a:endParaRPr lang="en-MY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90583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5" name="Group 5">
            <a:extLst>
              <a:ext uri="{FF2B5EF4-FFF2-40B4-BE49-F238E27FC236}">
                <a16:creationId xmlns:a16="http://schemas.microsoft.com/office/drawing/2014/main" id="{8C08C2E6-7984-4CB0-9349-3B437A451F0E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4419600"/>
            <a:ext cx="2916237" cy="2133600"/>
            <a:chOff x="1701" y="2880"/>
            <a:chExt cx="1837" cy="1344"/>
          </a:xfrm>
        </p:grpSpPr>
        <p:sp>
          <p:nvSpPr>
            <p:cNvPr id="22541" name="Line 6">
              <a:extLst>
                <a:ext uri="{FF2B5EF4-FFF2-40B4-BE49-F238E27FC236}">
                  <a16:creationId xmlns:a16="http://schemas.microsoft.com/office/drawing/2014/main" id="{88B3E5BE-CC76-4C34-901C-BB9002FFAA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880"/>
              <a:ext cx="0" cy="624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Oval 7">
              <a:extLst>
                <a:ext uri="{FF2B5EF4-FFF2-40B4-BE49-F238E27FC236}">
                  <a16:creationId xmlns:a16="http://schemas.microsoft.com/office/drawing/2014/main" id="{19F1B335-EA3A-4BDD-89F2-8DB65EFCE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264"/>
              <a:ext cx="1837" cy="960"/>
            </a:xfrm>
            <a:prstGeom prst="ellipse">
              <a:avLst/>
            </a:pr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chemeClr val="accent1"/>
                </a:buClr>
                <a:buSzPct val="80000"/>
                <a:buFont typeface="Monotype Sorts" pitchFamily="2" charset="2"/>
                <a:buNone/>
              </a:pPr>
              <a:r>
                <a:rPr kumimoji="1" lang="en-US" altLang="en-US" sz="2400" b="1">
                  <a:latin typeface="Times New Roman" panose="02020603050405020304" pitchFamily="18" charset="0"/>
                </a:rPr>
                <a:t>Undervoltage—drop </a:t>
              </a:r>
              <a:br>
                <a:rPr kumimoji="1" lang="en-US" altLang="en-US" sz="2400" b="1">
                  <a:latin typeface="Times New Roman" panose="02020603050405020304" pitchFamily="18" charset="0"/>
                </a:rPr>
              </a:br>
              <a:r>
                <a:rPr kumimoji="1" lang="en-US" altLang="en-US" sz="2400" b="1">
                  <a:latin typeface="Times New Roman" panose="02020603050405020304" pitchFamily="18" charset="0"/>
                </a:rPr>
                <a:t>in electrical supply</a:t>
              </a:r>
            </a:p>
          </p:txBody>
        </p:sp>
      </p:grpSp>
      <p:grpSp>
        <p:nvGrpSpPr>
          <p:cNvPr id="30734" name="Group 14">
            <a:extLst>
              <a:ext uri="{FF2B5EF4-FFF2-40B4-BE49-F238E27FC236}">
                <a16:creationId xmlns:a16="http://schemas.microsoft.com/office/drawing/2014/main" id="{0E379FE4-3B20-4CAD-ADB3-BA321892C76B}"/>
              </a:ext>
            </a:extLst>
          </p:cNvPr>
          <p:cNvGrpSpPr>
            <a:grpSpLocks/>
          </p:cNvGrpSpPr>
          <p:nvPr/>
        </p:nvGrpSpPr>
        <p:grpSpPr bwMode="auto">
          <a:xfrm>
            <a:off x="5616575" y="4267200"/>
            <a:ext cx="3527425" cy="2133600"/>
            <a:chOff x="3888" y="2784"/>
            <a:chExt cx="1656" cy="960"/>
          </a:xfrm>
        </p:grpSpPr>
        <p:sp>
          <p:nvSpPr>
            <p:cNvPr id="22539" name="Line 15">
              <a:extLst>
                <a:ext uri="{FF2B5EF4-FFF2-40B4-BE49-F238E27FC236}">
                  <a16:creationId xmlns:a16="http://schemas.microsoft.com/office/drawing/2014/main" id="{9783A9E2-72A8-4A02-9698-5F86866D6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88" y="2784"/>
              <a:ext cx="528" cy="288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Oval 16">
              <a:extLst>
                <a:ext uri="{FF2B5EF4-FFF2-40B4-BE49-F238E27FC236}">
                  <a16:creationId xmlns:a16="http://schemas.microsoft.com/office/drawing/2014/main" id="{2DD9ECFB-55D8-4668-B5B0-678163E17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9" y="2784"/>
              <a:ext cx="1505" cy="960"/>
            </a:xfrm>
            <a:prstGeom prst="ellipse">
              <a:avLst/>
            </a:pr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chemeClr val="accent1"/>
                </a:buClr>
                <a:buSzPct val="80000"/>
                <a:buFont typeface="Monotype Sorts" pitchFamily="2" charset="2"/>
                <a:buNone/>
              </a:pPr>
              <a:r>
                <a:rPr kumimoji="1" lang="en-US" altLang="en-US" sz="2400" b="1">
                  <a:latin typeface="Times New Roman" panose="02020603050405020304" pitchFamily="18" charset="0"/>
                </a:rPr>
                <a:t>Overvoltage or </a:t>
              </a:r>
              <a:br>
                <a:rPr kumimoji="1" lang="en-US" altLang="en-US" sz="2400" b="1">
                  <a:latin typeface="Times New Roman" panose="02020603050405020304" pitchFamily="18" charset="0"/>
                </a:rPr>
              </a:br>
              <a:r>
                <a:rPr kumimoji="1" lang="en-US" altLang="en-US" sz="2400" b="1">
                  <a:latin typeface="Times New Roman" panose="02020603050405020304" pitchFamily="18" charset="0"/>
                </a:rPr>
                <a:t>power surge—</a:t>
              </a:r>
              <a:br>
                <a:rPr kumimoji="1" lang="en-US" altLang="en-US" sz="2400" b="1">
                  <a:latin typeface="Times New Roman" panose="02020603050405020304" pitchFamily="18" charset="0"/>
                </a:rPr>
              </a:br>
              <a:r>
                <a:rPr kumimoji="1" lang="en-US" altLang="en-US" sz="2400" b="1">
                  <a:latin typeface="Times New Roman" panose="02020603050405020304" pitchFamily="18" charset="0"/>
                </a:rPr>
                <a:t>significant increase </a:t>
              </a:r>
              <a:br>
                <a:rPr kumimoji="1" lang="en-US" altLang="en-US" sz="2400" b="1">
                  <a:latin typeface="Times New Roman" panose="02020603050405020304" pitchFamily="18" charset="0"/>
                </a:rPr>
              </a:br>
              <a:r>
                <a:rPr kumimoji="1" lang="en-US" altLang="en-US" sz="2400" b="1">
                  <a:latin typeface="Times New Roman" panose="02020603050405020304" pitchFamily="18" charset="0"/>
                </a:rPr>
                <a:t>in electrical power</a:t>
              </a:r>
            </a:p>
          </p:txBody>
        </p:sp>
      </p:grpSp>
      <p:grpSp>
        <p:nvGrpSpPr>
          <p:cNvPr id="30737" name="Group 17">
            <a:extLst>
              <a:ext uri="{FF2B5EF4-FFF2-40B4-BE49-F238E27FC236}">
                <a16:creationId xmlns:a16="http://schemas.microsoft.com/office/drawing/2014/main" id="{EFAE0956-5B42-49BA-A800-E2CCD69EE297}"/>
              </a:ext>
            </a:extLst>
          </p:cNvPr>
          <p:cNvGrpSpPr>
            <a:grpSpLocks/>
          </p:cNvGrpSpPr>
          <p:nvPr/>
        </p:nvGrpSpPr>
        <p:grpSpPr bwMode="auto">
          <a:xfrm>
            <a:off x="0" y="3962400"/>
            <a:ext cx="3101975" cy="2133600"/>
            <a:chOff x="-226" y="1920"/>
            <a:chExt cx="1954" cy="1152"/>
          </a:xfrm>
        </p:grpSpPr>
        <p:sp>
          <p:nvSpPr>
            <p:cNvPr id="22537" name="Line 18">
              <a:extLst>
                <a:ext uri="{FF2B5EF4-FFF2-40B4-BE49-F238E27FC236}">
                  <a16:creationId xmlns:a16="http://schemas.microsoft.com/office/drawing/2014/main" id="{F2BA8932-D074-433E-AC0A-705F19501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0" y="1920"/>
              <a:ext cx="658" cy="336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Oval 19">
              <a:extLst>
                <a:ext uri="{FF2B5EF4-FFF2-40B4-BE49-F238E27FC236}">
                  <a16:creationId xmlns:a16="http://schemas.microsoft.com/office/drawing/2014/main" id="{A0B1AF8D-0986-4A77-8108-65D464D14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26" y="1920"/>
              <a:ext cx="1701" cy="1152"/>
            </a:xfrm>
            <a:prstGeom prst="ellipse">
              <a:avLst/>
            </a:pr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chemeClr val="accent1"/>
                </a:buClr>
                <a:buSzPct val="80000"/>
                <a:buFont typeface="Monotype Sorts" pitchFamily="2" charset="2"/>
                <a:buNone/>
              </a:pPr>
              <a:r>
                <a:rPr kumimoji="1" lang="en-US" altLang="en-US" sz="2800" b="1">
                  <a:latin typeface="Times New Roman" panose="02020603050405020304" pitchFamily="18" charset="0"/>
                </a:rPr>
                <a:t>Noise—unwanted </a:t>
              </a:r>
              <a:br>
                <a:rPr kumimoji="1" lang="en-US" altLang="en-US" sz="2800" b="1">
                  <a:latin typeface="Times New Roman" panose="02020603050405020304" pitchFamily="18" charset="0"/>
                </a:rPr>
              </a:br>
              <a:r>
                <a:rPr kumimoji="1" lang="en-US" altLang="en-US" sz="2800" b="1">
                  <a:latin typeface="Times New Roman" panose="02020603050405020304" pitchFamily="18" charset="0"/>
                </a:rPr>
                <a:t>electrical signal</a:t>
              </a:r>
            </a:p>
          </p:txBody>
        </p:sp>
      </p:grpSp>
      <p:sp>
        <p:nvSpPr>
          <p:cNvPr id="30740" name="Oval 20">
            <a:extLst>
              <a:ext uri="{FF2B5EF4-FFF2-40B4-BE49-F238E27FC236}">
                <a16:creationId xmlns:a16="http://schemas.microsoft.com/office/drawing/2014/main" id="{481C3DC0-9AED-46A3-ACE2-56CE8713F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3124200"/>
            <a:ext cx="4383088" cy="1739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legacyObliqueTopLeft"/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20000"/>
              </a:spcBef>
              <a:buClr>
                <a:schemeClr val="accent1"/>
              </a:buClr>
              <a:buSzPct val="80000"/>
              <a:buFont typeface="Monotype Sorts" pitchFamily="2" charset="2"/>
              <a:buNone/>
              <a:defRPr/>
            </a:pPr>
            <a:r>
              <a:rPr kumimoji="1" lang="en-US" altLang="en-US" sz="2400" b="1" dirty="0">
                <a:solidFill>
                  <a:schemeClr val="bg1"/>
                </a:solidFill>
                <a:latin typeface="Times New Roman" charset="0"/>
              </a:rPr>
              <a:t>Caused by aging hardware,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charset="0"/>
              </a:rPr>
              <a:t>natural disasters, or electrical </a:t>
            </a:r>
            <a:br>
              <a:rPr kumimoji="1" lang="en-US" altLang="en-US" sz="24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400" b="1" dirty="0">
                <a:solidFill>
                  <a:schemeClr val="bg1"/>
                </a:solidFill>
                <a:latin typeface="Times New Roman" charset="0"/>
              </a:rPr>
              <a:t>power disturbances</a:t>
            </a:r>
          </a:p>
        </p:txBody>
      </p:sp>
      <p:sp>
        <p:nvSpPr>
          <p:cNvPr id="30741" name="Oval 21">
            <a:extLst>
              <a:ext uri="{FF2B5EF4-FFF2-40B4-BE49-F238E27FC236}">
                <a16:creationId xmlns:a16="http://schemas.microsoft.com/office/drawing/2014/main" id="{7A67C239-DBE2-46AA-8557-A1F4D8F1D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446213"/>
            <a:ext cx="4351338" cy="18288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  <a:scene3d>
            <a:camera prst="legacyObliqueTopLeft"/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20000"/>
              </a:spcBef>
              <a:buClr>
                <a:schemeClr val="accent1"/>
              </a:buClr>
              <a:buSzPct val="80000"/>
              <a:buFont typeface="Monotype Sorts" pitchFamily="2" charset="2"/>
              <a:buNone/>
              <a:defRPr/>
            </a:pP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Can cause loss of hardware, </a:t>
            </a:r>
            <a:b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800" b="1" dirty="0">
                <a:solidFill>
                  <a:schemeClr val="bg1"/>
                </a:solidFill>
                <a:latin typeface="Times New Roman" charset="0"/>
              </a:rPr>
              <a:t>software or data</a:t>
            </a:r>
          </a:p>
        </p:txBody>
      </p:sp>
      <p:sp>
        <p:nvSpPr>
          <p:cNvPr id="30742" name="Oval 22">
            <a:extLst>
              <a:ext uri="{FF2B5EF4-FFF2-40B4-BE49-F238E27FC236}">
                <a16:creationId xmlns:a16="http://schemas.microsoft.com/office/drawing/2014/main" id="{A6C349E4-05EA-4449-941D-65174F409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76375"/>
            <a:ext cx="4038600" cy="1511300"/>
          </a:xfrm>
          <a:prstGeom prst="ellipse">
            <a:avLst/>
          </a:pr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D9443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Prolonged malfunction </a:t>
            </a:r>
            <a:br>
              <a:rPr kumimoji="1" lang="en-US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of computer</a:t>
            </a:r>
            <a:endParaRPr kumimoji="1" lang="en-US" altLang="en-US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2B93366-A7BD-47A1-8BC3-F054DF3207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System Failure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0" grpId="0" animBg="1" autoUpdateAnimBg="0"/>
      <p:bldP spid="30741" grpId="0" animBg="1" autoUpdateAnimBg="0"/>
      <p:bldP spid="30742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0" name="Rectangle 26">
            <a:extLst>
              <a:ext uri="{FF2B5EF4-FFF2-40B4-BE49-F238E27FC236}">
                <a16:creationId xmlns:a16="http://schemas.microsoft.com/office/drawing/2014/main" id="{51420018-F0ED-4FEF-91A4-4AA6E51D9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8" y="1254125"/>
            <a:ext cx="745331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5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sz="2600">
                <a:solidFill>
                  <a:srgbClr val="000000"/>
                </a:solidFill>
              </a:rPr>
              <a:t>Protects computer and equipment from </a:t>
            </a:r>
            <a:r>
              <a:rPr kumimoji="1" lang="en-US" altLang="en-US" sz="2600">
                <a:solidFill>
                  <a:srgbClr val="00B050"/>
                </a:solidFill>
              </a:rPr>
              <a:t>electrical power disturbances</a:t>
            </a:r>
          </a:p>
          <a:p>
            <a:pPr lvl="1">
              <a:spcBef>
                <a:spcPct val="5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sz="2600"/>
              <a:t>Uninterruptible power supply (UPS) - </a:t>
            </a:r>
            <a:r>
              <a:rPr kumimoji="1" lang="en-US" altLang="en-US" sz="2600">
                <a:solidFill>
                  <a:srgbClr val="000000"/>
                </a:solidFill>
              </a:rPr>
              <a:t>surge protector that provides power during power loss</a:t>
            </a:r>
          </a:p>
          <a:p>
            <a:pPr lvl="1">
              <a:spcBef>
                <a:spcPct val="5000"/>
              </a:spcBef>
              <a:buClr>
                <a:srgbClr val="D94439"/>
              </a:buClr>
              <a:buSzPct val="75000"/>
              <a:buFont typeface="Arial" panose="020B0604020202020204" pitchFamily="34" charset="0"/>
              <a:buChar char="•"/>
            </a:pPr>
            <a:endParaRPr kumimoji="1" lang="en-US" altLang="en-US" sz="2600">
              <a:solidFill>
                <a:srgbClr val="00B050"/>
              </a:solidFill>
            </a:endParaRPr>
          </a:p>
        </p:txBody>
      </p:sp>
      <p:sp>
        <p:nvSpPr>
          <p:cNvPr id="31773" name="Rectangle 29">
            <a:extLst>
              <a:ext uri="{FF2B5EF4-FFF2-40B4-BE49-F238E27FC236}">
                <a16:creationId xmlns:a16="http://schemas.microsoft.com/office/drawing/2014/main" id="{FB1F5945-91F3-4A4D-A8B6-6B510B504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67013"/>
            <a:ext cx="5638800" cy="249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4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5000"/>
              </a:spcBef>
              <a:buClr>
                <a:srgbClr val="D94439"/>
              </a:buClr>
              <a:buSzPct val="75000"/>
              <a:buFontTx/>
              <a:buNone/>
            </a:pPr>
            <a:endParaRPr kumimoji="1" lang="en-US" altLang="en-US" sz="2600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634BEA6-A2C7-4D94-94AA-F73F298C074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Surge Protector</a:t>
            </a:r>
          </a:p>
        </p:txBody>
      </p:sp>
      <p:sp>
        <p:nvSpPr>
          <p:cNvPr id="23557" name="AutoShape 8" descr="Belkin F9H110VSACW Single Socket Surge Protector | Harvey Norman ...">
            <a:extLst>
              <a:ext uri="{FF2B5EF4-FFF2-40B4-BE49-F238E27FC236}">
                <a16:creationId xmlns:a16="http://schemas.microsoft.com/office/drawing/2014/main" id="{21F32FB6-771C-493C-9726-0551834213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MY" altLang="en-US" sz="1800"/>
          </a:p>
        </p:txBody>
      </p:sp>
      <p:pic>
        <p:nvPicPr>
          <p:cNvPr id="23558" name="Picture 9">
            <a:extLst>
              <a:ext uri="{FF2B5EF4-FFF2-40B4-BE49-F238E27FC236}">
                <a16:creationId xmlns:a16="http://schemas.microsoft.com/office/drawing/2014/main" id="{63E6FBB4-1EA1-4C68-A461-C9B4860F0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3919538"/>
            <a:ext cx="2671762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1" descr="No Break Ups Online Uninterruptible Power Supply With Lcd Display ...">
            <a:extLst>
              <a:ext uri="{FF2B5EF4-FFF2-40B4-BE49-F238E27FC236}">
                <a16:creationId xmlns:a16="http://schemas.microsoft.com/office/drawing/2014/main" id="{334C0F9C-94F0-46FF-ACAB-491EDE9BD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150" y="3276600"/>
            <a:ext cx="33337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40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0" grpId="0" build="p" bldLvl="2" autoUpdateAnimBg="0" advAuto="4000"/>
      <p:bldP spid="31773" grpId="0" build="p" bldLvl="2" autoUpdateAnimBg="0" advAuto="400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64073E35-151C-475D-9B0F-DE9DC2017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At the end of this section you will be able to:</a:t>
            </a:r>
          </a:p>
          <a:p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Define digital security risks and types of Malware</a:t>
            </a:r>
          </a:p>
          <a:p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Describe types of Internet and network attacks and explain ways to safeguard against these attacks</a:t>
            </a:r>
          </a:p>
          <a:p>
            <a:r>
              <a:rPr lang="en-US" altLang="en-US" sz="2400" dirty="0">
                <a:highlight>
                  <a:srgbClr val="FFFF00"/>
                </a:highlight>
              </a:rPr>
              <a:t>Describe digital signatures and digital certificates</a:t>
            </a:r>
          </a:p>
          <a:p>
            <a:pPr>
              <a:buFontTx/>
              <a:buNone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273366-F1FB-48B3-A0BF-D57AEFC09F7C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8" descr="Image result for digital security">
            <a:extLst>
              <a:ext uri="{FF2B5EF4-FFF2-40B4-BE49-F238E27FC236}">
                <a16:creationId xmlns:a16="http://schemas.microsoft.com/office/drawing/2014/main" id="{A9846DBD-7641-4719-A7D9-7DAEB4389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5" y="4267200"/>
            <a:ext cx="475138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92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AutoShape 1028">
            <a:extLst>
              <a:ext uri="{FF2B5EF4-FFF2-40B4-BE49-F238E27FC236}">
                <a16:creationId xmlns:a16="http://schemas.microsoft.com/office/drawing/2014/main" id="{4E3F7920-EC62-4861-AC9B-3FB74ACDD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513" y="2244725"/>
            <a:ext cx="5299075" cy="3543300"/>
          </a:xfrm>
          <a:prstGeom prst="flowChartPunchedTape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228600" bIns="0" anchorCtr="1"/>
          <a:lstStyle/>
          <a:p>
            <a:pPr algn="ctr">
              <a:defRPr/>
            </a:pPr>
            <a:r>
              <a:rPr kumimoji="1" lang="en-US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Secure site</a:t>
            </a:r>
            <a:r>
              <a:rPr kumimoji="1" lang="en-US" altLang="en-US" sz="3200" dirty="0">
                <a:latin typeface="Times New Roman" charset="0"/>
              </a:rPr>
              <a:t> </a:t>
            </a:r>
            <a:br>
              <a:rPr kumimoji="1" lang="en-US" altLang="en-US" sz="2800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altLang="en-US" sz="2800" dirty="0">
                <a:solidFill>
                  <a:srgbClr val="000000"/>
                </a:solidFill>
                <a:latin typeface="Times New Roman" charset="0"/>
              </a:rPr>
              <a:t>is Web site that uses encryption to secure data</a:t>
            </a:r>
          </a:p>
          <a:p>
            <a:pPr algn="ctr">
              <a:defRPr/>
            </a:pPr>
            <a:endParaRPr kumimoji="1" lang="en-US" altLang="en-US" sz="2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4822" name="Rectangle 1030">
            <a:extLst>
              <a:ext uri="{FF2B5EF4-FFF2-40B4-BE49-F238E27FC236}">
                <a16:creationId xmlns:a16="http://schemas.microsoft.com/office/drawing/2014/main" id="{00311166-CF10-47D3-961E-514690772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1331913"/>
            <a:ext cx="88392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Arial Unicode MS" pitchFamily="34" charset="-128"/>
              </a:rPr>
              <a:t>Digital Signature </a:t>
            </a:r>
            <a:r>
              <a:rPr lang="en-US" altLang="en-US" sz="2800" dirty="0">
                <a:latin typeface="Arial Unicode MS" pitchFamily="34" charset="-128"/>
              </a:rPr>
              <a:t>– encrypted code that a software attaches to an electronic message to verify the identity of the message sender</a:t>
            </a:r>
          </a:p>
        </p:txBody>
      </p:sp>
      <p:sp>
        <p:nvSpPr>
          <p:cNvPr id="34827" name="AutoShape 1035">
            <a:extLst>
              <a:ext uri="{FF2B5EF4-FFF2-40B4-BE49-F238E27FC236}">
                <a16:creationId xmlns:a16="http://schemas.microsoft.com/office/drawing/2014/main" id="{3DF12FE2-F125-49B9-A9BE-AF368FAE76D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592513" y="4495800"/>
            <a:ext cx="5399087" cy="2362200"/>
          </a:xfrm>
          <a:prstGeom prst="flowChartPunchedTape">
            <a:avLst/>
          </a:prstGeom>
          <a:solidFill>
            <a:srgbClr val="8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3200" b="1" dirty="0">
                <a:latin typeface="Times New Roman" panose="02020603050405020304" pitchFamily="18" charset="0"/>
              </a:rPr>
              <a:t>Digital certificate </a:t>
            </a:r>
            <a:r>
              <a:rPr kumimoji="1" lang="en-US" altLang="en-US" sz="2800" b="1" dirty="0">
                <a:solidFill>
                  <a:srgbClr val="FFFFCC"/>
                </a:solidFill>
                <a:latin typeface="Times New Roman" panose="02020603050405020304" pitchFamily="18" charset="0"/>
              </a:rPr>
              <a:t>is </a:t>
            </a:r>
            <a:r>
              <a:rPr kumimoji="1" lang="en-US" altLang="en-US" sz="28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a notice </a:t>
            </a:r>
            <a:r>
              <a:rPr kumimoji="1" lang="en-US" altLang="en-US" sz="2800" b="1" dirty="0">
                <a:solidFill>
                  <a:srgbClr val="FFFFCC"/>
                </a:solidFill>
                <a:latin typeface="Times New Roman" panose="02020603050405020304" pitchFamily="18" charset="0"/>
              </a:rPr>
              <a:t>that guarantees a user or website is legitimate</a:t>
            </a:r>
          </a:p>
        </p:txBody>
      </p:sp>
      <p:sp>
        <p:nvSpPr>
          <p:cNvPr id="34828" name="AutoShape 1036">
            <a:extLst>
              <a:ext uri="{FF2B5EF4-FFF2-40B4-BE49-F238E27FC236}">
                <a16:creationId xmlns:a16="http://schemas.microsoft.com/office/drawing/2014/main" id="{3ECC79AE-2433-4271-AC7E-7EE4D7DCB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2971800"/>
            <a:ext cx="3406775" cy="3390900"/>
          </a:xfrm>
          <a:prstGeom prst="flowChartPunchedTape">
            <a:avLst/>
          </a:prstGeom>
          <a:solidFill>
            <a:srgbClr val="00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br>
              <a:rPr kumimoji="1"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kumimoji="1"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Many Web browsers </a:t>
            </a:r>
            <a:br>
              <a:rPr kumimoji="1"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kumimoji="1"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use encryption</a:t>
            </a:r>
          </a:p>
          <a:p>
            <a:pPr algn="ctr">
              <a:spcBef>
                <a:spcPct val="0"/>
              </a:spcBef>
              <a:buFontTx/>
              <a:buNone/>
            </a:pPr>
            <a:endParaRPr kumimoji="1" lang="en-US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928C05-AB7E-44AF-AF17-172D84673C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Digital Signature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 autoUpdateAnimBg="0"/>
      <p:bldP spid="34822" grpId="0" build="p" bldLvl="5" autoUpdateAnimBg="0" advAuto="1000"/>
      <p:bldP spid="34827" grpId="0" animBg="1" autoUpdateAnimBg="0"/>
      <p:bldP spid="3482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0" name="Rectangle 1034">
            <a:extLst>
              <a:ext uri="{FF2B5EF4-FFF2-40B4-BE49-F238E27FC236}">
                <a16:creationId xmlns:a16="http://schemas.microsoft.com/office/drawing/2014/main" id="{107EF7CD-2F38-4499-BC67-35F503D34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47800"/>
            <a:ext cx="89789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>
                <a:highlight>
                  <a:srgbClr val="FFFF00"/>
                </a:highlight>
              </a:rPr>
              <a:t>Authorized</a:t>
            </a:r>
            <a:r>
              <a:rPr kumimoji="1" lang="en-US" altLang="en-US" dirty="0"/>
              <a:t> company issues and verifies digital certificates</a:t>
            </a: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/>
              <a:t>Users </a:t>
            </a:r>
            <a:r>
              <a:rPr kumimoji="1" lang="en-US" altLang="en-US" dirty="0">
                <a:highlight>
                  <a:srgbClr val="FFFF00"/>
                </a:highlight>
              </a:rPr>
              <a:t>apply</a:t>
            </a:r>
            <a:r>
              <a:rPr kumimoji="1" lang="en-US" altLang="en-US" dirty="0"/>
              <a:t> for digital certificate from CA</a:t>
            </a: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/>
              <a:t>Stores info such as user’s name, issuing CA’s name/signature, serial number of the certificate </a:t>
            </a: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en-US" dirty="0"/>
              <a:t>Digital certificate is </a:t>
            </a:r>
            <a:r>
              <a:rPr kumimoji="1" lang="en-US" altLang="en-US" dirty="0">
                <a:highlight>
                  <a:srgbClr val="FFFF00"/>
                </a:highlight>
              </a:rPr>
              <a:t>encrypted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57AA83-F5C8-4A34-B8A8-1760D8B6E2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Certificate Authority (CA)</a:t>
            </a:r>
          </a:p>
        </p:txBody>
      </p:sp>
      <p:sp>
        <p:nvSpPr>
          <p:cNvPr id="25604" name="AutoShape 6" descr="SSL Support in Oracle Discoverer">
            <a:extLst>
              <a:ext uri="{FF2B5EF4-FFF2-40B4-BE49-F238E27FC236}">
                <a16:creationId xmlns:a16="http://schemas.microsoft.com/office/drawing/2014/main" id="{1F032874-79A7-495F-B775-7571C6EE01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MY" altLang="en-US" sz="1800"/>
          </a:p>
        </p:txBody>
      </p:sp>
      <p:pic>
        <p:nvPicPr>
          <p:cNvPr id="25605" name="Picture 7">
            <a:extLst>
              <a:ext uri="{FF2B5EF4-FFF2-40B4-BE49-F238E27FC236}">
                <a16:creationId xmlns:a16="http://schemas.microsoft.com/office/drawing/2014/main" id="{92DFC858-56D5-46FF-A4F6-83309639C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275" y="4343400"/>
            <a:ext cx="3357563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0" grpId="0" build="p" bldLvl="2" autoUpdateAnimBg="0" advAuto="300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9B638239-F88D-485F-93F5-D42306593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36874" name="Rectangle 10">
            <a:extLst>
              <a:ext uri="{FF2B5EF4-FFF2-40B4-BE49-F238E27FC236}">
                <a16:creationId xmlns:a16="http://schemas.microsoft.com/office/drawing/2014/main" id="{1DA5EDF9-93C7-4C89-AD9C-860990237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1277938"/>
            <a:ext cx="8585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en-US" sz="2600" dirty="0">
                <a:solidFill>
                  <a:srgbClr val="000000"/>
                </a:solidFill>
              </a:rPr>
              <a:t>Provides </a:t>
            </a:r>
            <a:r>
              <a:rPr kumimoji="1" lang="en-US" altLang="en-US" sz="2600" dirty="0">
                <a:solidFill>
                  <a:srgbClr val="00B050"/>
                </a:solidFill>
              </a:rPr>
              <a:t>encryption</a:t>
            </a:r>
            <a:r>
              <a:rPr kumimoji="1" lang="en-US" altLang="en-US" sz="2600" dirty="0">
                <a:solidFill>
                  <a:srgbClr val="000000"/>
                </a:solidFill>
              </a:rPr>
              <a:t> of all data that passes between </a:t>
            </a:r>
            <a:r>
              <a:rPr kumimoji="1" lang="en-US" altLang="en-US" sz="2600" dirty="0">
                <a:solidFill>
                  <a:srgbClr val="00B050"/>
                </a:solidFill>
              </a:rPr>
              <a:t>client and Internet server </a:t>
            </a:r>
            <a:r>
              <a:rPr kumimoji="1" lang="en-US" altLang="en-US" sz="2400" dirty="0">
                <a:solidFill>
                  <a:srgbClr val="000000"/>
                </a:solidFill>
              </a:rPr>
              <a:t>Web addresses beginning</a:t>
            </a:r>
          </a:p>
          <a:p>
            <a:pPr marL="114300" lvl="1" indent="0">
              <a:spcBef>
                <a:spcPct val="5000"/>
              </a:spcBef>
              <a:buClr>
                <a:schemeClr val="tx1"/>
              </a:buClr>
              <a:buSzPct val="75000"/>
              <a:buFontTx/>
              <a:buNone/>
              <a:defRPr/>
            </a:pPr>
            <a:r>
              <a:rPr kumimoji="1" lang="en-US" altLang="en-US" sz="2400" dirty="0">
                <a:solidFill>
                  <a:srgbClr val="000000"/>
                </a:solidFill>
              </a:rPr>
              <a:t>      with </a:t>
            </a:r>
            <a:r>
              <a:rPr kumimoji="1" lang="en-US" altLang="en-US" sz="2400" dirty="0">
                <a:solidFill>
                  <a:srgbClr val="00B050"/>
                </a:solidFill>
              </a:rPr>
              <a:t>“https” indicate secure  connections</a:t>
            </a: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en-US" sz="2400" dirty="0">
                <a:solidFill>
                  <a:srgbClr val="000000"/>
                </a:solidFill>
              </a:rPr>
              <a:t>Provides encryption and requires the client to have </a:t>
            </a:r>
          </a:p>
          <a:p>
            <a:pPr marL="114300" lvl="1" indent="0">
              <a:spcBef>
                <a:spcPct val="5000"/>
              </a:spcBef>
              <a:buClr>
                <a:schemeClr val="tx1"/>
              </a:buClr>
              <a:buSzPct val="75000"/>
              <a:buFontTx/>
              <a:buNone/>
              <a:defRPr/>
            </a:pPr>
            <a:r>
              <a:rPr kumimoji="1" lang="en-US" altLang="en-US" sz="2400" dirty="0">
                <a:solidFill>
                  <a:srgbClr val="000000"/>
                </a:solidFill>
              </a:rPr>
              <a:t>      a digital cert. Prevents illegal tampering of data</a:t>
            </a:r>
          </a:p>
          <a:p>
            <a:pPr marL="114300" lvl="1" indent="0">
              <a:spcBef>
                <a:spcPct val="5000"/>
              </a:spcBef>
              <a:buClr>
                <a:schemeClr val="tx1"/>
              </a:buClr>
              <a:buSzPct val="75000"/>
              <a:buFontTx/>
              <a:buNone/>
              <a:defRPr/>
            </a:pPr>
            <a:endParaRPr kumimoji="1" lang="en-US" altLang="en-US" sz="2400" dirty="0">
              <a:solidFill>
                <a:srgbClr val="00B050"/>
              </a:solidFill>
            </a:endParaRP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/>
            </a:pPr>
            <a:endParaRPr kumimoji="1" lang="en-US" altLang="en-US" sz="2600" dirty="0">
              <a:solidFill>
                <a:srgbClr val="00B050"/>
              </a:solidFill>
            </a:endParaRPr>
          </a:p>
          <a:p>
            <a:pPr lvl="1">
              <a:spcBef>
                <a:spcPct val="5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/>
            </a:pPr>
            <a:endParaRPr kumimoji="1" lang="en-US" altLang="en-US" sz="2600" dirty="0">
              <a:solidFill>
                <a:srgbClr val="00B050"/>
              </a:solidFill>
            </a:endParaRPr>
          </a:p>
        </p:txBody>
      </p:sp>
      <p:sp>
        <p:nvSpPr>
          <p:cNvPr id="36875" name="Rectangle 11">
            <a:extLst>
              <a:ext uri="{FF2B5EF4-FFF2-40B4-BE49-F238E27FC236}">
                <a16:creationId xmlns:a16="http://schemas.microsoft.com/office/drawing/2014/main" id="{F39A1E00-01A3-4557-87EC-D866180A3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8600" y="3810000"/>
            <a:ext cx="4648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>
              <a:buClr>
                <a:srgbClr val="D94439"/>
              </a:buClr>
              <a:buFont typeface="Wingdings" panose="05000000000000000000" pitchFamily="2" charset="2"/>
              <a:buChar char="§"/>
            </a:pPr>
            <a:endParaRPr kumimoji="1" lang="en-US" altLang="en-US">
              <a:solidFill>
                <a:srgbClr val="0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7BD4388-760D-440F-B607-9FE05F4781CE}"/>
              </a:ext>
            </a:extLst>
          </p:cNvPr>
          <p:cNvSpPr txBox="1">
            <a:spLocks/>
          </p:cNvSpPr>
          <p:nvPr/>
        </p:nvSpPr>
        <p:spPr>
          <a:xfrm>
            <a:off x="14288" y="-15875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Secure Socket Layer (SSL)</a:t>
            </a:r>
          </a:p>
        </p:txBody>
      </p:sp>
      <p:pic>
        <p:nvPicPr>
          <p:cNvPr id="26630" name="Picture 12" descr="Image result for https">
            <a:extLst>
              <a:ext uri="{FF2B5EF4-FFF2-40B4-BE49-F238E27FC236}">
                <a16:creationId xmlns:a16="http://schemas.microsoft.com/office/drawing/2014/main" id="{0E8D8625-04C4-47B6-A06A-10F9679DD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581400"/>
            <a:ext cx="3986213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2">
            <a:extLst>
              <a:ext uri="{FF2B5EF4-FFF2-40B4-BE49-F238E27FC236}">
                <a16:creationId xmlns:a16="http://schemas.microsoft.com/office/drawing/2014/main" id="{810C6E31-2D2D-4D01-8A8B-956276E2E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81400"/>
            <a:ext cx="51181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6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18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8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18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6500"/>
                            </p:stCondLst>
                            <p:childTnLst>
                              <p:par>
                                <p:cTn id="24" presetID="22" presetClass="entr" presetSubtype="8" fill="hold" grpId="0" nodeType="afterEffect" nodePh="1">
                                  <p:stCondLst>
                                    <p:cond delay="12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6874" grpId="0" build="p" bldLvl="2" autoUpdateAnimBg="0" advAuto="3000"/>
      <p:bldP spid="36875" grpId="0" build="p" bldLvl="2" autoUpdateAnimBg="0" advAuto="400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0AA94A1E-43FF-4736-AD0F-D771A1881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44037" name="AutoShape 5">
            <a:extLst>
              <a:ext uri="{FF2B5EF4-FFF2-40B4-BE49-F238E27FC236}">
                <a16:creationId xmlns:a16="http://schemas.microsoft.com/office/drawing/2014/main" id="{9C131DAE-7A20-4289-871B-9AE8F1381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1176338"/>
            <a:ext cx="7239000" cy="838200"/>
          </a:xfrm>
          <a:prstGeom prst="bevel">
            <a:avLst>
              <a:gd name="adj" fmla="val 5722"/>
            </a:avLst>
          </a:prstGeom>
          <a:solidFill>
            <a:srgbClr val="00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Backup – to duplicate file, program or disk</a:t>
            </a:r>
          </a:p>
        </p:txBody>
      </p:sp>
      <p:sp>
        <p:nvSpPr>
          <p:cNvPr id="44038" name="AutoShape 6">
            <a:extLst>
              <a:ext uri="{FF2B5EF4-FFF2-40B4-BE49-F238E27FC236}">
                <a16:creationId xmlns:a16="http://schemas.microsoft.com/office/drawing/2014/main" id="{7995E5BA-0305-415F-9DCE-51C6EAAC7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109788"/>
            <a:ext cx="3116263" cy="2482850"/>
          </a:xfrm>
          <a:prstGeom prst="roundRect">
            <a:avLst>
              <a:gd name="adj" fmla="val 16667"/>
            </a:avLst>
          </a:prstGeom>
          <a:solidFill>
            <a:srgbClr val="993366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kumimoji="1" lang="en-US" alt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Full Backup</a:t>
            </a:r>
            <a:br>
              <a:rPr kumimoji="1"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</a:rPr>
            </a:br>
            <a:r>
              <a:rPr kumimoji="1" lang="en-US" altLang="en-US" sz="2800" dirty="0" err="1">
                <a:solidFill>
                  <a:schemeClr val="bg1"/>
                </a:solidFill>
                <a:latin typeface="Times New Roman" charset="0"/>
              </a:rPr>
              <a:t>backup</a:t>
            </a:r>
            <a:r>
              <a:rPr kumimoji="1" lang="en-US" altLang="en-US" sz="2800" dirty="0">
                <a:solidFill>
                  <a:schemeClr val="bg1"/>
                </a:solidFill>
                <a:latin typeface="Times New Roman" charset="0"/>
              </a:rPr>
              <a:t> ALL files in the computer</a:t>
            </a:r>
          </a:p>
        </p:txBody>
      </p:sp>
      <p:sp>
        <p:nvSpPr>
          <p:cNvPr id="44039" name="AutoShape 7">
            <a:extLst>
              <a:ext uri="{FF2B5EF4-FFF2-40B4-BE49-F238E27FC236}">
                <a16:creationId xmlns:a16="http://schemas.microsoft.com/office/drawing/2014/main" id="{33B305AB-D6BC-4757-A435-5C49DBD17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22488"/>
            <a:ext cx="3170238" cy="2444750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kumimoji="1" lang="en-US" altLang="en-US" sz="3200" b="1" u="sng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Selective Backup</a:t>
            </a:r>
            <a:br>
              <a:rPr kumimoji="1" lang="en-US" altLang="en-US" sz="3200" u="sng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</a:rPr>
            </a:br>
            <a:r>
              <a:rPr kumimoji="1" lang="en-US" altLang="en-US" sz="2800" dirty="0">
                <a:solidFill>
                  <a:schemeClr val="bg1"/>
                </a:solidFill>
                <a:latin typeface="Times New Roman" charset="0"/>
              </a:rPr>
              <a:t>select which files </a:t>
            </a:r>
            <a:br>
              <a:rPr kumimoji="1" lang="en-US" altLang="en-US" sz="2800" dirty="0">
                <a:solidFill>
                  <a:schemeClr val="bg1"/>
                </a:solidFill>
                <a:latin typeface="Times New Roman" charset="0"/>
              </a:rPr>
            </a:br>
            <a:r>
              <a:rPr kumimoji="1" lang="en-US" altLang="en-US" sz="2800" dirty="0">
                <a:solidFill>
                  <a:schemeClr val="bg1"/>
                </a:solidFill>
                <a:latin typeface="Times New Roman" charset="0"/>
              </a:rPr>
              <a:t>to back up</a:t>
            </a:r>
          </a:p>
        </p:txBody>
      </p:sp>
      <p:sp>
        <p:nvSpPr>
          <p:cNvPr id="44041" name="AutoShape 9">
            <a:extLst>
              <a:ext uri="{FF2B5EF4-FFF2-40B4-BE49-F238E27FC236}">
                <a16:creationId xmlns:a16="http://schemas.microsoft.com/office/drawing/2014/main" id="{6A36C167-E82F-4FDF-B4BB-8D9632F51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8" y="4748213"/>
            <a:ext cx="8864600" cy="1096962"/>
          </a:xfrm>
          <a:prstGeom prst="bevel">
            <a:avLst>
              <a:gd name="adj" fmla="val 5722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accent1"/>
              </a:buClr>
              <a:buSzPct val="80000"/>
              <a:buFont typeface="Monotype Sorts" pitchFamily="2" charset="2"/>
              <a:buNone/>
            </a:pPr>
            <a:r>
              <a:rPr kumimoji="1" lang="en-US" alt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In case of system failure or corrupted files, </a:t>
            </a:r>
            <a:br>
              <a:rPr kumimoji="1" lang="en-US" altLang="en-US" sz="280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kumimoji="1" lang="en-US" alt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restore files by copying to original location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9258BA-C02B-4353-8AAA-D69A0E407B5F}"/>
              </a:ext>
            </a:extLst>
          </p:cNvPr>
          <p:cNvSpPr txBox="1">
            <a:spLocks/>
          </p:cNvSpPr>
          <p:nvPr/>
        </p:nvSpPr>
        <p:spPr>
          <a:xfrm>
            <a:off x="14288" y="-15875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Backup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3" presetClass="entr" presetSubtype="27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3" presetClass="entr" presetSubtype="27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 autoUpdateAnimBg="0"/>
      <p:bldP spid="44037" grpId="0" animBg="1" autoUpdateAnimBg="0"/>
      <p:bldP spid="44038" grpId="0" animBg="1" autoUpdateAnimBg="0"/>
      <p:bldP spid="44039" grpId="0" animBg="1" autoUpdateAnimBg="0"/>
      <p:bldP spid="44041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C93C34A-25B0-4622-B0A1-41EDC2889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E843D3B-6122-4697-B881-1B1D4B5AF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" y="677863"/>
            <a:ext cx="8585200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/>
              <a:t>What is a </a:t>
            </a:r>
            <a:r>
              <a:rPr lang="en-US" altLang="en-US" sz="2800">
                <a:solidFill>
                  <a:srgbClr val="CC0000"/>
                </a:solidFill>
              </a:rPr>
              <a:t>disaster recovery plan</a:t>
            </a:r>
            <a:r>
              <a:rPr lang="en-US" altLang="en-US" sz="2800"/>
              <a:t>?</a:t>
            </a:r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C8946EF5-7916-4841-ADEB-57E2FEBC0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" y="1355725"/>
            <a:ext cx="9007475" cy="507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609600" indent="-4953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028700" indent="-4572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358900" indent="-3810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752600" indent="-3810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28650" lvl="1" indent="-514350">
              <a:spcBef>
                <a:spcPct val="5000"/>
              </a:spcBef>
              <a:buClr>
                <a:schemeClr val="tx1"/>
              </a:buClr>
              <a:buSzPct val="75000"/>
              <a:buFont typeface="+mj-lt"/>
              <a:buAutoNum type="arabicPeriod"/>
              <a:defRPr/>
            </a:pPr>
            <a:r>
              <a:rPr kumimoji="1" lang="en-US" altLang="en-US" b="1" dirty="0">
                <a:latin typeface="+mn-lt"/>
              </a:rPr>
              <a:t>Disaster Recovery Plan </a:t>
            </a:r>
            <a:r>
              <a:rPr kumimoji="1" lang="en-US" altLang="en-US" dirty="0">
                <a:latin typeface="+mn-lt"/>
              </a:rPr>
              <a:t>- written plan for restoring computer operations in the event of a disaster </a:t>
            </a:r>
          </a:p>
          <a:p>
            <a:pPr marL="628650" lvl="1" indent="-514350">
              <a:spcBef>
                <a:spcPct val="5000"/>
              </a:spcBef>
              <a:buClr>
                <a:schemeClr val="tx1"/>
              </a:buClr>
              <a:buSzPct val="75000"/>
              <a:buFont typeface="+mj-lt"/>
              <a:buAutoNum type="arabicPeriod"/>
              <a:defRPr/>
            </a:pPr>
            <a:r>
              <a:rPr kumimoji="1" lang="en-US" altLang="en-US" b="1" dirty="0">
                <a:latin typeface="+mn-lt"/>
              </a:rPr>
              <a:t>Emergency Plan </a:t>
            </a:r>
            <a:r>
              <a:rPr kumimoji="1" lang="en-US" altLang="en-US" dirty="0">
                <a:latin typeface="+mn-lt"/>
              </a:rPr>
              <a:t>- steps to be taken immediately</a:t>
            </a:r>
            <a:br>
              <a:rPr kumimoji="1" lang="en-US" altLang="en-US" dirty="0">
                <a:latin typeface="+mn-lt"/>
              </a:rPr>
            </a:br>
            <a:r>
              <a:rPr kumimoji="1" lang="en-US" altLang="en-US" dirty="0">
                <a:latin typeface="+mn-lt"/>
              </a:rPr>
              <a:t> after disaster</a:t>
            </a:r>
          </a:p>
          <a:p>
            <a:pPr marL="628650" lvl="1" indent="-514350">
              <a:spcBef>
                <a:spcPct val="5000"/>
              </a:spcBef>
              <a:buClr>
                <a:schemeClr val="tx1"/>
              </a:buClr>
              <a:buSzPct val="75000"/>
              <a:buFont typeface="+mj-lt"/>
              <a:buAutoNum type="arabicPeriod"/>
              <a:defRPr/>
            </a:pPr>
            <a:r>
              <a:rPr kumimoji="1" lang="en-US" altLang="en-US" b="1" dirty="0">
                <a:latin typeface="+mn-lt"/>
              </a:rPr>
              <a:t>Backup Plan </a:t>
            </a:r>
            <a:r>
              <a:rPr kumimoji="1" lang="en-US" altLang="en-US" dirty="0">
                <a:latin typeface="+mn-lt"/>
              </a:rPr>
              <a:t>- how backup files and equipment would be used to resume information processing</a:t>
            </a:r>
          </a:p>
          <a:p>
            <a:pPr marL="628650" lvl="1" indent="-514350">
              <a:spcBef>
                <a:spcPct val="5000"/>
              </a:spcBef>
              <a:buClr>
                <a:schemeClr val="tx1"/>
              </a:buClr>
              <a:buSzPct val="75000"/>
              <a:buFont typeface="+mj-lt"/>
              <a:buAutoNum type="arabicPeriod"/>
              <a:defRPr/>
            </a:pPr>
            <a:r>
              <a:rPr kumimoji="1" lang="en-US" altLang="en-US" b="1" dirty="0">
                <a:latin typeface="+mn-lt"/>
              </a:rPr>
              <a:t>Recovery Plan </a:t>
            </a:r>
            <a:r>
              <a:rPr kumimoji="1" lang="en-US" altLang="en-US" dirty="0">
                <a:latin typeface="+mn-lt"/>
              </a:rPr>
              <a:t>- actions to be taken to restore full information processing operations</a:t>
            </a:r>
          </a:p>
          <a:p>
            <a:pPr marL="628650" lvl="1" indent="-514350">
              <a:spcBef>
                <a:spcPct val="5000"/>
              </a:spcBef>
              <a:buClr>
                <a:schemeClr val="tx1"/>
              </a:buClr>
              <a:buSzPct val="75000"/>
              <a:buFont typeface="+mj-lt"/>
              <a:buAutoNum type="arabicPeriod"/>
              <a:defRPr/>
            </a:pPr>
            <a:r>
              <a:rPr kumimoji="1" lang="en-US" altLang="en-US" b="1" dirty="0">
                <a:latin typeface="+mn-lt"/>
              </a:rPr>
              <a:t>Test Plan </a:t>
            </a:r>
            <a:r>
              <a:rPr kumimoji="1" lang="en-US" altLang="en-US" dirty="0">
                <a:latin typeface="+mn-lt"/>
              </a:rPr>
              <a:t>- simulates various levels of disasters and records the ability to recover</a:t>
            </a:r>
          </a:p>
          <a:p>
            <a:pPr marL="114300" lvl="1" indent="0">
              <a:spcBef>
                <a:spcPct val="5000"/>
              </a:spcBef>
              <a:buClr>
                <a:srgbClr val="D94439"/>
              </a:buClr>
              <a:buSzPct val="75000"/>
              <a:buFontTx/>
              <a:buNone/>
              <a:defRPr/>
            </a:pPr>
            <a:endParaRPr kumimoji="1" lang="en-US" altLang="en-US" b="1" dirty="0">
              <a:latin typeface="+mn-lt"/>
            </a:endParaRPr>
          </a:p>
          <a:p>
            <a:pPr lvl="1" algn="ctr">
              <a:buClr>
                <a:schemeClr val="accent1"/>
              </a:buClr>
              <a:buSzPct val="80000"/>
              <a:defRPr/>
            </a:pPr>
            <a:r>
              <a:rPr kumimoji="1" lang="en-US" altLang="en-US" b="1" dirty="0">
                <a:latin typeface="+mn-lt"/>
              </a:rPr>
              <a:t> </a:t>
            </a:r>
          </a:p>
          <a:p>
            <a:pPr marL="114300" lvl="1" indent="0">
              <a:spcBef>
                <a:spcPct val="5000"/>
              </a:spcBef>
              <a:buClr>
                <a:srgbClr val="D94439"/>
              </a:buClr>
              <a:buSzPct val="75000"/>
              <a:buFontTx/>
              <a:buNone/>
              <a:defRPr/>
            </a:pPr>
            <a:br>
              <a:rPr kumimoji="1" lang="en-US" altLang="en-US" b="1" dirty="0">
                <a:latin typeface="+mn-lt"/>
              </a:rPr>
            </a:br>
            <a:endParaRPr kumimoji="1" lang="en-US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74548CA-925A-4A75-A258-4D412533F871}"/>
              </a:ext>
            </a:extLst>
          </p:cNvPr>
          <p:cNvSpPr txBox="1">
            <a:spLocks/>
          </p:cNvSpPr>
          <p:nvPr/>
        </p:nvSpPr>
        <p:spPr>
          <a:xfrm>
            <a:off x="15875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Disaster Recovery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8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0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bldLvl="5" autoUpdateAnimBg="0" advAuto="1000"/>
      <p:bldP spid="41989" grpId="0" build="p" bldLvl="2" autoUpdateAnimBg="0" advAuto="300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57FEEE11-0C07-4061-8436-B0F13A0A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153400" cy="439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/>
              <a:t>Digital security risks and types of Malware</a:t>
            </a:r>
          </a:p>
          <a:p>
            <a:r>
              <a:rPr lang="en-US" altLang="en-US" sz="2800"/>
              <a:t>Types of Internet and network attacks and explain ways to safeguard against these attacks</a:t>
            </a:r>
          </a:p>
          <a:p>
            <a:r>
              <a:rPr lang="en-US" altLang="en-US" sz="2800"/>
              <a:t>Digital Signature and Digital Certificate</a:t>
            </a:r>
          </a:p>
          <a:p>
            <a:r>
              <a:rPr lang="en-US" altLang="en-US" sz="2800"/>
              <a:t>Backup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88B2BF3-2CB9-4B4F-AFC6-36574829A8D5}"/>
              </a:ext>
            </a:extLst>
          </p:cNvPr>
          <p:cNvSpPr txBox="1">
            <a:spLocks/>
          </p:cNvSpPr>
          <p:nvPr/>
        </p:nvSpPr>
        <p:spPr>
          <a:xfrm>
            <a:off x="-17463" y="0"/>
            <a:ext cx="7721601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Summary</a:t>
            </a:r>
            <a:endParaRPr lang="en-MY" altLang="en-US" b="1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 bldLvl="2" autoUpdateAnimBg="0" advAuto="600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F6AB2F14-78A2-4519-8749-CBF1F7644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153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sz="2800" dirty="0"/>
              <a:t>Explain digital security risks and types of Malware</a:t>
            </a:r>
          </a:p>
          <a:p>
            <a:pPr>
              <a:buFontTx/>
              <a:buAutoNum type="arabicPeriod"/>
            </a:pPr>
            <a:r>
              <a:rPr lang="en-US" altLang="en-US" sz="2800" dirty="0"/>
              <a:t>Describe the types of Internet and network attacks and explain ways to safeguard against these attacks</a:t>
            </a:r>
          </a:p>
          <a:p>
            <a:pPr>
              <a:buFontTx/>
              <a:buAutoNum type="arabicPeriod"/>
            </a:pPr>
            <a:r>
              <a:rPr lang="en-US" altLang="en-US" sz="2800" dirty="0"/>
              <a:t>Explain Digital signature and Digital certificate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01790-CF9C-40ED-8D30-FA1F2C9562AC}"/>
              </a:ext>
            </a:extLst>
          </p:cNvPr>
          <p:cNvSpPr txBox="1">
            <a:spLocks/>
          </p:cNvSpPr>
          <p:nvPr/>
        </p:nvSpPr>
        <p:spPr>
          <a:xfrm>
            <a:off x="-17463" y="0"/>
            <a:ext cx="7721601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Review Questions</a:t>
            </a:r>
            <a:endParaRPr lang="en-MY" altLang="en-US" b="1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 bldLvl="2" autoUpdateAnimBg="0" advAuto="600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62A8-B3AD-CF73-2D3E-EA403C34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80C4ECCF-3FF2-8E4E-2EC9-60BF4A7F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dirty="0"/>
              <a:t>Explain digital security risks and types of Malware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F8D91C-531F-8013-35CE-6C650948CFCE}"/>
              </a:ext>
            </a:extLst>
          </p:cNvPr>
          <p:cNvSpPr txBox="1">
            <a:spLocks/>
          </p:cNvSpPr>
          <p:nvPr/>
        </p:nvSpPr>
        <p:spPr>
          <a:xfrm>
            <a:off x="-17463" y="0"/>
            <a:ext cx="7721601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Review Questions</a:t>
            </a:r>
            <a:endParaRPr lang="en-MY" altLang="en-US" b="1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9BED5-56D4-DDE9-F02B-7D4101E807D5}"/>
              </a:ext>
            </a:extLst>
          </p:cNvPr>
          <p:cNvSpPr txBox="1"/>
          <p:nvPr/>
        </p:nvSpPr>
        <p:spPr>
          <a:xfrm>
            <a:off x="458517" y="2667000"/>
            <a:ext cx="79996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2" indent="0">
              <a:buNone/>
            </a:pPr>
            <a:r>
              <a:rPr lang="en-US" altLang="en-US" sz="2400" b="1" dirty="0"/>
              <a:t>Digital Security Risk</a:t>
            </a:r>
            <a:r>
              <a:rPr lang="en-US" altLang="en-US" sz="2400" dirty="0"/>
              <a:t> - </a:t>
            </a:r>
            <a:r>
              <a:rPr lang="en-US" altLang="en-US" sz="2400" dirty="0">
                <a:highlight>
                  <a:srgbClr val="FFFF00"/>
                </a:highlight>
              </a:rPr>
              <a:t>an event </a:t>
            </a:r>
            <a:r>
              <a:rPr lang="en-US" altLang="en-US" sz="2400" dirty="0"/>
              <a:t>that could cause </a:t>
            </a:r>
            <a:r>
              <a:rPr lang="en-US" altLang="en-US" sz="2400" dirty="0">
                <a:highlight>
                  <a:srgbClr val="FFFF00"/>
                </a:highlight>
              </a:rPr>
              <a:t>loss of or damage </a:t>
            </a:r>
            <a:r>
              <a:rPr lang="en-US" altLang="en-US" sz="2400" dirty="0"/>
              <a:t>to a computer or mobile device hardware, software, data, information or processing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8C496-3B52-8F9E-2DC9-DD70871CD08D}"/>
              </a:ext>
            </a:extLst>
          </p:cNvPr>
          <p:cNvSpPr txBox="1"/>
          <p:nvPr/>
        </p:nvSpPr>
        <p:spPr>
          <a:xfrm>
            <a:off x="458517" y="4572000"/>
            <a:ext cx="8153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lvl="2" indent="0">
              <a:buNone/>
            </a:pPr>
            <a:r>
              <a:rPr lang="en-US" altLang="en-US" sz="2400" b="1" dirty="0"/>
              <a:t>Types of Malware</a:t>
            </a:r>
          </a:p>
          <a:p>
            <a:pPr marL="533400" lvl="2" indent="0">
              <a:buNone/>
            </a:pPr>
            <a:r>
              <a:rPr lang="en-US" altLang="en-US" sz="2400" dirty="0"/>
              <a:t>Adware, T Horse, Worms, Payload, Rootkit, Spyware</a:t>
            </a:r>
          </a:p>
        </p:txBody>
      </p:sp>
    </p:spTree>
    <p:extLst>
      <p:ext uri="{BB962C8B-B14F-4D97-AF65-F5344CB8AC3E}">
        <p14:creationId xmlns:p14="http://schemas.microsoft.com/office/powerpoint/2010/main" val="16851992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3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C2F2-4699-9E40-DF13-70051B1C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896F899C-2002-EC6A-A5F2-CF3132537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534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46088" indent="-446088">
              <a:buNone/>
            </a:pPr>
            <a:r>
              <a:rPr lang="en-US" altLang="en-US" sz="2400" dirty="0"/>
              <a:t>2. Describe the types of Internet and network attacks and explain ways to safeguard against these attacks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6BD0508-244A-08AD-6D91-2A83DDEF0DC9}"/>
              </a:ext>
            </a:extLst>
          </p:cNvPr>
          <p:cNvSpPr txBox="1">
            <a:spLocks/>
          </p:cNvSpPr>
          <p:nvPr/>
        </p:nvSpPr>
        <p:spPr>
          <a:xfrm>
            <a:off x="-17463" y="0"/>
            <a:ext cx="7721601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Review Questions</a:t>
            </a:r>
            <a:endParaRPr lang="en-MY" altLang="en-US" b="1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42252-0CF8-7ADF-0994-C9E530C35129}"/>
              </a:ext>
            </a:extLst>
          </p:cNvPr>
          <p:cNvSpPr txBox="1"/>
          <p:nvPr/>
        </p:nvSpPr>
        <p:spPr>
          <a:xfrm>
            <a:off x="222095" y="2501590"/>
            <a:ext cx="869981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b="1" dirty="0"/>
              <a:t>Internet and network attacks </a:t>
            </a:r>
          </a:p>
          <a:p>
            <a:r>
              <a:rPr lang="en-US" altLang="en-US" sz="1600" b="1" dirty="0"/>
              <a:t>1. Malware (TH, Worms, Adware, Rootkit, Backdoor, Ransomware, Micro Virus)</a:t>
            </a:r>
          </a:p>
          <a:p>
            <a:r>
              <a:rPr lang="en-US" altLang="en-US" sz="1600" b="1" dirty="0"/>
              <a:t>2.</a:t>
            </a:r>
            <a:r>
              <a:rPr lang="en-US" altLang="en-US" sz="1600" dirty="0"/>
              <a:t> </a:t>
            </a:r>
            <a:r>
              <a:rPr lang="en-US" altLang="en-US" sz="1600" b="1" dirty="0"/>
              <a:t>Botnet</a:t>
            </a:r>
            <a:r>
              <a:rPr lang="en-US" altLang="en-US" sz="1600" dirty="0"/>
              <a:t> - group of compromised computers or mobile devices connected to a network</a:t>
            </a:r>
          </a:p>
          <a:p>
            <a:r>
              <a:rPr lang="en-US" altLang="en-US" sz="1600" b="1" dirty="0"/>
              <a:t>3. Zombie PC </a:t>
            </a:r>
            <a:r>
              <a:rPr lang="en-US" altLang="en-US" sz="1600" dirty="0"/>
              <a:t>- compromised computer or device </a:t>
            </a:r>
          </a:p>
          <a:p>
            <a:r>
              <a:rPr lang="en-US" altLang="en-US" sz="1600" b="1" dirty="0"/>
              <a:t>4. Denial of service attack (DoS)</a:t>
            </a:r>
            <a:r>
              <a:rPr lang="en-US" altLang="en-US" sz="1600" dirty="0"/>
              <a:t> - disrupts computer     access to an Internet service5. </a:t>
            </a:r>
          </a:p>
          <a:p>
            <a:r>
              <a:rPr lang="en-US" altLang="en-US" sz="1600" b="1" dirty="0"/>
              <a:t>5. Distributed DoS  attack (DDoS attack) </a:t>
            </a:r>
            <a:r>
              <a:rPr lang="en-US" altLang="en-US" sz="1600" dirty="0"/>
              <a:t>– larger   scale of a DoS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D4F1D-AD0C-D1FD-B94B-8C492B325FDE}"/>
              </a:ext>
            </a:extLst>
          </p:cNvPr>
          <p:cNvSpPr txBox="1"/>
          <p:nvPr/>
        </p:nvSpPr>
        <p:spPr>
          <a:xfrm>
            <a:off x="222095" y="4279399"/>
            <a:ext cx="869981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b="1" dirty="0"/>
              <a:t>How to Safeguard</a:t>
            </a:r>
          </a:p>
          <a:p>
            <a:r>
              <a:rPr lang="en-US" altLang="en-US" sz="1600" b="1" dirty="0"/>
              <a:t>1. Never start from removable media</a:t>
            </a:r>
          </a:p>
          <a:p>
            <a:r>
              <a:rPr lang="en-US" altLang="en-US" sz="1600" b="1" dirty="0"/>
              <a:t>2.</a:t>
            </a:r>
            <a:r>
              <a:rPr lang="en-US" altLang="en-US" sz="1600" dirty="0"/>
              <a:t> </a:t>
            </a:r>
            <a:r>
              <a:rPr lang="en-US" altLang="en-US" sz="1600" b="1" dirty="0"/>
              <a:t>Install AV</a:t>
            </a:r>
            <a:endParaRPr lang="en-US" altLang="en-US" sz="1600" dirty="0"/>
          </a:p>
          <a:p>
            <a:r>
              <a:rPr lang="en-US" altLang="en-US" sz="1600" b="1" dirty="0"/>
              <a:t>3. Never open attachment from unknown email</a:t>
            </a:r>
            <a:endParaRPr lang="en-US" altLang="en-US" sz="1600" dirty="0"/>
          </a:p>
          <a:p>
            <a:r>
              <a:rPr lang="en-US" altLang="en-US" sz="1600" b="1" dirty="0"/>
              <a:t>4. Scan removable media</a:t>
            </a:r>
            <a:endParaRPr lang="en-US" altLang="en-US" sz="1600" dirty="0"/>
          </a:p>
          <a:p>
            <a:r>
              <a:rPr lang="en-US" altLang="en-US" sz="1600" b="1" dirty="0"/>
              <a:t>5. Install firewall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77937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3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908C8-60BD-9A25-CCA2-8FE0B87F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9220D9DB-0DEA-E57D-703E-C7720FA3D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53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46088" indent="-446088">
              <a:buNone/>
            </a:pPr>
            <a:r>
              <a:rPr lang="en-US" altLang="en-US" sz="2400" dirty="0"/>
              <a:t>3. Explain digital signature and digital certificate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7DC35D-5DB9-FB12-C6A0-2500DE5A11AD}"/>
              </a:ext>
            </a:extLst>
          </p:cNvPr>
          <p:cNvSpPr txBox="1">
            <a:spLocks/>
          </p:cNvSpPr>
          <p:nvPr/>
        </p:nvSpPr>
        <p:spPr>
          <a:xfrm>
            <a:off x="-17463" y="0"/>
            <a:ext cx="7721601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Review Questions</a:t>
            </a:r>
            <a:endParaRPr lang="en-MY" altLang="en-US" b="1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9DCAD-9667-418A-9231-5E131BE602B9}"/>
              </a:ext>
            </a:extLst>
          </p:cNvPr>
          <p:cNvSpPr txBox="1"/>
          <p:nvPr/>
        </p:nvSpPr>
        <p:spPr>
          <a:xfrm>
            <a:off x="267629" y="2520175"/>
            <a:ext cx="8699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/>
              <a:t>Digital signature</a:t>
            </a:r>
          </a:p>
          <a:p>
            <a:r>
              <a:rPr lang="en-US" altLang="en-US" sz="2000" b="1" dirty="0"/>
              <a:t>1. </a:t>
            </a:r>
            <a:r>
              <a:rPr lang="en-US" altLang="en-US" sz="2000" dirty="0">
                <a:highlight>
                  <a:srgbClr val="FFFF00"/>
                </a:highlight>
                <a:latin typeface="Arial Unicode MS" pitchFamily="34" charset="-128"/>
              </a:rPr>
              <a:t>encrypted code </a:t>
            </a:r>
            <a:r>
              <a:rPr lang="en-US" altLang="en-US" sz="2000" dirty="0">
                <a:latin typeface="Arial Unicode MS" pitchFamily="34" charset="-128"/>
              </a:rPr>
              <a:t>that a software attaches to an electronic message to verify the identity of the message sender</a:t>
            </a:r>
            <a:endParaRPr lang="en-US" alt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CDBE4-313F-0AFE-6AD4-1EE57B2C041C}"/>
              </a:ext>
            </a:extLst>
          </p:cNvPr>
          <p:cNvSpPr txBox="1"/>
          <p:nvPr/>
        </p:nvSpPr>
        <p:spPr>
          <a:xfrm>
            <a:off x="267629" y="3733800"/>
            <a:ext cx="83355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/>
              <a:t>Digital certificate</a:t>
            </a:r>
          </a:p>
          <a:p>
            <a:pPr marL="342900" indent="-342900">
              <a:buFontTx/>
              <a:buAutoNum type="arabicPeriod"/>
            </a:pPr>
            <a:r>
              <a:rPr kumimoji="1" lang="en-US" altLang="en-US" sz="2000" dirty="0"/>
              <a:t>is a </a:t>
            </a:r>
            <a:r>
              <a:rPr kumimoji="1" lang="en-US" altLang="en-US" sz="2000" dirty="0">
                <a:highlight>
                  <a:srgbClr val="FFFF00"/>
                </a:highlight>
              </a:rPr>
              <a:t>notice</a:t>
            </a:r>
            <a:r>
              <a:rPr kumimoji="1" lang="en-US" altLang="en-US" sz="2000" dirty="0"/>
              <a:t> that guarantees a user or website is legitimate</a:t>
            </a:r>
          </a:p>
          <a:p>
            <a:pPr marL="342900" indent="-342900">
              <a:buFontTx/>
              <a:buAutoNum type="arabicPeriod"/>
            </a:pPr>
            <a:r>
              <a:rPr kumimoji="1" lang="en-US" altLang="en-US" sz="2000" dirty="0"/>
              <a:t>Digital certificate is </a:t>
            </a:r>
            <a:r>
              <a:rPr kumimoji="1" lang="en-US" altLang="en-US" sz="2000" dirty="0">
                <a:highlight>
                  <a:srgbClr val="FFFF00"/>
                </a:highlight>
              </a:rPr>
              <a:t>encrypted</a:t>
            </a:r>
          </a:p>
          <a:p>
            <a:pPr marL="342900" indent="-342900">
              <a:buAutoNum type="arabicPeriod"/>
            </a:pPr>
            <a:r>
              <a:rPr lang="en-US" altLang="en-US" sz="2000" dirty="0"/>
              <a:t>User apply digital certificate from CA</a:t>
            </a:r>
          </a:p>
        </p:txBody>
      </p:sp>
    </p:spTree>
    <p:extLst>
      <p:ext uri="{BB962C8B-B14F-4D97-AF65-F5344CB8AC3E}">
        <p14:creationId xmlns:p14="http://schemas.microsoft.com/office/powerpoint/2010/main" val="3902315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3" grpId="0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804819FC-6A3C-4762-A175-64ED2D454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2286000"/>
            <a:ext cx="358140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 dirty="0"/>
              <a:t>Q &amp; 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F52C06-053E-43F4-B69F-950D5981954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8486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SG" sz="3600" b="1" kern="0" dirty="0"/>
              <a:t>Questions and Answer</a:t>
            </a:r>
            <a:endParaRPr lang="en-MY" sz="3600" b="1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>
            <a:extLst>
              <a:ext uri="{FF2B5EF4-FFF2-40B4-BE49-F238E27FC236}">
                <a16:creationId xmlns:a16="http://schemas.microsoft.com/office/drawing/2014/main" id="{7C7A910D-E2DB-439C-80BF-6B213EEC3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2667000"/>
            <a:ext cx="7200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333399"/>
                </a:solidFill>
              </a:rPr>
              <a:t>		</a:t>
            </a:r>
          </a:p>
        </p:txBody>
      </p:sp>
      <p:sp>
        <p:nvSpPr>
          <p:cNvPr id="33795" name="Text Box 5">
            <a:extLst>
              <a:ext uri="{FF2B5EF4-FFF2-40B4-BE49-F238E27FC236}">
                <a16:creationId xmlns:a16="http://schemas.microsoft.com/office/drawing/2014/main" id="{57BBAEFE-95CC-43D3-8CBF-5BB4BFFEB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533293"/>
            <a:ext cx="22621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Digital Ethics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81E3D5B-BAF3-42AE-B037-5AD9F1B7FCD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8486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/>
              <a:t>Next Lecture</a:t>
            </a:r>
            <a:endParaRPr lang="en-US" altLang="en-US" sz="3600" dirty="0"/>
          </a:p>
          <a:p>
            <a:pPr>
              <a:defRPr/>
            </a:pPr>
            <a:endParaRPr lang="en-MY" sz="3600" b="1" kern="0" dirty="0"/>
          </a:p>
        </p:txBody>
      </p:sp>
      <p:pic>
        <p:nvPicPr>
          <p:cNvPr id="33797" name="Picture 1">
            <a:extLst>
              <a:ext uri="{FF2B5EF4-FFF2-40B4-BE49-F238E27FC236}">
                <a16:creationId xmlns:a16="http://schemas.microsoft.com/office/drawing/2014/main" id="{651F472A-C4CD-4FE9-BDF4-F14E65113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428875"/>
            <a:ext cx="6910210" cy="3886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9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C6B378645544D9F10C30D9F2BCFB4" ma:contentTypeVersion="9" ma:contentTypeDescription="Create a new document." ma:contentTypeScope="" ma:versionID="3dcaa56ea438123d557e24c465044b3c">
  <xsd:schema xmlns:xsd="http://www.w3.org/2001/XMLSchema" xmlns:xs="http://www.w3.org/2001/XMLSchema" xmlns:p="http://schemas.microsoft.com/office/2006/metadata/properties" xmlns:ns2="6d54a27f-32b3-46ed-801e-110df5e77a46" targetNamespace="http://schemas.microsoft.com/office/2006/metadata/properties" ma:root="true" ma:fieldsID="4208030726db9b86847690f0b0a379ad" ns2:_="">
    <xsd:import namespace="6d54a27f-32b3-46ed-801e-110df5e77a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54a27f-32b3-46ed-801e-110df5e77a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1BB671-AACA-4BC5-9A1B-6CCF2D48C6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54a27f-32b3-46ed-801e-110df5e77a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1D46E1-E01F-4BC9-BCAB-1811125DAF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2180</TotalTime>
  <Words>1871</Words>
  <Application>Microsoft Office PowerPoint</Application>
  <PresentationFormat>On-screen Show (4:3)</PresentationFormat>
  <Paragraphs>221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(W1)</vt:lpstr>
      <vt:lpstr>Arial Narrow</vt:lpstr>
      <vt:lpstr>Arial Unicode MS</vt:lpstr>
      <vt:lpstr>Calibri</vt:lpstr>
      <vt:lpstr>Monotype Sorts</vt:lpstr>
      <vt:lpstr>Times New Roman</vt:lpstr>
      <vt:lpstr>Wingdings</vt:lpstr>
      <vt:lpstr>UCTI-Template-foundation-level</vt:lpstr>
      <vt:lpstr>Digital Thinking and Innovation CT109-3-1 VD1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APIIT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</dc:creator>
  <cp:lastModifiedBy>Dr. Safaie Mangir</cp:lastModifiedBy>
  <cp:revision>122</cp:revision>
  <cp:lastPrinted>2019-06-20T07:02:54Z</cp:lastPrinted>
  <dcterms:created xsi:type="dcterms:W3CDTF">2005-07-29T03:53:40Z</dcterms:created>
  <dcterms:modified xsi:type="dcterms:W3CDTF">2025-08-22T10:02:48Z</dcterms:modified>
</cp:coreProperties>
</file>